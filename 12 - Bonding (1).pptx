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7" r:id="rId1"/>
    <p:sldMasterId id="2147484046" r:id="rId2"/>
    <p:sldMasterId id="2147484061" r:id="rId3"/>
  </p:sldMasterIdLst>
  <p:notesMasterIdLst>
    <p:notesMasterId r:id="rId27"/>
  </p:notesMasterIdLst>
  <p:sldIdLst>
    <p:sldId id="1098" r:id="rId4"/>
    <p:sldId id="911" r:id="rId5"/>
    <p:sldId id="1000" r:id="rId6"/>
    <p:sldId id="1007" r:id="rId7"/>
    <p:sldId id="1102" r:id="rId8"/>
    <p:sldId id="1005" r:id="rId9"/>
    <p:sldId id="1108" r:id="rId10"/>
    <p:sldId id="1101" r:id="rId11"/>
    <p:sldId id="1096" r:id="rId12"/>
    <p:sldId id="1004" r:id="rId13"/>
    <p:sldId id="974" r:id="rId14"/>
    <p:sldId id="966" r:id="rId15"/>
    <p:sldId id="978" r:id="rId16"/>
    <p:sldId id="1022" r:id="rId17"/>
    <p:sldId id="1023" r:id="rId18"/>
    <p:sldId id="979" r:id="rId19"/>
    <p:sldId id="1027" r:id="rId20"/>
    <p:sldId id="1028" r:id="rId21"/>
    <p:sldId id="1099" r:id="rId22"/>
    <p:sldId id="1029" r:id="rId23"/>
    <p:sldId id="1030" r:id="rId24"/>
    <p:sldId id="1032" r:id="rId25"/>
    <p:sldId id="103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smith" initials="sjs" lastIdx="1" clrIdx="0">
    <p:extLst>
      <p:ext uri="{19B8F6BF-5375-455C-9EA6-DF929625EA0E}">
        <p15:presenceInfo xmlns:p15="http://schemas.microsoft.com/office/powerpoint/2012/main" userId="ssmit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00FF"/>
    <a:srgbClr val="3366FF"/>
    <a:srgbClr val="FE801A"/>
    <a:srgbClr val="808080"/>
    <a:srgbClr val="CC00CC"/>
    <a:srgbClr val="0000FF"/>
    <a:srgbClr val="FCC9B2"/>
    <a:srgbClr val="008800"/>
    <a:srgbClr val="D7E3E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3" autoAdjust="0"/>
    <p:restoredTop sz="78112" autoAdjust="0"/>
  </p:normalViewPr>
  <p:slideViewPr>
    <p:cSldViewPr snapToGrid="0">
      <p:cViewPr varScale="1">
        <p:scale>
          <a:sx n="83" d="100"/>
          <a:sy n="83" d="100"/>
        </p:scale>
        <p:origin x="115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commentAuthors" Target="commentAuthor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9C5FB8-2BC1-48CF-8C14-FD37E4AB200A}" type="datetimeFigureOut">
              <a:rPr lang="en-US" smtClean="0"/>
              <a:t>10/2/2024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45C113-44B0-414C-863A-2726420E4BC4}" type="slidenum">
              <a:rPr lang="en-US" smtClean="0"/>
              <a:t>‹#›</a:t>
            </a:fld>
            <a:endParaRPr lang="en-US"/>
          </a:p>
        </p:txBody>
      </p:sp>
    </p:spTree>
    <p:extLst>
      <p:ext uri="{BB962C8B-B14F-4D97-AF65-F5344CB8AC3E}">
        <p14:creationId xmlns:p14="http://schemas.microsoft.com/office/powerpoint/2010/main" val="331395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en.wikipedia.org/wiki/Atom"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road gets difficult, remember why you’re travelling on it.</a:t>
            </a:r>
          </a:p>
        </p:txBody>
      </p:sp>
      <p:sp>
        <p:nvSpPr>
          <p:cNvPr id="4" name="Slide Number Placeholder 3"/>
          <p:cNvSpPr>
            <a:spLocks noGrp="1"/>
          </p:cNvSpPr>
          <p:nvPr>
            <p:ph type="sldNum" sz="quarter" idx="10"/>
          </p:nvPr>
        </p:nvSpPr>
        <p:spPr/>
        <p:txBody>
          <a:bodyPr/>
          <a:lstStyle/>
          <a:p>
            <a:fld id="{D445C113-44B0-414C-863A-2726420E4BC4}" type="slidenum">
              <a:rPr lang="en-US" smtClean="0"/>
              <a:t>1</a:t>
            </a:fld>
            <a:endParaRPr lang="en-US"/>
          </a:p>
        </p:txBody>
      </p:sp>
    </p:spTree>
    <p:extLst>
      <p:ext uri="{BB962C8B-B14F-4D97-AF65-F5344CB8AC3E}">
        <p14:creationId xmlns:p14="http://schemas.microsoft.com/office/powerpoint/2010/main" val="3847569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a:noFill/>
          <a:ln/>
        </p:spPr>
        <p:txBody>
          <a:bodyPr/>
          <a:lstStyle/>
          <a:p>
            <a:pPr marL="0" indent="0">
              <a:buFont typeface="+mj-lt"/>
              <a:buNone/>
            </a:pPr>
            <a:r>
              <a:rPr lang="en-US" dirty="0"/>
              <a:t>Have 20 min to get through</a:t>
            </a:r>
            <a:r>
              <a:rPr lang="en-US" baseline="0" dirty="0"/>
              <a:t> first 11 slides and finish electronegativity. Then 10 min for ionic bonds, and 20 min for covalent bonds</a:t>
            </a:r>
            <a:endParaRPr lang="en-US" dirty="0"/>
          </a:p>
          <a:p>
            <a:pPr marL="0" indent="0">
              <a:buFont typeface="+mj-lt"/>
              <a:buNone/>
            </a:pPr>
            <a:r>
              <a:rPr lang="en-US" dirty="0"/>
              <a:t>Learning Objectives:</a:t>
            </a:r>
          </a:p>
          <a:p>
            <a:pPr marL="514350" indent="-514350">
              <a:buFont typeface="+mj-lt"/>
              <a:buAutoNum type="arabicPeriod"/>
            </a:pPr>
            <a:r>
              <a:rPr lang="en-US" dirty="0"/>
              <a:t>Understand types of bonding </a:t>
            </a:r>
          </a:p>
          <a:p>
            <a:pPr marL="514350" indent="-514350">
              <a:buFont typeface="+mj-lt"/>
              <a:buAutoNum type="arabicPeriod"/>
            </a:pPr>
            <a:r>
              <a:rPr lang="en-US" dirty="0"/>
              <a:t>Understand lattice energy of ionic compounds &amp; predict trends in</a:t>
            </a:r>
            <a:r>
              <a:rPr lang="en-US" baseline="0" dirty="0"/>
              <a:t> the lattice energy</a:t>
            </a:r>
            <a:endParaRPr lang="en-US" dirty="0"/>
          </a:p>
          <a:p>
            <a:pPr marL="514350" indent="-514350">
              <a:buFont typeface="+mj-lt"/>
              <a:buAutoNum type="arabicPeriod"/>
            </a:pPr>
            <a:r>
              <a:rPr lang="en-US" dirty="0"/>
              <a:t>Understand</a:t>
            </a:r>
            <a:r>
              <a:rPr lang="en-US" baseline="0" dirty="0"/>
              <a:t> polar bonds, dipole moments, &amp; requirements for polar molecules</a:t>
            </a:r>
            <a:endParaRPr lang="en-US" dirty="0"/>
          </a:p>
          <a:p>
            <a:pPr marL="514350" indent="-514350">
              <a:buFont typeface="+mj-lt"/>
              <a:buAutoNum type="arabicPeriod"/>
            </a:pPr>
            <a:r>
              <a:rPr lang="en-US" dirty="0"/>
              <a:t>Name ionic compounds</a:t>
            </a:r>
          </a:p>
          <a:p>
            <a:pPr marL="514350" indent="-514350">
              <a:buAutoNum type="arabicPeriod"/>
            </a:pPr>
            <a:r>
              <a:rPr lang="en-US" dirty="0"/>
              <a:t>Name acids</a:t>
            </a:r>
          </a:p>
          <a:p>
            <a:pPr marL="514350" indent="-514350">
              <a:buAutoNum type="arabicPeriod"/>
            </a:pPr>
            <a:r>
              <a:rPr lang="en-US" dirty="0"/>
              <a:t>Name covalent compounds</a:t>
            </a:r>
          </a:p>
          <a:p>
            <a:pPr marL="514350" indent="-514350">
              <a:buFont typeface="+mj-lt"/>
              <a:buAutoNum type="arabicPeriod"/>
            </a:pPr>
            <a:endParaRPr lang="en-US" dirty="0"/>
          </a:p>
          <a:p>
            <a:pPr eaLnBrk="1" hangingPunct="1"/>
            <a:endParaRPr lang="en-US" dirty="0">
              <a:latin typeface="Times" pitchFamily="-96" charset="0"/>
            </a:endParaRPr>
          </a:p>
        </p:txBody>
      </p:sp>
    </p:spTree>
    <p:extLst>
      <p:ext uri="{BB962C8B-B14F-4D97-AF65-F5344CB8AC3E}">
        <p14:creationId xmlns:p14="http://schemas.microsoft.com/office/powerpoint/2010/main" val="706559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study of matter –</a:t>
            </a:r>
            <a:r>
              <a:rPr lang="en-US" baseline="0" dirty="0"/>
              <a:t> its composition structure properties &amp; the changes it undergoes with the energy involved – we are a little more than 1 quarter of the way through. </a:t>
            </a:r>
          </a:p>
          <a:p>
            <a:r>
              <a:rPr lang="en-US" baseline="0" dirty="0"/>
              <a:t>We’ve just spent a few weeks studying the composition of matter – ATOMs! </a:t>
            </a:r>
          </a:p>
          <a:p>
            <a:r>
              <a:rPr lang="en-US" baseline="0" dirty="0"/>
              <a:t>We’ve learned </a:t>
            </a:r>
          </a:p>
          <a:p>
            <a:pPr marL="228600" indent="-228600">
              <a:buAutoNum type="arabicParenBoth"/>
            </a:pPr>
            <a:r>
              <a:rPr lang="en-US" baseline="0" dirty="0"/>
              <a:t>why we think matter is composed of atoms, </a:t>
            </a:r>
          </a:p>
          <a:p>
            <a:pPr marL="228600" indent="-228600">
              <a:buAutoNum type="arabicParenBoth"/>
            </a:pPr>
            <a:r>
              <a:rPr lang="en-US" baseline="0" dirty="0"/>
              <a:t>what atoms are, </a:t>
            </a:r>
          </a:p>
          <a:p>
            <a:pPr marL="228600" indent="-228600">
              <a:buAutoNum type="arabicParenBoth"/>
            </a:pPr>
            <a:r>
              <a:rPr lang="en-US" baseline="0" dirty="0"/>
              <a:t>and what makes the atoms of 1 element different from another</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3</a:t>
            </a:fld>
            <a:endParaRPr lang="en-US"/>
          </a:p>
        </p:txBody>
      </p:sp>
    </p:spTree>
    <p:extLst>
      <p:ext uri="{BB962C8B-B14F-4D97-AF65-F5344CB8AC3E}">
        <p14:creationId xmlns:p14="http://schemas.microsoft.com/office/powerpoint/2010/main" val="2910782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8E188E-709D-9945-86F6-00FC950A9664}" type="slidenum">
              <a:rPr lang="en-US"/>
              <a:pPr/>
              <a:t>6</a:t>
            </a:fld>
            <a:endParaRPr lang="en-US"/>
          </a:p>
        </p:txBody>
      </p:sp>
      <p:sp>
        <p:nvSpPr>
          <p:cNvPr id="286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8675" name="Rectangle 3"/>
          <p:cNvSpPr>
            <a:spLocks noGrp="1" noChangeArrowheads="1"/>
          </p:cNvSpPr>
          <p:nvPr>
            <p:ph type="body" idx="1"/>
          </p:nvPr>
        </p:nvSpPr>
        <p:spPr/>
        <p:txBody>
          <a:bodyPr/>
          <a:lstStyle/>
          <a:p>
            <a:r>
              <a:rPr lang="en-US" dirty="0"/>
              <a:t>Short answer is to minimize energy.</a:t>
            </a:r>
          </a:p>
          <a:p>
            <a:r>
              <a:rPr lang="en-US" dirty="0"/>
              <a:t>This is diagram</a:t>
            </a:r>
            <a:r>
              <a:rPr lang="en-US" baseline="0" dirty="0"/>
              <a:t> shows what happens to the energy states of 2 H atoms as they approach one another.</a:t>
            </a:r>
          </a:p>
          <a:p>
            <a:r>
              <a:rPr lang="en-US" baseline="0" dirty="0"/>
              <a:t>Long distance = no interaction</a:t>
            </a:r>
          </a:p>
          <a:p>
            <a:r>
              <a:rPr lang="en-US" baseline="0" dirty="0"/>
              <a:t>As they get closer, they start to interact – the e- now have 2 positive nuclei to be </a:t>
            </a:r>
            <a:r>
              <a:rPr lang="en-US" baseline="0" dirty="0" err="1"/>
              <a:t>attacted</a:t>
            </a:r>
            <a:r>
              <a:rPr lang="en-US" baseline="0" dirty="0"/>
              <a:t> to, so their energy state goes down. </a:t>
            </a:r>
          </a:p>
          <a:p>
            <a:r>
              <a:rPr lang="en-US" baseline="0" dirty="0"/>
              <a:t>If the two nuclei get too close together, the + charge starts to repel, but at a certain distance there’s a sweet spot – an energy minimum.</a:t>
            </a:r>
          </a:p>
          <a:p>
            <a:r>
              <a:rPr lang="en-US" baseline="0" dirty="0"/>
              <a:t>Lower energy state = more stable</a:t>
            </a:r>
          </a:p>
          <a:p>
            <a:r>
              <a:rPr lang="en-US" dirty="0"/>
              <a:t>Two H atoms sharing electrons is more stable than two separate</a:t>
            </a:r>
            <a:r>
              <a:rPr lang="en-US" baseline="0" dirty="0"/>
              <a:t> H.  Which is why H2 is the elemental form of hydrogen.  </a:t>
            </a:r>
          </a:p>
          <a:p>
            <a:r>
              <a:rPr lang="en-US" baseline="0" dirty="0"/>
              <a:t>But some atoms are better at sharing than others…</a:t>
            </a:r>
            <a:endParaRPr lang="en-US" dirty="0"/>
          </a:p>
        </p:txBody>
      </p:sp>
    </p:spTree>
    <p:extLst>
      <p:ext uri="{BB962C8B-B14F-4D97-AF65-F5344CB8AC3E}">
        <p14:creationId xmlns:p14="http://schemas.microsoft.com/office/powerpoint/2010/main" val="145683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945036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424654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8E188E-709D-9945-86F6-00FC950A9664}" type="slidenum">
              <a:rPr lang="en-US"/>
              <a:pPr/>
              <a:t>9</a:t>
            </a:fld>
            <a:endParaRPr lang="en-US"/>
          </a:p>
        </p:txBody>
      </p:sp>
      <p:sp>
        <p:nvSpPr>
          <p:cNvPr id="2867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28675" name="Rectangle 3"/>
          <p:cNvSpPr>
            <a:spLocks noGrp="1" noChangeArrowheads="1"/>
          </p:cNvSpPr>
          <p:nvPr>
            <p:ph type="body" idx="1"/>
          </p:nvPr>
        </p:nvSpPr>
        <p:spPr/>
        <p:txBody>
          <a:bodyPr/>
          <a:lstStyle/>
          <a:p>
            <a:r>
              <a:rPr lang="en-US" dirty="0"/>
              <a:t>Short answer is to minimize energy.</a:t>
            </a:r>
          </a:p>
          <a:p>
            <a:r>
              <a:rPr lang="en-US" dirty="0"/>
              <a:t>This is diagram</a:t>
            </a:r>
            <a:r>
              <a:rPr lang="en-US" baseline="0" dirty="0"/>
              <a:t> shows what happens to the energy states of 2 H atoms as they approach one another.</a:t>
            </a:r>
          </a:p>
          <a:p>
            <a:r>
              <a:rPr lang="en-US" baseline="0" dirty="0"/>
              <a:t>Long distance = no interaction</a:t>
            </a:r>
          </a:p>
          <a:p>
            <a:r>
              <a:rPr lang="en-US" baseline="0" dirty="0"/>
              <a:t>As they get closer, they start to interact – the e- now have 2 positive nuclei to be </a:t>
            </a:r>
            <a:r>
              <a:rPr lang="en-US" baseline="0" dirty="0" err="1"/>
              <a:t>attacted</a:t>
            </a:r>
            <a:r>
              <a:rPr lang="en-US" baseline="0" dirty="0"/>
              <a:t> to, so their energy state goes down. </a:t>
            </a:r>
          </a:p>
          <a:p>
            <a:r>
              <a:rPr lang="en-US" baseline="0" dirty="0"/>
              <a:t>If the two nuclei get too close together, the + charge starts to repel, but at a certain distance there’s a sweet spot – an energy minimum.</a:t>
            </a:r>
          </a:p>
          <a:p>
            <a:r>
              <a:rPr lang="en-US" baseline="0" dirty="0"/>
              <a:t>Lower energy state = more stable</a:t>
            </a:r>
          </a:p>
          <a:p>
            <a:r>
              <a:rPr lang="en-US" dirty="0"/>
              <a:t>Two H atoms sharing electrons is more stable than two separate</a:t>
            </a:r>
            <a:r>
              <a:rPr lang="en-US" baseline="0" dirty="0"/>
              <a:t> H.  Which is why H2 is the elemental form of hydrogen.  </a:t>
            </a:r>
          </a:p>
          <a:p>
            <a:r>
              <a:rPr lang="en-US" baseline="0" dirty="0"/>
              <a:t>But some atoms are better at sharing than others…</a:t>
            </a:r>
            <a:endParaRPr lang="en-US" dirty="0"/>
          </a:p>
        </p:txBody>
      </p:sp>
    </p:spTree>
    <p:extLst>
      <p:ext uri="{BB962C8B-B14F-4D97-AF65-F5344CB8AC3E}">
        <p14:creationId xmlns:p14="http://schemas.microsoft.com/office/powerpoint/2010/main" val="2516978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panose="020B0604020202020204" pitchFamily="34" charset="0"/>
              </a:rPr>
              <a:t>0:15</a:t>
            </a:r>
          </a:p>
        </p:txBody>
      </p:sp>
      <p:sp>
        <p:nvSpPr>
          <p:cNvPr id="19458"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789063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7"/>
          <p:cNvSpPr>
            <a:spLocks noGrp="1" noChangeArrowheads="1"/>
          </p:cNvSpPr>
          <p:nvPr>
            <p:ph type="sldNum" sz="quarter" idx="5"/>
          </p:nvPr>
        </p:nvSpPr>
        <p:spPr>
          <a:noFill/>
          <a:ln>
            <a:miter lim="800000"/>
            <a:headEnd/>
            <a:tailEnd/>
          </a:ln>
        </p:spPr>
        <p:txBody>
          <a:bodyPr/>
          <a:lstStyle/>
          <a:p>
            <a:fld id="{8FFF5F0C-8769-4640-85A7-2F54E5AB5CBE}" type="slidenum">
              <a:rPr lang="en-US" smtClean="0">
                <a:latin typeface="Times" pitchFamily="18" charset="0"/>
                <a:ea typeface="ＭＳ Ｐゴシック" charset="-128"/>
              </a:rPr>
              <a:pPr/>
              <a:t>11</a:t>
            </a:fld>
            <a:endParaRPr lang="en-US">
              <a:latin typeface="Times" pitchFamily="18" charset="0"/>
              <a:ea typeface="ＭＳ Ｐゴシック" charset="-128"/>
            </a:endParaRPr>
          </a:p>
        </p:txBody>
      </p:sp>
      <p:sp>
        <p:nvSpPr>
          <p:cNvPr id="186370" name="Rectangle 2"/>
          <p:cNvSpPr>
            <a:spLocks noGrp="1" noRot="1" noChangeAspect="1" noChangeArrowheads="1" noTextEdit="1"/>
          </p:cNvSpPr>
          <p:nvPr>
            <p:ph type="sldImg"/>
          </p:nvPr>
        </p:nvSpPr>
        <p:spPr>
          <a:ln/>
        </p:spPr>
      </p:sp>
      <p:sp>
        <p:nvSpPr>
          <p:cNvPr id="186371" name="Rectangle 3"/>
          <p:cNvSpPr>
            <a:spLocks noGrp="1" noChangeArrowheads="1"/>
          </p:cNvSpPr>
          <p:nvPr>
            <p:ph type="body" idx="1"/>
          </p:nvPr>
        </p:nvSpPr>
        <p:spPr>
          <a:noFill/>
        </p:spPr>
        <p:txBody>
          <a:bodyPr/>
          <a:lstStyle/>
          <a:p>
            <a:pPr eaLnBrk="1" hangingPunct="1"/>
            <a:r>
              <a:rPr lang="en-US" dirty="0">
                <a:latin typeface="Times" pitchFamily="18" charset="0"/>
              </a:rPr>
              <a:t>Man named Linus Pauling came up with a way to measure how much a particular atom is likely to NOT share electrons (how likely an atom is to HOG the bonding electrons), and he called it electronegativity, which</a:t>
            </a:r>
            <a:r>
              <a:rPr lang="en-US" baseline="0" dirty="0">
                <a:latin typeface="Times" pitchFamily="18" charset="0"/>
              </a:rPr>
              <a:t> is… </a:t>
            </a:r>
          </a:p>
          <a:p>
            <a:pPr eaLnBrk="1" hangingPunct="1"/>
            <a:r>
              <a:rPr lang="en-US" dirty="0">
                <a:latin typeface="Times" pitchFamily="18" charset="0"/>
              </a:rPr>
              <a:t>He came up with a  quantitative</a:t>
            </a:r>
            <a:r>
              <a:rPr lang="en-US" baseline="0" dirty="0">
                <a:latin typeface="Times" pitchFamily="18" charset="0"/>
              </a:rPr>
              <a:t> scale of electronegativity based on dissociation energies</a:t>
            </a:r>
          </a:p>
          <a:p>
            <a:pPr eaLnBrk="1" hangingPunct="1"/>
            <a:r>
              <a:rPr lang="en-US" baseline="0" dirty="0" err="1">
                <a:latin typeface="Times" pitchFamily="18" charset="0"/>
              </a:rPr>
              <a:t>Mulliken</a:t>
            </a:r>
            <a:r>
              <a:rPr lang="en-US" baseline="0" dirty="0">
                <a:latin typeface="Times" pitchFamily="18" charset="0"/>
              </a:rPr>
              <a:t> came up with a definition of electronegativity that is the average between first ionization energy (how much energy it takes to rip an electron away from an atom) and electron affinity (energy change involved when you try to add 1 electron to an atom). But since electron affinity values are not known for all elements, the Pauling scale is still used (&amp; because it’s what everyone is used to)</a:t>
            </a:r>
          </a:p>
          <a:p>
            <a:pPr eaLnBrk="1" hangingPunct="1"/>
            <a:r>
              <a:rPr lang="en-US" baseline="0" dirty="0">
                <a:latin typeface="Times" pitchFamily="18" charset="0"/>
              </a:rPr>
              <a:t>The whole reason we have individual numbers for each element is so that we can compare them – take the difference between them</a:t>
            </a:r>
          </a:p>
        </p:txBody>
      </p:sp>
    </p:spTree>
    <p:extLst>
      <p:ext uri="{BB962C8B-B14F-4D97-AF65-F5344CB8AC3E}">
        <p14:creationId xmlns:p14="http://schemas.microsoft.com/office/powerpoint/2010/main" val="3188437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a:spLocks noGrp="1" noChangeArrowheads="1"/>
          </p:cNvSpPr>
          <p:nvPr>
            <p:ph type="sldNum" sz="quarter" idx="5"/>
          </p:nvPr>
        </p:nvSpPr>
        <p:spPr>
          <a:noFill/>
          <a:ln>
            <a:miter lim="800000"/>
            <a:headEnd/>
            <a:tailEnd/>
          </a:ln>
        </p:spPr>
        <p:txBody>
          <a:bodyPr/>
          <a:lstStyle/>
          <a:p>
            <a:fld id="{6120364F-BCAE-4965-8F91-1D3D91C0F962}" type="slidenum">
              <a:rPr lang="en-US" smtClean="0">
                <a:latin typeface="Times" pitchFamily="18" charset="0"/>
                <a:ea typeface="ＭＳ Ｐゴシック" charset="-128"/>
              </a:rPr>
              <a:pPr/>
              <a:t>12</a:t>
            </a:fld>
            <a:endParaRPr lang="en-US">
              <a:latin typeface="Times" pitchFamily="18" charset="0"/>
              <a:ea typeface="ＭＳ Ｐゴシック" charset="-128"/>
            </a:endParaRPr>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p:spPr>
        <p:txBody>
          <a:bodyPr/>
          <a:lstStyle/>
          <a:p>
            <a:pPr eaLnBrk="1" hangingPunct="1"/>
            <a:r>
              <a:rPr lang="en-US" dirty="0">
                <a:latin typeface="Times" pitchFamily="18" charset="0"/>
              </a:rPr>
              <a:t>0:20</a:t>
            </a:r>
          </a:p>
        </p:txBody>
      </p:sp>
    </p:spTree>
    <p:extLst>
      <p:ext uri="{BB962C8B-B14F-4D97-AF65-F5344CB8AC3E}">
        <p14:creationId xmlns:p14="http://schemas.microsoft.com/office/powerpoint/2010/main" val="264480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Eel = electrostatic potential energy</a:t>
            </a:r>
          </a:p>
        </p:txBody>
      </p:sp>
      <p:sp>
        <p:nvSpPr>
          <p:cNvPr id="4" name="Slide Number Placeholder 3"/>
          <p:cNvSpPr>
            <a:spLocks noGrp="1"/>
          </p:cNvSpPr>
          <p:nvPr>
            <p:ph type="sldNum" sz="quarter" idx="10"/>
          </p:nvPr>
        </p:nvSpPr>
        <p:spPr/>
        <p:txBody>
          <a:bodyPr/>
          <a:lstStyle/>
          <a:p>
            <a:fld id="{D445C113-44B0-414C-863A-2726420E4BC4}" type="slidenum">
              <a:rPr lang="en-US" smtClean="0"/>
              <a:t>13</a:t>
            </a:fld>
            <a:endParaRPr lang="en-US"/>
          </a:p>
        </p:txBody>
      </p:sp>
    </p:spTree>
    <p:extLst>
      <p:ext uri="{BB962C8B-B14F-4D97-AF65-F5344CB8AC3E}">
        <p14:creationId xmlns:p14="http://schemas.microsoft.com/office/powerpoint/2010/main" val="4041343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Crystal Lattice = ordered, 3D array of particles</a:t>
            </a:r>
          </a:p>
          <a:p>
            <a:r>
              <a:rPr lang="en-US" dirty="0"/>
              <a:t>Lattice energy = energy released when gas phase ions combine to form 1 mole of a crystalline solid</a:t>
            </a:r>
          </a:p>
          <a:p>
            <a:r>
              <a:rPr lang="en-US" dirty="0"/>
              <a:t>But that’s kind of a weird definition – for</a:t>
            </a:r>
            <a:r>
              <a:rPr lang="en-US" baseline="0" dirty="0"/>
              <a:t> now </a:t>
            </a:r>
            <a:r>
              <a:rPr lang="en-US" dirty="0"/>
              <a:t>just remember that it’s proportional to the energy required to break apart</a:t>
            </a:r>
            <a:r>
              <a:rPr lang="en-US" baseline="0" dirty="0"/>
              <a:t> the lattice</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14</a:t>
            </a:fld>
            <a:endParaRPr lang="en-US"/>
          </a:p>
        </p:txBody>
      </p:sp>
    </p:spTree>
    <p:extLst>
      <p:ext uri="{BB962C8B-B14F-4D97-AF65-F5344CB8AC3E}">
        <p14:creationId xmlns:p14="http://schemas.microsoft.com/office/powerpoint/2010/main" val="3631943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Rot="1" noChangeAspect="1" noChangeArrowheads="1" noTextEdit="1"/>
          </p:cNvSpPr>
          <p:nvPr>
            <p:ph type="sldImg"/>
          </p:nvPr>
        </p:nvSpPr>
        <p:spPr>
          <a:ln/>
        </p:spPr>
      </p:sp>
      <p:sp>
        <p:nvSpPr>
          <p:cNvPr id="8294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latin typeface="Arial" charset="0"/>
                <a:ea typeface="ＭＳ Ｐゴシック" charset="0"/>
                <a:cs typeface="ＭＳ Ｐゴシック" charset="0"/>
              </a:rPr>
              <a:t>Finish by 0:30</a:t>
            </a:r>
          </a:p>
        </p:txBody>
      </p:sp>
    </p:spTree>
    <p:extLst>
      <p:ext uri="{BB962C8B-B14F-4D97-AF65-F5344CB8AC3E}">
        <p14:creationId xmlns:p14="http://schemas.microsoft.com/office/powerpoint/2010/main" val="1875719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0:30</a:t>
            </a:r>
          </a:p>
        </p:txBody>
      </p:sp>
      <p:sp>
        <p:nvSpPr>
          <p:cNvPr id="4" name="Slide Number Placeholder 3"/>
          <p:cNvSpPr>
            <a:spLocks noGrp="1"/>
          </p:cNvSpPr>
          <p:nvPr>
            <p:ph type="sldNum" sz="quarter" idx="10"/>
          </p:nvPr>
        </p:nvSpPr>
        <p:spPr/>
        <p:txBody>
          <a:bodyPr/>
          <a:lstStyle/>
          <a:p>
            <a:fld id="{D445C113-44B0-414C-863A-2726420E4BC4}" type="slidenum">
              <a:rPr lang="en-US" smtClean="0"/>
              <a:t>16</a:t>
            </a:fld>
            <a:endParaRPr lang="en-US"/>
          </a:p>
        </p:txBody>
      </p:sp>
    </p:spTree>
    <p:extLst>
      <p:ext uri="{BB962C8B-B14F-4D97-AF65-F5344CB8AC3E}">
        <p14:creationId xmlns:p14="http://schemas.microsoft.com/office/powerpoint/2010/main" val="30915184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7"/>
          <p:cNvSpPr>
            <a:spLocks noGrp="1" noChangeArrowheads="1"/>
          </p:cNvSpPr>
          <p:nvPr>
            <p:ph type="sldNum" sz="quarter" idx="5"/>
          </p:nvPr>
        </p:nvSpPr>
        <p:spPr>
          <a:noFill/>
          <a:ln>
            <a:miter lim="800000"/>
            <a:headEnd/>
            <a:tailEnd/>
          </a:ln>
        </p:spPr>
        <p:txBody>
          <a:bodyPr/>
          <a:lstStyle/>
          <a:p>
            <a:fld id="{99853226-A1F4-44C4-8AAC-18649C0FE1FB}" type="slidenum">
              <a:rPr lang="en-US" smtClean="0">
                <a:latin typeface="Times" pitchFamily="18" charset="0"/>
                <a:ea typeface="ＭＳ Ｐゴシック" charset="-128"/>
              </a:rPr>
              <a:pPr/>
              <a:t>19</a:t>
            </a:fld>
            <a:endParaRPr lang="en-US">
              <a:latin typeface="Times" pitchFamily="18" charset="0"/>
              <a:ea typeface="ＭＳ Ｐゴシック" charset="-128"/>
            </a:endParaRPr>
          </a:p>
        </p:txBody>
      </p:sp>
      <p:sp>
        <p:nvSpPr>
          <p:cNvPr id="196610" name="Rectangle 2"/>
          <p:cNvSpPr>
            <a:spLocks noGrp="1" noRot="1" noChangeAspect="1" noChangeArrowheads="1" noTextEdit="1"/>
          </p:cNvSpPr>
          <p:nvPr>
            <p:ph type="sldImg"/>
          </p:nvPr>
        </p:nvSpPr>
        <p:spPr>
          <a:ln/>
        </p:spPr>
      </p:sp>
      <p:sp>
        <p:nvSpPr>
          <p:cNvPr id="196611" name="Rectangle 3"/>
          <p:cNvSpPr>
            <a:spLocks noGrp="1" noChangeArrowheads="1"/>
          </p:cNvSpPr>
          <p:nvPr>
            <p:ph type="body" idx="1"/>
          </p:nvPr>
        </p:nvSpPr>
        <p:spPr>
          <a:noFill/>
        </p:spPr>
        <p:txBody>
          <a:bodyPr/>
          <a:lstStyle/>
          <a:p>
            <a:pPr eaLnBrk="1" hangingPunct="1"/>
            <a:r>
              <a:rPr lang="en-US" dirty="0">
                <a:latin typeface="Times" pitchFamily="18" charset="0"/>
              </a:rPr>
              <a:t>Start at 0:35</a:t>
            </a:r>
          </a:p>
        </p:txBody>
      </p:sp>
    </p:spTree>
    <p:extLst>
      <p:ext uri="{BB962C8B-B14F-4D97-AF65-F5344CB8AC3E}">
        <p14:creationId xmlns:p14="http://schemas.microsoft.com/office/powerpoint/2010/main" val="4192371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0:40</a:t>
            </a:r>
          </a:p>
          <a:p>
            <a:r>
              <a:rPr lang="en-US" dirty="0"/>
              <a:t>Now, according to both of these criteria, CO2 should be nonpolar.</a:t>
            </a:r>
            <a:r>
              <a:rPr lang="en-US" baseline="0" dirty="0"/>
              <a:t> And it is – except when it’s not…</a:t>
            </a:r>
          </a:p>
          <a:p>
            <a:r>
              <a:rPr lang="en-US" baseline="0" dirty="0"/>
              <a:t>We have to remember that bonds aren’t sticks, and atoms are constantly moving (they only stop moving when T = 0 K)</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20</a:t>
            </a:fld>
            <a:endParaRPr lang="en-US"/>
          </a:p>
        </p:txBody>
      </p:sp>
    </p:spTree>
    <p:extLst>
      <p:ext uri="{BB962C8B-B14F-4D97-AF65-F5344CB8AC3E}">
        <p14:creationId xmlns:p14="http://schemas.microsoft.com/office/powerpoint/2010/main" val="3020714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We have to remember that bonds aren’t sticks, and atoms are constantly moving (they only stop moving when T = 0 K). And depending on how the atoms move or on how the bonds VIBRATE, </a:t>
            </a:r>
            <a:endParaRPr lang="en-US" dirty="0"/>
          </a:p>
          <a:p>
            <a:endParaRPr lang="en-US" dirty="0"/>
          </a:p>
          <a:p>
            <a:r>
              <a:rPr lang="en-US" dirty="0"/>
              <a:t>As these vibrations</a:t>
            </a:r>
            <a:r>
              <a:rPr lang="en-US" baseline="0" dirty="0"/>
              <a:t> are excited, extra energy is dissipated through collisions with nearby molecules </a:t>
            </a:r>
            <a:r>
              <a:rPr lang="en-US" baseline="0" dirty="0">
                <a:sym typeface="Wingdings" panose="05000000000000000000" pitchFamily="2" charset="2"/>
              </a:rPr>
              <a:t> HEAT</a:t>
            </a:r>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22</a:t>
            </a:fld>
            <a:endParaRPr lang="en-US"/>
          </a:p>
        </p:txBody>
      </p:sp>
    </p:spTree>
    <p:extLst>
      <p:ext uri="{BB962C8B-B14F-4D97-AF65-F5344CB8AC3E}">
        <p14:creationId xmlns:p14="http://schemas.microsoft.com/office/powerpoint/2010/main" val="5124901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Water, fat, and other substances in the food absorb energy from the microwaves in a process called dielectric heating. Many molecules (such as those of water) are electric dipoles, meaning that they have a partial positive charge at one end and a partial negative charge at the other, and therefore rotate as they try to align themselves with the alternating electric field of the microwaves. Rotating molecules hit other molecules and put them into motion, thus dispersing energy. This energy, when dispersed as molecular vibration in solids and liquids (i.e. as both potential energy and kinetic energy of atoms), is heat.</a:t>
            </a:r>
          </a:p>
          <a:p>
            <a:endParaRPr lang="en-US" dirty="0"/>
          </a:p>
          <a:p>
            <a:r>
              <a:rPr lang="en-US" dirty="0"/>
              <a:t>Rotating molecules push, pull, and collide with other molecules (through electrical forces), distributing the energy to adjacent molecules and </a:t>
            </a:r>
            <a:r>
              <a:rPr lang="en-US" dirty="0">
                <a:hlinkClick r:id="rId3" tooltip="Atom"/>
              </a:rPr>
              <a:t>atoms</a:t>
            </a:r>
            <a:r>
              <a:rPr lang="en-US" dirty="0"/>
              <a:t> in the material.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Rotating molecules push, pull, and collide with other molecules, distributing the energy to adjacent molecules and atoms in the material </a:t>
            </a:r>
            <a:r>
              <a:rPr lang="en-US" sz="1200" dirty="0">
                <a:sym typeface="Wingdings" panose="05000000000000000000" pitchFamily="2" charset="2"/>
              </a:rPr>
              <a:t> HEAT!</a:t>
            </a:r>
            <a:endParaRPr lang="en-US" sz="1200" dirty="0"/>
          </a:p>
          <a:p>
            <a:endParaRPr lang="en-US" dirty="0"/>
          </a:p>
        </p:txBody>
      </p:sp>
      <p:sp>
        <p:nvSpPr>
          <p:cNvPr id="4" name="Slide Number Placeholder 3"/>
          <p:cNvSpPr>
            <a:spLocks noGrp="1"/>
          </p:cNvSpPr>
          <p:nvPr>
            <p:ph type="sldNum" sz="quarter" idx="10"/>
          </p:nvPr>
        </p:nvSpPr>
        <p:spPr/>
        <p:txBody>
          <a:bodyPr/>
          <a:lstStyle/>
          <a:p>
            <a:fld id="{D445C113-44B0-414C-863A-2726420E4BC4}" type="slidenum">
              <a:rPr lang="en-US" smtClean="0"/>
              <a:t>23</a:t>
            </a:fld>
            <a:endParaRPr lang="en-US"/>
          </a:p>
        </p:txBody>
      </p:sp>
    </p:spTree>
    <p:extLst>
      <p:ext uri="{BB962C8B-B14F-4D97-AF65-F5344CB8AC3E}">
        <p14:creationId xmlns:p14="http://schemas.microsoft.com/office/powerpoint/2010/main" val="9190389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fld id="{55E31A38-63A6-4C79-B2DB-DC9699C06701}"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a:xfrm>
            <a:off x="914400" y="4323846"/>
            <a:ext cx="4880610"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0"/>
            <a:ext cx="2171700" cy="365125"/>
          </a:xfrm>
        </p:spPr>
        <p:txBody>
          <a:bodyPr/>
          <a:lstStyle>
            <a:lvl1pPr algn="l">
              <a:defRPr b="1">
                <a:solidFill>
                  <a:schemeClr val="bg1"/>
                </a:solidFill>
              </a:defRPr>
            </a:lvl1pPr>
          </a:lstStyle>
          <a:p>
            <a:fld id="{63C103D7-7FC1-4B9F-A526-BC88A3C4AA47}" type="slidenum">
              <a:rPr lang="en-US" smtClean="0"/>
              <a:pPr/>
              <a:t>‹#›</a:t>
            </a:fld>
            <a:endParaRPr lang="en-US" dirty="0"/>
          </a:p>
        </p:txBody>
      </p:sp>
    </p:spTree>
    <p:extLst>
      <p:ext uri="{BB962C8B-B14F-4D97-AF65-F5344CB8AC3E}">
        <p14:creationId xmlns:p14="http://schemas.microsoft.com/office/powerpoint/2010/main" val="2568021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71700" y="381001"/>
            <a:ext cx="6377940" cy="1254759"/>
          </a:xfrm>
        </p:spPr>
        <p:txBody>
          <a:bodyPr>
            <a:noAutofit/>
          </a:bodyPr>
          <a:lstStyle>
            <a:lvl1pPr>
              <a:defRPr sz="4800"/>
            </a:lvl1pPr>
          </a:lstStyle>
          <a:p>
            <a:r>
              <a:rPr lang="en-US" dirty="0"/>
              <a:t>Click to edit Master title style</a:t>
            </a:r>
          </a:p>
        </p:txBody>
      </p:sp>
      <p:sp>
        <p:nvSpPr>
          <p:cNvPr id="3" name="Content Placeholder 2"/>
          <p:cNvSpPr>
            <a:spLocks noGrp="1"/>
          </p:cNvSpPr>
          <p:nvPr>
            <p:ph idx="1"/>
          </p:nvPr>
        </p:nvSpPr>
        <p:spPr>
          <a:xfrm>
            <a:off x="594360" y="1635760"/>
            <a:ext cx="7955280" cy="4720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141208F2-554C-4E64-8DE1-6A97CF7150A3}"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5876"/>
            <a:ext cx="1977390" cy="365125"/>
          </a:xfrm>
        </p:spPr>
        <p:txBody>
          <a:bodyPr lIns="91440"/>
          <a:lstStyle>
            <a:lvl1pPr algn="l">
              <a:defRPr b="1">
                <a:solidFill>
                  <a:schemeClr val="bg1"/>
                </a:solidFill>
              </a:defRPr>
            </a:lvl1pPr>
          </a:lstStyle>
          <a:p>
            <a:fld id="{63C103D7-7FC1-4B9F-A526-BC88A3C4AA47}" type="slidenum">
              <a:rPr lang="en-US" smtClean="0"/>
              <a:pPr/>
              <a:t>‹#›</a:t>
            </a:fld>
            <a:endParaRPr lang="en-US" dirty="0"/>
          </a:p>
        </p:txBody>
      </p:sp>
    </p:spTree>
    <p:extLst>
      <p:ext uri="{BB962C8B-B14F-4D97-AF65-F5344CB8AC3E}">
        <p14:creationId xmlns:p14="http://schemas.microsoft.com/office/powerpoint/2010/main" val="2896537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E2CCEF81-D633-4954-A808-8B610A2466AE}"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3"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947296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BE1B07D-695B-434A-8934-02F4D5F41A16}"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902684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12230" y="6356351"/>
            <a:ext cx="2137410" cy="365125"/>
          </a:xfrm>
          <a:prstGeom prst="rect">
            <a:avLst/>
          </a:prstGeom>
        </p:spPr>
        <p:txBody>
          <a:bodyPr/>
          <a:lstStyle/>
          <a:p>
            <a:fld id="{F793AA86-8E10-48A9-9549-90D70997A87F}" type="datetime1">
              <a:rPr lang="en-US" smtClean="0">
                <a:solidFill>
                  <a:prstClr val="white"/>
                </a:solidFill>
              </a:rPr>
              <a:t>10/2/2024</a:t>
            </a:fld>
            <a:endParaRPr lang="en-US">
              <a:solidFill>
                <a:prstClr val="white"/>
              </a:solidFill>
            </a:endParaRPr>
          </a:p>
        </p:txBody>
      </p:sp>
      <p:sp>
        <p:nvSpPr>
          <p:cNvPr id="8" name="Footer Placeholder 7"/>
          <p:cNvSpPr>
            <a:spLocks noGrp="1"/>
          </p:cNvSpPr>
          <p:nvPr>
            <p:ph type="ftr" sz="quarter" idx="11"/>
          </p:nvPr>
        </p:nvSpPr>
        <p:spPr/>
        <p:txBody>
          <a:bodyPr/>
          <a:lstStyle/>
          <a:p>
            <a:endParaRPr lang="en-US">
              <a:solidFill>
                <a:prstClr val="white">
                  <a:tint val="75000"/>
                </a:prstClr>
              </a:solidFill>
            </a:endParaRPr>
          </a:p>
        </p:txBody>
      </p:sp>
      <p:sp>
        <p:nvSpPr>
          <p:cNvPr id="9" name="Slide Number Placeholder 8"/>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2489401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ED43023C-2605-498A-BB5C-6973C3D34B55}" type="datetime1">
              <a:rPr lang="en-US" smtClean="0">
                <a:solidFill>
                  <a:prstClr val="white"/>
                </a:solidFill>
              </a:rPr>
              <a:t>10/2/2024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1527424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12230" y="6356351"/>
            <a:ext cx="2137410" cy="365125"/>
          </a:xfrm>
          <a:prstGeom prst="rect">
            <a:avLst/>
          </a:prstGeom>
        </p:spPr>
        <p:txBody>
          <a:bodyPr/>
          <a:lstStyle/>
          <a:p>
            <a:fld id="{80A874CE-8ADE-4F08-BA32-A47E938FF806}" type="datetime1">
              <a:rPr lang="en-US" smtClean="0">
                <a:solidFill>
                  <a:prstClr val="white"/>
                </a:solidFill>
              </a:rPr>
              <a:t>10/2/2024</a:t>
            </a:fld>
            <a:endParaRPr lang="en-US">
              <a:solidFill>
                <a:prstClr val="white"/>
              </a:solidFill>
            </a:endParaRPr>
          </a:p>
        </p:txBody>
      </p:sp>
      <p:sp>
        <p:nvSpPr>
          <p:cNvPr id="3" name="Footer Placeholder 2"/>
          <p:cNvSpPr>
            <a:spLocks noGrp="1"/>
          </p:cNvSpPr>
          <p:nvPr>
            <p:ph type="ftr" sz="quarter" idx="11"/>
          </p:nvPr>
        </p:nvSpPr>
        <p:spPr/>
        <p:txBody>
          <a:bodyPr/>
          <a:lstStyle/>
          <a:p>
            <a:endParaRPr lang="en-US">
              <a:solidFill>
                <a:prstClr val="white">
                  <a:tint val="75000"/>
                </a:prstClr>
              </a:solidFill>
            </a:endParaRPr>
          </a:p>
        </p:txBody>
      </p:sp>
      <p:sp>
        <p:nvSpPr>
          <p:cNvPr id="4" name="Slide Number Placeholder 3"/>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2021339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355827B-98D1-43EC-90DC-30C64781540E}"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7882"/>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343191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46D88B2F-3C07-4791-A119-F9B4686F8AF8}"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4128058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4A1B8437-B231-41EB-805D-A9674C385507}"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957251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73F8B0A2-E3F2-4A64-872D-A1D43FA81340}"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758373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7622088F-5910-498C-8BB2-C204CBCA1FBB}"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a:xfrm>
            <a:off x="594360" y="379438"/>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white"/>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white"/>
                </a:solidFill>
                <a:effectLst/>
              </a:rPr>
              <a:t>”</a:t>
            </a:r>
          </a:p>
        </p:txBody>
      </p:sp>
    </p:spTree>
    <p:extLst>
      <p:ext uri="{BB962C8B-B14F-4D97-AF65-F5344CB8AC3E}">
        <p14:creationId xmlns:p14="http://schemas.microsoft.com/office/powerpoint/2010/main" val="1876986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a:prstGeom prst="rect">
            <a:avLst/>
          </a:prstGeom>
        </p:spPr>
        <p:txBody>
          <a:bodyPr/>
          <a:lstStyle>
            <a:lvl1pPr algn="r">
              <a:defRPr/>
            </a:lvl1pPr>
          </a:lstStyle>
          <a:p>
            <a:fld id="{EA383E0D-45A8-458F-B198-10A5D34532CC}"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a:xfrm>
            <a:off x="594360" y="378884"/>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679539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DE86E460-01DA-4FB9-8DAD-C67E26EBBF9F}" type="datetime1">
              <a:rPr lang="en-US" smtClean="0">
                <a:solidFill>
                  <a:prstClr val="white"/>
                </a:solidFill>
              </a:rPr>
              <a:t>10/2/2024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667748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C264484A-F7E6-401B-BD66-1C7B5E919472}" type="datetime1">
              <a:rPr lang="en-US" smtClean="0">
                <a:solidFill>
                  <a:prstClr val="white"/>
                </a:solidFill>
              </a:rPr>
              <a:t>10/2/2024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3284" y="0"/>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478787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B9B6C93D-ACC8-4246-9BB1-311B64E8E954}"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08"/>
            <a:ext cx="1977390" cy="365125"/>
          </a:xfrm>
        </p:spPr>
        <p:txBody>
          <a:bodyPr/>
          <a:lstStyle>
            <a:lvl1pPr algn="l">
              <a:defRPr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981422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B7DB9BED-120A-4C43-9CC6-9605C6FEDF3A}"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3719423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a:lstStyle>
            <a:lvl1pPr>
              <a:defRPr>
                <a:latin typeface="Helvetica" pitchFamily="-96" charset="0"/>
                <a:ea typeface="+mn-ea"/>
              </a:defRPr>
            </a:lvl1pPr>
          </a:lstStyle>
          <a:p>
            <a:pPr>
              <a:defRPr/>
            </a:pPr>
            <a:fld id="{55307E63-02F2-4C62-A44C-6458B88B1DE1}" type="datetime1">
              <a:rPr lang="en-US" smtClean="0"/>
              <a:t>10/2/2024</a:t>
            </a:fld>
            <a:endParaRPr lang="en-US"/>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Helvetica" pitchFamily="-96" charset="0"/>
                <a:ea typeface="+mn-ea"/>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7AC6D32A-B137-43DC-B6E4-7B089658CE83}" type="slidenum">
              <a:rPr lang="en-US"/>
              <a:pPr>
                <a:defRPr/>
              </a:pPr>
              <a:t>‹#›</a:t>
            </a:fld>
            <a:endParaRPr lang="en-US"/>
          </a:p>
        </p:txBody>
      </p:sp>
    </p:spTree>
    <p:extLst>
      <p:ext uri="{BB962C8B-B14F-4D97-AF65-F5344CB8AC3E}">
        <p14:creationId xmlns:p14="http://schemas.microsoft.com/office/powerpoint/2010/main" val="36561219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rgbClr val="F7D300"/>
        </a:solidFill>
        <a:effectLst/>
      </p:bgPr>
    </p:bg>
    <p:spTree>
      <p:nvGrpSpPr>
        <p:cNvPr id="1" name=""/>
        <p:cNvGrpSpPr/>
        <p:nvPr/>
      </p:nvGrpSpPr>
      <p:grpSpPr>
        <a:xfrm>
          <a:off x="0" y="0"/>
          <a:ext cx="0" cy="0"/>
          <a:chOff x="0" y="0"/>
          <a:chExt cx="0" cy="0"/>
        </a:xfrm>
      </p:grpSpPr>
      <p:pic>
        <p:nvPicPr>
          <p:cNvPr id="5" name="Picture 4"/>
          <p:cNvPicPr>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577840"/>
          </a:xfrm>
          <a:prstGeom prst="rect">
            <a:avLst/>
          </a:prstGeom>
        </p:spPr>
      </p:pic>
      <p:sp>
        <p:nvSpPr>
          <p:cNvPr id="130" name="Rectangle 199"/>
          <p:cNvSpPr>
            <a:spLocks noChangeArrowheads="1"/>
          </p:cNvSpPr>
          <p:nvPr userDrawn="1"/>
        </p:nvSpPr>
        <p:spPr bwMode="auto">
          <a:xfrm>
            <a:off x="0" y="4343400"/>
            <a:ext cx="9144000" cy="2514600"/>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7" name="Subtitle 2"/>
          <p:cNvSpPr>
            <a:spLocks noGrp="1"/>
          </p:cNvSpPr>
          <p:nvPr>
            <p:ph type="subTitle" idx="1"/>
          </p:nvPr>
        </p:nvSpPr>
        <p:spPr>
          <a:xfrm>
            <a:off x="762000" y="5486400"/>
            <a:ext cx="6400800" cy="1295400"/>
          </a:xfrm>
        </p:spPr>
        <p:txBody>
          <a:bodyPr/>
          <a:lstStyle>
            <a:lvl1pPr marL="0" indent="0" algn="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 name="Title 1"/>
          <p:cNvSpPr>
            <a:spLocks noGrp="1"/>
          </p:cNvSpPr>
          <p:nvPr>
            <p:ph type="title"/>
          </p:nvPr>
        </p:nvSpPr>
        <p:spPr>
          <a:xfrm>
            <a:off x="5743202" y="4419600"/>
            <a:ext cx="1419598" cy="1066800"/>
          </a:xfrm>
          <a:effectLst/>
        </p:spPr>
        <p:txBody>
          <a:bodyPr lIns="0" tIns="0" rIns="0" bIns="0"/>
          <a:lstStyle>
            <a:lvl1pPr algn="r">
              <a:defRPr sz="6600">
                <a:solidFill>
                  <a:srgbClr val="F7D300"/>
                </a:solidFill>
              </a:defRPr>
            </a:lvl1pPr>
          </a:lstStyle>
          <a:p>
            <a:r>
              <a:rPr lang="en-US" dirty="0"/>
              <a:t>Click to edit Master title style</a:t>
            </a:r>
          </a:p>
        </p:txBody>
      </p:sp>
      <p:sp>
        <p:nvSpPr>
          <p:cNvPr id="3" name="TextBox 2"/>
          <p:cNvSpPr txBox="1"/>
          <p:nvPr userDrawn="1"/>
        </p:nvSpPr>
        <p:spPr>
          <a:xfrm>
            <a:off x="1447800" y="4599057"/>
            <a:ext cx="4743681" cy="707886"/>
          </a:xfrm>
          <a:prstGeom prst="rect">
            <a:avLst/>
          </a:prstGeom>
          <a:noFill/>
          <a:ln>
            <a:noFill/>
          </a:ln>
          <a:effectLst/>
          <a:scene3d>
            <a:camera prst="orthographicFront">
              <a:rot lat="0" lon="0" rev="0"/>
            </a:camera>
            <a:lightRig rig="balanced" dir="t">
              <a:rot lat="0" lon="0" rev="8700000"/>
            </a:lightRig>
          </a:scene3d>
          <a:sp3d>
            <a:bevelT w="190500" h="38100"/>
          </a:sp3d>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91440" rIns="91440" bIns="91440" numCol="1" anchor="ctr" anchorCtr="0" compatLnSpc="1">
            <a:prstTxWarp prst="textNoShape">
              <a:avLst/>
            </a:prstTxWarp>
          </a:bodyPr>
          <a:lstStyle>
            <a:lvl1pPr eaLnBrk="0" hangingPunct="0">
              <a:defRPr sz="4000" b="1">
                <a:solidFill>
                  <a:srgbClr val="F7D300"/>
                </a:solidFill>
                <a:latin typeface="Arial" pitchFamily="34" charset="0"/>
                <a:ea typeface="+mj-ea"/>
                <a:cs typeface="Arial" pitchFamily="34" charset="0"/>
              </a:defRPr>
            </a:lvl1pPr>
            <a:lvl2pPr eaLnBrk="0" hangingPunct="0">
              <a:defRPr sz="4000" b="1">
                <a:solidFill>
                  <a:schemeClr val="bg1"/>
                </a:solidFill>
              </a:defRPr>
            </a:lvl2pPr>
            <a:lvl3pPr eaLnBrk="0" hangingPunct="0">
              <a:defRPr sz="4000" b="1">
                <a:solidFill>
                  <a:schemeClr val="bg1"/>
                </a:solidFill>
              </a:defRPr>
            </a:lvl3pPr>
            <a:lvl4pPr eaLnBrk="0" hangingPunct="0">
              <a:defRPr sz="4000" b="1">
                <a:solidFill>
                  <a:schemeClr val="bg1"/>
                </a:solidFill>
              </a:defRPr>
            </a:lvl4pPr>
            <a:lvl5pPr eaLnBrk="0" hangingPunct="0">
              <a:defRPr sz="4000" b="1">
                <a:solidFill>
                  <a:schemeClr val="bg1"/>
                </a:solidFill>
              </a:defRPr>
            </a:lvl5pPr>
            <a:lvl6pPr marL="457200" fontAlgn="base">
              <a:spcBef>
                <a:spcPct val="0"/>
              </a:spcBef>
              <a:spcAft>
                <a:spcPct val="0"/>
              </a:spcAft>
              <a:defRPr sz="4000">
                <a:latin typeface="Arial Rounded MT Bold" pitchFamily="34" charset="0"/>
              </a:defRPr>
            </a:lvl6pPr>
            <a:lvl7pPr marL="914400" fontAlgn="base">
              <a:spcBef>
                <a:spcPct val="0"/>
              </a:spcBef>
              <a:spcAft>
                <a:spcPct val="0"/>
              </a:spcAft>
              <a:defRPr sz="4000">
                <a:latin typeface="Arial Rounded MT Bold" pitchFamily="34" charset="0"/>
              </a:defRPr>
            </a:lvl7pPr>
            <a:lvl8pPr marL="1371600" fontAlgn="base">
              <a:spcBef>
                <a:spcPct val="0"/>
              </a:spcBef>
              <a:spcAft>
                <a:spcPct val="0"/>
              </a:spcAft>
              <a:defRPr sz="4000">
                <a:latin typeface="Arial Rounded MT Bold" pitchFamily="34" charset="0"/>
              </a:defRPr>
            </a:lvl8pPr>
            <a:lvl9pPr marL="1828800" fontAlgn="base">
              <a:spcBef>
                <a:spcPct val="0"/>
              </a:spcBef>
              <a:spcAft>
                <a:spcPct val="0"/>
              </a:spcAft>
              <a:defRPr sz="4000">
                <a:latin typeface="Arial Rounded MT Bold" pitchFamily="34" charset="0"/>
              </a:defRPr>
            </a:lvl9pPr>
          </a:lstStyle>
          <a:p>
            <a:pPr algn="r" fontAlgn="base">
              <a:spcBef>
                <a:spcPct val="0"/>
              </a:spcBef>
              <a:spcAft>
                <a:spcPct val="0"/>
              </a:spcAft>
            </a:pPr>
            <a:r>
              <a:rPr lang="en-US" sz="6600" dirty="0"/>
              <a:t>Chapter</a:t>
            </a:r>
          </a:p>
        </p:txBody>
      </p:sp>
      <p:grpSp>
        <p:nvGrpSpPr>
          <p:cNvPr id="3208" name="Group 3207"/>
          <p:cNvGrpSpPr/>
          <p:nvPr userDrawn="1"/>
        </p:nvGrpSpPr>
        <p:grpSpPr>
          <a:xfrm>
            <a:off x="2157788" y="990600"/>
            <a:ext cx="6994525" cy="3590926"/>
            <a:chOff x="147638" y="1658938"/>
            <a:chExt cx="6994525" cy="3590925"/>
          </a:xfrm>
          <a:effectLst>
            <a:outerShdw blurRad="50800" dist="38100" dir="2700000" algn="tl" rotWithShape="0">
              <a:prstClr val="black">
                <a:alpha val="40000"/>
              </a:prstClr>
            </a:outerShdw>
          </a:effectLst>
        </p:grpSpPr>
        <p:sp>
          <p:nvSpPr>
            <p:cNvPr id="3153" name="Freeform 107"/>
            <p:cNvSpPr>
              <a:spLocks/>
            </p:cNvSpPr>
            <p:nvPr userDrawn="1"/>
          </p:nvSpPr>
          <p:spPr bwMode="auto">
            <a:xfrm>
              <a:off x="1204913" y="1658938"/>
              <a:ext cx="1289050" cy="1108075"/>
            </a:xfrm>
            <a:custGeom>
              <a:avLst/>
              <a:gdLst>
                <a:gd name="T0" fmla="*/ 174 w 812"/>
                <a:gd name="T1" fmla="*/ 0 h 698"/>
                <a:gd name="T2" fmla="*/ 0 w 812"/>
                <a:gd name="T3" fmla="*/ 362 h 698"/>
                <a:gd name="T4" fmla="*/ 228 w 812"/>
                <a:gd name="T5" fmla="*/ 698 h 698"/>
                <a:gd name="T6" fmla="*/ 636 w 812"/>
                <a:gd name="T7" fmla="*/ 668 h 698"/>
                <a:gd name="T8" fmla="*/ 812 w 812"/>
                <a:gd name="T9" fmla="*/ 300 h 698"/>
                <a:gd name="T10" fmla="*/ 608 w 812"/>
                <a:gd name="T11" fmla="*/ 0 h 698"/>
              </a:gdLst>
              <a:ahLst/>
              <a:cxnLst>
                <a:cxn ang="0">
                  <a:pos x="T0" y="T1"/>
                </a:cxn>
                <a:cxn ang="0">
                  <a:pos x="T2" y="T3"/>
                </a:cxn>
                <a:cxn ang="0">
                  <a:pos x="T4" y="T5"/>
                </a:cxn>
                <a:cxn ang="0">
                  <a:pos x="T6" y="T7"/>
                </a:cxn>
                <a:cxn ang="0">
                  <a:pos x="T8" y="T9"/>
                </a:cxn>
                <a:cxn ang="0">
                  <a:pos x="T10" y="T11"/>
                </a:cxn>
              </a:cxnLst>
              <a:rect l="0" t="0" r="r" b="b"/>
              <a:pathLst>
                <a:path w="812" h="698">
                  <a:moveTo>
                    <a:pt x="174" y="0"/>
                  </a:moveTo>
                  <a:lnTo>
                    <a:pt x="0" y="362"/>
                  </a:lnTo>
                  <a:lnTo>
                    <a:pt x="228" y="698"/>
                  </a:lnTo>
                  <a:lnTo>
                    <a:pt x="636" y="668"/>
                  </a:lnTo>
                  <a:lnTo>
                    <a:pt x="812" y="300"/>
                  </a:lnTo>
                  <a:lnTo>
                    <a:pt x="608"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4" name="Freeform 108"/>
            <p:cNvSpPr>
              <a:spLocks/>
            </p:cNvSpPr>
            <p:nvPr userDrawn="1"/>
          </p:nvSpPr>
          <p:spPr bwMode="auto">
            <a:xfrm>
              <a:off x="195263" y="1658938"/>
              <a:ext cx="1285875" cy="622300"/>
            </a:xfrm>
            <a:custGeom>
              <a:avLst/>
              <a:gdLst>
                <a:gd name="T0" fmla="*/ 26 w 810"/>
                <a:gd name="T1" fmla="*/ 0 h 392"/>
                <a:gd name="T2" fmla="*/ 0 w 810"/>
                <a:gd name="T3" fmla="*/ 54 h 392"/>
                <a:gd name="T4" fmla="*/ 228 w 810"/>
                <a:gd name="T5" fmla="*/ 392 h 392"/>
                <a:gd name="T6" fmla="*/ 636 w 810"/>
                <a:gd name="T7" fmla="*/ 362 h 392"/>
                <a:gd name="T8" fmla="*/ 810 w 810"/>
                <a:gd name="T9" fmla="*/ 0 h 392"/>
              </a:gdLst>
              <a:ahLst/>
              <a:cxnLst>
                <a:cxn ang="0">
                  <a:pos x="T0" y="T1"/>
                </a:cxn>
                <a:cxn ang="0">
                  <a:pos x="T2" y="T3"/>
                </a:cxn>
                <a:cxn ang="0">
                  <a:pos x="T4" y="T5"/>
                </a:cxn>
                <a:cxn ang="0">
                  <a:pos x="T6" y="T7"/>
                </a:cxn>
                <a:cxn ang="0">
                  <a:pos x="T8" y="T9"/>
                </a:cxn>
              </a:cxnLst>
              <a:rect l="0" t="0" r="r" b="b"/>
              <a:pathLst>
                <a:path w="810" h="392">
                  <a:moveTo>
                    <a:pt x="26" y="0"/>
                  </a:moveTo>
                  <a:lnTo>
                    <a:pt x="0" y="54"/>
                  </a:lnTo>
                  <a:lnTo>
                    <a:pt x="228" y="392"/>
                  </a:lnTo>
                  <a:lnTo>
                    <a:pt x="636" y="362"/>
                  </a:lnTo>
                  <a:lnTo>
                    <a:pt x="810"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5" name="Freeform 109"/>
            <p:cNvSpPr>
              <a:spLocks/>
            </p:cNvSpPr>
            <p:nvPr userDrawn="1"/>
          </p:nvSpPr>
          <p:spPr bwMode="auto">
            <a:xfrm>
              <a:off x="2214563" y="2087563"/>
              <a:ext cx="1289050" cy="1165225"/>
            </a:xfrm>
            <a:custGeom>
              <a:avLst/>
              <a:gdLst>
                <a:gd name="T0" fmla="*/ 176 w 812"/>
                <a:gd name="T1" fmla="*/ 30 h 734"/>
                <a:gd name="T2" fmla="*/ 0 w 812"/>
                <a:gd name="T3" fmla="*/ 398 h 734"/>
                <a:gd name="T4" fmla="*/ 230 w 812"/>
                <a:gd name="T5" fmla="*/ 734 h 734"/>
                <a:gd name="T6" fmla="*/ 636 w 812"/>
                <a:gd name="T7" fmla="*/ 704 h 734"/>
                <a:gd name="T8" fmla="*/ 812 w 812"/>
                <a:gd name="T9" fmla="*/ 338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30" y="734"/>
                  </a:lnTo>
                  <a:lnTo>
                    <a:pt x="636" y="704"/>
                  </a:lnTo>
                  <a:lnTo>
                    <a:pt x="812" y="338"/>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6" name="Freeform 110"/>
            <p:cNvSpPr>
              <a:spLocks/>
            </p:cNvSpPr>
            <p:nvPr userDrawn="1"/>
          </p:nvSpPr>
          <p:spPr bwMode="auto">
            <a:xfrm>
              <a:off x="3224213" y="2576513"/>
              <a:ext cx="1289050" cy="1165225"/>
            </a:xfrm>
            <a:custGeom>
              <a:avLst/>
              <a:gdLst>
                <a:gd name="T0" fmla="*/ 176 w 812"/>
                <a:gd name="T1" fmla="*/ 30 h 734"/>
                <a:gd name="T2" fmla="*/ 0 w 812"/>
                <a:gd name="T3" fmla="*/ 396 h 734"/>
                <a:gd name="T4" fmla="*/ 230 w 812"/>
                <a:gd name="T5" fmla="*/ 734 h 734"/>
                <a:gd name="T6" fmla="*/ 636 w 812"/>
                <a:gd name="T7" fmla="*/ 704 h 734"/>
                <a:gd name="T8" fmla="*/ 812 w 812"/>
                <a:gd name="T9" fmla="*/ 336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6"/>
                  </a:lnTo>
                  <a:lnTo>
                    <a:pt x="230" y="734"/>
                  </a:lnTo>
                  <a:lnTo>
                    <a:pt x="636" y="704"/>
                  </a:lnTo>
                  <a:lnTo>
                    <a:pt x="812" y="336"/>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7" name="Freeform 111"/>
            <p:cNvSpPr>
              <a:spLocks/>
            </p:cNvSpPr>
            <p:nvPr userDrawn="1"/>
          </p:nvSpPr>
          <p:spPr bwMode="auto">
            <a:xfrm>
              <a:off x="4233863" y="3062288"/>
              <a:ext cx="1289050" cy="1165225"/>
            </a:xfrm>
            <a:custGeom>
              <a:avLst/>
              <a:gdLst>
                <a:gd name="T0" fmla="*/ 176 w 812"/>
                <a:gd name="T1" fmla="*/ 30 h 734"/>
                <a:gd name="T2" fmla="*/ 0 w 812"/>
                <a:gd name="T3" fmla="*/ 398 h 734"/>
                <a:gd name="T4" fmla="*/ 230 w 812"/>
                <a:gd name="T5" fmla="*/ 734 h 734"/>
                <a:gd name="T6" fmla="*/ 636 w 812"/>
                <a:gd name="T7" fmla="*/ 704 h 734"/>
                <a:gd name="T8" fmla="*/ 812 w 812"/>
                <a:gd name="T9" fmla="*/ 336 h 734"/>
                <a:gd name="T10" fmla="*/ 584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30" y="734"/>
                  </a:lnTo>
                  <a:lnTo>
                    <a:pt x="636" y="704"/>
                  </a:lnTo>
                  <a:lnTo>
                    <a:pt x="812" y="336"/>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8" name="Freeform 112"/>
            <p:cNvSpPr>
              <a:spLocks/>
            </p:cNvSpPr>
            <p:nvPr userDrawn="1"/>
          </p:nvSpPr>
          <p:spPr bwMode="auto">
            <a:xfrm>
              <a:off x="5243513" y="3548063"/>
              <a:ext cx="1289050" cy="1168400"/>
            </a:xfrm>
            <a:custGeom>
              <a:avLst/>
              <a:gdLst>
                <a:gd name="T0" fmla="*/ 176 w 812"/>
                <a:gd name="T1" fmla="*/ 30 h 736"/>
                <a:gd name="T2" fmla="*/ 0 w 812"/>
                <a:gd name="T3" fmla="*/ 398 h 736"/>
                <a:gd name="T4" fmla="*/ 230 w 812"/>
                <a:gd name="T5" fmla="*/ 736 h 736"/>
                <a:gd name="T6" fmla="*/ 636 w 812"/>
                <a:gd name="T7" fmla="*/ 704 h 736"/>
                <a:gd name="T8" fmla="*/ 812 w 812"/>
                <a:gd name="T9" fmla="*/ 338 h 736"/>
                <a:gd name="T10" fmla="*/ 584 w 812"/>
                <a:gd name="T11" fmla="*/ 0 h 736"/>
                <a:gd name="T12" fmla="*/ 176 w 812"/>
                <a:gd name="T13" fmla="*/ 30 h 736"/>
              </a:gdLst>
              <a:ahLst/>
              <a:cxnLst>
                <a:cxn ang="0">
                  <a:pos x="T0" y="T1"/>
                </a:cxn>
                <a:cxn ang="0">
                  <a:pos x="T2" y="T3"/>
                </a:cxn>
                <a:cxn ang="0">
                  <a:pos x="T4" y="T5"/>
                </a:cxn>
                <a:cxn ang="0">
                  <a:pos x="T6" y="T7"/>
                </a:cxn>
                <a:cxn ang="0">
                  <a:pos x="T8" y="T9"/>
                </a:cxn>
                <a:cxn ang="0">
                  <a:pos x="T10" y="T11"/>
                </a:cxn>
                <a:cxn ang="0">
                  <a:pos x="T12" y="T13"/>
                </a:cxn>
              </a:cxnLst>
              <a:rect l="0" t="0" r="r" b="b"/>
              <a:pathLst>
                <a:path w="812" h="736">
                  <a:moveTo>
                    <a:pt x="176" y="30"/>
                  </a:moveTo>
                  <a:lnTo>
                    <a:pt x="0" y="398"/>
                  </a:lnTo>
                  <a:lnTo>
                    <a:pt x="230" y="736"/>
                  </a:lnTo>
                  <a:lnTo>
                    <a:pt x="636" y="704"/>
                  </a:lnTo>
                  <a:lnTo>
                    <a:pt x="812" y="338"/>
                  </a:lnTo>
                  <a:lnTo>
                    <a:pt x="584"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59" name="Freeform 113"/>
            <p:cNvSpPr>
              <a:spLocks/>
            </p:cNvSpPr>
            <p:nvPr userDrawn="1"/>
          </p:nvSpPr>
          <p:spPr bwMode="auto">
            <a:xfrm>
              <a:off x="6253163" y="4040188"/>
              <a:ext cx="876300" cy="1162050"/>
            </a:xfrm>
            <a:custGeom>
              <a:avLst/>
              <a:gdLst>
                <a:gd name="T0" fmla="*/ 552 w 552"/>
                <a:gd name="T1" fmla="*/ 0 h 732"/>
                <a:gd name="T2" fmla="*/ 176 w 552"/>
                <a:gd name="T3" fmla="*/ 28 h 732"/>
                <a:gd name="T4" fmla="*/ 0 w 552"/>
                <a:gd name="T5" fmla="*/ 394 h 732"/>
                <a:gd name="T6" fmla="*/ 230 w 552"/>
                <a:gd name="T7" fmla="*/ 732 h 732"/>
                <a:gd name="T8" fmla="*/ 552 w 552"/>
                <a:gd name="T9" fmla="*/ 708 h 732"/>
              </a:gdLst>
              <a:ahLst/>
              <a:cxnLst>
                <a:cxn ang="0">
                  <a:pos x="T0" y="T1"/>
                </a:cxn>
                <a:cxn ang="0">
                  <a:pos x="T2" y="T3"/>
                </a:cxn>
                <a:cxn ang="0">
                  <a:pos x="T4" y="T5"/>
                </a:cxn>
                <a:cxn ang="0">
                  <a:pos x="T6" y="T7"/>
                </a:cxn>
                <a:cxn ang="0">
                  <a:pos x="T8" y="T9"/>
                </a:cxn>
              </a:cxnLst>
              <a:rect l="0" t="0" r="r" b="b"/>
              <a:pathLst>
                <a:path w="552" h="732">
                  <a:moveTo>
                    <a:pt x="552" y="0"/>
                  </a:moveTo>
                  <a:lnTo>
                    <a:pt x="176" y="28"/>
                  </a:lnTo>
                  <a:lnTo>
                    <a:pt x="0" y="394"/>
                  </a:lnTo>
                  <a:lnTo>
                    <a:pt x="230" y="732"/>
                  </a:lnTo>
                  <a:lnTo>
                    <a:pt x="552" y="708"/>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0" name="Freeform 114"/>
            <p:cNvSpPr>
              <a:spLocks/>
            </p:cNvSpPr>
            <p:nvPr userDrawn="1"/>
          </p:nvSpPr>
          <p:spPr bwMode="auto">
            <a:xfrm>
              <a:off x="3141663" y="1658938"/>
              <a:ext cx="1289050" cy="965200"/>
            </a:xfrm>
            <a:custGeom>
              <a:avLst/>
              <a:gdLst>
                <a:gd name="T0" fmla="*/ 130 w 812"/>
                <a:gd name="T1" fmla="*/ 0 h 608"/>
                <a:gd name="T2" fmla="*/ 0 w 812"/>
                <a:gd name="T3" fmla="*/ 270 h 608"/>
                <a:gd name="T4" fmla="*/ 228 w 812"/>
                <a:gd name="T5" fmla="*/ 608 h 608"/>
                <a:gd name="T6" fmla="*/ 636 w 812"/>
                <a:gd name="T7" fmla="*/ 578 h 608"/>
                <a:gd name="T8" fmla="*/ 812 w 812"/>
                <a:gd name="T9" fmla="*/ 210 h 608"/>
                <a:gd name="T10" fmla="*/ 670 w 812"/>
                <a:gd name="T11" fmla="*/ 0 h 608"/>
              </a:gdLst>
              <a:ahLst/>
              <a:cxnLst>
                <a:cxn ang="0">
                  <a:pos x="T0" y="T1"/>
                </a:cxn>
                <a:cxn ang="0">
                  <a:pos x="T2" y="T3"/>
                </a:cxn>
                <a:cxn ang="0">
                  <a:pos x="T4" y="T5"/>
                </a:cxn>
                <a:cxn ang="0">
                  <a:pos x="T6" y="T7"/>
                </a:cxn>
                <a:cxn ang="0">
                  <a:pos x="T8" y="T9"/>
                </a:cxn>
                <a:cxn ang="0">
                  <a:pos x="T10" y="T11"/>
                </a:cxn>
              </a:cxnLst>
              <a:rect l="0" t="0" r="r" b="b"/>
              <a:pathLst>
                <a:path w="812" h="608">
                  <a:moveTo>
                    <a:pt x="130" y="0"/>
                  </a:moveTo>
                  <a:lnTo>
                    <a:pt x="0" y="270"/>
                  </a:lnTo>
                  <a:lnTo>
                    <a:pt x="228" y="608"/>
                  </a:lnTo>
                  <a:lnTo>
                    <a:pt x="636" y="578"/>
                  </a:lnTo>
                  <a:lnTo>
                    <a:pt x="812" y="210"/>
                  </a:lnTo>
                  <a:lnTo>
                    <a:pt x="670"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1" name="Freeform 115"/>
            <p:cNvSpPr>
              <a:spLocks/>
            </p:cNvSpPr>
            <p:nvPr userDrawn="1"/>
          </p:nvSpPr>
          <p:spPr bwMode="auto">
            <a:xfrm>
              <a:off x="4151313" y="1944688"/>
              <a:ext cx="1289050" cy="1165225"/>
            </a:xfrm>
            <a:custGeom>
              <a:avLst/>
              <a:gdLst>
                <a:gd name="T0" fmla="*/ 176 w 812"/>
                <a:gd name="T1" fmla="*/ 30 h 734"/>
                <a:gd name="T2" fmla="*/ 0 w 812"/>
                <a:gd name="T3" fmla="*/ 398 h 734"/>
                <a:gd name="T4" fmla="*/ 228 w 812"/>
                <a:gd name="T5" fmla="*/ 734 h 734"/>
                <a:gd name="T6" fmla="*/ 636 w 812"/>
                <a:gd name="T7" fmla="*/ 704 h 734"/>
                <a:gd name="T8" fmla="*/ 812 w 812"/>
                <a:gd name="T9" fmla="*/ 336 h 734"/>
                <a:gd name="T10" fmla="*/ 582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28" y="734"/>
                  </a:lnTo>
                  <a:lnTo>
                    <a:pt x="636" y="704"/>
                  </a:lnTo>
                  <a:lnTo>
                    <a:pt x="812" y="336"/>
                  </a:lnTo>
                  <a:lnTo>
                    <a:pt x="582" y="0"/>
                  </a:lnTo>
                  <a:lnTo>
                    <a:pt x="176" y="30"/>
                  </a:lnTo>
                  <a:close/>
                </a:path>
              </a:pathLst>
            </a:custGeom>
            <a:noFill/>
            <a:ln w="16">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2" name="Freeform 116"/>
            <p:cNvSpPr>
              <a:spLocks/>
            </p:cNvSpPr>
            <p:nvPr userDrawn="1"/>
          </p:nvSpPr>
          <p:spPr bwMode="auto">
            <a:xfrm>
              <a:off x="5160963" y="2430463"/>
              <a:ext cx="1289050" cy="1165225"/>
            </a:xfrm>
            <a:custGeom>
              <a:avLst/>
              <a:gdLst>
                <a:gd name="T0" fmla="*/ 176 w 812"/>
                <a:gd name="T1" fmla="*/ 30 h 734"/>
                <a:gd name="T2" fmla="*/ 0 w 812"/>
                <a:gd name="T3" fmla="*/ 398 h 734"/>
                <a:gd name="T4" fmla="*/ 228 w 812"/>
                <a:gd name="T5" fmla="*/ 734 h 734"/>
                <a:gd name="T6" fmla="*/ 636 w 812"/>
                <a:gd name="T7" fmla="*/ 704 h 734"/>
                <a:gd name="T8" fmla="*/ 812 w 812"/>
                <a:gd name="T9" fmla="*/ 338 h 734"/>
                <a:gd name="T10" fmla="*/ 582 w 812"/>
                <a:gd name="T11" fmla="*/ 0 h 734"/>
                <a:gd name="T12" fmla="*/ 176 w 812"/>
                <a:gd name="T13" fmla="*/ 30 h 734"/>
              </a:gdLst>
              <a:ahLst/>
              <a:cxnLst>
                <a:cxn ang="0">
                  <a:pos x="T0" y="T1"/>
                </a:cxn>
                <a:cxn ang="0">
                  <a:pos x="T2" y="T3"/>
                </a:cxn>
                <a:cxn ang="0">
                  <a:pos x="T4" y="T5"/>
                </a:cxn>
                <a:cxn ang="0">
                  <a:pos x="T6" y="T7"/>
                </a:cxn>
                <a:cxn ang="0">
                  <a:pos x="T8" y="T9"/>
                </a:cxn>
                <a:cxn ang="0">
                  <a:pos x="T10" y="T11"/>
                </a:cxn>
                <a:cxn ang="0">
                  <a:pos x="T12" y="T13"/>
                </a:cxn>
              </a:cxnLst>
              <a:rect l="0" t="0" r="r" b="b"/>
              <a:pathLst>
                <a:path w="812" h="734">
                  <a:moveTo>
                    <a:pt x="176" y="30"/>
                  </a:moveTo>
                  <a:lnTo>
                    <a:pt x="0" y="398"/>
                  </a:lnTo>
                  <a:lnTo>
                    <a:pt x="228" y="734"/>
                  </a:lnTo>
                  <a:lnTo>
                    <a:pt x="636" y="704"/>
                  </a:lnTo>
                  <a:lnTo>
                    <a:pt x="812" y="338"/>
                  </a:lnTo>
                  <a:lnTo>
                    <a:pt x="582" y="0"/>
                  </a:lnTo>
                  <a:lnTo>
                    <a:pt x="176" y="30"/>
                  </a:lnTo>
                  <a:close/>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3" name="Freeform 117"/>
            <p:cNvSpPr>
              <a:spLocks/>
            </p:cNvSpPr>
            <p:nvPr userDrawn="1"/>
          </p:nvSpPr>
          <p:spPr bwMode="auto">
            <a:xfrm>
              <a:off x="6170613" y="2919413"/>
              <a:ext cx="958850" cy="1165225"/>
            </a:xfrm>
            <a:custGeom>
              <a:avLst/>
              <a:gdLst>
                <a:gd name="T0" fmla="*/ 604 w 604"/>
                <a:gd name="T1" fmla="*/ 30 h 734"/>
                <a:gd name="T2" fmla="*/ 582 w 604"/>
                <a:gd name="T3" fmla="*/ 0 h 734"/>
                <a:gd name="T4" fmla="*/ 176 w 604"/>
                <a:gd name="T5" fmla="*/ 30 h 734"/>
                <a:gd name="T6" fmla="*/ 0 w 604"/>
                <a:gd name="T7" fmla="*/ 396 h 734"/>
                <a:gd name="T8" fmla="*/ 228 w 604"/>
                <a:gd name="T9" fmla="*/ 734 h 734"/>
                <a:gd name="T10" fmla="*/ 604 w 604"/>
                <a:gd name="T11" fmla="*/ 706 h 734"/>
              </a:gdLst>
              <a:ahLst/>
              <a:cxnLst>
                <a:cxn ang="0">
                  <a:pos x="T0" y="T1"/>
                </a:cxn>
                <a:cxn ang="0">
                  <a:pos x="T2" y="T3"/>
                </a:cxn>
                <a:cxn ang="0">
                  <a:pos x="T4" y="T5"/>
                </a:cxn>
                <a:cxn ang="0">
                  <a:pos x="T6" y="T7"/>
                </a:cxn>
                <a:cxn ang="0">
                  <a:pos x="T8" y="T9"/>
                </a:cxn>
                <a:cxn ang="0">
                  <a:pos x="T10" y="T11"/>
                </a:cxn>
              </a:cxnLst>
              <a:rect l="0" t="0" r="r" b="b"/>
              <a:pathLst>
                <a:path w="604" h="734">
                  <a:moveTo>
                    <a:pt x="604" y="30"/>
                  </a:moveTo>
                  <a:lnTo>
                    <a:pt x="582" y="0"/>
                  </a:lnTo>
                  <a:lnTo>
                    <a:pt x="176" y="30"/>
                  </a:lnTo>
                  <a:lnTo>
                    <a:pt x="0" y="396"/>
                  </a:lnTo>
                  <a:lnTo>
                    <a:pt x="228" y="734"/>
                  </a:lnTo>
                  <a:lnTo>
                    <a:pt x="604" y="706"/>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4" name="Freeform 118"/>
            <p:cNvSpPr>
              <a:spLocks/>
            </p:cNvSpPr>
            <p:nvPr userDrawn="1"/>
          </p:nvSpPr>
          <p:spPr bwMode="auto">
            <a:xfrm>
              <a:off x="4205288" y="1658938"/>
              <a:ext cx="1009650" cy="333375"/>
            </a:xfrm>
            <a:custGeom>
              <a:avLst/>
              <a:gdLst>
                <a:gd name="T0" fmla="*/ 0 w 636"/>
                <a:gd name="T1" fmla="*/ 0 h 210"/>
                <a:gd name="T2" fmla="*/ 142 w 636"/>
                <a:gd name="T3" fmla="*/ 210 h 210"/>
                <a:gd name="T4" fmla="*/ 548 w 636"/>
                <a:gd name="T5" fmla="*/ 180 h 210"/>
                <a:gd name="T6" fmla="*/ 636 w 636"/>
                <a:gd name="T7" fmla="*/ 0 h 210"/>
              </a:gdLst>
              <a:ahLst/>
              <a:cxnLst>
                <a:cxn ang="0">
                  <a:pos x="T0" y="T1"/>
                </a:cxn>
                <a:cxn ang="0">
                  <a:pos x="T2" y="T3"/>
                </a:cxn>
                <a:cxn ang="0">
                  <a:pos x="T4" y="T5"/>
                </a:cxn>
                <a:cxn ang="0">
                  <a:pos x="T6" y="T7"/>
                </a:cxn>
              </a:cxnLst>
              <a:rect l="0" t="0" r="r" b="b"/>
              <a:pathLst>
                <a:path w="636" h="210">
                  <a:moveTo>
                    <a:pt x="0" y="0"/>
                  </a:moveTo>
                  <a:lnTo>
                    <a:pt x="142" y="210"/>
                  </a:lnTo>
                  <a:lnTo>
                    <a:pt x="548" y="180"/>
                  </a:lnTo>
                  <a:lnTo>
                    <a:pt x="636"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5" name="Freeform 119"/>
            <p:cNvSpPr>
              <a:spLocks/>
            </p:cNvSpPr>
            <p:nvPr userDrawn="1"/>
          </p:nvSpPr>
          <p:spPr bwMode="auto">
            <a:xfrm>
              <a:off x="5075238" y="1658938"/>
              <a:ext cx="1292225" cy="819150"/>
            </a:xfrm>
            <a:custGeom>
              <a:avLst/>
              <a:gdLst>
                <a:gd name="T0" fmla="*/ 88 w 814"/>
                <a:gd name="T1" fmla="*/ 0 h 516"/>
                <a:gd name="T2" fmla="*/ 0 w 814"/>
                <a:gd name="T3" fmla="*/ 180 h 516"/>
                <a:gd name="T4" fmla="*/ 230 w 814"/>
                <a:gd name="T5" fmla="*/ 516 h 516"/>
                <a:gd name="T6" fmla="*/ 636 w 814"/>
                <a:gd name="T7" fmla="*/ 486 h 516"/>
                <a:gd name="T8" fmla="*/ 814 w 814"/>
                <a:gd name="T9" fmla="*/ 120 h 516"/>
                <a:gd name="T10" fmla="*/ 732 w 814"/>
                <a:gd name="T11" fmla="*/ 0 h 516"/>
              </a:gdLst>
              <a:ahLst/>
              <a:cxnLst>
                <a:cxn ang="0">
                  <a:pos x="T0" y="T1"/>
                </a:cxn>
                <a:cxn ang="0">
                  <a:pos x="T2" y="T3"/>
                </a:cxn>
                <a:cxn ang="0">
                  <a:pos x="T4" y="T5"/>
                </a:cxn>
                <a:cxn ang="0">
                  <a:pos x="T6" y="T7"/>
                </a:cxn>
                <a:cxn ang="0">
                  <a:pos x="T8" y="T9"/>
                </a:cxn>
                <a:cxn ang="0">
                  <a:pos x="T10" y="T11"/>
                </a:cxn>
              </a:cxnLst>
              <a:rect l="0" t="0" r="r" b="b"/>
              <a:pathLst>
                <a:path w="814" h="516">
                  <a:moveTo>
                    <a:pt x="88" y="0"/>
                  </a:moveTo>
                  <a:lnTo>
                    <a:pt x="0" y="180"/>
                  </a:lnTo>
                  <a:lnTo>
                    <a:pt x="230" y="516"/>
                  </a:lnTo>
                  <a:lnTo>
                    <a:pt x="636" y="486"/>
                  </a:lnTo>
                  <a:lnTo>
                    <a:pt x="814" y="120"/>
                  </a:lnTo>
                  <a:lnTo>
                    <a:pt x="732"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6" name="Freeform 120"/>
            <p:cNvSpPr>
              <a:spLocks/>
            </p:cNvSpPr>
            <p:nvPr userDrawn="1"/>
          </p:nvSpPr>
          <p:spPr bwMode="auto">
            <a:xfrm>
              <a:off x="6084888" y="1798638"/>
              <a:ext cx="1044575" cy="1168400"/>
            </a:xfrm>
            <a:custGeom>
              <a:avLst/>
              <a:gdLst>
                <a:gd name="T0" fmla="*/ 658 w 658"/>
                <a:gd name="T1" fmla="*/ 108 h 736"/>
                <a:gd name="T2" fmla="*/ 584 w 658"/>
                <a:gd name="T3" fmla="*/ 0 h 736"/>
                <a:gd name="T4" fmla="*/ 178 w 658"/>
                <a:gd name="T5" fmla="*/ 32 h 736"/>
                <a:gd name="T6" fmla="*/ 0 w 658"/>
                <a:gd name="T7" fmla="*/ 398 h 736"/>
                <a:gd name="T8" fmla="*/ 230 w 658"/>
                <a:gd name="T9" fmla="*/ 736 h 736"/>
                <a:gd name="T10" fmla="*/ 636 w 658"/>
                <a:gd name="T11" fmla="*/ 706 h 736"/>
                <a:gd name="T12" fmla="*/ 658 w 658"/>
                <a:gd name="T13" fmla="*/ 662 h 736"/>
              </a:gdLst>
              <a:ahLst/>
              <a:cxnLst>
                <a:cxn ang="0">
                  <a:pos x="T0" y="T1"/>
                </a:cxn>
                <a:cxn ang="0">
                  <a:pos x="T2" y="T3"/>
                </a:cxn>
                <a:cxn ang="0">
                  <a:pos x="T4" y="T5"/>
                </a:cxn>
                <a:cxn ang="0">
                  <a:pos x="T6" y="T7"/>
                </a:cxn>
                <a:cxn ang="0">
                  <a:pos x="T8" y="T9"/>
                </a:cxn>
                <a:cxn ang="0">
                  <a:pos x="T10" y="T11"/>
                </a:cxn>
                <a:cxn ang="0">
                  <a:pos x="T12" y="T13"/>
                </a:cxn>
              </a:cxnLst>
              <a:rect l="0" t="0" r="r" b="b"/>
              <a:pathLst>
                <a:path w="658" h="736">
                  <a:moveTo>
                    <a:pt x="658" y="108"/>
                  </a:moveTo>
                  <a:lnTo>
                    <a:pt x="584" y="0"/>
                  </a:lnTo>
                  <a:lnTo>
                    <a:pt x="178" y="32"/>
                  </a:lnTo>
                  <a:lnTo>
                    <a:pt x="0" y="398"/>
                  </a:lnTo>
                  <a:lnTo>
                    <a:pt x="230" y="736"/>
                  </a:lnTo>
                  <a:lnTo>
                    <a:pt x="636" y="706"/>
                  </a:lnTo>
                  <a:lnTo>
                    <a:pt x="658" y="662"/>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7" name="Freeform 121"/>
            <p:cNvSpPr>
              <a:spLocks/>
            </p:cNvSpPr>
            <p:nvPr userDrawn="1"/>
          </p:nvSpPr>
          <p:spPr bwMode="auto">
            <a:xfrm>
              <a:off x="7094538" y="2849563"/>
              <a:ext cx="34925" cy="117475"/>
            </a:xfrm>
            <a:custGeom>
              <a:avLst/>
              <a:gdLst>
                <a:gd name="T0" fmla="*/ 22 w 22"/>
                <a:gd name="T1" fmla="*/ 74 h 74"/>
                <a:gd name="T2" fmla="*/ 22 w 22"/>
                <a:gd name="T3" fmla="*/ 0 h 74"/>
                <a:gd name="T4" fmla="*/ 0 w 22"/>
                <a:gd name="T5" fmla="*/ 44 h 74"/>
                <a:gd name="T6" fmla="*/ 22 w 22"/>
                <a:gd name="T7" fmla="*/ 74 h 74"/>
              </a:gdLst>
              <a:ahLst/>
              <a:cxnLst>
                <a:cxn ang="0">
                  <a:pos x="T0" y="T1"/>
                </a:cxn>
                <a:cxn ang="0">
                  <a:pos x="T2" y="T3"/>
                </a:cxn>
                <a:cxn ang="0">
                  <a:pos x="T4" y="T5"/>
                </a:cxn>
                <a:cxn ang="0">
                  <a:pos x="T6" y="T7"/>
                </a:cxn>
              </a:cxnLst>
              <a:rect l="0" t="0" r="r" b="b"/>
              <a:pathLst>
                <a:path w="22" h="74">
                  <a:moveTo>
                    <a:pt x="22" y="74"/>
                  </a:moveTo>
                  <a:lnTo>
                    <a:pt x="22" y="0"/>
                  </a:lnTo>
                  <a:lnTo>
                    <a:pt x="0" y="44"/>
                  </a:lnTo>
                  <a:lnTo>
                    <a:pt x="22" y="74"/>
                  </a:lnTo>
                  <a:close/>
                </a:path>
              </a:pathLst>
            </a:custGeom>
            <a:noFill/>
            <a:ln w="16">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6" name="Freeform 122"/>
            <p:cNvSpPr>
              <a:spLocks/>
            </p:cNvSpPr>
            <p:nvPr userDrawn="1"/>
          </p:nvSpPr>
          <p:spPr bwMode="auto">
            <a:xfrm>
              <a:off x="6237288" y="1658938"/>
              <a:ext cx="844550" cy="190500"/>
            </a:xfrm>
            <a:custGeom>
              <a:avLst/>
              <a:gdLst>
                <a:gd name="T0" fmla="*/ 0 w 532"/>
                <a:gd name="T1" fmla="*/ 0 h 120"/>
                <a:gd name="T2" fmla="*/ 82 w 532"/>
                <a:gd name="T3" fmla="*/ 120 h 120"/>
                <a:gd name="T4" fmla="*/ 488 w 532"/>
                <a:gd name="T5" fmla="*/ 88 h 120"/>
                <a:gd name="T6" fmla="*/ 532 w 532"/>
                <a:gd name="T7" fmla="*/ 0 h 120"/>
              </a:gdLst>
              <a:ahLst/>
              <a:cxnLst>
                <a:cxn ang="0">
                  <a:pos x="T0" y="T1"/>
                </a:cxn>
                <a:cxn ang="0">
                  <a:pos x="T2" y="T3"/>
                </a:cxn>
                <a:cxn ang="0">
                  <a:pos x="T4" y="T5"/>
                </a:cxn>
                <a:cxn ang="0">
                  <a:pos x="T6" y="T7"/>
                </a:cxn>
              </a:cxnLst>
              <a:rect l="0" t="0" r="r" b="b"/>
              <a:pathLst>
                <a:path w="532" h="120">
                  <a:moveTo>
                    <a:pt x="0" y="0"/>
                  </a:moveTo>
                  <a:lnTo>
                    <a:pt x="82" y="120"/>
                  </a:lnTo>
                  <a:lnTo>
                    <a:pt x="488" y="88"/>
                  </a:lnTo>
                  <a:lnTo>
                    <a:pt x="532" y="0"/>
                  </a:lnTo>
                </a:path>
              </a:pathLst>
            </a:custGeom>
            <a:noFill/>
            <a:ln w="28575">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7" name="Freeform 123"/>
            <p:cNvSpPr>
              <a:spLocks/>
            </p:cNvSpPr>
            <p:nvPr userDrawn="1"/>
          </p:nvSpPr>
          <p:spPr bwMode="auto">
            <a:xfrm>
              <a:off x="7011988" y="1658938"/>
              <a:ext cx="117475" cy="311150"/>
            </a:xfrm>
            <a:custGeom>
              <a:avLst/>
              <a:gdLst>
                <a:gd name="T0" fmla="*/ 44 w 74"/>
                <a:gd name="T1" fmla="*/ 0 h 196"/>
                <a:gd name="T2" fmla="*/ 0 w 74"/>
                <a:gd name="T3" fmla="*/ 88 h 196"/>
                <a:gd name="T4" fmla="*/ 74 w 74"/>
                <a:gd name="T5" fmla="*/ 196 h 196"/>
              </a:gdLst>
              <a:ahLst/>
              <a:cxnLst>
                <a:cxn ang="0">
                  <a:pos x="T0" y="T1"/>
                </a:cxn>
                <a:cxn ang="0">
                  <a:pos x="T2" y="T3"/>
                </a:cxn>
                <a:cxn ang="0">
                  <a:pos x="T4" y="T5"/>
                </a:cxn>
              </a:cxnLst>
              <a:rect l="0" t="0" r="r" b="b"/>
              <a:pathLst>
                <a:path w="74" h="196">
                  <a:moveTo>
                    <a:pt x="44" y="0"/>
                  </a:moveTo>
                  <a:lnTo>
                    <a:pt x="0" y="88"/>
                  </a:lnTo>
                  <a:lnTo>
                    <a:pt x="74" y="196"/>
                  </a:lnTo>
                </a:path>
              </a:pathLst>
            </a:custGeom>
            <a:noFill/>
            <a:ln w="16">
              <a:solidFill>
                <a:srgbClr val="FCEA10"/>
              </a:solidFill>
              <a:prstDash val="solid"/>
              <a:round/>
              <a:headEnd/>
              <a:tailEnd/>
            </a:ln>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8" name="Freeform 124"/>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9" name="Freeform 125"/>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0" name="Freeform 126"/>
            <p:cNvSpPr>
              <a:spLocks/>
            </p:cNvSpPr>
            <p:nvPr userDrawn="1"/>
          </p:nvSpPr>
          <p:spPr bwMode="auto">
            <a:xfrm>
              <a:off x="2449513" y="209073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0"/>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1" name="Freeform 127"/>
            <p:cNvSpPr>
              <a:spLocks/>
            </p:cNvSpPr>
            <p:nvPr userDrawn="1"/>
          </p:nvSpPr>
          <p:spPr bwMode="auto">
            <a:xfrm>
              <a:off x="2166938" y="26717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4 w 58"/>
                <a:gd name="T15" fmla="*/ 18 h 60"/>
                <a:gd name="T16" fmla="*/ 4 w 58"/>
                <a:gd name="T17" fmla="*/ 18 h 60"/>
                <a:gd name="T18" fmla="*/ 2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40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8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48" y="52"/>
                  </a:lnTo>
                  <a:lnTo>
                    <a:pt x="52" y="48"/>
                  </a:lnTo>
                  <a:lnTo>
                    <a:pt x="56" y="42"/>
                  </a:lnTo>
                  <a:lnTo>
                    <a:pt x="56" y="42"/>
                  </a:lnTo>
                  <a:lnTo>
                    <a:pt x="58" y="38"/>
                  </a:lnTo>
                  <a:lnTo>
                    <a:pt x="58"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2" name="Freeform 128"/>
            <p:cNvSpPr>
              <a:spLocks/>
            </p:cNvSpPr>
            <p:nvPr userDrawn="1"/>
          </p:nvSpPr>
          <p:spPr bwMode="auto">
            <a:xfrm>
              <a:off x="2532063" y="32083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6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2"/>
                  </a:lnTo>
                  <a:lnTo>
                    <a:pt x="2" y="16"/>
                  </a:lnTo>
                  <a:lnTo>
                    <a:pt x="2" y="16"/>
                  </a:lnTo>
                  <a:lnTo>
                    <a:pt x="0" y="22"/>
                  </a:lnTo>
                  <a:lnTo>
                    <a:pt x="0" y="28"/>
                  </a:lnTo>
                  <a:lnTo>
                    <a:pt x="2" y="38"/>
                  </a:lnTo>
                  <a:lnTo>
                    <a:pt x="6"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3" name="Freeform 129"/>
            <p:cNvSpPr>
              <a:spLocks/>
            </p:cNvSpPr>
            <p:nvPr userDrawn="1"/>
          </p:nvSpPr>
          <p:spPr bwMode="auto">
            <a:xfrm>
              <a:off x="1522413" y="2719388"/>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4 h 60"/>
                <a:gd name="T20" fmla="*/ 0 w 58"/>
                <a:gd name="T21" fmla="*/ 28 h 60"/>
                <a:gd name="T22" fmla="*/ 2 w 58"/>
                <a:gd name="T23" fmla="*/ 40 h 60"/>
                <a:gd name="T24" fmla="*/ 6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4"/>
                  </a:lnTo>
                  <a:lnTo>
                    <a:pt x="0" y="28"/>
                  </a:lnTo>
                  <a:lnTo>
                    <a:pt x="2" y="40"/>
                  </a:lnTo>
                  <a:lnTo>
                    <a:pt x="6"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4" name="Freeform 130"/>
            <p:cNvSpPr>
              <a:spLocks/>
            </p:cNvSpPr>
            <p:nvPr userDrawn="1"/>
          </p:nvSpPr>
          <p:spPr bwMode="auto">
            <a:xfrm>
              <a:off x="1157288" y="21859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4" y="16"/>
                  </a:lnTo>
                  <a:lnTo>
                    <a:pt x="4" y="16"/>
                  </a:lnTo>
                  <a:lnTo>
                    <a:pt x="0" y="22"/>
                  </a:lnTo>
                  <a:lnTo>
                    <a:pt x="0" y="28"/>
                  </a:lnTo>
                  <a:lnTo>
                    <a:pt x="2" y="38"/>
                  </a:lnTo>
                  <a:lnTo>
                    <a:pt x="8" y="48"/>
                  </a:lnTo>
                  <a:lnTo>
                    <a:pt x="12" y="52"/>
                  </a:lnTo>
                  <a:lnTo>
                    <a:pt x="16" y="56"/>
                  </a:lnTo>
                  <a:lnTo>
                    <a:pt x="16" y="56"/>
                  </a:lnTo>
                  <a:lnTo>
                    <a:pt x="22" y="58"/>
                  </a:lnTo>
                  <a:lnTo>
                    <a:pt x="28" y="58"/>
                  </a:lnTo>
                  <a:lnTo>
                    <a:pt x="40" y="58"/>
                  </a:lnTo>
                  <a:lnTo>
                    <a:pt x="48"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5" name="Freeform 131"/>
            <p:cNvSpPr>
              <a:spLocks/>
            </p:cNvSpPr>
            <p:nvPr userDrawn="1"/>
          </p:nvSpPr>
          <p:spPr bwMode="auto">
            <a:xfrm>
              <a:off x="512763" y="22336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2"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6" name="Freeform 132"/>
            <p:cNvSpPr>
              <a:spLocks/>
            </p:cNvSpPr>
            <p:nvPr userDrawn="1"/>
          </p:nvSpPr>
          <p:spPr bwMode="auto">
            <a:xfrm>
              <a:off x="147638" y="17002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7" name="Freeform 133"/>
            <p:cNvSpPr>
              <a:spLocks/>
            </p:cNvSpPr>
            <p:nvPr userDrawn="1"/>
          </p:nvSpPr>
          <p:spPr bwMode="auto">
            <a:xfrm>
              <a:off x="3176588" y="3160713"/>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0 h 58"/>
                <a:gd name="T10" fmla="*/ 10 w 58"/>
                <a:gd name="T11" fmla="*/ 6 h 58"/>
                <a:gd name="T12" fmla="*/ 6 w 58"/>
                <a:gd name="T13" fmla="*/ 10 h 58"/>
                <a:gd name="T14" fmla="*/ 4 w 58"/>
                <a:gd name="T15" fmla="*/ 16 h 58"/>
                <a:gd name="T16" fmla="*/ 4 w 58"/>
                <a:gd name="T17" fmla="*/ 16 h 58"/>
                <a:gd name="T18" fmla="*/ 2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0"/>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8" name="Freeform 134"/>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9" name="Freeform 135"/>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0" name="Freeform 136"/>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1" name="Freeform 137"/>
            <p:cNvSpPr>
              <a:spLocks/>
            </p:cNvSpPr>
            <p:nvPr userDrawn="1"/>
          </p:nvSpPr>
          <p:spPr bwMode="auto">
            <a:xfrm>
              <a:off x="3176588" y="3160713"/>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0 h 58"/>
                <a:gd name="T10" fmla="*/ 10 w 58"/>
                <a:gd name="T11" fmla="*/ 6 h 58"/>
                <a:gd name="T12" fmla="*/ 6 w 58"/>
                <a:gd name="T13" fmla="*/ 10 h 58"/>
                <a:gd name="T14" fmla="*/ 4 w 58"/>
                <a:gd name="T15" fmla="*/ 16 h 58"/>
                <a:gd name="T16" fmla="*/ 4 w 58"/>
                <a:gd name="T17" fmla="*/ 16 h 58"/>
                <a:gd name="T18" fmla="*/ 2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0"/>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2" name="Freeform 138"/>
            <p:cNvSpPr>
              <a:spLocks/>
            </p:cNvSpPr>
            <p:nvPr userDrawn="1"/>
          </p:nvSpPr>
          <p:spPr bwMode="auto">
            <a:xfrm>
              <a:off x="3541713" y="36941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50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2 h 58"/>
                <a:gd name="T50" fmla="*/ 56 w 58"/>
                <a:gd name="T51" fmla="*/ 20 h 58"/>
                <a:gd name="T52" fmla="*/ 52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2" y="52"/>
                  </a:lnTo>
                  <a:lnTo>
                    <a:pt x="16" y="56"/>
                  </a:lnTo>
                  <a:lnTo>
                    <a:pt x="16" y="56"/>
                  </a:lnTo>
                  <a:lnTo>
                    <a:pt x="22" y="58"/>
                  </a:lnTo>
                  <a:lnTo>
                    <a:pt x="28" y="58"/>
                  </a:lnTo>
                  <a:lnTo>
                    <a:pt x="38" y="58"/>
                  </a:lnTo>
                  <a:lnTo>
                    <a:pt x="48" y="52"/>
                  </a:lnTo>
                  <a:lnTo>
                    <a:pt x="52" y="48"/>
                  </a:lnTo>
                  <a:lnTo>
                    <a:pt x="56" y="42"/>
                  </a:lnTo>
                  <a:lnTo>
                    <a:pt x="56" y="42"/>
                  </a:lnTo>
                  <a:lnTo>
                    <a:pt x="58" y="36"/>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3" name="Freeform 139"/>
            <p:cNvSpPr>
              <a:spLocks/>
            </p:cNvSpPr>
            <p:nvPr userDrawn="1"/>
          </p:nvSpPr>
          <p:spPr bwMode="auto">
            <a:xfrm>
              <a:off x="4186238" y="3646488"/>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2 w 58"/>
                <a:gd name="T19" fmla="*/ 22 h 58"/>
                <a:gd name="T20" fmla="*/ 0 w 58"/>
                <a:gd name="T21" fmla="*/ 28 h 58"/>
                <a:gd name="T22" fmla="*/ 2 w 58"/>
                <a:gd name="T23" fmla="*/ 40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50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2"/>
                  </a:lnTo>
                  <a:lnTo>
                    <a:pt x="10" y="8"/>
                  </a:lnTo>
                  <a:lnTo>
                    <a:pt x="6" y="12"/>
                  </a:lnTo>
                  <a:lnTo>
                    <a:pt x="4" y="16"/>
                  </a:lnTo>
                  <a:lnTo>
                    <a:pt x="4" y="16"/>
                  </a:lnTo>
                  <a:lnTo>
                    <a:pt x="2" y="22"/>
                  </a:lnTo>
                  <a:lnTo>
                    <a:pt x="0" y="28"/>
                  </a:lnTo>
                  <a:lnTo>
                    <a:pt x="2" y="40"/>
                  </a:lnTo>
                  <a:lnTo>
                    <a:pt x="8" y="48"/>
                  </a:lnTo>
                  <a:lnTo>
                    <a:pt x="12" y="52"/>
                  </a:lnTo>
                  <a:lnTo>
                    <a:pt x="16" y="56"/>
                  </a:lnTo>
                  <a:lnTo>
                    <a:pt x="16" y="56"/>
                  </a:lnTo>
                  <a:lnTo>
                    <a:pt x="22" y="58"/>
                  </a:lnTo>
                  <a:lnTo>
                    <a:pt x="28" y="58"/>
                  </a:lnTo>
                  <a:lnTo>
                    <a:pt x="40" y="58"/>
                  </a:lnTo>
                  <a:lnTo>
                    <a:pt x="50"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4" name="Freeform 140"/>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5" name="Freeform 141"/>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6" name="Freeform 142"/>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7" name="Freeform 143"/>
            <p:cNvSpPr>
              <a:spLocks/>
            </p:cNvSpPr>
            <p:nvPr userDrawn="1"/>
          </p:nvSpPr>
          <p:spPr bwMode="auto">
            <a:xfrm>
              <a:off x="4186238" y="3646488"/>
              <a:ext cx="92075" cy="92075"/>
            </a:xfrm>
            <a:custGeom>
              <a:avLst/>
              <a:gdLst>
                <a:gd name="T0" fmla="*/ 42 w 58"/>
                <a:gd name="T1" fmla="*/ 2 h 58"/>
                <a:gd name="T2" fmla="*/ 42 w 58"/>
                <a:gd name="T3" fmla="*/ 2 h 58"/>
                <a:gd name="T4" fmla="*/ 36 w 58"/>
                <a:gd name="T5" fmla="*/ 0 h 58"/>
                <a:gd name="T6" fmla="*/ 32 w 58"/>
                <a:gd name="T7" fmla="*/ 0 h 58"/>
                <a:gd name="T8" fmla="*/ 20 w 58"/>
                <a:gd name="T9" fmla="*/ 2 h 58"/>
                <a:gd name="T10" fmla="*/ 10 w 58"/>
                <a:gd name="T11" fmla="*/ 8 h 58"/>
                <a:gd name="T12" fmla="*/ 6 w 58"/>
                <a:gd name="T13" fmla="*/ 12 h 58"/>
                <a:gd name="T14" fmla="*/ 4 w 58"/>
                <a:gd name="T15" fmla="*/ 16 h 58"/>
                <a:gd name="T16" fmla="*/ 4 w 58"/>
                <a:gd name="T17" fmla="*/ 16 h 58"/>
                <a:gd name="T18" fmla="*/ 2 w 58"/>
                <a:gd name="T19" fmla="*/ 22 h 58"/>
                <a:gd name="T20" fmla="*/ 0 w 58"/>
                <a:gd name="T21" fmla="*/ 28 h 58"/>
                <a:gd name="T22" fmla="*/ 2 w 58"/>
                <a:gd name="T23" fmla="*/ 40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40 w 58"/>
                <a:gd name="T37" fmla="*/ 58 h 58"/>
                <a:gd name="T38" fmla="*/ 50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8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2" y="0"/>
                  </a:lnTo>
                  <a:lnTo>
                    <a:pt x="20" y="2"/>
                  </a:lnTo>
                  <a:lnTo>
                    <a:pt x="10" y="8"/>
                  </a:lnTo>
                  <a:lnTo>
                    <a:pt x="6" y="12"/>
                  </a:lnTo>
                  <a:lnTo>
                    <a:pt x="4" y="16"/>
                  </a:lnTo>
                  <a:lnTo>
                    <a:pt x="4" y="16"/>
                  </a:lnTo>
                  <a:lnTo>
                    <a:pt x="2" y="22"/>
                  </a:lnTo>
                  <a:lnTo>
                    <a:pt x="0" y="28"/>
                  </a:lnTo>
                  <a:lnTo>
                    <a:pt x="2" y="40"/>
                  </a:lnTo>
                  <a:lnTo>
                    <a:pt x="8" y="48"/>
                  </a:lnTo>
                  <a:lnTo>
                    <a:pt x="12" y="52"/>
                  </a:lnTo>
                  <a:lnTo>
                    <a:pt x="16" y="56"/>
                  </a:lnTo>
                  <a:lnTo>
                    <a:pt x="16" y="56"/>
                  </a:lnTo>
                  <a:lnTo>
                    <a:pt x="22" y="58"/>
                  </a:lnTo>
                  <a:lnTo>
                    <a:pt x="28" y="58"/>
                  </a:lnTo>
                  <a:lnTo>
                    <a:pt x="40" y="58"/>
                  </a:lnTo>
                  <a:lnTo>
                    <a:pt x="50" y="52"/>
                  </a:lnTo>
                  <a:lnTo>
                    <a:pt x="52" y="48"/>
                  </a:lnTo>
                  <a:lnTo>
                    <a:pt x="56" y="42"/>
                  </a:lnTo>
                  <a:lnTo>
                    <a:pt x="56" y="42"/>
                  </a:lnTo>
                  <a:lnTo>
                    <a:pt x="58" y="36"/>
                  </a:lnTo>
                  <a:lnTo>
                    <a:pt x="58"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8" name="Freeform 144"/>
            <p:cNvSpPr>
              <a:spLocks/>
            </p:cNvSpPr>
            <p:nvPr userDrawn="1"/>
          </p:nvSpPr>
          <p:spPr bwMode="auto">
            <a:xfrm>
              <a:off x="4551363" y="4179888"/>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4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4 h 60"/>
                <a:gd name="T44" fmla="*/ 56 w 58"/>
                <a:gd name="T45" fmla="*/ 44 h 60"/>
                <a:gd name="T46" fmla="*/ 58 w 58"/>
                <a:gd name="T47" fmla="*/ 38 h 60"/>
                <a:gd name="T48" fmla="*/ 58 w 58"/>
                <a:gd name="T49" fmla="*/ 32 h 60"/>
                <a:gd name="T50" fmla="*/ 56 w 58"/>
                <a:gd name="T51" fmla="*/ 20 h 60"/>
                <a:gd name="T52" fmla="*/ 52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4"/>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4"/>
                  </a:lnTo>
                  <a:lnTo>
                    <a:pt x="56" y="44"/>
                  </a:lnTo>
                  <a:lnTo>
                    <a:pt x="58" y="38"/>
                  </a:lnTo>
                  <a:lnTo>
                    <a:pt x="58" y="32"/>
                  </a:lnTo>
                  <a:lnTo>
                    <a:pt x="56" y="20"/>
                  </a:lnTo>
                  <a:lnTo>
                    <a:pt x="52"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49" name="Freeform 145"/>
            <p:cNvSpPr>
              <a:spLocks/>
            </p:cNvSpPr>
            <p:nvPr userDrawn="1"/>
          </p:nvSpPr>
          <p:spPr bwMode="auto">
            <a:xfrm>
              <a:off x="5195888" y="4132263"/>
              <a:ext cx="95250" cy="95250"/>
            </a:xfrm>
            <a:custGeom>
              <a:avLst/>
              <a:gdLst>
                <a:gd name="T0" fmla="*/ 42 w 60"/>
                <a:gd name="T1" fmla="*/ 4 h 60"/>
                <a:gd name="T2" fmla="*/ 42 w 60"/>
                <a:gd name="T3" fmla="*/ 4 h 60"/>
                <a:gd name="T4" fmla="*/ 36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6 w 60"/>
                <a:gd name="T29" fmla="*/ 56 h 60"/>
                <a:gd name="T30" fmla="*/ 16 w 60"/>
                <a:gd name="T31" fmla="*/ 56 h 60"/>
                <a:gd name="T32" fmla="*/ 22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2 w 60"/>
                <a:gd name="T57" fmla="*/ 4 h 60"/>
                <a:gd name="T58" fmla="*/ 42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2" y="4"/>
                  </a:moveTo>
                  <a:lnTo>
                    <a:pt x="42" y="4"/>
                  </a:lnTo>
                  <a:lnTo>
                    <a:pt x="36" y="2"/>
                  </a:lnTo>
                  <a:lnTo>
                    <a:pt x="32"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0" name="Freeform 146"/>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1" name="Freeform 147"/>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2" name="Freeform 148"/>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3" name="Freeform 149"/>
            <p:cNvSpPr>
              <a:spLocks/>
            </p:cNvSpPr>
            <p:nvPr userDrawn="1"/>
          </p:nvSpPr>
          <p:spPr bwMode="auto">
            <a:xfrm>
              <a:off x="5195888" y="4132263"/>
              <a:ext cx="95250" cy="95250"/>
            </a:xfrm>
            <a:custGeom>
              <a:avLst/>
              <a:gdLst>
                <a:gd name="T0" fmla="*/ 42 w 60"/>
                <a:gd name="T1" fmla="*/ 4 h 60"/>
                <a:gd name="T2" fmla="*/ 42 w 60"/>
                <a:gd name="T3" fmla="*/ 4 h 60"/>
                <a:gd name="T4" fmla="*/ 36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6 w 60"/>
                <a:gd name="T29" fmla="*/ 56 h 60"/>
                <a:gd name="T30" fmla="*/ 16 w 60"/>
                <a:gd name="T31" fmla="*/ 56 h 60"/>
                <a:gd name="T32" fmla="*/ 22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2 w 60"/>
                <a:gd name="T57" fmla="*/ 4 h 60"/>
                <a:gd name="T58" fmla="*/ 42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2" y="4"/>
                  </a:moveTo>
                  <a:lnTo>
                    <a:pt x="42" y="4"/>
                  </a:lnTo>
                  <a:lnTo>
                    <a:pt x="36" y="2"/>
                  </a:lnTo>
                  <a:lnTo>
                    <a:pt x="32" y="0"/>
                  </a:lnTo>
                  <a:lnTo>
                    <a:pt x="20" y="2"/>
                  </a:lnTo>
                  <a:lnTo>
                    <a:pt x="10" y="8"/>
                  </a:lnTo>
                  <a:lnTo>
                    <a:pt x="6" y="12"/>
                  </a:lnTo>
                  <a:lnTo>
                    <a:pt x="4" y="18"/>
                  </a:lnTo>
                  <a:lnTo>
                    <a:pt x="4" y="18"/>
                  </a:lnTo>
                  <a:lnTo>
                    <a:pt x="2" y="22"/>
                  </a:lnTo>
                  <a:lnTo>
                    <a:pt x="0" y="28"/>
                  </a:lnTo>
                  <a:lnTo>
                    <a:pt x="2" y="40"/>
                  </a:lnTo>
                  <a:lnTo>
                    <a:pt x="8" y="50"/>
                  </a:lnTo>
                  <a:lnTo>
                    <a:pt x="12" y="54"/>
                  </a:lnTo>
                  <a:lnTo>
                    <a:pt x="16" y="56"/>
                  </a:lnTo>
                  <a:lnTo>
                    <a:pt x="16" y="56"/>
                  </a:lnTo>
                  <a:lnTo>
                    <a:pt x="22"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4" name="Freeform 150"/>
            <p:cNvSpPr>
              <a:spLocks/>
            </p:cNvSpPr>
            <p:nvPr userDrawn="1"/>
          </p:nvSpPr>
          <p:spPr bwMode="auto">
            <a:xfrm>
              <a:off x="5561013" y="46688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6"/>
                  </a:lnTo>
                  <a:lnTo>
                    <a:pt x="56" y="42"/>
                  </a:lnTo>
                  <a:lnTo>
                    <a:pt x="56" y="42"/>
                  </a:lnTo>
                  <a:lnTo>
                    <a:pt x="58" y="36"/>
                  </a:lnTo>
                  <a:lnTo>
                    <a:pt x="58" y="30"/>
                  </a:lnTo>
                  <a:lnTo>
                    <a:pt x="56" y="20"/>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5" name="Freeform 151"/>
            <p:cNvSpPr>
              <a:spLocks/>
            </p:cNvSpPr>
            <p:nvPr userDrawn="1"/>
          </p:nvSpPr>
          <p:spPr bwMode="auto">
            <a:xfrm>
              <a:off x="6205538" y="4621213"/>
              <a:ext cx="95250" cy="92075"/>
            </a:xfrm>
            <a:custGeom>
              <a:avLst/>
              <a:gdLst>
                <a:gd name="T0" fmla="*/ 42 w 60"/>
                <a:gd name="T1" fmla="*/ 2 h 58"/>
                <a:gd name="T2" fmla="*/ 42 w 60"/>
                <a:gd name="T3" fmla="*/ 2 h 58"/>
                <a:gd name="T4" fmla="*/ 36 w 60"/>
                <a:gd name="T5" fmla="*/ 0 h 58"/>
                <a:gd name="T6" fmla="*/ 32 w 60"/>
                <a:gd name="T7" fmla="*/ 0 h 58"/>
                <a:gd name="T8" fmla="*/ 20 w 60"/>
                <a:gd name="T9" fmla="*/ 2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6 w 60"/>
                <a:gd name="T29" fmla="*/ 56 h 58"/>
                <a:gd name="T30" fmla="*/ 16 w 60"/>
                <a:gd name="T31" fmla="*/ 56 h 58"/>
                <a:gd name="T32" fmla="*/ 22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6" y="0"/>
                  </a:lnTo>
                  <a:lnTo>
                    <a:pt x="32" y="0"/>
                  </a:lnTo>
                  <a:lnTo>
                    <a:pt x="20" y="2"/>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50" y="50"/>
                  </a:lnTo>
                  <a:lnTo>
                    <a:pt x="54" y="46"/>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6" name="Freeform 152"/>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7" name="Freeform 153"/>
            <p:cNvSpPr>
              <a:spLocks/>
            </p:cNvSpPr>
            <p:nvPr userDrawn="1"/>
          </p:nvSpPr>
          <p:spPr bwMode="auto">
            <a:xfrm>
              <a:off x="6205538" y="4621213"/>
              <a:ext cx="95250" cy="92075"/>
            </a:xfrm>
            <a:custGeom>
              <a:avLst/>
              <a:gdLst>
                <a:gd name="T0" fmla="*/ 42 w 60"/>
                <a:gd name="T1" fmla="*/ 2 h 58"/>
                <a:gd name="T2" fmla="*/ 42 w 60"/>
                <a:gd name="T3" fmla="*/ 2 h 58"/>
                <a:gd name="T4" fmla="*/ 36 w 60"/>
                <a:gd name="T5" fmla="*/ 0 h 58"/>
                <a:gd name="T6" fmla="*/ 32 w 60"/>
                <a:gd name="T7" fmla="*/ 0 h 58"/>
                <a:gd name="T8" fmla="*/ 20 w 60"/>
                <a:gd name="T9" fmla="*/ 2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6 w 60"/>
                <a:gd name="T29" fmla="*/ 56 h 58"/>
                <a:gd name="T30" fmla="*/ 16 w 60"/>
                <a:gd name="T31" fmla="*/ 56 h 58"/>
                <a:gd name="T32" fmla="*/ 22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6" y="0"/>
                  </a:lnTo>
                  <a:lnTo>
                    <a:pt x="32" y="0"/>
                  </a:lnTo>
                  <a:lnTo>
                    <a:pt x="20" y="2"/>
                  </a:lnTo>
                  <a:lnTo>
                    <a:pt x="10" y="6"/>
                  </a:lnTo>
                  <a:lnTo>
                    <a:pt x="6" y="10"/>
                  </a:lnTo>
                  <a:lnTo>
                    <a:pt x="4" y="16"/>
                  </a:lnTo>
                  <a:lnTo>
                    <a:pt x="4" y="16"/>
                  </a:lnTo>
                  <a:lnTo>
                    <a:pt x="2" y="22"/>
                  </a:lnTo>
                  <a:lnTo>
                    <a:pt x="0" y="28"/>
                  </a:lnTo>
                  <a:lnTo>
                    <a:pt x="2" y="38"/>
                  </a:lnTo>
                  <a:lnTo>
                    <a:pt x="8" y="48"/>
                  </a:lnTo>
                  <a:lnTo>
                    <a:pt x="12" y="52"/>
                  </a:lnTo>
                  <a:lnTo>
                    <a:pt x="16" y="56"/>
                  </a:lnTo>
                  <a:lnTo>
                    <a:pt x="16" y="56"/>
                  </a:lnTo>
                  <a:lnTo>
                    <a:pt x="22" y="58"/>
                  </a:lnTo>
                  <a:lnTo>
                    <a:pt x="28" y="58"/>
                  </a:lnTo>
                  <a:lnTo>
                    <a:pt x="40" y="56"/>
                  </a:lnTo>
                  <a:lnTo>
                    <a:pt x="50" y="50"/>
                  </a:lnTo>
                  <a:lnTo>
                    <a:pt x="54" y="46"/>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8" name="Freeform 154"/>
            <p:cNvSpPr>
              <a:spLocks/>
            </p:cNvSpPr>
            <p:nvPr userDrawn="1"/>
          </p:nvSpPr>
          <p:spPr bwMode="auto">
            <a:xfrm>
              <a:off x="6570663" y="515461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59" name="Freeform 155"/>
            <p:cNvSpPr>
              <a:spLocks/>
            </p:cNvSpPr>
            <p:nvPr userDrawn="1"/>
          </p:nvSpPr>
          <p:spPr bwMode="auto">
            <a:xfrm>
              <a:off x="2449513" y="209073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0"/>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8" name="Freeform 156"/>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69" name="Freeform 157"/>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0" name="Freeform 158"/>
            <p:cNvSpPr>
              <a:spLocks/>
            </p:cNvSpPr>
            <p:nvPr userDrawn="1"/>
          </p:nvSpPr>
          <p:spPr bwMode="auto">
            <a:xfrm>
              <a:off x="3094038" y="20431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2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2"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1" name="Freeform 159"/>
            <p:cNvSpPr>
              <a:spLocks/>
            </p:cNvSpPr>
            <p:nvPr userDrawn="1"/>
          </p:nvSpPr>
          <p:spPr bwMode="auto">
            <a:xfrm>
              <a:off x="3459163" y="2576513"/>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8"/>
                  </a:lnTo>
                  <a:lnTo>
                    <a:pt x="6" y="12"/>
                  </a:lnTo>
                  <a:lnTo>
                    <a:pt x="2" y="16"/>
                  </a:lnTo>
                  <a:lnTo>
                    <a:pt x="2" y="16"/>
                  </a:lnTo>
                  <a:lnTo>
                    <a:pt x="0" y="22"/>
                  </a:lnTo>
                  <a:lnTo>
                    <a:pt x="0" y="28"/>
                  </a:lnTo>
                  <a:lnTo>
                    <a:pt x="0"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2" name="Freeform 160"/>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3" name="Freeform 161"/>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4" name="Freeform 162"/>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5" name="Freeform 163"/>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6" name="Freeform 164"/>
            <p:cNvSpPr>
              <a:spLocks/>
            </p:cNvSpPr>
            <p:nvPr userDrawn="1"/>
          </p:nvSpPr>
          <p:spPr bwMode="auto">
            <a:xfrm>
              <a:off x="4103688" y="252888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2"/>
                  </a:lnTo>
                  <a:lnTo>
                    <a:pt x="52" y="48"/>
                  </a:lnTo>
                  <a:lnTo>
                    <a:pt x="56" y="42"/>
                  </a:lnTo>
                  <a:lnTo>
                    <a:pt x="56" y="42"/>
                  </a:lnTo>
                  <a:lnTo>
                    <a:pt x="58" y="36"/>
                  </a:lnTo>
                  <a:lnTo>
                    <a:pt x="58" y="30"/>
                  </a:lnTo>
                  <a:lnTo>
                    <a:pt x="56"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7" name="Freeform 165"/>
            <p:cNvSpPr>
              <a:spLocks/>
            </p:cNvSpPr>
            <p:nvPr userDrawn="1"/>
          </p:nvSpPr>
          <p:spPr bwMode="auto">
            <a:xfrm>
              <a:off x="4468813" y="3062288"/>
              <a:ext cx="92075" cy="95250"/>
            </a:xfrm>
            <a:custGeom>
              <a:avLst/>
              <a:gdLst>
                <a:gd name="T0" fmla="*/ 42 w 58"/>
                <a:gd name="T1" fmla="*/ 4 h 60"/>
                <a:gd name="T2" fmla="*/ 42 w 58"/>
                <a:gd name="T3" fmla="*/ 4 h 60"/>
                <a:gd name="T4" fmla="*/ 36 w 58"/>
                <a:gd name="T5" fmla="*/ 2 h 60"/>
                <a:gd name="T6" fmla="*/ 30 w 58"/>
                <a:gd name="T7" fmla="*/ 0 h 60"/>
                <a:gd name="T8" fmla="*/ 18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0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18" y="2"/>
                  </a:lnTo>
                  <a:lnTo>
                    <a:pt x="10" y="8"/>
                  </a:lnTo>
                  <a:lnTo>
                    <a:pt x="6" y="12"/>
                  </a:lnTo>
                  <a:lnTo>
                    <a:pt x="2" y="18"/>
                  </a:lnTo>
                  <a:lnTo>
                    <a:pt x="2" y="18"/>
                  </a:lnTo>
                  <a:lnTo>
                    <a:pt x="0" y="22"/>
                  </a:lnTo>
                  <a:lnTo>
                    <a:pt x="0" y="28"/>
                  </a:lnTo>
                  <a:lnTo>
                    <a:pt x="0"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8" name="Freeform 166"/>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79" name="Freeform 167"/>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0" name="Freeform 168"/>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1" name="Freeform 169"/>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2" name="Freeform 170"/>
            <p:cNvSpPr>
              <a:spLocks/>
            </p:cNvSpPr>
            <p:nvPr userDrawn="1"/>
          </p:nvSpPr>
          <p:spPr bwMode="auto">
            <a:xfrm>
              <a:off x="5113338" y="30146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8 h 60"/>
                <a:gd name="T16" fmla="*/ 2 w 58"/>
                <a:gd name="T17" fmla="*/ 18 h 60"/>
                <a:gd name="T18" fmla="*/ 0 w 58"/>
                <a:gd name="T19" fmla="*/ 22 h 60"/>
                <a:gd name="T20" fmla="*/ 0 w 58"/>
                <a:gd name="T21" fmla="*/ 28 h 60"/>
                <a:gd name="T22" fmla="*/ 2 w 58"/>
                <a:gd name="T23" fmla="*/ 40 h 60"/>
                <a:gd name="T24" fmla="*/ 8 w 58"/>
                <a:gd name="T25" fmla="*/ 50 h 60"/>
                <a:gd name="T26" fmla="*/ 12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8 h 60"/>
                <a:gd name="T48" fmla="*/ 58 w 58"/>
                <a:gd name="T49" fmla="*/ 32 h 60"/>
                <a:gd name="T50" fmla="*/ 56 w 58"/>
                <a:gd name="T51" fmla="*/ 20 h 60"/>
                <a:gd name="T52" fmla="*/ 52 w 58"/>
                <a:gd name="T53" fmla="*/ 10 h 60"/>
                <a:gd name="T54" fmla="*/ 48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8"/>
                  </a:lnTo>
                  <a:lnTo>
                    <a:pt x="2" y="18"/>
                  </a:lnTo>
                  <a:lnTo>
                    <a:pt x="0" y="22"/>
                  </a:lnTo>
                  <a:lnTo>
                    <a:pt x="0" y="28"/>
                  </a:lnTo>
                  <a:lnTo>
                    <a:pt x="2" y="40"/>
                  </a:lnTo>
                  <a:lnTo>
                    <a:pt x="8" y="50"/>
                  </a:lnTo>
                  <a:lnTo>
                    <a:pt x="12" y="54"/>
                  </a:lnTo>
                  <a:lnTo>
                    <a:pt x="16" y="56"/>
                  </a:lnTo>
                  <a:lnTo>
                    <a:pt x="16" y="56"/>
                  </a:lnTo>
                  <a:lnTo>
                    <a:pt x="22" y="58"/>
                  </a:lnTo>
                  <a:lnTo>
                    <a:pt x="28" y="60"/>
                  </a:lnTo>
                  <a:lnTo>
                    <a:pt x="38" y="58"/>
                  </a:lnTo>
                  <a:lnTo>
                    <a:pt x="48" y="52"/>
                  </a:lnTo>
                  <a:lnTo>
                    <a:pt x="52" y="48"/>
                  </a:lnTo>
                  <a:lnTo>
                    <a:pt x="56" y="42"/>
                  </a:lnTo>
                  <a:lnTo>
                    <a:pt x="56" y="42"/>
                  </a:lnTo>
                  <a:lnTo>
                    <a:pt x="58" y="38"/>
                  </a:lnTo>
                  <a:lnTo>
                    <a:pt x="58" y="32"/>
                  </a:lnTo>
                  <a:lnTo>
                    <a:pt x="56" y="20"/>
                  </a:lnTo>
                  <a:lnTo>
                    <a:pt x="52" y="10"/>
                  </a:lnTo>
                  <a:lnTo>
                    <a:pt x="48"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3" name="Freeform 171"/>
            <p:cNvSpPr>
              <a:spLocks/>
            </p:cNvSpPr>
            <p:nvPr userDrawn="1"/>
          </p:nvSpPr>
          <p:spPr bwMode="auto">
            <a:xfrm>
              <a:off x="5478463" y="3551238"/>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2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2"/>
                  </a:lnTo>
                  <a:lnTo>
                    <a:pt x="10" y="6"/>
                  </a:lnTo>
                  <a:lnTo>
                    <a:pt x="6" y="10"/>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4" name="Freeform 172"/>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5" name="Freeform 173"/>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6" name="Freeform 174"/>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7" name="Freeform 175"/>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8" name="Freeform 176"/>
            <p:cNvSpPr>
              <a:spLocks/>
            </p:cNvSpPr>
            <p:nvPr userDrawn="1"/>
          </p:nvSpPr>
          <p:spPr bwMode="auto">
            <a:xfrm>
              <a:off x="6122988" y="35036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8 h 58"/>
                <a:gd name="T22" fmla="*/ 2 w 58"/>
                <a:gd name="T23" fmla="*/ 38 h 58"/>
                <a:gd name="T24" fmla="*/ 8 w 58"/>
                <a:gd name="T25" fmla="*/ 48 h 58"/>
                <a:gd name="T26" fmla="*/ 12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8 w 58"/>
                <a:gd name="T51" fmla="*/ 18 h 58"/>
                <a:gd name="T52" fmla="*/ 52 w 58"/>
                <a:gd name="T53" fmla="*/ 10 h 58"/>
                <a:gd name="T54" fmla="*/ 48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8"/>
                  </a:lnTo>
                  <a:lnTo>
                    <a:pt x="2" y="38"/>
                  </a:lnTo>
                  <a:lnTo>
                    <a:pt x="8" y="48"/>
                  </a:lnTo>
                  <a:lnTo>
                    <a:pt x="12" y="52"/>
                  </a:lnTo>
                  <a:lnTo>
                    <a:pt x="16" y="56"/>
                  </a:lnTo>
                  <a:lnTo>
                    <a:pt x="16" y="56"/>
                  </a:lnTo>
                  <a:lnTo>
                    <a:pt x="22" y="58"/>
                  </a:lnTo>
                  <a:lnTo>
                    <a:pt x="28" y="58"/>
                  </a:lnTo>
                  <a:lnTo>
                    <a:pt x="38" y="56"/>
                  </a:lnTo>
                  <a:lnTo>
                    <a:pt x="48" y="50"/>
                  </a:lnTo>
                  <a:lnTo>
                    <a:pt x="52" y="46"/>
                  </a:lnTo>
                  <a:lnTo>
                    <a:pt x="56" y="42"/>
                  </a:lnTo>
                  <a:lnTo>
                    <a:pt x="56" y="42"/>
                  </a:lnTo>
                  <a:lnTo>
                    <a:pt x="58" y="36"/>
                  </a:lnTo>
                  <a:lnTo>
                    <a:pt x="58" y="30"/>
                  </a:lnTo>
                  <a:lnTo>
                    <a:pt x="58" y="18"/>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89" name="Freeform 177"/>
            <p:cNvSpPr>
              <a:spLocks/>
            </p:cNvSpPr>
            <p:nvPr userDrawn="1"/>
          </p:nvSpPr>
          <p:spPr bwMode="auto">
            <a:xfrm>
              <a:off x="6488113" y="4037013"/>
              <a:ext cx="92075" cy="92075"/>
            </a:xfrm>
            <a:custGeom>
              <a:avLst/>
              <a:gdLst>
                <a:gd name="T0" fmla="*/ 42 w 58"/>
                <a:gd name="T1" fmla="*/ 4 h 58"/>
                <a:gd name="T2" fmla="*/ 42 w 58"/>
                <a:gd name="T3" fmla="*/ 4 h 58"/>
                <a:gd name="T4" fmla="*/ 36 w 58"/>
                <a:gd name="T5" fmla="*/ 2 h 58"/>
                <a:gd name="T6" fmla="*/ 30 w 58"/>
                <a:gd name="T7" fmla="*/ 0 h 58"/>
                <a:gd name="T8" fmla="*/ 20 w 58"/>
                <a:gd name="T9" fmla="*/ 2 h 58"/>
                <a:gd name="T10" fmla="*/ 10 w 58"/>
                <a:gd name="T11" fmla="*/ 8 h 58"/>
                <a:gd name="T12" fmla="*/ 6 w 58"/>
                <a:gd name="T13" fmla="*/ 12 h 58"/>
                <a:gd name="T14" fmla="*/ 2 w 58"/>
                <a:gd name="T15" fmla="*/ 16 h 58"/>
                <a:gd name="T16" fmla="*/ 2 w 58"/>
                <a:gd name="T17" fmla="*/ 16 h 58"/>
                <a:gd name="T18" fmla="*/ 0 w 58"/>
                <a:gd name="T19" fmla="*/ 22 h 58"/>
                <a:gd name="T20" fmla="*/ 0 w 58"/>
                <a:gd name="T21" fmla="*/ 28 h 58"/>
                <a:gd name="T22" fmla="*/ 2 w 58"/>
                <a:gd name="T23" fmla="*/ 40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8 h 58"/>
                <a:gd name="T38" fmla="*/ 48 w 58"/>
                <a:gd name="T39" fmla="*/ 52 h 58"/>
                <a:gd name="T40" fmla="*/ 52 w 58"/>
                <a:gd name="T41" fmla="*/ 48 h 58"/>
                <a:gd name="T42" fmla="*/ 56 w 58"/>
                <a:gd name="T43" fmla="*/ 42 h 58"/>
                <a:gd name="T44" fmla="*/ 56 w 58"/>
                <a:gd name="T45" fmla="*/ 42 h 58"/>
                <a:gd name="T46" fmla="*/ 58 w 58"/>
                <a:gd name="T47" fmla="*/ 36 h 58"/>
                <a:gd name="T48" fmla="*/ 58 w 58"/>
                <a:gd name="T49" fmla="*/ 30 h 58"/>
                <a:gd name="T50" fmla="*/ 56 w 58"/>
                <a:gd name="T51" fmla="*/ 20 h 58"/>
                <a:gd name="T52" fmla="*/ 50 w 58"/>
                <a:gd name="T53" fmla="*/ 10 h 58"/>
                <a:gd name="T54" fmla="*/ 46 w 58"/>
                <a:gd name="T55" fmla="*/ 6 h 58"/>
                <a:gd name="T56" fmla="*/ 42 w 58"/>
                <a:gd name="T57" fmla="*/ 4 h 58"/>
                <a:gd name="T58" fmla="*/ 42 w 58"/>
                <a:gd name="T59"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48"/>
                  </a:lnTo>
                  <a:lnTo>
                    <a:pt x="10" y="52"/>
                  </a:lnTo>
                  <a:lnTo>
                    <a:pt x="16" y="56"/>
                  </a:lnTo>
                  <a:lnTo>
                    <a:pt x="16" y="56"/>
                  </a:lnTo>
                  <a:lnTo>
                    <a:pt x="22" y="58"/>
                  </a:lnTo>
                  <a:lnTo>
                    <a:pt x="28" y="58"/>
                  </a:lnTo>
                  <a:lnTo>
                    <a:pt x="38" y="58"/>
                  </a:lnTo>
                  <a:lnTo>
                    <a:pt x="48" y="52"/>
                  </a:lnTo>
                  <a:lnTo>
                    <a:pt x="52" y="48"/>
                  </a:lnTo>
                  <a:lnTo>
                    <a:pt x="56" y="42"/>
                  </a:lnTo>
                  <a:lnTo>
                    <a:pt x="56" y="42"/>
                  </a:lnTo>
                  <a:lnTo>
                    <a:pt x="58" y="36"/>
                  </a:lnTo>
                  <a:lnTo>
                    <a:pt x="58" y="30"/>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0" name="Freeform 178"/>
            <p:cNvSpPr>
              <a:spLocks/>
            </p:cNvSpPr>
            <p:nvPr userDrawn="1"/>
          </p:nvSpPr>
          <p:spPr bwMode="auto">
            <a:xfrm>
              <a:off x="4383088" y="1944688"/>
              <a:ext cx="95250" cy="95250"/>
            </a:xfrm>
            <a:custGeom>
              <a:avLst/>
              <a:gdLst>
                <a:gd name="T0" fmla="*/ 44 w 60"/>
                <a:gd name="T1" fmla="*/ 4 h 60"/>
                <a:gd name="T2" fmla="*/ 44 w 60"/>
                <a:gd name="T3" fmla="*/ 4 h 60"/>
                <a:gd name="T4" fmla="*/ 38 w 60"/>
                <a:gd name="T5" fmla="*/ 2 h 60"/>
                <a:gd name="T6" fmla="*/ 32 w 60"/>
                <a:gd name="T7" fmla="*/ 0 h 60"/>
                <a:gd name="T8" fmla="*/ 20 w 60"/>
                <a:gd name="T9" fmla="*/ 2 h 60"/>
                <a:gd name="T10" fmla="*/ 10 w 60"/>
                <a:gd name="T11" fmla="*/ 8 h 60"/>
                <a:gd name="T12" fmla="*/ 6 w 60"/>
                <a:gd name="T13" fmla="*/ 12 h 60"/>
                <a:gd name="T14" fmla="*/ 4 w 60"/>
                <a:gd name="T15" fmla="*/ 18 h 60"/>
                <a:gd name="T16" fmla="*/ 4 w 60"/>
                <a:gd name="T17" fmla="*/ 18 h 60"/>
                <a:gd name="T18" fmla="*/ 2 w 60"/>
                <a:gd name="T19" fmla="*/ 22 h 60"/>
                <a:gd name="T20" fmla="*/ 0 w 60"/>
                <a:gd name="T21" fmla="*/ 28 h 60"/>
                <a:gd name="T22" fmla="*/ 2 w 60"/>
                <a:gd name="T23" fmla="*/ 40 h 60"/>
                <a:gd name="T24" fmla="*/ 8 w 60"/>
                <a:gd name="T25" fmla="*/ 50 h 60"/>
                <a:gd name="T26" fmla="*/ 12 w 60"/>
                <a:gd name="T27" fmla="*/ 54 h 60"/>
                <a:gd name="T28" fmla="*/ 18 w 60"/>
                <a:gd name="T29" fmla="*/ 56 h 60"/>
                <a:gd name="T30" fmla="*/ 18 w 60"/>
                <a:gd name="T31" fmla="*/ 56 h 60"/>
                <a:gd name="T32" fmla="*/ 24 w 60"/>
                <a:gd name="T33" fmla="*/ 58 h 60"/>
                <a:gd name="T34" fmla="*/ 28 w 60"/>
                <a:gd name="T35" fmla="*/ 60 h 60"/>
                <a:gd name="T36" fmla="*/ 40 w 60"/>
                <a:gd name="T37" fmla="*/ 58 h 60"/>
                <a:gd name="T38" fmla="*/ 50 w 60"/>
                <a:gd name="T39" fmla="*/ 52 h 60"/>
                <a:gd name="T40" fmla="*/ 54 w 60"/>
                <a:gd name="T41" fmla="*/ 48 h 60"/>
                <a:gd name="T42" fmla="*/ 56 w 60"/>
                <a:gd name="T43" fmla="*/ 42 h 60"/>
                <a:gd name="T44" fmla="*/ 56 w 60"/>
                <a:gd name="T45" fmla="*/ 42 h 60"/>
                <a:gd name="T46" fmla="*/ 58 w 60"/>
                <a:gd name="T47" fmla="*/ 38 h 60"/>
                <a:gd name="T48" fmla="*/ 60 w 60"/>
                <a:gd name="T49" fmla="*/ 32 h 60"/>
                <a:gd name="T50" fmla="*/ 58 w 60"/>
                <a:gd name="T51" fmla="*/ 20 h 60"/>
                <a:gd name="T52" fmla="*/ 52 w 60"/>
                <a:gd name="T53" fmla="*/ 10 h 60"/>
                <a:gd name="T54" fmla="*/ 48 w 60"/>
                <a:gd name="T55" fmla="*/ 6 h 60"/>
                <a:gd name="T56" fmla="*/ 44 w 60"/>
                <a:gd name="T57" fmla="*/ 4 h 60"/>
                <a:gd name="T58" fmla="*/ 44 w 60"/>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60">
                  <a:moveTo>
                    <a:pt x="44" y="4"/>
                  </a:moveTo>
                  <a:lnTo>
                    <a:pt x="44" y="4"/>
                  </a:lnTo>
                  <a:lnTo>
                    <a:pt x="38" y="2"/>
                  </a:lnTo>
                  <a:lnTo>
                    <a:pt x="32" y="0"/>
                  </a:lnTo>
                  <a:lnTo>
                    <a:pt x="20" y="2"/>
                  </a:lnTo>
                  <a:lnTo>
                    <a:pt x="10" y="8"/>
                  </a:lnTo>
                  <a:lnTo>
                    <a:pt x="6" y="12"/>
                  </a:lnTo>
                  <a:lnTo>
                    <a:pt x="4" y="18"/>
                  </a:lnTo>
                  <a:lnTo>
                    <a:pt x="4" y="18"/>
                  </a:lnTo>
                  <a:lnTo>
                    <a:pt x="2" y="22"/>
                  </a:lnTo>
                  <a:lnTo>
                    <a:pt x="0" y="28"/>
                  </a:lnTo>
                  <a:lnTo>
                    <a:pt x="2" y="40"/>
                  </a:lnTo>
                  <a:lnTo>
                    <a:pt x="8" y="50"/>
                  </a:lnTo>
                  <a:lnTo>
                    <a:pt x="12" y="54"/>
                  </a:lnTo>
                  <a:lnTo>
                    <a:pt x="18" y="56"/>
                  </a:lnTo>
                  <a:lnTo>
                    <a:pt x="18" y="56"/>
                  </a:lnTo>
                  <a:lnTo>
                    <a:pt x="24" y="58"/>
                  </a:lnTo>
                  <a:lnTo>
                    <a:pt x="28" y="60"/>
                  </a:lnTo>
                  <a:lnTo>
                    <a:pt x="40" y="58"/>
                  </a:lnTo>
                  <a:lnTo>
                    <a:pt x="50" y="52"/>
                  </a:lnTo>
                  <a:lnTo>
                    <a:pt x="54" y="48"/>
                  </a:lnTo>
                  <a:lnTo>
                    <a:pt x="56" y="42"/>
                  </a:lnTo>
                  <a:lnTo>
                    <a:pt x="56" y="42"/>
                  </a:lnTo>
                  <a:lnTo>
                    <a:pt x="58" y="38"/>
                  </a:lnTo>
                  <a:lnTo>
                    <a:pt x="60" y="32"/>
                  </a:lnTo>
                  <a:lnTo>
                    <a:pt x="58" y="20"/>
                  </a:lnTo>
                  <a:lnTo>
                    <a:pt x="52" y="10"/>
                  </a:lnTo>
                  <a:lnTo>
                    <a:pt x="48" y="6"/>
                  </a:lnTo>
                  <a:lnTo>
                    <a:pt x="44" y="4"/>
                  </a:lnTo>
                  <a:lnTo>
                    <a:pt x="44"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1" name="Freeform 179"/>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2" name="Freeform 180"/>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3" name="Freeform 181"/>
            <p:cNvSpPr>
              <a:spLocks/>
            </p:cNvSpPr>
            <p:nvPr userDrawn="1"/>
          </p:nvSpPr>
          <p:spPr bwMode="auto">
            <a:xfrm>
              <a:off x="5030788" y="1897063"/>
              <a:ext cx="92075" cy="95250"/>
            </a:xfrm>
            <a:custGeom>
              <a:avLst/>
              <a:gdLst>
                <a:gd name="T0" fmla="*/ 42 w 58"/>
                <a:gd name="T1" fmla="*/ 4 h 60"/>
                <a:gd name="T2" fmla="*/ 42 w 58"/>
                <a:gd name="T3" fmla="*/ 4 h 60"/>
                <a:gd name="T4" fmla="*/ 36 w 58"/>
                <a:gd name="T5" fmla="*/ 2 h 60"/>
                <a:gd name="T6" fmla="*/ 30 w 58"/>
                <a:gd name="T7" fmla="*/ 0 h 60"/>
                <a:gd name="T8" fmla="*/ 20 w 58"/>
                <a:gd name="T9" fmla="*/ 2 h 60"/>
                <a:gd name="T10" fmla="*/ 10 w 58"/>
                <a:gd name="T11" fmla="*/ 8 h 60"/>
                <a:gd name="T12" fmla="*/ 6 w 58"/>
                <a:gd name="T13" fmla="*/ 12 h 60"/>
                <a:gd name="T14" fmla="*/ 2 w 58"/>
                <a:gd name="T15" fmla="*/ 16 h 60"/>
                <a:gd name="T16" fmla="*/ 2 w 58"/>
                <a:gd name="T17" fmla="*/ 16 h 60"/>
                <a:gd name="T18" fmla="*/ 0 w 58"/>
                <a:gd name="T19" fmla="*/ 22 h 60"/>
                <a:gd name="T20" fmla="*/ 0 w 58"/>
                <a:gd name="T21" fmla="*/ 28 h 60"/>
                <a:gd name="T22" fmla="*/ 2 w 58"/>
                <a:gd name="T23" fmla="*/ 40 h 60"/>
                <a:gd name="T24" fmla="*/ 6 w 58"/>
                <a:gd name="T25" fmla="*/ 50 h 60"/>
                <a:gd name="T26" fmla="*/ 10 w 58"/>
                <a:gd name="T27" fmla="*/ 54 h 60"/>
                <a:gd name="T28" fmla="*/ 16 w 58"/>
                <a:gd name="T29" fmla="*/ 56 h 60"/>
                <a:gd name="T30" fmla="*/ 16 w 58"/>
                <a:gd name="T31" fmla="*/ 56 h 60"/>
                <a:gd name="T32" fmla="*/ 22 w 58"/>
                <a:gd name="T33" fmla="*/ 58 h 60"/>
                <a:gd name="T34" fmla="*/ 28 w 58"/>
                <a:gd name="T35" fmla="*/ 60 h 60"/>
                <a:gd name="T36" fmla="*/ 38 w 58"/>
                <a:gd name="T37" fmla="*/ 58 h 60"/>
                <a:gd name="T38" fmla="*/ 48 w 58"/>
                <a:gd name="T39" fmla="*/ 52 h 60"/>
                <a:gd name="T40" fmla="*/ 52 w 58"/>
                <a:gd name="T41" fmla="*/ 48 h 60"/>
                <a:gd name="T42" fmla="*/ 56 w 58"/>
                <a:gd name="T43" fmla="*/ 42 h 60"/>
                <a:gd name="T44" fmla="*/ 56 w 58"/>
                <a:gd name="T45" fmla="*/ 42 h 60"/>
                <a:gd name="T46" fmla="*/ 58 w 58"/>
                <a:gd name="T47" fmla="*/ 36 h 60"/>
                <a:gd name="T48" fmla="*/ 58 w 58"/>
                <a:gd name="T49" fmla="*/ 32 h 60"/>
                <a:gd name="T50" fmla="*/ 56 w 58"/>
                <a:gd name="T51" fmla="*/ 20 h 60"/>
                <a:gd name="T52" fmla="*/ 50 w 58"/>
                <a:gd name="T53" fmla="*/ 10 h 60"/>
                <a:gd name="T54" fmla="*/ 46 w 58"/>
                <a:gd name="T55" fmla="*/ 6 h 60"/>
                <a:gd name="T56" fmla="*/ 42 w 58"/>
                <a:gd name="T57" fmla="*/ 4 h 60"/>
                <a:gd name="T58" fmla="*/ 42 w 58"/>
                <a:gd name="T59" fmla="*/ 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42" y="4"/>
                  </a:moveTo>
                  <a:lnTo>
                    <a:pt x="42" y="4"/>
                  </a:lnTo>
                  <a:lnTo>
                    <a:pt x="36" y="2"/>
                  </a:lnTo>
                  <a:lnTo>
                    <a:pt x="30" y="0"/>
                  </a:lnTo>
                  <a:lnTo>
                    <a:pt x="20" y="2"/>
                  </a:lnTo>
                  <a:lnTo>
                    <a:pt x="10" y="8"/>
                  </a:lnTo>
                  <a:lnTo>
                    <a:pt x="6" y="12"/>
                  </a:lnTo>
                  <a:lnTo>
                    <a:pt x="2" y="16"/>
                  </a:lnTo>
                  <a:lnTo>
                    <a:pt x="2" y="16"/>
                  </a:lnTo>
                  <a:lnTo>
                    <a:pt x="0" y="22"/>
                  </a:lnTo>
                  <a:lnTo>
                    <a:pt x="0" y="28"/>
                  </a:lnTo>
                  <a:lnTo>
                    <a:pt x="2" y="40"/>
                  </a:lnTo>
                  <a:lnTo>
                    <a:pt x="6" y="50"/>
                  </a:lnTo>
                  <a:lnTo>
                    <a:pt x="10" y="54"/>
                  </a:lnTo>
                  <a:lnTo>
                    <a:pt x="16" y="56"/>
                  </a:lnTo>
                  <a:lnTo>
                    <a:pt x="16" y="56"/>
                  </a:lnTo>
                  <a:lnTo>
                    <a:pt x="22" y="58"/>
                  </a:lnTo>
                  <a:lnTo>
                    <a:pt x="28" y="60"/>
                  </a:lnTo>
                  <a:lnTo>
                    <a:pt x="38" y="58"/>
                  </a:lnTo>
                  <a:lnTo>
                    <a:pt x="48" y="52"/>
                  </a:lnTo>
                  <a:lnTo>
                    <a:pt x="52" y="48"/>
                  </a:lnTo>
                  <a:lnTo>
                    <a:pt x="56" y="42"/>
                  </a:lnTo>
                  <a:lnTo>
                    <a:pt x="56" y="42"/>
                  </a:lnTo>
                  <a:lnTo>
                    <a:pt x="58" y="36"/>
                  </a:lnTo>
                  <a:lnTo>
                    <a:pt x="58" y="32"/>
                  </a:lnTo>
                  <a:lnTo>
                    <a:pt x="56" y="20"/>
                  </a:lnTo>
                  <a:lnTo>
                    <a:pt x="50" y="10"/>
                  </a:lnTo>
                  <a:lnTo>
                    <a:pt x="46" y="6"/>
                  </a:lnTo>
                  <a:lnTo>
                    <a:pt x="42" y="4"/>
                  </a:lnTo>
                  <a:lnTo>
                    <a:pt x="42" y="4"/>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4" name="Freeform 182"/>
            <p:cNvSpPr>
              <a:spLocks/>
            </p:cNvSpPr>
            <p:nvPr userDrawn="1"/>
          </p:nvSpPr>
          <p:spPr bwMode="auto">
            <a:xfrm>
              <a:off x="5392738" y="2433638"/>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0 h 58"/>
                <a:gd name="T10" fmla="*/ 10 w 60"/>
                <a:gd name="T11" fmla="*/ 6 h 58"/>
                <a:gd name="T12" fmla="*/ 6 w 60"/>
                <a:gd name="T13" fmla="*/ 10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6 h 58"/>
                <a:gd name="T38" fmla="*/ 50 w 60"/>
                <a:gd name="T39" fmla="*/ 50 h 58"/>
                <a:gd name="T40" fmla="*/ 54 w 60"/>
                <a:gd name="T41" fmla="*/ 46 h 58"/>
                <a:gd name="T42" fmla="*/ 56 w 60"/>
                <a:gd name="T43" fmla="*/ 42 h 58"/>
                <a:gd name="T44" fmla="*/ 56 w 60"/>
                <a:gd name="T45" fmla="*/ 42 h 58"/>
                <a:gd name="T46" fmla="*/ 58 w 60"/>
                <a:gd name="T47" fmla="*/ 36 h 58"/>
                <a:gd name="T48" fmla="*/ 60 w 60"/>
                <a:gd name="T49" fmla="*/ 30 h 58"/>
                <a:gd name="T50" fmla="*/ 58 w 60"/>
                <a:gd name="T51" fmla="*/ 18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0"/>
                  </a:lnTo>
                  <a:lnTo>
                    <a:pt x="10" y="6"/>
                  </a:lnTo>
                  <a:lnTo>
                    <a:pt x="6" y="10"/>
                  </a:lnTo>
                  <a:lnTo>
                    <a:pt x="4" y="16"/>
                  </a:lnTo>
                  <a:lnTo>
                    <a:pt x="4" y="16"/>
                  </a:lnTo>
                  <a:lnTo>
                    <a:pt x="2" y="22"/>
                  </a:lnTo>
                  <a:lnTo>
                    <a:pt x="0" y="28"/>
                  </a:lnTo>
                  <a:lnTo>
                    <a:pt x="2" y="38"/>
                  </a:lnTo>
                  <a:lnTo>
                    <a:pt x="8" y="48"/>
                  </a:lnTo>
                  <a:lnTo>
                    <a:pt x="12" y="52"/>
                  </a:lnTo>
                  <a:lnTo>
                    <a:pt x="18" y="56"/>
                  </a:lnTo>
                  <a:lnTo>
                    <a:pt x="18" y="56"/>
                  </a:lnTo>
                  <a:lnTo>
                    <a:pt x="24" y="58"/>
                  </a:lnTo>
                  <a:lnTo>
                    <a:pt x="28" y="58"/>
                  </a:lnTo>
                  <a:lnTo>
                    <a:pt x="40" y="56"/>
                  </a:lnTo>
                  <a:lnTo>
                    <a:pt x="50" y="50"/>
                  </a:lnTo>
                  <a:lnTo>
                    <a:pt x="54" y="46"/>
                  </a:lnTo>
                  <a:lnTo>
                    <a:pt x="56" y="42"/>
                  </a:lnTo>
                  <a:lnTo>
                    <a:pt x="56" y="42"/>
                  </a:lnTo>
                  <a:lnTo>
                    <a:pt x="58" y="36"/>
                  </a:lnTo>
                  <a:lnTo>
                    <a:pt x="60" y="30"/>
                  </a:lnTo>
                  <a:lnTo>
                    <a:pt x="58" y="18"/>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5" name="Freeform 183"/>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6" name="Freeform 184"/>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7" name="Freeform 185"/>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8" name="Freeform 186"/>
            <p:cNvSpPr>
              <a:spLocks/>
            </p:cNvSpPr>
            <p:nvPr userDrawn="1"/>
          </p:nvSpPr>
          <p:spPr bwMode="auto">
            <a:xfrm>
              <a:off x="6040438" y="2386013"/>
              <a:ext cx="92075" cy="92075"/>
            </a:xfrm>
            <a:custGeom>
              <a:avLst/>
              <a:gdLst>
                <a:gd name="T0" fmla="*/ 42 w 58"/>
                <a:gd name="T1" fmla="*/ 2 h 58"/>
                <a:gd name="T2" fmla="*/ 42 w 58"/>
                <a:gd name="T3" fmla="*/ 2 h 58"/>
                <a:gd name="T4" fmla="*/ 36 w 58"/>
                <a:gd name="T5" fmla="*/ 0 h 58"/>
                <a:gd name="T6" fmla="*/ 30 w 58"/>
                <a:gd name="T7" fmla="*/ 0 h 58"/>
                <a:gd name="T8" fmla="*/ 20 w 58"/>
                <a:gd name="T9" fmla="*/ 0 h 58"/>
                <a:gd name="T10" fmla="*/ 10 w 58"/>
                <a:gd name="T11" fmla="*/ 6 h 58"/>
                <a:gd name="T12" fmla="*/ 6 w 58"/>
                <a:gd name="T13" fmla="*/ 10 h 58"/>
                <a:gd name="T14" fmla="*/ 2 w 58"/>
                <a:gd name="T15" fmla="*/ 16 h 58"/>
                <a:gd name="T16" fmla="*/ 2 w 58"/>
                <a:gd name="T17" fmla="*/ 16 h 58"/>
                <a:gd name="T18" fmla="*/ 0 w 58"/>
                <a:gd name="T19" fmla="*/ 22 h 58"/>
                <a:gd name="T20" fmla="*/ 0 w 58"/>
                <a:gd name="T21" fmla="*/ 26 h 58"/>
                <a:gd name="T22" fmla="*/ 2 w 58"/>
                <a:gd name="T23" fmla="*/ 38 h 58"/>
                <a:gd name="T24" fmla="*/ 6 w 58"/>
                <a:gd name="T25" fmla="*/ 48 h 58"/>
                <a:gd name="T26" fmla="*/ 12 w 58"/>
                <a:gd name="T27" fmla="*/ 52 h 58"/>
                <a:gd name="T28" fmla="*/ 16 w 58"/>
                <a:gd name="T29" fmla="*/ 54 h 58"/>
                <a:gd name="T30" fmla="*/ 16 w 58"/>
                <a:gd name="T31" fmla="*/ 54 h 58"/>
                <a:gd name="T32" fmla="*/ 22 w 58"/>
                <a:gd name="T33" fmla="*/ 56 h 58"/>
                <a:gd name="T34" fmla="*/ 28 w 58"/>
                <a:gd name="T35" fmla="*/ 58 h 58"/>
                <a:gd name="T36" fmla="*/ 38 w 58"/>
                <a:gd name="T37" fmla="*/ 56 h 58"/>
                <a:gd name="T38" fmla="*/ 48 w 58"/>
                <a:gd name="T39" fmla="*/ 50 h 58"/>
                <a:gd name="T40" fmla="*/ 52 w 58"/>
                <a:gd name="T41" fmla="*/ 46 h 58"/>
                <a:gd name="T42" fmla="*/ 56 w 58"/>
                <a:gd name="T43" fmla="*/ 42 h 58"/>
                <a:gd name="T44" fmla="*/ 56 w 58"/>
                <a:gd name="T45" fmla="*/ 42 h 58"/>
                <a:gd name="T46" fmla="*/ 58 w 58"/>
                <a:gd name="T47" fmla="*/ 36 h 58"/>
                <a:gd name="T48" fmla="*/ 58 w 58"/>
                <a:gd name="T49" fmla="*/ 30 h 58"/>
                <a:gd name="T50" fmla="*/ 56 w 58"/>
                <a:gd name="T51" fmla="*/ 18 h 58"/>
                <a:gd name="T52" fmla="*/ 50 w 58"/>
                <a:gd name="T53" fmla="*/ 8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20" y="0"/>
                  </a:lnTo>
                  <a:lnTo>
                    <a:pt x="10" y="6"/>
                  </a:lnTo>
                  <a:lnTo>
                    <a:pt x="6" y="10"/>
                  </a:lnTo>
                  <a:lnTo>
                    <a:pt x="2" y="16"/>
                  </a:lnTo>
                  <a:lnTo>
                    <a:pt x="2" y="16"/>
                  </a:lnTo>
                  <a:lnTo>
                    <a:pt x="0" y="22"/>
                  </a:lnTo>
                  <a:lnTo>
                    <a:pt x="0" y="26"/>
                  </a:lnTo>
                  <a:lnTo>
                    <a:pt x="2" y="38"/>
                  </a:lnTo>
                  <a:lnTo>
                    <a:pt x="6" y="48"/>
                  </a:lnTo>
                  <a:lnTo>
                    <a:pt x="12" y="52"/>
                  </a:lnTo>
                  <a:lnTo>
                    <a:pt x="16" y="54"/>
                  </a:lnTo>
                  <a:lnTo>
                    <a:pt x="16" y="54"/>
                  </a:lnTo>
                  <a:lnTo>
                    <a:pt x="22" y="56"/>
                  </a:lnTo>
                  <a:lnTo>
                    <a:pt x="28" y="58"/>
                  </a:lnTo>
                  <a:lnTo>
                    <a:pt x="38" y="56"/>
                  </a:lnTo>
                  <a:lnTo>
                    <a:pt x="48" y="50"/>
                  </a:lnTo>
                  <a:lnTo>
                    <a:pt x="52" y="46"/>
                  </a:lnTo>
                  <a:lnTo>
                    <a:pt x="56" y="42"/>
                  </a:lnTo>
                  <a:lnTo>
                    <a:pt x="56" y="42"/>
                  </a:lnTo>
                  <a:lnTo>
                    <a:pt x="58" y="36"/>
                  </a:lnTo>
                  <a:lnTo>
                    <a:pt x="58" y="30"/>
                  </a:lnTo>
                  <a:lnTo>
                    <a:pt x="56" y="18"/>
                  </a:lnTo>
                  <a:lnTo>
                    <a:pt x="50" y="8"/>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199" name="Freeform 187"/>
            <p:cNvSpPr>
              <a:spLocks/>
            </p:cNvSpPr>
            <p:nvPr userDrawn="1"/>
          </p:nvSpPr>
          <p:spPr bwMode="auto">
            <a:xfrm>
              <a:off x="6402388" y="2919413"/>
              <a:ext cx="95250" cy="92075"/>
            </a:xfrm>
            <a:custGeom>
              <a:avLst/>
              <a:gdLst>
                <a:gd name="T0" fmla="*/ 44 w 60"/>
                <a:gd name="T1" fmla="*/ 2 h 58"/>
                <a:gd name="T2" fmla="*/ 44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40 h 58"/>
                <a:gd name="T24" fmla="*/ 8 w 60"/>
                <a:gd name="T25" fmla="*/ 48 h 58"/>
                <a:gd name="T26" fmla="*/ 12 w 60"/>
                <a:gd name="T27" fmla="*/ 52 h 58"/>
                <a:gd name="T28" fmla="*/ 18 w 60"/>
                <a:gd name="T29" fmla="*/ 56 h 58"/>
                <a:gd name="T30" fmla="*/ 18 w 60"/>
                <a:gd name="T31" fmla="*/ 56 h 58"/>
                <a:gd name="T32" fmla="*/ 24 w 60"/>
                <a:gd name="T33" fmla="*/ 58 h 58"/>
                <a:gd name="T34" fmla="*/ 28 w 60"/>
                <a:gd name="T35" fmla="*/ 58 h 58"/>
                <a:gd name="T36" fmla="*/ 40 w 60"/>
                <a:gd name="T37" fmla="*/ 58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4 w 60"/>
                <a:gd name="T57" fmla="*/ 2 h 58"/>
                <a:gd name="T58" fmla="*/ 44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4" y="2"/>
                  </a:moveTo>
                  <a:lnTo>
                    <a:pt x="44" y="2"/>
                  </a:lnTo>
                  <a:lnTo>
                    <a:pt x="38" y="0"/>
                  </a:lnTo>
                  <a:lnTo>
                    <a:pt x="32" y="0"/>
                  </a:lnTo>
                  <a:lnTo>
                    <a:pt x="20" y="2"/>
                  </a:lnTo>
                  <a:lnTo>
                    <a:pt x="10" y="8"/>
                  </a:lnTo>
                  <a:lnTo>
                    <a:pt x="6" y="12"/>
                  </a:lnTo>
                  <a:lnTo>
                    <a:pt x="4" y="16"/>
                  </a:lnTo>
                  <a:lnTo>
                    <a:pt x="4" y="16"/>
                  </a:lnTo>
                  <a:lnTo>
                    <a:pt x="2" y="22"/>
                  </a:lnTo>
                  <a:lnTo>
                    <a:pt x="0" y="28"/>
                  </a:lnTo>
                  <a:lnTo>
                    <a:pt x="2" y="40"/>
                  </a:lnTo>
                  <a:lnTo>
                    <a:pt x="8" y="48"/>
                  </a:lnTo>
                  <a:lnTo>
                    <a:pt x="12" y="52"/>
                  </a:lnTo>
                  <a:lnTo>
                    <a:pt x="18" y="56"/>
                  </a:lnTo>
                  <a:lnTo>
                    <a:pt x="18" y="56"/>
                  </a:lnTo>
                  <a:lnTo>
                    <a:pt x="24" y="58"/>
                  </a:lnTo>
                  <a:lnTo>
                    <a:pt x="28" y="58"/>
                  </a:lnTo>
                  <a:lnTo>
                    <a:pt x="40" y="58"/>
                  </a:lnTo>
                  <a:lnTo>
                    <a:pt x="50" y="52"/>
                  </a:lnTo>
                  <a:lnTo>
                    <a:pt x="54" y="48"/>
                  </a:lnTo>
                  <a:lnTo>
                    <a:pt x="56" y="42"/>
                  </a:lnTo>
                  <a:lnTo>
                    <a:pt x="56" y="42"/>
                  </a:lnTo>
                  <a:lnTo>
                    <a:pt x="58" y="36"/>
                  </a:lnTo>
                  <a:lnTo>
                    <a:pt x="60" y="30"/>
                  </a:lnTo>
                  <a:lnTo>
                    <a:pt x="58" y="20"/>
                  </a:lnTo>
                  <a:lnTo>
                    <a:pt x="52" y="10"/>
                  </a:lnTo>
                  <a:lnTo>
                    <a:pt x="48" y="6"/>
                  </a:lnTo>
                  <a:lnTo>
                    <a:pt x="44" y="2"/>
                  </a:lnTo>
                  <a:lnTo>
                    <a:pt x="44"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0" name="Freeform 188"/>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1" name="Freeform 189"/>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2" name="Freeform 190"/>
            <p:cNvSpPr>
              <a:spLocks/>
            </p:cNvSpPr>
            <p:nvPr userDrawn="1"/>
          </p:nvSpPr>
          <p:spPr bwMode="auto">
            <a:xfrm>
              <a:off x="7129463" y="2884488"/>
              <a:ext cx="12700" cy="66675"/>
            </a:xfrm>
            <a:custGeom>
              <a:avLst/>
              <a:gdLst>
                <a:gd name="T0" fmla="*/ 0 w 8"/>
                <a:gd name="T1" fmla="*/ 0 h 42"/>
                <a:gd name="T2" fmla="*/ 0 w 8"/>
                <a:gd name="T3" fmla="*/ 42 h 42"/>
                <a:gd name="T4" fmla="*/ 0 w 8"/>
                <a:gd name="T5" fmla="*/ 42 h 42"/>
                <a:gd name="T6" fmla="*/ 6 w 8"/>
                <a:gd name="T7" fmla="*/ 34 h 42"/>
                <a:gd name="T8" fmla="*/ 6 w 8"/>
                <a:gd name="T9" fmla="*/ 34 h 42"/>
                <a:gd name="T10" fmla="*/ 8 w 8"/>
                <a:gd name="T11" fmla="*/ 26 h 42"/>
                <a:gd name="T12" fmla="*/ 8 w 8"/>
                <a:gd name="T13" fmla="*/ 16 h 42"/>
                <a:gd name="T14" fmla="*/ 6 w 8"/>
                <a:gd name="T15" fmla="*/ 8 h 42"/>
                <a:gd name="T16" fmla="*/ 0 w 8"/>
                <a:gd name="T17" fmla="*/ 0 h 42"/>
                <a:gd name="T18" fmla="*/ 0 w 8"/>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 h="42">
                  <a:moveTo>
                    <a:pt x="0" y="0"/>
                  </a:moveTo>
                  <a:lnTo>
                    <a:pt x="0" y="42"/>
                  </a:lnTo>
                  <a:lnTo>
                    <a:pt x="0" y="42"/>
                  </a:lnTo>
                  <a:lnTo>
                    <a:pt x="6" y="34"/>
                  </a:lnTo>
                  <a:lnTo>
                    <a:pt x="6" y="34"/>
                  </a:lnTo>
                  <a:lnTo>
                    <a:pt x="8" y="26"/>
                  </a:lnTo>
                  <a:lnTo>
                    <a:pt x="8" y="16"/>
                  </a:lnTo>
                  <a:lnTo>
                    <a:pt x="6" y="8"/>
                  </a:lnTo>
                  <a:lnTo>
                    <a:pt x="0" y="0"/>
                  </a:lnTo>
                  <a:lnTo>
                    <a:pt x="0" y="0"/>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3" name="Freeform 191"/>
            <p:cNvSpPr>
              <a:spLocks/>
            </p:cNvSpPr>
            <p:nvPr userDrawn="1"/>
          </p:nvSpPr>
          <p:spPr bwMode="auto">
            <a:xfrm>
              <a:off x="7050088" y="2871788"/>
              <a:ext cx="79375" cy="92075"/>
            </a:xfrm>
            <a:custGeom>
              <a:avLst/>
              <a:gdLst>
                <a:gd name="T0" fmla="*/ 42 w 50"/>
                <a:gd name="T1" fmla="*/ 2 h 58"/>
                <a:gd name="T2" fmla="*/ 42 w 50"/>
                <a:gd name="T3" fmla="*/ 2 h 58"/>
                <a:gd name="T4" fmla="*/ 36 w 50"/>
                <a:gd name="T5" fmla="*/ 0 h 58"/>
                <a:gd name="T6" fmla="*/ 30 w 50"/>
                <a:gd name="T7" fmla="*/ 0 h 58"/>
                <a:gd name="T8" fmla="*/ 20 w 50"/>
                <a:gd name="T9" fmla="*/ 2 h 58"/>
                <a:gd name="T10" fmla="*/ 10 w 50"/>
                <a:gd name="T11" fmla="*/ 8 h 58"/>
                <a:gd name="T12" fmla="*/ 6 w 50"/>
                <a:gd name="T13" fmla="*/ 12 h 58"/>
                <a:gd name="T14" fmla="*/ 2 w 50"/>
                <a:gd name="T15" fmla="*/ 16 h 58"/>
                <a:gd name="T16" fmla="*/ 2 w 50"/>
                <a:gd name="T17" fmla="*/ 16 h 58"/>
                <a:gd name="T18" fmla="*/ 0 w 50"/>
                <a:gd name="T19" fmla="*/ 22 h 58"/>
                <a:gd name="T20" fmla="*/ 0 w 50"/>
                <a:gd name="T21" fmla="*/ 28 h 58"/>
                <a:gd name="T22" fmla="*/ 2 w 50"/>
                <a:gd name="T23" fmla="*/ 38 h 58"/>
                <a:gd name="T24" fmla="*/ 6 w 50"/>
                <a:gd name="T25" fmla="*/ 48 h 58"/>
                <a:gd name="T26" fmla="*/ 12 w 50"/>
                <a:gd name="T27" fmla="*/ 52 h 58"/>
                <a:gd name="T28" fmla="*/ 16 w 50"/>
                <a:gd name="T29" fmla="*/ 56 h 58"/>
                <a:gd name="T30" fmla="*/ 16 w 50"/>
                <a:gd name="T31" fmla="*/ 56 h 58"/>
                <a:gd name="T32" fmla="*/ 26 w 50"/>
                <a:gd name="T33" fmla="*/ 58 h 58"/>
                <a:gd name="T34" fmla="*/ 34 w 50"/>
                <a:gd name="T35" fmla="*/ 58 h 58"/>
                <a:gd name="T36" fmla="*/ 42 w 50"/>
                <a:gd name="T37" fmla="*/ 54 h 58"/>
                <a:gd name="T38" fmla="*/ 50 w 50"/>
                <a:gd name="T39" fmla="*/ 50 h 58"/>
                <a:gd name="T40" fmla="*/ 50 w 50"/>
                <a:gd name="T41" fmla="*/ 8 h 58"/>
                <a:gd name="T42" fmla="*/ 50 w 50"/>
                <a:gd name="T43" fmla="*/ 8 h 58"/>
                <a:gd name="T44" fmla="*/ 42 w 50"/>
                <a:gd name="T45" fmla="*/ 2 h 58"/>
                <a:gd name="T46" fmla="*/ 42 w 50"/>
                <a:gd name="T47"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0" h="58">
                  <a:moveTo>
                    <a:pt x="42" y="2"/>
                  </a:moveTo>
                  <a:lnTo>
                    <a:pt x="42" y="2"/>
                  </a:lnTo>
                  <a:lnTo>
                    <a:pt x="36" y="0"/>
                  </a:lnTo>
                  <a:lnTo>
                    <a:pt x="30" y="0"/>
                  </a:lnTo>
                  <a:lnTo>
                    <a:pt x="20" y="2"/>
                  </a:lnTo>
                  <a:lnTo>
                    <a:pt x="10" y="8"/>
                  </a:lnTo>
                  <a:lnTo>
                    <a:pt x="6" y="12"/>
                  </a:lnTo>
                  <a:lnTo>
                    <a:pt x="2" y="16"/>
                  </a:lnTo>
                  <a:lnTo>
                    <a:pt x="2" y="16"/>
                  </a:lnTo>
                  <a:lnTo>
                    <a:pt x="0" y="22"/>
                  </a:lnTo>
                  <a:lnTo>
                    <a:pt x="0" y="28"/>
                  </a:lnTo>
                  <a:lnTo>
                    <a:pt x="2" y="38"/>
                  </a:lnTo>
                  <a:lnTo>
                    <a:pt x="6" y="48"/>
                  </a:lnTo>
                  <a:lnTo>
                    <a:pt x="12" y="52"/>
                  </a:lnTo>
                  <a:lnTo>
                    <a:pt x="16" y="56"/>
                  </a:lnTo>
                  <a:lnTo>
                    <a:pt x="16" y="56"/>
                  </a:lnTo>
                  <a:lnTo>
                    <a:pt x="26" y="58"/>
                  </a:lnTo>
                  <a:lnTo>
                    <a:pt x="34" y="58"/>
                  </a:lnTo>
                  <a:lnTo>
                    <a:pt x="42" y="54"/>
                  </a:lnTo>
                  <a:lnTo>
                    <a:pt x="50" y="50"/>
                  </a:lnTo>
                  <a:lnTo>
                    <a:pt x="50" y="8"/>
                  </a:lnTo>
                  <a:lnTo>
                    <a:pt x="50" y="8"/>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4" name="Freeform 192"/>
            <p:cNvSpPr>
              <a:spLocks/>
            </p:cNvSpPr>
            <p:nvPr userDrawn="1"/>
          </p:nvSpPr>
          <p:spPr bwMode="auto">
            <a:xfrm>
              <a:off x="6319838" y="1801813"/>
              <a:ext cx="95250" cy="92075"/>
            </a:xfrm>
            <a:custGeom>
              <a:avLst/>
              <a:gdLst>
                <a:gd name="T0" fmla="*/ 42 w 60"/>
                <a:gd name="T1" fmla="*/ 2 h 58"/>
                <a:gd name="T2" fmla="*/ 42 w 60"/>
                <a:gd name="T3" fmla="*/ 2 h 58"/>
                <a:gd name="T4" fmla="*/ 38 w 60"/>
                <a:gd name="T5" fmla="*/ 0 h 58"/>
                <a:gd name="T6" fmla="*/ 32 w 60"/>
                <a:gd name="T7" fmla="*/ 0 h 58"/>
                <a:gd name="T8" fmla="*/ 20 w 60"/>
                <a:gd name="T9" fmla="*/ 2 h 58"/>
                <a:gd name="T10" fmla="*/ 10 w 60"/>
                <a:gd name="T11" fmla="*/ 8 h 58"/>
                <a:gd name="T12" fmla="*/ 6 w 60"/>
                <a:gd name="T13" fmla="*/ 12 h 58"/>
                <a:gd name="T14" fmla="*/ 4 w 60"/>
                <a:gd name="T15" fmla="*/ 16 h 58"/>
                <a:gd name="T16" fmla="*/ 4 w 60"/>
                <a:gd name="T17" fmla="*/ 16 h 58"/>
                <a:gd name="T18" fmla="*/ 2 w 60"/>
                <a:gd name="T19" fmla="*/ 22 h 58"/>
                <a:gd name="T20" fmla="*/ 0 w 60"/>
                <a:gd name="T21" fmla="*/ 28 h 58"/>
                <a:gd name="T22" fmla="*/ 2 w 60"/>
                <a:gd name="T23" fmla="*/ 38 h 58"/>
                <a:gd name="T24" fmla="*/ 8 w 60"/>
                <a:gd name="T25" fmla="*/ 48 h 58"/>
                <a:gd name="T26" fmla="*/ 12 w 60"/>
                <a:gd name="T27" fmla="*/ 52 h 58"/>
                <a:gd name="T28" fmla="*/ 18 w 60"/>
                <a:gd name="T29" fmla="*/ 56 h 58"/>
                <a:gd name="T30" fmla="*/ 18 w 60"/>
                <a:gd name="T31" fmla="*/ 56 h 58"/>
                <a:gd name="T32" fmla="*/ 22 w 60"/>
                <a:gd name="T33" fmla="*/ 58 h 58"/>
                <a:gd name="T34" fmla="*/ 28 w 60"/>
                <a:gd name="T35" fmla="*/ 58 h 58"/>
                <a:gd name="T36" fmla="*/ 40 w 60"/>
                <a:gd name="T37" fmla="*/ 56 h 58"/>
                <a:gd name="T38" fmla="*/ 50 w 60"/>
                <a:gd name="T39" fmla="*/ 52 h 58"/>
                <a:gd name="T40" fmla="*/ 54 w 60"/>
                <a:gd name="T41" fmla="*/ 48 h 58"/>
                <a:gd name="T42" fmla="*/ 56 w 60"/>
                <a:gd name="T43" fmla="*/ 42 h 58"/>
                <a:gd name="T44" fmla="*/ 56 w 60"/>
                <a:gd name="T45" fmla="*/ 42 h 58"/>
                <a:gd name="T46" fmla="*/ 58 w 60"/>
                <a:gd name="T47" fmla="*/ 36 h 58"/>
                <a:gd name="T48" fmla="*/ 60 w 60"/>
                <a:gd name="T49" fmla="*/ 30 h 58"/>
                <a:gd name="T50" fmla="*/ 58 w 60"/>
                <a:gd name="T51" fmla="*/ 20 h 58"/>
                <a:gd name="T52" fmla="*/ 52 w 60"/>
                <a:gd name="T53" fmla="*/ 10 h 58"/>
                <a:gd name="T54" fmla="*/ 48 w 60"/>
                <a:gd name="T55" fmla="*/ 6 h 58"/>
                <a:gd name="T56" fmla="*/ 42 w 60"/>
                <a:gd name="T57" fmla="*/ 2 h 58"/>
                <a:gd name="T58" fmla="*/ 42 w 60"/>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0" h="58">
                  <a:moveTo>
                    <a:pt x="42" y="2"/>
                  </a:moveTo>
                  <a:lnTo>
                    <a:pt x="42" y="2"/>
                  </a:lnTo>
                  <a:lnTo>
                    <a:pt x="38" y="0"/>
                  </a:lnTo>
                  <a:lnTo>
                    <a:pt x="32" y="0"/>
                  </a:lnTo>
                  <a:lnTo>
                    <a:pt x="20" y="2"/>
                  </a:lnTo>
                  <a:lnTo>
                    <a:pt x="10" y="8"/>
                  </a:lnTo>
                  <a:lnTo>
                    <a:pt x="6" y="12"/>
                  </a:lnTo>
                  <a:lnTo>
                    <a:pt x="4" y="16"/>
                  </a:lnTo>
                  <a:lnTo>
                    <a:pt x="4" y="16"/>
                  </a:lnTo>
                  <a:lnTo>
                    <a:pt x="2" y="22"/>
                  </a:lnTo>
                  <a:lnTo>
                    <a:pt x="0" y="28"/>
                  </a:lnTo>
                  <a:lnTo>
                    <a:pt x="2" y="38"/>
                  </a:lnTo>
                  <a:lnTo>
                    <a:pt x="8" y="48"/>
                  </a:lnTo>
                  <a:lnTo>
                    <a:pt x="12" y="52"/>
                  </a:lnTo>
                  <a:lnTo>
                    <a:pt x="18" y="56"/>
                  </a:lnTo>
                  <a:lnTo>
                    <a:pt x="18" y="56"/>
                  </a:lnTo>
                  <a:lnTo>
                    <a:pt x="22" y="58"/>
                  </a:lnTo>
                  <a:lnTo>
                    <a:pt x="28" y="58"/>
                  </a:lnTo>
                  <a:lnTo>
                    <a:pt x="40" y="56"/>
                  </a:lnTo>
                  <a:lnTo>
                    <a:pt x="50" y="52"/>
                  </a:lnTo>
                  <a:lnTo>
                    <a:pt x="54" y="48"/>
                  </a:lnTo>
                  <a:lnTo>
                    <a:pt x="56" y="42"/>
                  </a:lnTo>
                  <a:lnTo>
                    <a:pt x="56" y="42"/>
                  </a:lnTo>
                  <a:lnTo>
                    <a:pt x="58" y="36"/>
                  </a:lnTo>
                  <a:lnTo>
                    <a:pt x="60" y="30"/>
                  </a:lnTo>
                  <a:lnTo>
                    <a:pt x="58" y="20"/>
                  </a:lnTo>
                  <a:lnTo>
                    <a:pt x="52" y="10"/>
                  </a:lnTo>
                  <a:lnTo>
                    <a:pt x="48"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5" name="Freeform 193"/>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3206" name="Freeform 194"/>
            <p:cNvSpPr>
              <a:spLocks/>
            </p:cNvSpPr>
            <p:nvPr userDrawn="1"/>
          </p:nvSpPr>
          <p:spPr bwMode="auto">
            <a:xfrm>
              <a:off x="6967538" y="1754188"/>
              <a:ext cx="92075" cy="92075"/>
            </a:xfrm>
            <a:custGeom>
              <a:avLst/>
              <a:gdLst>
                <a:gd name="T0" fmla="*/ 42 w 58"/>
                <a:gd name="T1" fmla="*/ 2 h 58"/>
                <a:gd name="T2" fmla="*/ 42 w 58"/>
                <a:gd name="T3" fmla="*/ 2 h 58"/>
                <a:gd name="T4" fmla="*/ 36 w 58"/>
                <a:gd name="T5" fmla="*/ 0 h 58"/>
                <a:gd name="T6" fmla="*/ 30 w 58"/>
                <a:gd name="T7" fmla="*/ 0 h 58"/>
                <a:gd name="T8" fmla="*/ 18 w 58"/>
                <a:gd name="T9" fmla="*/ 2 h 58"/>
                <a:gd name="T10" fmla="*/ 10 w 58"/>
                <a:gd name="T11" fmla="*/ 6 h 58"/>
                <a:gd name="T12" fmla="*/ 6 w 58"/>
                <a:gd name="T13" fmla="*/ 12 h 58"/>
                <a:gd name="T14" fmla="*/ 2 w 58"/>
                <a:gd name="T15" fmla="*/ 16 h 58"/>
                <a:gd name="T16" fmla="*/ 2 w 58"/>
                <a:gd name="T17" fmla="*/ 16 h 58"/>
                <a:gd name="T18" fmla="*/ 0 w 58"/>
                <a:gd name="T19" fmla="*/ 22 h 58"/>
                <a:gd name="T20" fmla="*/ 0 w 58"/>
                <a:gd name="T21" fmla="*/ 28 h 58"/>
                <a:gd name="T22" fmla="*/ 0 w 58"/>
                <a:gd name="T23" fmla="*/ 38 h 58"/>
                <a:gd name="T24" fmla="*/ 6 w 58"/>
                <a:gd name="T25" fmla="*/ 48 h 58"/>
                <a:gd name="T26" fmla="*/ 10 w 58"/>
                <a:gd name="T27" fmla="*/ 52 h 58"/>
                <a:gd name="T28" fmla="*/ 16 w 58"/>
                <a:gd name="T29" fmla="*/ 56 h 58"/>
                <a:gd name="T30" fmla="*/ 16 w 58"/>
                <a:gd name="T31" fmla="*/ 56 h 58"/>
                <a:gd name="T32" fmla="*/ 22 w 58"/>
                <a:gd name="T33" fmla="*/ 58 h 58"/>
                <a:gd name="T34" fmla="*/ 28 w 58"/>
                <a:gd name="T35" fmla="*/ 58 h 58"/>
                <a:gd name="T36" fmla="*/ 38 w 58"/>
                <a:gd name="T37" fmla="*/ 56 h 58"/>
                <a:gd name="T38" fmla="*/ 48 w 58"/>
                <a:gd name="T39" fmla="*/ 50 h 58"/>
                <a:gd name="T40" fmla="*/ 52 w 58"/>
                <a:gd name="T41" fmla="*/ 46 h 58"/>
                <a:gd name="T42" fmla="*/ 54 w 58"/>
                <a:gd name="T43" fmla="*/ 42 h 58"/>
                <a:gd name="T44" fmla="*/ 54 w 58"/>
                <a:gd name="T45" fmla="*/ 42 h 58"/>
                <a:gd name="T46" fmla="*/ 56 w 58"/>
                <a:gd name="T47" fmla="*/ 36 h 58"/>
                <a:gd name="T48" fmla="*/ 58 w 58"/>
                <a:gd name="T49" fmla="*/ 30 h 58"/>
                <a:gd name="T50" fmla="*/ 56 w 58"/>
                <a:gd name="T51" fmla="*/ 20 h 58"/>
                <a:gd name="T52" fmla="*/ 50 w 58"/>
                <a:gd name="T53" fmla="*/ 10 h 58"/>
                <a:gd name="T54" fmla="*/ 46 w 58"/>
                <a:gd name="T55" fmla="*/ 6 h 58"/>
                <a:gd name="T56" fmla="*/ 42 w 58"/>
                <a:gd name="T57" fmla="*/ 2 h 58"/>
                <a:gd name="T58" fmla="*/ 42 w 58"/>
                <a:gd name="T59" fmla="*/ 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42" y="2"/>
                  </a:moveTo>
                  <a:lnTo>
                    <a:pt x="42" y="2"/>
                  </a:lnTo>
                  <a:lnTo>
                    <a:pt x="36" y="0"/>
                  </a:lnTo>
                  <a:lnTo>
                    <a:pt x="30" y="0"/>
                  </a:lnTo>
                  <a:lnTo>
                    <a:pt x="18" y="2"/>
                  </a:lnTo>
                  <a:lnTo>
                    <a:pt x="10" y="6"/>
                  </a:lnTo>
                  <a:lnTo>
                    <a:pt x="6" y="12"/>
                  </a:lnTo>
                  <a:lnTo>
                    <a:pt x="2" y="16"/>
                  </a:lnTo>
                  <a:lnTo>
                    <a:pt x="2" y="16"/>
                  </a:lnTo>
                  <a:lnTo>
                    <a:pt x="0" y="22"/>
                  </a:lnTo>
                  <a:lnTo>
                    <a:pt x="0" y="28"/>
                  </a:lnTo>
                  <a:lnTo>
                    <a:pt x="0" y="38"/>
                  </a:lnTo>
                  <a:lnTo>
                    <a:pt x="6" y="48"/>
                  </a:lnTo>
                  <a:lnTo>
                    <a:pt x="10" y="52"/>
                  </a:lnTo>
                  <a:lnTo>
                    <a:pt x="16" y="56"/>
                  </a:lnTo>
                  <a:lnTo>
                    <a:pt x="16" y="56"/>
                  </a:lnTo>
                  <a:lnTo>
                    <a:pt x="22" y="58"/>
                  </a:lnTo>
                  <a:lnTo>
                    <a:pt x="28" y="58"/>
                  </a:lnTo>
                  <a:lnTo>
                    <a:pt x="38" y="56"/>
                  </a:lnTo>
                  <a:lnTo>
                    <a:pt x="48" y="50"/>
                  </a:lnTo>
                  <a:lnTo>
                    <a:pt x="52" y="46"/>
                  </a:lnTo>
                  <a:lnTo>
                    <a:pt x="54" y="42"/>
                  </a:lnTo>
                  <a:lnTo>
                    <a:pt x="54" y="42"/>
                  </a:lnTo>
                  <a:lnTo>
                    <a:pt x="56" y="36"/>
                  </a:lnTo>
                  <a:lnTo>
                    <a:pt x="58" y="30"/>
                  </a:lnTo>
                  <a:lnTo>
                    <a:pt x="56" y="20"/>
                  </a:lnTo>
                  <a:lnTo>
                    <a:pt x="50" y="10"/>
                  </a:lnTo>
                  <a:lnTo>
                    <a:pt x="46" y="6"/>
                  </a:lnTo>
                  <a:lnTo>
                    <a:pt x="42" y="2"/>
                  </a:lnTo>
                  <a:lnTo>
                    <a:pt x="42" y="2"/>
                  </a:lnTo>
                  <a:close/>
                </a:path>
              </a:pathLst>
            </a:custGeom>
            <a:solidFill>
              <a:srgbClr val="FCEA10"/>
            </a:solidFill>
            <a:ln w="8">
              <a:solidFill>
                <a:srgbClr val="FCEA10"/>
              </a:solidFill>
              <a:prstDash val="solid"/>
              <a:round/>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grpSp>
      <p:sp>
        <p:nvSpPr>
          <p:cNvPr id="109" name="Rectangle 199"/>
          <p:cNvSpPr>
            <a:spLocks noChangeArrowheads="1"/>
          </p:cNvSpPr>
          <p:nvPr userDrawn="1"/>
        </p:nvSpPr>
        <p:spPr bwMode="auto">
          <a:xfrm>
            <a:off x="0" y="0"/>
            <a:ext cx="9144000" cy="1609725"/>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1" name="Freeform 208"/>
          <p:cNvSpPr>
            <a:spLocks noEditPoints="1"/>
          </p:cNvSpPr>
          <p:nvPr userDrawn="1"/>
        </p:nvSpPr>
        <p:spPr bwMode="auto">
          <a:xfrm>
            <a:off x="2354227" y="1210768"/>
            <a:ext cx="147089" cy="169542"/>
          </a:xfrm>
          <a:custGeom>
            <a:avLst/>
            <a:gdLst>
              <a:gd name="T0" fmla="*/ 82 w 110"/>
              <a:gd name="T1" fmla="*/ 108 h 126"/>
              <a:gd name="T2" fmla="*/ 76 w 110"/>
              <a:gd name="T3" fmla="*/ 116 h 126"/>
              <a:gd name="T4" fmla="*/ 56 w 110"/>
              <a:gd name="T5" fmla="*/ 126 h 126"/>
              <a:gd name="T6" fmla="*/ 44 w 110"/>
              <a:gd name="T7" fmla="*/ 126 h 126"/>
              <a:gd name="T8" fmla="*/ 26 w 110"/>
              <a:gd name="T9" fmla="*/ 124 h 126"/>
              <a:gd name="T10" fmla="*/ 12 w 110"/>
              <a:gd name="T11" fmla="*/ 116 h 126"/>
              <a:gd name="T12" fmla="*/ 2 w 110"/>
              <a:gd name="T13" fmla="*/ 104 h 126"/>
              <a:gd name="T14" fmla="*/ 0 w 110"/>
              <a:gd name="T15" fmla="*/ 88 h 126"/>
              <a:gd name="T16" fmla="*/ 0 w 110"/>
              <a:gd name="T17" fmla="*/ 88 h 126"/>
              <a:gd name="T18" fmla="*/ 4 w 110"/>
              <a:gd name="T19" fmla="*/ 70 h 126"/>
              <a:gd name="T20" fmla="*/ 14 w 110"/>
              <a:gd name="T21" fmla="*/ 58 h 126"/>
              <a:gd name="T22" fmla="*/ 30 w 110"/>
              <a:gd name="T23" fmla="*/ 50 h 126"/>
              <a:gd name="T24" fmla="*/ 50 w 110"/>
              <a:gd name="T25" fmla="*/ 48 h 126"/>
              <a:gd name="T26" fmla="*/ 68 w 110"/>
              <a:gd name="T27" fmla="*/ 50 h 126"/>
              <a:gd name="T28" fmla="*/ 82 w 110"/>
              <a:gd name="T29" fmla="*/ 50 h 126"/>
              <a:gd name="T30" fmla="*/ 80 w 110"/>
              <a:gd name="T31" fmla="*/ 40 h 126"/>
              <a:gd name="T32" fmla="*/ 76 w 110"/>
              <a:gd name="T33" fmla="*/ 32 h 126"/>
              <a:gd name="T34" fmla="*/ 52 w 110"/>
              <a:gd name="T35" fmla="*/ 24 h 126"/>
              <a:gd name="T36" fmla="*/ 34 w 110"/>
              <a:gd name="T37" fmla="*/ 26 h 126"/>
              <a:gd name="T38" fmla="*/ 10 w 110"/>
              <a:gd name="T39" fmla="*/ 10 h 126"/>
              <a:gd name="T40" fmla="*/ 30 w 110"/>
              <a:gd name="T41" fmla="*/ 2 h 126"/>
              <a:gd name="T42" fmla="*/ 56 w 110"/>
              <a:gd name="T43" fmla="*/ 0 h 126"/>
              <a:gd name="T44" fmla="*/ 70 w 110"/>
              <a:gd name="T45" fmla="*/ 0 h 126"/>
              <a:gd name="T46" fmla="*/ 90 w 110"/>
              <a:gd name="T47" fmla="*/ 8 h 126"/>
              <a:gd name="T48" fmla="*/ 104 w 110"/>
              <a:gd name="T49" fmla="*/ 20 h 126"/>
              <a:gd name="T50" fmla="*/ 110 w 110"/>
              <a:gd name="T51" fmla="*/ 40 h 126"/>
              <a:gd name="T52" fmla="*/ 110 w 110"/>
              <a:gd name="T53" fmla="*/ 124 h 126"/>
              <a:gd name="T54" fmla="*/ 84 w 110"/>
              <a:gd name="T55" fmla="*/ 72 h 126"/>
              <a:gd name="T56" fmla="*/ 70 w 110"/>
              <a:gd name="T57" fmla="*/ 70 h 126"/>
              <a:gd name="T58" fmla="*/ 56 w 110"/>
              <a:gd name="T59" fmla="*/ 68 h 126"/>
              <a:gd name="T60" fmla="*/ 34 w 110"/>
              <a:gd name="T61" fmla="*/ 72 h 126"/>
              <a:gd name="T62" fmla="*/ 28 w 110"/>
              <a:gd name="T63" fmla="*/ 86 h 126"/>
              <a:gd name="T64" fmla="*/ 28 w 110"/>
              <a:gd name="T65" fmla="*/ 88 h 126"/>
              <a:gd name="T66" fmla="*/ 34 w 110"/>
              <a:gd name="T67" fmla="*/ 100 h 126"/>
              <a:gd name="T68" fmla="*/ 50 w 110"/>
              <a:gd name="T69" fmla="*/ 106 h 126"/>
              <a:gd name="T70" fmla="*/ 64 w 110"/>
              <a:gd name="T71" fmla="*/ 104 h 126"/>
              <a:gd name="T72" fmla="*/ 80 w 110"/>
              <a:gd name="T73" fmla="*/ 90 h 126"/>
              <a:gd name="T74" fmla="*/ 84 w 110"/>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126">
                <a:moveTo>
                  <a:pt x="82" y="124"/>
                </a:moveTo>
                <a:lnTo>
                  <a:pt x="82" y="108"/>
                </a:lnTo>
                <a:lnTo>
                  <a:pt x="82" y="108"/>
                </a:lnTo>
                <a:lnTo>
                  <a:pt x="76" y="116"/>
                </a:lnTo>
                <a:lnTo>
                  <a:pt x="66" y="122"/>
                </a:lnTo>
                <a:lnTo>
                  <a:pt x="56" y="126"/>
                </a:lnTo>
                <a:lnTo>
                  <a:pt x="44" y="126"/>
                </a:lnTo>
                <a:lnTo>
                  <a:pt x="44" y="126"/>
                </a:lnTo>
                <a:lnTo>
                  <a:pt x="34" y="126"/>
                </a:lnTo>
                <a:lnTo>
                  <a:pt x="26" y="124"/>
                </a:lnTo>
                <a:lnTo>
                  <a:pt x="20" y="120"/>
                </a:lnTo>
                <a:lnTo>
                  <a:pt x="12" y="116"/>
                </a:lnTo>
                <a:lnTo>
                  <a:pt x="8" y="112"/>
                </a:lnTo>
                <a:lnTo>
                  <a:pt x="2" y="104"/>
                </a:lnTo>
                <a:lnTo>
                  <a:pt x="0" y="98"/>
                </a:lnTo>
                <a:lnTo>
                  <a:pt x="0" y="88"/>
                </a:lnTo>
                <a:lnTo>
                  <a:pt x="0" y="88"/>
                </a:lnTo>
                <a:lnTo>
                  <a:pt x="0" y="88"/>
                </a:lnTo>
                <a:lnTo>
                  <a:pt x="0" y="78"/>
                </a:lnTo>
                <a:lnTo>
                  <a:pt x="4" y="70"/>
                </a:lnTo>
                <a:lnTo>
                  <a:pt x="8" y="64"/>
                </a:lnTo>
                <a:lnTo>
                  <a:pt x="14" y="58"/>
                </a:lnTo>
                <a:lnTo>
                  <a:pt x="20" y="54"/>
                </a:lnTo>
                <a:lnTo>
                  <a:pt x="30" y="50"/>
                </a:lnTo>
                <a:lnTo>
                  <a:pt x="38" y="48"/>
                </a:lnTo>
                <a:lnTo>
                  <a:pt x="50" y="48"/>
                </a:lnTo>
                <a:lnTo>
                  <a:pt x="50" y="48"/>
                </a:lnTo>
                <a:lnTo>
                  <a:pt x="68" y="50"/>
                </a:lnTo>
                <a:lnTo>
                  <a:pt x="82" y="54"/>
                </a:lnTo>
                <a:lnTo>
                  <a:pt x="82" y="50"/>
                </a:lnTo>
                <a:lnTo>
                  <a:pt x="82" y="50"/>
                </a:lnTo>
                <a:lnTo>
                  <a:pt x="80" y="40"/>
                </a:lnTo>
                <a:lnTo>
                  <a:pt x="78" y="36"/>
                </a:lnTo>
                <a:lnTo>
                  <a:pt x="76" y="32"/>
                </a:lnTo>
                <a:lnTo>
                  <a:pt x="66" y="26"/>
                </a:lnTo>
                <a:lnTo>
                  <a:pt x="52" y="24"/>
                </a:lnTo>
                <a:lnTo>
                  <a:pt x="52" y="24"/>
                </a:lnTo>
                <a:lnTo>
                  <a:pt x="34" y="26"/>
                </a:lnTo>
                <a:lnTo>
                  <a:pt x="18" y="32"/>
                </a:lnTo>
                <a:lnTo>
                  <a:pt x="10" y="10"/>
                </a:lnTo>
                <a:lnTo>
                  <a:pt x="10" y="10"/>
                </a:lnTo>
                <a:lnTo>
                  <a:pt x="30" y="2"/>
                </a:lnTo>
                <a:lnTo>
                  <a:pt x="42" y="0"/>
                </a:lnTo>
                <a:lnTo>
                  <a:pt x="56" y="0"/>
                </a:lnTo>
                <a:lnTo>
                  <a:pt x="56" y="0"/>
                </a:lnTo>
                <a:lnTo>
                  <a:pt x="70" y="0"/>
                </a:lnTo>
                <a:lnTo>
                  <a:pt x="80" y="4"/>
                </a:lnTo>
                <a:lnTo>
                  <a:pt x="90" y="8"/>
                </a:lnTo>
                <a:lnTo>
                  <a:pt x="98" y="14"/>
                </a:lnTo>
                <a:lnTo>
                  <a:pt x="104" y="20"/>
                </a:lnTo>
                <a:lnTo>
                  <a:pt x="108" y="30"/>
                </a:lnTo>
                <a:lnTo>
                  <a:pt x="110" y="40"/>
                </a:lnTo>
                <a:lnTo>
                  <a:pt x="110" y="52"/>
                </a:lnTo>
                <a:lnTo>
                  <a:pt x="110" y="124"/>
                </a:lnTo>
                <a:lnTo>
                  <a:pt x="82" y="124"/>
                </a:lnTo>
                <a:close/>
                <a:moveTo>
                  <a:pt x="84" y="72"/>
                </a:moveTo>
                <a:lnTo>
                  <a:pt x="84" y="72"/>
                </a:lnTo>
                <a:lnTo>
                  <a:pt x="70" y="70"/>
                </a:lnTo>
                <a:lnTo>
                  <a:pt x="56" y="68"/>
                </a:lnTo>
                <a:lnTo>
                  <a:pt x="56" y="68"/>
                </a:lnTo>
                <a:lnTo>
                  <a:pt x="44" y="70"/>
                </a:lnTo>
                <a:lnTo>
                  <a:pt x="34" y="72"/>
                </a:lnTo>
                <a:lnTo>
                  <a:pt x="30" y="78"/>
                </a:lnTo>
                <a:lnTo>
                  <a:pt x="28" y="86"/>
                </a:lnTo>
                <a:lnTo>
                  <a:pt x="28" y="88"/>
                </a:lnTo>
                <a:lnTo>
                  <a:pt x="28" y="88"/>
                </a:lnTo>
                <a:lnTo>
                  <a:pt x="30" y="94"/>
                </a:lnTo>
                <a:lnTo>
                  <a:pt x="34" y="100"/>
                </a:lnTo>
                <a:lnTo>
                  <a:pt x="42" y="104"/>
                </a:lnTo>
                <a:lnTo>
                  <a:pt x="50" y="106"/>
                </a:lnTo>
                <a:lnTo>
                  <a:pt x="50" y="106"/>
                </a:lnTo>
                <a:lnTo>
                  <a:pt x="64" y="104"/>
                </a:lnTo>
                <a:lnTo>
                  <a:pt x="74" y="98"/>
                </a:lnTo>
                <a:lnTo>
                  <a:pt x="80" y="90"/>
                </a:lnTo>
                <a:lnTo>
                  <a:pt x="82"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2" name="Freeform 209"/>
          <p:cNvSpPr>
            <a:spLocks/>
          </p:cNvSpPr>
          <p:nvPr userDrawn="1"/>
        </p:nvSpPr>
        <p:spPr bwMode="auto">
          <a:xfrm>
            <a:off x="2565500" y="1208077"/>
            <a:ext cx="147089" cy="169542"/>
          </a:xfrm>
          <a:custGeom>
            <a:avLst/>
            <a:gdLst>
              <a:gd name="T0" fmla="*/ 0 w 110"/>
              <a:gd name="T1" fmla="*/ 4 h 126"/>
              <a:gd name="T2" fmla="*/ 28 w 110"/>
              <a:gd name="T3" fmla="*/ 4 h 126"/>
              <a:gd name="T4" fmla="*/ 28 w 110"/>
              <a:gd name="T5" fmla="*/ 22 h 126"/>
              <a:gd name="T6" fmla="*/ 28 w 110"/>
              <a:gd name="T7" fmla="*/ 22 h 126"/>
              <a:gd name="T8" fmla="*/ 34 w 110"/>
              <a:gd name="T9" fmla="*/ 14 h 126"/>
              <a:gd name="T10" fmla="*/ 42 w 110"/>
              <a:gd name="T11" fmla="*/ 8 h 126"/>
              <a:gd name="T12" fmla="*/ 52 w 110"/>
              <a:gd name="T13" fmla="*/ 2 h 126"/>
              <a:gd name="T14" fmla="*/ 66 w 110"/>
              <a:gd name="T15" fmla="*/ 0 h 126"/>
              <a:gd name="T16" fmla="*/ 66 w 110"/>
              <a:gd name="T17" fmla="*/ 0 h 126"/>
              <a:gd name="T18" fmla="*/ 76 w 110"/>
              <a:gd name="T19" fmla="*/ 2 h 126"/>
              <a:gd name="T20" fmla="*/ 84 w 110"/>
              <a:gd name="T21" fmla="*/ 4 h 126"/>
              <a:gd name="T22" fmla="*/ 92 w 110"/>
              <a:gd name="T23" fmla="*/ 8 h 126"/>
              <a:gd name="T24" fmla="*/ 98 w 110"/>
              <a:gd name="T25" fmla="*/ 14 h 126"/>
              <a:gd name="T26" fmla="*/ 102 w 110"/>
              <a:gd name="T27" fmla="*/ 20 h 126"/>
              <a:gd name="T28" fmla="*/ 106 w 110"/>
              <a:gd name="T29" fmla="*/ 28 h 126"/>
              <a:gd name="T30" fmla="*/ 108 w 110"/>
              <a:gd name="T31" fmla="*/ 38 h 126"/>
              <a:gd name="T32" fmla="*/ 110 w 110"/>
              <a:gd name="T33" fmla="*/ 48 h 126"/>
              <a:gd name="T34" fmla="*/ 110 w 110"/>
              <a:gd name="T35" fmla="*/ 126 h 126"/>
              <a:gd name="T36" fmla="*/ 82 w 110"/>
              <a:gd name="T37" fmla="*/ 126 h 126"/>
              <a:gd name="T38" fmla="*/ 82 w 110"/>
              <a:gd name="T39" fmla="*/ 56 h 126"/>
              <a:gd name="T40" fmla="*/ 82 w 110"/>
              <a:gd name="T41" fmla="*/ 56 h 126"/>
              <a:gd name="T42" fmla="*/ 80 w 110"/>
              <a:gd name="T43" fmla="*/ 44 h 126"/>
              <a:gd name="T44" fmla="*/ 74 w 110"/>
              <a:gd name="T45" fmla="*/ 34 h 126"/>
              <a:gd name="T46" fmla="*/ 66 w 110"/>
              <a:gd name="T47" fmla="*/ 28 h 126"/>
              <a:gd name="T48" fmla="*/ 56 w 110"/>
              <a:gd name="T49" fmla="*/ 26 h 126"/>
              <a:gd name="T50" fmla="*/ 56 w 110"/>
              <a:gd name="T51" fmla="*/ 26 h 126"/>
              <a:gd name="T52" fmla="*/ 44 w 110"/>
              <a:gd name="T53" fmla="*/ 28 h 126"/>
              <a:gd name="T54" fmla="*/ 36 w 110"/>
              <a:gd name="T55" fmla="*/ 34 h 126"/>
              <a:gd name="T56" fmla="*/ 30 w 110"/>
              <a:gd name="T57" fmla="*/ 44 h 126"/>
              <a:gd name="T58" fmla="*/ 28 w 110"/>
              <a:gd name="T59" fmla="*/ 56 h 126"/>
              <a:gd name="T60" fmla="*/ 28 w 110"/>
              <a:gd name="T61" fmla="*/ 126 h 126"/>
              <a:gd name="T62" fmla="*/ 0 w 110"/>
              <a:gd name="T63" fmla="*/ 126 h 126"/>
              <a:gd name="T64" fmla="*/ 0 w 110"/>
              <a:gd name="T65" fmla="*/ 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26">
                <a:moveTo>
                  <a:pt x="0" y="4"/>
                </a:moveTo>
                <a:lnTo>
                  <a:pt x="28" y="4"/>
                </a:lnTo>
                <a:lnTo>
                  <a:pt x="28" y="22"/>
                </a:lnTo>
                <a:lnTo>
                  <a:pt x="28" y="22"/>
                </a:lnTo>
                <a:lnTo>
                  <a:pt x="34" y="14"/>
                </a:lnTo>
                <a:lnTo>
                  <a:pt x="42" y="8"/>
                </a:lnTo>
                <a:lnTo>
                  <a:pt x="52" y="2"/>
                </a:lnTo>
                <a:lnTo>
                  <a:pt x="66" y="0"/>
                </a:lnTo>
                <a:lnTo>
                  <a:pt x="66" y="0"/>
                </a:lnTo>
                <a:lnTo>
                  <a:pt x="76" y="2"/>
                </a:lnTo>
                <a:lnTo>
                  <a:pt x="84" y="4"/>
                </a:lnTo>
                <a:lnTo>
                  <a:pt x="92" y="8"/>
                </a:lnTo>
                <a:lnTo>
                  <a:pt x="98" y="14"/>
                </a:lnTo>
                <a:lnTo>
                  <a:pt x="102" y="20"/>
                </a:lnTo>
                <a:lnTo>
                  <a:pt x="106" y="28"/>
                </a:lnTo>
                <a:lnTo>
                  <a:pt x="108" y="38"/>
                </a:lnTo>
                <a:lnTo>
                  <a:pt x="110" y="48"/>
                </a:lnTo>
                <a:lnTo>
                  <a:pt x="110" y="126"/>
                </a:lnTo>
                <a:lnTo>
                  <a:pt x="82" y="126"/>
                </a:lnTo>
                <a:lnTo>
                  <a:pt x="82" y="56"/>
                </a:lnTo>
                <a:lnTo>
                  <a:pt x="82" y="56"/>
                </a:lnTo>
                <a:lnTo>
                  <a:pt x="80" y="44"/>
                </a:lnTo>
                <a:lnTo>
                  <a:pt x="74" y="34"/>
                </a:lnTo>
                <a:lnTo>
                  <a:pt x="66" y="28"/>
                </a:lnTo>
                <a:lnTo>
                  <a:pt x="56" y="26"/>
                </a:lnTo>
                <a:lnTo>
                  <a:pt x="56" y="26"/>
                </a:lnTo>
                <a:lnTo>
                  <a:pt x="44" y="28"/>
                </a:lnTo>
                <a:lnTo>
                  <a:pt x="36" y="34"/>
                </a:lnTo>
                <a:lnTo>
                  <a:pt x="30" y="44"/>
                </a:lnTo>
                <a:lnTo>
                  <a:pt x="28" y="56"/>
                </a:lnTo>
                <a:lnTo>
                  <a:pt x="28" y="126"/>
                </a:lnTo>
                <a:lnTo>
                  <a:pt x="0" y="126"/>
                </a:lnTo>
                <a:lnTo>
                  <a:pt x="0" y="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3" name="Freeform 210"/>
          <p:cNvSpPr>
            <a:spLocks noEditPoints="1"/>
          </p:cNvSpPr>
          <p:nvPr userDrawn="1"/>
        </p:nvSpPr>
        <p:spPr bwMode="auto">
          <a:xfrm>
            <a:off x="2875723" y="1210768"/>
            <a:ext cx="149763" cy="169542"/>
          </a:xfrm>
          <a:custGeom>
            <a:avLst/>
            <a:gdLst>
              <a:gd name="T0" fmla="*/ 84 w 112"/>
              <a:gd name="T1" fmla="*/ 108 h 126"/>
              <a:gd name="T2" fmla="*/ 76 w 112"/>
              <a:gd name="T3" fmla="*/ 116 h 126"/>
              <a:gd name="T4" fmla="*/ 56 w 112"/>
              <a:gd name="T5" fmla="*/ 126 h 126"/>
              <a:gd name="T6" fmla="*/ 44 w 112"/>
              <a:gd name="T7" fmla="*/ 126 h 126"/>
              <a:gd name="T8" fmla="*/ 28 w 112"/>
              <a:gd name="T9" fmla="*/ 124 h 126"/>
              <a:gd name="T10" fmla="*/ 14 w 112"/>
              <a:gd name="T11" fmla="*/ 116 h 126"/>
              <a:gd name="T12" fmla="*/ 4 w 112"/>
              <a:gd name="T13" fmla="*/ 104 h 126"/>
              <a:gd name="T14" fmla="*/ 0 w 112"/>
              <a:gd name="T15" fmla="*/ 88 h 126"/>
              <a:gd name="T16" fmla="*/ 0 w 112"/>
              <a:gd name="T17" fmla="*/ 88 h 126"/>
              <a:gd name="T18" fmla="*/ 4 w 112"/>
              <a:gd name="T19" fmla="*/ 70 h 126"/>
              <a:gd name="T20" fmla="*/ 14 w 112"/>
              <a:gd name="T21" fmla="*/ 58 h 126"/>
              <a:gd name="T22" fmla="*/ 30 w 112"/>
              <a:gd name="T23" fmla="*/ 50 h 126"/>
              <a:gd name="T24" fmla="*/ 50 w 112"/>
              <a:gd name="T25" fmla="*/ 48 h 126"/>
              <a:gd name="T26" fmla="*/ 68 w 112"/>
              <a:gd name="T27" fmla="*/ 50 h 126"/>
              <a:gd name="T28" fmla="*/ 84 w 112"/>
              <a:gd name="T29" fmla="*/ 50 h 126"/>
              <a:gd name="T30" fmla="*/ 82 w 112"/>
              <a:gd name="T31" fmla="*/ 40 h 126"/>
              <a:gd name="T32" fmla="*/ 76 w 112"/>
              <a:gd name="T33" fmla="*/ 32 h 126"/>
              <a:gd name="T34" fmla="*/ 54 w 112"/>
              <a:gd name="T35" fmla="*/ 24 h 126"/>
              <a:gd name="T36" fmla="*/ 34 w 112"/>
              <a:gd name="T37" fmla="*/ 26 h 126"/>
              <a:gd name="T38" fmla="*/ 10 w 112"/>
              <a:gd name="T39" fmla="*/ 10 h 126"/>
              <a:gd name="T40" fmla="*/ 32 w 112"/>
              <a:gd name="T41" fmla="*/ 2 h 126"/>
              <a:gd name="T42" fmla="*/ 58 w 112"/>
              <a:gd name="T43" fmla="*/ 0 h 126"/>
              <a:gd name="T44" fmla="*/ 70 w 112"/>
              <a:gd name="T45" fmla="*/ 0 h 126"/>
              <a:gd name="T46" fmla="*/ 90 w 112"/>
              <a:gd name="T47" fmla="*/ 8 h 126"/>
              <a:gd name="T48" fmla="*/ 104 w 112"/>
              <a:gd name="T49" fmla="*/ 20 h 126"/>
              <a:gd name="T50" fmla="*/ 110 w 112"/>
              <a:gd name="T51" fmla="*/ 40 h 126"/>
              <a:gd name="T52" fmla="*/ 112 w 112"/>
              <a:gd name="T53" fmla="*/ 124 h 126"/>
              <a:gd name="T54" fmla="*/ 84 w 112"/>
              <a:gd name="T55" fmla="*/ 72 h 126"/>
              <a:gd name="T56" fmla="*/ 72 w 112"/>
              <a:gd name="T57" fmla="*/ 70 h 126"/>
              <a:gd name="T58" fmla="*/ 56 w 112"/>
              <a:gd name="T59" fmla="*/ 68 h 126"/>
              <a:gd name="T60" fmla="*/ 36 w 112"/>
              <a:gd name="T61" fmla="*/ 72 h 126"/>
              <a:gd name="T62" fmla="*/ 28 w 112"/>
              <a:gd name="T63" fmla="*/ 86 h 126"/>
              <a:gd name="T64" fmla="*/ 28 w 112"/>
              <a:gd name="T65" fmla="*/ 88 h 126"/>
              <a:gd name="T66" fmla="*/ 34 w 112"/>
              <a:gd name="T67" fmla="*/ 100 h 126"/>
              <a:gd name="T68" fmla="*/ 52 w 112"/>
              <a:gd name="T69" fmla="*/ 106 h 126"/>
              <a:gd name="T70" fmla="*/ 64 w 112"/>
              <a:gd name="T71" fmla="*/ 104 h 126"/>
              <a:gd name="T72" fmla="*/ 82 w 112"/>
              <a:gd name="T73" fmla="*/ 90 h 126"/>
              <a:gd name="T74" fmla="*/ 84 w 112"/>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 h="126">
                <a:moveTo>
                  <a:pt x="84" y="124"/>
                </a:moveTo>
                <a:lnTo>
                  <a:pt x="84" y="108"/>
                </a:lnTo>
                <a:lnTo>
                  <a:pt x="84" y="108"/>
                </a:lnTo>
                <a:lnTo>
                  <a:pt x="76" y="116"/>
                </a:lnTo>
                <a:lnTo>
                  <a:pt x="68" y="122"/>
                </a:lnTo>
                <a:lnTo>
                  <a:pt x="56" y="126"/>
                </a:lnTo>
                <a:lnTo>
                  <a:pt x="44" y="126"/>
                </a:lnTo>
                <a:lnTo>
                  <a:pt x="44" y="126"/>
                </a:lnTo>
                <a:lnTo>
                  <a:pt x="36" y="126"/>
                </a:lnTo>
                <a:lnTo>
                  <a:pt x="28" y="124"/>
                </a:lnTo>
                <a:lnTo>
                  <a:pt x="20" y="120"/>
                </a:lnTo>
                <a:lnTo>
                  <a:pt x="14" y="116"/>
                </a:lnTo>
                <a:lnTo>
                  <a:pt x="8" y="112"/>
                </a:lnTo>
                <a:lnTo>
                  <a:pt x="4" y="104"/>
                </a:lnTo>
                <a:lnTo>
                  <a:pt x="2" y="98"/>
                </a:lnTo>
                <a:lnTo>
                  <a:pt x="0" y="88"/>
                </a:lnTo>
                <a:lnTo>
                  <a:pt x="0" y="88"/>
                </a:lnTo>
                <a:lnTo>
                  <a:pt x="0" y="88"/>
                </a:lnTo>
                <a:lnTo>
                  <a:pt x="2"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80" y="36"/>
                </a:lnTo>
                <a:lnTo>
                  <a:pt x="76" y="32"/>
                </a:lnTo>
                <a:lnTo>
                  <a:pt x="66" y="26"/>
                </a:lnTo>
                <a:lnTo>
                  <a:pt x="54" y="24"/>
                </a:lnTo>
                <a:lnTo>
                  <a:pt x="54" y="24"/>
                </a:lnTo>
                <a:lnTo>
                  <a:pt x="34" y="26"/>
                </a:lnTo>
                <a:lnTo>
                  <a:pt x="18" y="32"/>
                </a:lnTo>
                <a:lnTo>
                  <a:pt x="10" y="10"/>
                </a:lnTo>
                <a:lnTo>
                  <a:pt x="10" y="10"/>
                </a:lnTo>
                <a:lnTo>
                  <a:pt x="32" y="2"/>
                </a:lnTo>
                <a:lnTo>
                  <a:pt x="44" y="0"/>
                </a:lnTo>
                <a:lnTo>
                  <a:pt x="58" y="0"/>
                </a:lnTo>
                <a:lnTo>
                  <a:pt x="58" y="0"/>
                </a:lnTo>
                <a:lnTo>
                  <a:pt x="70" y="0"/>
                </a:lnTo>
                <a:lnTo>
                  <a:pt x="82" y="4"/>
                </a:lnTo>
                <a:lnTo>
                  <a:pt x="90" y="8"/>
                </a:lnTo>
                <a:lnTo>
                  <a:pt x="98" y="14"/>
                </a:lnTo>
                <a:lnTo>
                  <a:pt x="104" y="20"/>
                </a:lnTo>
                <a:lnTo>
                  <a:pt x="108" y="30"/>
                </a:lnTo>
                <a:lnTo>
                  <a:pt x="110" y="40"/>
                </a:lnTo>
                <a:lnTo>
                  <a:pt x="112" y="52"/>
                </a:lnTo>
                <a:lnTo>
                  <a:pt x="112" y="124"/>
                </a:lnTo>
                <a:lnTo>
                  <a:pt x="84" y="124"/>
                </a:lnTo>
                <a:close/>
                <a:moveTo>
                  <a:pt x="84" y="72"/>
                </a:moveTo>
                <a:lnTo>
                  <a:pt x="84" y="72"/>
                </a:lnTo>
                <a:lnTo>
                  <a:pt x="72" y="70"/>
                </a:lnTo>
                <a:lnTo>
                  <a:pt x="56" y="68"/>
                </a:lnTo>
                <a:lnTo>
                  <a:pt x="56" y="68"/>
                </a:lnTo>
                <a:lnTo>
                  <a:pt x="44" y="70"/>
                </a:lnTo>
                <a:lnTo>
                  <a:pt x="36"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4" name="Freeform 211"/>
          <p:cNvSpPr>
            <a:spLocks/>
          </p:cNvSpPr>
          <p:nvPr userDrawn="1"/>
        </p:nvSpPr>
        <p:spPr bwMode="auto">
          <a:xfrm>
            <a:off x="3070950" y="1167710"/>
            <a:ext cx="101625" cy="212600"/>
          </a:xfrm>
          <a:custGeom>
            <a:avLst/>
            <a:gdLst>
              <a:gd name="T0" fmla="*/ 16 w 76"/>
              <a:gd name="T1" fmla="*/ 122 h 158"/>
              <a:gd name="T2" fmla="*/ 16 w 76"/>
              <a:gd name="T3" fmla="*/ 58 h 158"/>
              <a:gd name="T4" fmla="*/ 0 w 76"/>
              <a:gd name="T5" fmla="*/ 58 h 158"/>
              <a:gd name="T6" fmla="*/ 0 w 76"/>
              <a:gd name="T7" fmla="*/ 34 h 158"/>
              <a:gd name="T8" fmla="*/ 16 w 76"/>
              <a:gd name="T9" fmla="*/ 34 h 158"/>
              <a:gd name="T10" fmla="*/ 16 w 76"/>
              <a:gd name="T11" fmla="*/ 0 h 158"/>
              <a:gd name="T12" fmla="*/ 44 w 76"/>
              <a:gd name="T13" fmla="*/ 0 h 158"/>
              <a:gd name="T14" fmla="*/ 44 w 76"/>
              <a:gd name="T15" fmla="*/ 34 h 158"/>
              <a:gd name="T16" fmla="*/ 76 w 76"/>
              <a:gd name="T17" fmla="*/ 34 h 158"/>
              <a:gd name="T18" fmla="*/ 76 w 76"/>
              <a:gd name="T19" fmla="*/ 58 h 158"/>
              <a:gd name="T20" fmla="*/ 44 w 76"/>
              <a:gd name="T21" fmla="*/ 58 h 158"/>
              <a:gd name="T22" fmla="*/ 44 w 76"/>
              <a:gd name="T23" fmla="*/ 118 h 158"/>
              <a:gd name="T24" fmla="*/ 44 w 76"/>
              <a:gd name="T25" fmla="*/ 118 h 158"/>
              <a:gd name="T26" fmla="*/ 44 w 76"/>
              <a:gd name="T27" fmla="*/ 124 h 158"/>
              <a:gd name="T28" fmla="*/ 48 w 76"/>
              <a:gd name="T29" fmla="*/ 130 h 158"/>
              <a:gd name="T30" fmla="*/ 52 w 76"/>
              <a:gd name="T31" fmla="*/ 132 h 158"/>
              <a:gd name="T32" fmla="*/ 58 w 76"/>
              <a:gd name="T33" fmla="*/ 132 h 158"/>
              <a:gd name="T34" fmla="*/ 58 w 76"/>
              <a:gd name="T35" fmla="*/ 132 h 158"/>
              <a:gd name="T36" fmla="*/ 68 w 76"/>
              <a:gd name="T37" fmla="*/ 132 h 158"/>
              <a:gd name="T38" fmla="*/ 76 w 76"/>
              <a:gd name="T39" fmla="*/ 128 h 158"/>
              <a:gd name="T40" fmla="*/ 76 w 76"/>
              <a:gd name="T41" fmla="*/ 152 h 158"/>
              <a:gd name="T42" fmla="*/ 76 w 76"/>
              <a:gd name="T43" fmla="*/ 152 h 158"/>
              <a:gd name="T44" fmla="*/ 64 w 76"/>
              <a:gd name="T45" fmla="*/ 156 h 158"/>
              <a:gd name="T46" fmla="*/ 50 w 76"/>
              <a:gd name="T47" fmla="*/ 158 h 158"/>
              <a:gd name="T48" fmla="*/ 50 w 76"/>
              <a:gd name="T49" fmla="*/ 158 h 158"/>
              <a:gd name="T50" fmla="*/ 36 w 76"/>
              <a:gd name="T51" fmla="*/ 156 h 158"/>
              <a:gd name="T52" fmla="*/ 30 w 76"/>
              <a:gd name="T53" fmla="*/ 154 h 158"/>
              <a:gd name="T54" fmla="*/ 26 w 76"/>
              <a:gd name="T55" fmla="*/ 150 h 158"/>
              <a:gd name="T56" fmla="*/ 20 w 76"/>
              <a:gd name="T57" fmla="*/ 146 h 158"/>
              <a:gd name="T58" fmla="*/ 18 w 76"/>
              <a:gd name="T59" fmla="*/ 140 h 158"/>
              <a:gd name="T60" fmla="*/ 16 w 76"/>
              <a:gd name="T61" fmla="*/ 132 h 158"/>
              <a:gd name="T62" fmla="*/ 16 w 76"/>
              <a:gd name="T63" fmla="*/ 122 h 158"/>
              <a:gd name="T64" fmla="*/ 16 w 76"/>
              <a:gd name="T65" fmla="*/ 12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6" h="158">
                <a:moveTo>
                  <a:pt x="16" y="122"/>
                </a:moveTo>
                <a:lnTo>
                  <a:pt x="16" y="58"/>
                </a:lnTo>
                <a:lnTo>
                  <a:pt x="0" y="58"/>
                </a:lnTo>
                <a:lnTo>
                  <a:pt x="0" y="34"/>
                </a:lnTo>
                <a:lnTo>
                  <a:pt x="16" y="34"/>
                </a:lnTo>
                <a:lnTo>
                  <a:pt x="16" y="0"/>
                </a:lnTo>
                <a:lnTo>
                  <a:pt x="44" y="0"/>
                </a:lnTo>
                <a:lnTo>
                  <a:pt x="44" y="34"/>
                </a:lnTo>
                <a:lnTo>
                  <a:pt x="76" y="34"/>
                </a:lnTo>
                <a:lnTo>
                  <a:pt x="76" y="58"/>
                </a:lnTo>
                <a:lnTo>
                  <a:pt x="44" y="58"/>
                </a:lnTo>
                <a:lnTo>
                  <a:pt x="44" y="118"/>
                </a:lnTo>
                <a:lnTo>
                  <a:pt x="44" y="118"/>
                </a:lnTo>
                <a:lnTo>
                  <a:pt x="44" y="124"/>
                </a:lnTo>
                <a:lnTo>
                  <a:pt x="48" y="130"/>
                </a:lnTo>
                <a:lnTo>
                  <a:pt x="52" y="132"/>
                </a:lnTo>
                <a:lnTo>
                  <a:pt x="58" y="132"/>
                </a:lnTo>
                <a:lnTo>
                  <a:pt x="58" y="132"/>
                </a:lnTo>
                <a:lnTo>
                  <a:pt x="68" y="132"/>
                </a:lnTo>
                <a:lnTo>
                  <a:pt x="76" y="128"/>
                </a:lnTo>
                <a:lnTo>
                  <a:pt x="76" y="152"/>
                </a:lnTo>
                <a:lnTo>
                  <a:pt x="76" y="152"/>
                </a:lnTo>
                <a:lnTo>
                  <a:pt x="64" y="156"/>
                </a:lnTo>
                <a:lnTo>
                  <a:pt x="50" y="158"/>
                </a:lnTo>
                <a:lnTo>
                  <a:pt x="50" y="158"/>
                </a:lnTo>
                <a:lnTo>
                  <a:pt x="36" y="156"/>
                </a:lnTo>
                <a:lnTo>
                  <a:pt x="30" y="154"/>
                </a:lnTo>
                <a:lnTo>
                  <a:pt x="26" y="150"/>
                </a:lnTo>
                <a:lnTo>
                  <a:pt x="20" y="146"/>
                </a:lnTo>
                <a:lnTo>
                  <a:pt x="18" y="140"/>
                </a:lnTo>
                <a:lnTo>
                  <a:pt x="16" y="132"/>
                </a:lnTo>
                <a:lnTo>
                  <a:pt x="16" y="122"/>
                </a:lnTo>
                <a:lnTo>
                  <a:pt x="16" y="12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5" name="Freeform 212"/>
          <p:cNvSpPr>
            <a:spLocks noEditPoints="1"/>
          </p:cNvSpPr>
          <p:nvPr userDrawn="1"/>
        </p:nvSpPr>
        <p:spPr bwMode="auto">
          <a:xfrm>
            <a:off x="3212691" y="1208077"/>
            <a:ext cx="173832" cy="172233"/>
          </a:xfrm>
          <a:custGeom>
            <a:avLst/>
            <a:gdLst>
              <a:gd name="T0" fmla="*/ 0 w 130"/>
              <a:gd name="T1" fmla="*/ 64 h 128"/>
              <a:gd name="T2" fmla="*/ 2 w 130"/>
              <a:gd name="T3" fmla="*/ 52 h 128"/>
              <a:gd name="T4" fmla="*/ 10 w 130"/>
              <a:gd name="T5" fmla="*/ 30 h 128"/>
              <a:gd name="T6" fmla="*/ 28 w 130"/>
              <a:gd name="T7" fmla="*/ 12 h 128"/>
              <a:gd name="T8" fmla="*/ 52 w 130"/>
              <a:gd name="T9" fmla="*/ 2 h 128"/>
              <a:gd name="T10" fmla="*/ 66 w 130"/>
              <a:gd name="T11" fmla="*/ 0 h 128"/>
              <a:gd name="T12" fmla="*/ 92 w 130"/>
              <a:gd name="T13" fmla="*/ 6 h 128"/>
              <a:gd name="T14" fmla="*/ 112 w 130"/>
              <a:gd name="T15" fmla="*/ 20 h 128"/>
              <a:gd name="T16" fmla="*/ 126 w 130"/>
              <a:gd name="T17" fmla="*/ 40 h 128"/>
              <a:gd name="T18" fmla="*/ 130 w 130"/>
              <a:gd name="T19" fmla="*/ 64 h 128"/>
              <a:gd name="T20" fmla="*/ 130 w 130"/>
              <a:gd name="T21" fmla="*/ 64 h 128"/>
              <a:gd name="T22" fmla="*/ 126 w 130"/>
              <a:gd name="T23" fmla="*/ 90 h 128"/>
              <a:gd name="T24" fmla="*/ 112 w 130"/>
              <a:gd name="T25" fmla="*/ 110 h 128"/>
              <a:gd name="T26" fmla="*/ 92 w 130"/>
              <a:gd name="T27" fmla="*/ 124 h 128"/>
              <a:gd name="T28" fmla="*/ 66 w 130"/>
              <a:gd name="T29" fmla="*/ 128 h 128"/>
              <a:gd name="T30" fmla="*/ 52 w 130"/>
              <a:gd name="T31" fmla="*/ 128 h 128"/>
              <a:gd name="T32" fmla="*/ 28 w 130"/>
              <a:gd name="T33" fmla="*/ 118 h 128"/>
              <a:gd name="T34" fmla="*/ 10 w 130"/>
              <a:gd name="T35" fmla="*/ 100 h 128"/>
              <a:gd name="T36" fmla="*/ 2 w 130"/>
              <a:gd name="T37" fmla="*/ 78 h 128"/>
              <a:gd name="T38" fmla="*/ 0 w 130"/>
              <a:gd name="T39" fmla="*/ 66 h 128"/>
              <a:gd name="T40" fmla="*/ 102 w 130"/>
              <a:gd name="T41" fmla="*/ 64 h 128"/>
              <a:gd name="T42" fmla="*/ 102 w 130"/>
              <a:gd name="T43" fmla="*/ 56 h 128"/>
              <a:gd name="T44" fmla="*/ 96 w 130"/>
              <a:gd name="T45" fmla="*/ 42 h 128"/>
              <a:gd name="T46" fmla="*/ 86 w 130"/>
              <a:gd name="T47" fmla="*/ 32 h 128"/>
              <a:gd name="T48" fmla="*/ 72 w 130"/>
              <a:gd name="T49" fmla="*/ 26 h 128"/>
              <a:gd name="T50" fmla="*/ 66 w 130"/>
              <a:gd name="T51" fmla="*/ 26 h 128"/>
              <a:gd name="T52" fmla="*/ 50 w 130"/>
              <a:gd name="T53" fmla="*/ 28 h 128"/>
              <a:gd name="T54" fmla="*/ 38 w 130"/>
              <a:gd name="T55" fmla="*/ 36 h 128"/>
              <a:gd name="T56" fmla="*/ 30 w 130"/>
              <a:gd name="T57" fmla="*/ 50 h 128"/>
              <a:gd name="T58" fmla="*/ 28 w 130"/>
              <a:gd name="T59" fmla="*/ 64 h 128"/>
              <a:gd name="T60" fmla="*/ 28 w 130"/>
              <a:gd name="T61" fmla="*/ 64 h 128"/>
              <a:gd name="T62" fmla="*/ 30 w 130"/>
              <a:gd name="T63" fmla="*/ 80 h 128"/>
              <a:gd name="T64" fmla="*/ 38 w 130"/>
              <a:gd name="T65" fmla="*/ 92 h 128"/>
              <a:gd name="T66" fmla="*/ 50 w 130"/>
              <a:gd name="T67" fmla="*/ 102 h 128"/>
              <a:gd name="T68" fmla="*/ 66 w 130"/>
              <a:gd name="T69" fmla="*/ 104 h 128"/>
              <a:gd name="T70" fmla="*/ 74 w 130"/>
              <a:gd name="T71" fmla="*/ 104 h 128"/>
              <a:gd name="T72" fmla="*/ 88 w 130"/>
              <a:gd name="T73" fmla="*/ 98 h 128"/>
              <a:gd name="T74" fmla="*/ 96 w 130"/>
              <a:gd name="T75" fmla="*/ 86 h 128"/>
              <a:gd name="T76" fmla="*/ 102 w 130"/>
              <a:gd name="T77" fmla="*/ 74 h 128"/>
              <a:gd name="T78" fmla="*/ 102 w 130"/>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8">
                <a:moveTo>
                  <a:pt x="0" y="66"/>
                </a:moveTo>
                <a:lnTo>
                  <a:pt x="0" y="64"/>
                </a:lnTo>
                <a:lnTo>
                  <a:pt x="0" y="64"/>
                </a:lnTo>
                <a:lnTo>
                  <a:pt x="2" y="52"/>
                </a:lnTo>
                <a:lnTo>
                  <a:pt x="4" y="40"/>
                </a:lnTo>
                <a:lnTo>
                  <a:pt x="10" y="30"/>
                </a:lnTo>
                <a:lnTo>
                  <a:pt x="18" y="20"/>
                </a:lnTo>
                <a:lnTo>
                  <a:pt x="28" y="12"/>
                </a:lnTo>
                <a:lnTo>
                  <a:pt x="40" y="6"/>
                </a:lnTo>
                <a:lnTo>
                  <a:pt x="52" y="2"/>
                </a:lnTo>
                <a:lnTo>
                  <a:pt x="66" y="0"/>
                </a:lnTo>
                <a:lnTo>
                  <a:pt x="66" y="0"/>
                </a:lnTo>
                <a:lnTo>
                  <a:pt x="80" y="2"/>
                </a:lnTo>
                <a:lnTo>
                  <a:pt x="92" y="6"/>
                </a:lnTo>
                <a:lnTo>
                  <a:pt x="102" y="12"/>
                </a:lnTo>
                <a:lnTo>
                  <a:pt x="112" y="20"/>
                </a:lnTo>
                <a:lnTo>
                  <a:pt x="120" y="28"/>
                </a:lnTo>
                <a:lnTo>
                  <a:pt x="126" y="40"/>
                </a:lnTo>
                <a:lnTo>
                  <a:pt x="130" y="52"/>
                </a:lnTo>
                <a:lnTo>
                  <a:pt x="130" y="64"/>
                </a:lnTo>
                <a:lnTo>
                  <a:pt x="130" y="64"/>
                </a:lnTo>
                <a:lnTo>
                  <a:pt x="130" y="64"/>
                </a:lnTo>
                <a:lnTo>
                  <a:pt x="130" y="78"/>
                </a:lnTo>
                <a:lnTo>
                  <a:pt x="126" y="90"/>
                </a:lnTo>
                <a:lnTo>
                  <a:pt x="120" y="100"/>
                </a:lnTo>
                <a:lnTo>
                  <a:pt x="112" y="110"/>
                </a:lnTo>
                <a:lnTo>
                  <a:pt x="102" y="118"/>
                </a:lnTo>
                <a:lnTo>
                  <a:pt x="92" y="124"/>
                </a:lnTo>
                <a:lnTo>
                  <a:pt x="78" y="128"/>
                </a:lnTo>
                <a:lnTo>
                  <a:pt x="66" y="128"/>
                </a:lnTo>
                <a:lnTo>
                  <a:pt x="66" y="128"/>
                </a:lnTo>
                <a:lnTo>
                  <a:pt x="52" y="128"/>
                </a:lnTo>
                <a:lnTo>
                  <a:pt x="40" y="124"/>
                </a:lnTo>
                <a:lnTo>
                  <a:pt x="28" y="118"/>
                </a:lnTo>
                <a:lnTo>
                  <a:pt x="18" y="110"/>
                </a:lnTo>
                <a:lnTo>
                  <a:pt x="10" y="100"/>
                </a:lnTo>
                <a:lnTo>
                  <a:pt x="4" y="90"/>
                </a:lnTo>
                <a:lnTo>
                  <a:pt x="2" y="78"/>
                </a:lnTo>
                <a:lnTo>
                  <a:pt x="0" y="66"/>
                </a:lnTo>
                <a:lnTo>
                  <a:pt x="0" y="66"/>
                </a:lnTo>
                <a:close/>
                <a:moveTo>
                  <a:pt x="102" y="66"/>
                </a:moveTo>
                <a:lnTo>
                  <a:pt x="102" y="64"/>
                </a:lnTo>
                <a:lnTo>
                  <a:pt x="102" y="64"/>
                </a:lnTo>
                <a:lnTo>
                  <a:pt x="102" y="56"/>
                </a:lnTo>
                <a:lnTo>
                  <a:pt x="100" y="50"/>
                </a:lnTo>
                <a:lnTo>
                  <a:pt x="96" y="42"/>
                </a:lnTo>
                <a:lnTo>
                  <a:pt x="92" y="38"/>
                </a:lnTo>
                <a:lnTo>
                  <a:pt x="86" y="32"/>
                </a:lnTo>
                <a:lnTo>
                  <a:pt x="80" y="28"/>
                </a:lnTo>
                <a:lnTo>
                  <a:pt x="72" y="26"/>
                </a:lnTo>
                <a:lnTo>
                  <a:pt x="66" y="26"/>
                </a:lnTo>
                <a:lnTo>
                  <a:pt x="66" y="26"/>
                </a:lnTo>
                <a:lnTo>
                  <a:pt x="56" y="26"/>
                </a:lnTo>
                <a:lnTo>
                  <a:pt x="50" y="28"/>
                </a:lnTo>
                <a:lnTo>
                  <a:pt x="44" y="32"/>
                </a:lnTo>
                <a:lnTo>
                  <a:pt x="38" y="36"/>
                </a:lnTo>
                <a:lnTo>
                  <a:pt x="34"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8" y="104"/>
                </a:lnTo>
                <a:lnTo>
                  <a:pt x="66" y="104"/>
                </a:lnTo>
                <a:lnTo>
                  <a:pt x="66" y="104"/>
                </a:lnTo>
                <a:lnTo>
                  <a:pt x="74" y="104"/>
                </a:lnTo>
                <a:lnTo>
                  <a:pt x="80" y="102"/>
                </a:lnTo>
                <a:lnTo>
                  <a:pt x="88" y="98"/>
                </a:lnTo>
                <a:lnTo>
                  <a:pt x="92" y="92"/>
                </a:lnTo>
                <a:lnTo>
                  <a:pt x="96" y="86"/>
                </a:lnTo>
                <a:lnTo>
                  <a:pt x="100" y="80"/>
                </a:lnTo>
                <a:lnTo>
                  <a:pt x="102" y="74"/>
                </a:lnTo>
                <a:lnTo>
                  <a:pt x="102" y="66"/>
                </a:lnTo>
                <a:lnTo>
                  <a:pt x="102"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6" name="Freeform 213"/>
          <p:cNvSpPr>
            <a:spLocks/>
          </p:cNvSpPr>
          <p:nvPr userDrawn="1"/>
        </p:nvSpPr>
        <p:spPr bwMode="auto">
          <a:xfrm>
            <a:off x="3442684" y="1208077"/>
            <a:ext cx="248714" cy="169542"/>
          </a:xfrm>
          <a:custGeom>
            <a:avLst/>
            <a:gdLst>
              <a:gd name="T0" fmla="*/ 0 w 186"/>
              <a:gd name="T1" fmla="*/ 4 h 126"/>
              <a:gd name="T2" fmla="*/ 28 w 186"/>
              <a:gd name="T3" fmla="*/ 4 h 126"/>
              <a:gd name="T4" fmla="*/ 28 w 186"/>
              <a:gd name="T5" fmla="*/ 22 h 126"/>
              <a:gd name="T6" fmla="*/ 28 w 186"/>
              <a:gd name="T7" fmla="*/ 22 h 126"/>
              <a:gd name="T8" fmla="*/ 34 w 186"/>
              <a:gd name="T9" fmla="*/ 14 h 126"/>
              <a:gd name="T10" fmla="*/ 42 w 186"/>
              <a:gd name="T11" fmla="*/ 8 h 126"/>
              <a:gd name="T12" fmla="*/ 52 w 186"/>
              <a:gd name="T13" fmla="*/ 2 h 126"/>
              <a:gd name="T14" fmla="*/ 66 w 186"/>
              <a:gd name="T15" fmla="*/ 0 h 126"/>
              <a:gd name="T16" fmla="*/ 66 w 186"/>
              <a:gd name="T17" fmla="*/ 0 h 126"/>
              <a:gd name="T18" fmla="*/ 78 w 186"/>
              <a:gd name="T19" fmla="*/ 2 h 126"/>
              <a:gd name="T20" fmla="*/ 88 w 186"/>
              <a:gd name="T21" fmla="*/ 6 h 126"/>
              <a:gd name="T22" fmla="*/ 96 w 186"/>
              <a:gd name="T23" fmla="*/ 14 h 126"/>
              <a:gd name="T24" fmla="*/ 102 w 186"/>
              <a:gd name="T25" fmla="*/ 22 h 126"/>
              <a:gd name="T26" fmla="*/ 102 w 186"/>
              <a:gd name="T27" fmla="*/ 22 h 126"/>
              <a:gd name="T28" fmla="*/ 110 w 186"/>
              <a:gd name="T29" fmla="*/ 14 h 126"/>
              <a:gd name="T30" fmla="*/ 120 w 186"/>
              <a:gd name="T31" fmla="*/ 6 h 126"/>
              <a:gd name="T32" fmla="*/ 130 w 186"/>
              <a:gd name="T33" fmla="*/ 2 h 126"/>
              <a:gd name="T34" fmla="*/ 144 w 186"/>
              <a:gd name="T35" fmla="*/ 0 h 126"/>
              <a:gd name="T36" fmla="*/ 144 w 186"/>
              <a:gd name="T37" fmla="*/ 0 h 126"/>
              <a:gd name="T38" fmla="*/ 152 w 186"/>
              <a:gd name="T39" fmla="*/ 2 h 126"/>
              <a:gd name="T40" fmla="*/ 162 w 186"/>
              <a:gd name="T41" fmla="*/ 4 h 126"/>
              <a:gd name="T42" fmla="*/ 168 w 186"/>
              <a:gd name="T43" fmla="*/ 8 h 126"/>
              <a:gd name="T44" fmla="*/ 174 w 186"/>
              <a:gd name="T45" fmla="*/ 14 h 126"/>
              <a:gd name="T46" fmla="*/ 180 w 186"/>
              <a:gd name="T47" fmla="*/ 20 h 126"/>
              <a:gd name="T48" fmla="*/ 184 w 186"/>
              <a:gd name="T49" fmla="*/ 28 h 126"/>
              <a:gd name="T50" fmla="*/ 186 w 186"/>
              <a:gd name="T51" fmla="*/ 38 h 126"/>
              <a:gd name="T52" fmla="*/ 186 w 186"/>
              <a:gd name="T53" fmla="*/ 48 h 126"/>
              <a:gd name="T54" fmla="*/ 186 w 186"/>
              <a:gd name="T55" fmla="*/ 126 h 126"/>
              <a:gd name="T56" fmla="*/ 158 w 186"/>
              <a:gd name="T57" fmla="*/ 126 h 126"/>
              <a:gd name="T58" fmla="*/ 158 w 186"/>
              <a:gd name="T59" fmla="*/ 56 h 126"/>
              <a:gd name="T60" fmla="*/ 158 w 186"/>
              <a:gd name="T61" fmla="*/ 56 h 126"/>
              <a:gd name="T62" fmla="*/ 156 w 186"/>
              <a:gd name="T63" fmla="*/ 44 h 126"/>
              <a:gd name="T64" fmla="*/ 152 w 186"/>
              <a:gd name="T65" fmla="*/ 34 h 126"/>
              <a:gd name="T66" fmla="*/ 144 w 186"/>
              <a:gd name="T67" fmla="*/ 28 h 126"/>
              <a:gd name="T68" fmla="*/ 134 w 186"/>
              <a:gd name="T69" fmla="*/ 26 h 126"/>
              <a:gd name="T70" fmla="*/ 134 w 186"/>
              <a:gd name="T71" fmla="*/ 26 h 126"/>
              <a:gd name="T72" fmla="*/ 122 w 186"/>
              <a:gd name="T73" fmla="*/ 28 h 126"/>
              <a:gd name="T74" fmla="*/ 114 w 186"/>
              <a:gd name="T75" fmla="*/ 34 h 126"/>
              <a:gd name="T76" fmla="*/ 110 w 186"/>
              <a:gd name="T77" fmla="*/ 44 h 126"/>
              <a:gd name="T78" fmla="*/ 108 w 186"/>
              <a:gd name="T79" fmla="*/ 56 h 126"/>
              <a:gd name="T80" fmla="*/ 108 w 186"/>
              <a:gd name="T81" fmla="*/ 126 h 126"/>
              <a:gd name="T82" fmla="*/ 80 w 186"/>
              <a:gd name="T83" fmla="*/ 126 h 126"/>
              <a:gd name="T84" fmla="*/ 80 w 186"/>
              <a:gd name="T85" fmla="*/ 56 h 126"/>
              <a:gd name="T86" fmla="*/ 80 w 186"/>
              <a:gd name="T87" fmla="*/ 56 h 126"/>
              <a:gd name="T88" fmla="*/ 78 w 186"/>
              <a:gd name="T89" fmla="*/ 44 h 126"/>
              <a:gd name="T90" fmla="*/ 72 w 186"/>
              <a:gd name="T91" fmla="*/ 34 h 126"/>
              <a:gd name="T92" fmla="*/ 64 w 186"/>
              <a:gd name="T93" fmla="*/ 28 h 126"/>
              <a:gd name="T94" fmla="*/ 54 w 186"/>
              <a:gd name="T95" fmla="*/ 26 h 126"/>
              <a:gd name="T96" fmla="*/ 54 w 186"/>
              <a:gd name="T97" fmla="*/ 26 h 126"/>
              <a:gd name="T98" fmla="*/ 44 w 186"/>
              <a:gd name="T99" fmla="*/ 28 h 126"/>
              <a:gd name="T100" fmla="*/ 36 w 186"/>
              <a:gd name="T101" fmla="*/ 34 h 126"/>
              <a:gd name="T102" fmla="*/ 30 w 186"/>
              <a:gd name="T103" fmla="*/ 44 h 126"/>
              <a:gd name="T104" fmla="*/ 28 w 186"/>
              <a:gd name="T105" fmla="*/ 56 h 126"/>
              <a:gd name="T106" fmla="*/ 28 w 186"/>
              <a:gd name="T107" fmla="*/ 126 h 126"/>
              <a:gd name="T108" fmla="*/ 0 w 186"/>
              <a:gd name="T109" fmla="*/ 126 h 126"/>
              <a:gd name="T110" fmla="*/ 0 w 186"/>
              <a:gd name="T111" fmla="*/ 4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6" h="126">
                <a:moveTo>
                  <a:pt x="0" y="4"/>
                </a:moveTo>
                <a:lnTo>
                  <a:pt x="28" y="4"/>
                </a:lnTo>
                <a:lnTo>
                  <a:pt x="28" y="22"/>
                </a:lnTo>
                <a:lnTo>
                  <a:pt x="28" y="22"/>
                </a:lnTo>
                <a:lnTo>
                  <a:pt x="34" y="14"/>
                </a:lnTo>
                <a:lnTo>
                  <a:pt x="42" y="8"/>
                </a:lnTo>
                <a:lnTo>
                  <a:pt x="52" y="2"/>
                </a:lnTo>
                <a:lnTo>
                  <a:pt x="66" y="0"/>
                </a:lnTo>
                <a:lnTo>
                  <a:pt x="66" y="0"/>
                </a:lnTo>
                <a:lnTo>
                  <a:pt x="78" y="2"/>
                </a:lnTo>
                <a:lnTo>
                  <a:pt x="88" y="6"/>
                </a:lnTo>
                <a:lnTo>
                  <a:pt x="96" y="14"/>
                </a:lnTo>
                <a:lnTo>
                  <a:pt x="102" y="22"/>
                </a:lnTo>
                <a:lnTo>
                  <a:pt x="102" y="22"/>
                </a:lnTo>
                <a:lnTo>
                  <a:pt x="110" y="14"/>
                </a:lnTo>
                <a:lnTo>
                  <a:pt x="120" y="6"/>
                </a:lnTo>
                <a:lnTo>
                  <a:pt x="130" y="2"/>
                </a:lnTo>
                <a:lnTo>
                  <a:pt x="144" y="0"/>
                </a:lnTo>
                <a:lnTo>
                  <a:pt x="144" y="0"/>
                </a:lnTo>
                <a:lnTo>
                  <a:pt x="152" y="2"/>
                </a:lnTo>
                <a:lnTo>
                  <a:pt x="162" y="4"/>
                </a:lnTo>
                <a:lnTo>
                  <a:pt x="168" y="8"/>
                </a:lnTo>
                <a:lnTo>
                  <a:pt x="174" y="14"/>
                </a:lnTo>
                <a:lnTo>
                  <a:pt x="180" y="20"/>
                </a:lnTo>
                <a:lnTo>
                  <a:pt x="184" y="28"/>
                </a:lnTo>
                <a:lnTo>
                  <a:pt x="186" y="38"/>
                </a:lnTo>
                <a:lnTo>
                  <a:pt x="186" y="48"/>
                </a:lnTo>
                <a:lnTo>
                  <a:pt x="186" y="126"/>
                </a:lnTo>
                <a:lnTo>
                  <a:pt x="158" y="126"/>
                </a:lnTo>
                <a:lnTo>
                  <a:pt x="158" y="56"/>
                </a:lnTo>
                <a:lnTo>
                  <a:pt x="158" y="56"/>
                </a:lnTo>
                <a:lnTo>
                  <a:pt x="156" y="44"/>
                </a:lnTo>
                <a:lnTo>
                  <a:pt x="152" y="34"/>
                </a:lnTo>
                <a:lnTo>
                  <a:pt x="144" y="28"/>
                </a:lnTo>
                <a:lnTo>
                  <a:pt x="134" y="26"/>
                </a:lnTo>
                <a:lnTo>
                  <a:pt x="134" y="26"/>
                </a:lnTo>
                <a:lnTo>
                  <a:pt x="122" y="28"/>
                </a:lnTo>
                <a:lnTo>
                  <a:pt x="114" y="34"/>
                </a:lnTo>
                <a:lnTo>
                  <a:pt x="110" y="44"/>
                </a:lnTo>
                <a:lnTo>
                  <a:pt x="108" y="56"/>
                </a:lnTo>
                <a:lnTo>
                  <a:pt x="108" y="126"/>
                </a:lnTo>
                <a:lnTo>
                  <a:pt x="80" y="126"/>
                </a:lnTo>
                <a:lnTo>
                  <a:pt x="80" y="56"/>
                </a:lnTo>
                <a:lnTo>
                  <a:pt x="80" y="56"/>
                </a:lnTo>
                <a:lnTo>
                  <a:pt x="78" y="44"/>
                </a:lnTo>
                <a:lnTo>
                  <a:pt x="72" y="34"/>
                </a:lnTo>
                <a:lnTo>
                  <a:pt x="64" y="28"/>
                </a:lnTo>
                <a:lnTo>
                  <a:pt x="54" y="26"/>
                </a:lnTo>
                <a:lnTo>
                  <a:pt x="54" y="26"/>
                </a:lnTo>
                <a:lnTo>
                  <a:pt x="44" y="28"/>
                </a:lnTo>
                <a:lnTo>
                  <a:pt x="36" y="34"/>
                </a:lnTo>
                <a:lnTo>
                  <a:pt x="30" y="44"/>
                </a:lnTo>
                <a:lnTo>
                  <a:pt x="28" y="56"/>
                </a:lnTo>
                <a:lnTo>
                  <a:pt x="28" y="126"/>
                </a:lnTo>
                <a:lnTo>
                  <a:pt x="0" y="126"/>
                </a:lnTo>
                <a:lnTo>
                  <a:pt x="0" y="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7" name="Freeform 214"/>
          <p:cNvSpPr>
            <a:spLocks/>
          </p:cNvSpPr>
          <p:nvPr userDrawn="1"/>
        </p:nvSpPr>
        <p:spPr bwMode="auto">
          <a:xfrm>
            <a:off x="3742210" y="1210768"/>
            <a:ext cx="131043" cy="169542"/>
          </a:xfrm>
          <a:custGeom>
            <a:avLst/>
            <a:gdLst>
              <a:gd name="T0" fmla="*/ 12 w 98"/>
              <a:gd name="T1" fmla="*/ 88 h 126"/>
              <a:gd name="T2" fmla="*/ 22 w 98"/>
              <a:gd name="T3" fmla="*/ 96 h 126"/>
              <a:gd name="T4" fmla="*/ 42 w 98"/>
              <a:gd name="T5" fmla="*/ 104 h 126"/>
              <a:gd name="T6" fmla="*/ 52 w 98"/>
              <a:gd name="T7" fmla="*/ 104 h 126"/>
              <a:gd name="T8" fmla="*/ 66 w 98"/>
              <a:gd name="T9" fmla="*/ 100 h 126"/>
              <a:gd name="T10" fmla="*/ 72 w 98"/>
              <a:gd name="T11" fmla="*/ 90 h 126"/>
              <a:gd name="T12" fmla="*/ 72 w 98"/>
              <a:gd name="T13" fmla="*/ 90 h 126"/>
              <a:gd name="T14" fmla="*/ 70 w 98"/>
              <a:gd name="T15" fmla="*/ 84 h 126"/>
              <a:gd name="T16" fmla="*/ 44 w 98"/>
              <a:gd name="T17" fmla="*/ 74 h 126"/>
              <a:gd name="T18" fmla="*/ 30 w 98"/>
              <a:gd name="T19" fmla="*/ 68 h 126"/>
              <a:gd name="T20" fmla="*/ 12 w 98"/>
              <a:gd name="T21" fmla="*/ 58 h 126"/>
              <a:gd name="T22" fmla="*/ 6 w 98"/>
              <a:gd name="T23" fmla="*/ 46 h 126"/>
              <a:gd name="T24" fmla="*/ 6 w 98"/>
              <a:gd name="T25" fmla="*/ 36 h 126"/>
              <a:gd name="T26" fmla="*/ 6 w 98"/>
              <a:gd name="T27" fmla="*/ 28 h 126"/>
              <a:gd name="T28" fmla="*/ 14 w 98"/>
              <a:gd name="T29" fmla="*/ 14 h 126"/>
              <a:gd name="T30" fmla="*/ 24 w 98"/>
              <a:gd name="T31" fmla="*/ 6 h 126"/>
              <a:gd name="T32" fmla="*/ 40 w 98"/>
              <a:gd name="T33" fmla="*/ 0 h 126"/>
              <a:gd name="T34" fmla="*/ 50 w 98"/>
              <a:gd name="T35" fmla="*/ 0 h 126"/>
              <a:gd name="T36" fmla="*/ 72 w 98"/>
              <a:gd name="T37" fmla="*/ 4 h 126"/>
              <a:gd name="T38" fmla="*/ 94 w 98"/>
              <a:gd name="T39" fmla="*/ 14 h 126"/>
              <a:gd name="T40" fmla="*/ 84 w 98"/>
              <a:gd name="T41" fmla="*/ 34 h 126"/>
              <a:gd name="T42" fmla="*/ 56 w 98"/>
              <a:gd name="T43" fmla="*/ 22 h 126"/>
              <a:gd name="T44" fmla="*/ 48 w 98"/>
              <a:gd name="T45" fmla="*/ 22 h 126"/>
              <a:gd name="T46" fmla="*/ 36 w 98"/>
              <a:gd name="T47" fmla="*/ 26 h 126"/>
              <a:gd name="T48" fmla="*/ 32 w 98"/>
              <a:gd name="T49" fmla="*/ 34 h 126"/>
              <a:gd name="T50" fmla="*/ 32 w 98"/>
              <a:gd name="T51" fmla="*/ 34 h 126"/>
              <a:gd name="T52" fmla="*/ 34 w 98"/>
              <a:gd name="T53" fmla="*/ 40 h 126"/>
              <a:gd name="T54" fmla="*/ 60 w 98"/>
              <a:gd name="T55" fmla="*/ 52 h 126"/>
              <a:gd name="T56" fmla="*/ 72 w 98"/>
              <a:gd name="T57" fmla="*/ 56 h 126"/>
              <a:gd name="T58" fmla="*/ 90 w 98"/>
              <a:gd name="T59" fmla="*/ 68 h 126"/>
              <a:gd name="T60" fmla="*/ 96 w 98"/>
              <a:gd name="T61" fmla="*/ 80 h 126"/>
              <a:gd name="T62" fmla="*/ 98 w 98"/>
              <a:gd name="T63" fmla="*/ 88 h 126"/>
              <a:gd name="T64" fmla="*/ 96 w 98"/>
              <a:gd name="T65" fmla="*/ 96 h 126"/>
              <a:gd name="T66" fmla="*/ 90 w 98"/>
              <a:gd name="T67" fmla="*/ 112 h 126"/>
              <a:gd name="T68" fmla="*/ 78 w 98"/>
              <a:gd name="T69" fmla="*/ 120 h 126"/>
              <a:gd name="T70" fmla="*/ 60 w 98"/>
              <a:gd name="T71" fmla="*/ 126 h 126"/>
              <a:gd name="T72" fmla="*/ 52 w 98"/>
              <a:gd name="T73" fmla="*/ 126 h 126"/>
              <a:gd name="T74" fmla="*/ 24 w 98"/>
              <a:gd name="T75" fmla="*/ 122 h 126"/>
              <a:gd name="T76" fmla="*/ 0 w 98"/>
              <a:gd name="T77"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8" h="126">
                <a:moveTo>
                  <a:pt x="0" y="108"/>
                </a:moveTo>
                <a:lnTo>
                  <a:pt x="12" y="88"/>
                </a:lnTo>
                <a:lnTo>
                  <a:pt x="12" y="88"/>
                </a:lnTo>
                <a:lnTo>
                  <a:pt x="22" y="96"/>
                </a:lnTo>
                <a:lnTo>
                  <a:pt x="32" y="100"/>
                </a:lnTo>
                <a:lnTo>
                  <a:pt x="42" y="104"/>
                </a:lnTo>
                <a:lnTo>
                  <a:pt x="52" y="104"/>
                </a:lnTo>
                <a:lnTo>
                  <a:pt x="52" y="104"/>
                </a:lnTo>
                <a:lnTo>
                  <a:pt x="60" y="104"/>
                </a:lnTo>
                <a:lnTo>
                  <a:pt x="66" y="100"/>
                </a:lnTo>
                <a:lnTo>
                  <a:pt x="70" y="96"/>
                </a:lnTo>
                <a:lnTo>
                  <a:pt x="72" y="90"/>
                </a:lnTo>
                <a:lnTo>
                  <a:pt x="72" y="90"/>
                </a:lnTo>
                <a:lnTo>
                  <a:pt x="72" y="90"/>
                </a:lnTo>
                <a:lnTo>
                  <a:pt x="70" y="86"/>
                </a:lnTo>
                <a:lnTo>
                  <a:pt x="70" y="84"/>
                </a:lnTo>
                <a:lnTo>
                  <a:pt x="64" y="80"/>
                </a:lnTo>
                <a:lnTo>
                  <a:pt x="44" y="74"/>
                </a:lnTo>
                <a:lnTo>
                  <a:pt x="44" y="74"/>
                </a:lnTo>
                <a:lnTo>
                  <a:pt x="30" y="68"/>
                </a:lnTo>
                <a:lnTo>
                  <a:pt x="18" y="62"/>
                </a:lnTo>
                <a:lnTo>
                  <a:pt x="12" y="58"/>
                </a:lnTo>
                <a:lnTo>
                  <a:pt x="10" y="52"/>
                </a:lnTo>
                <a:lnTo>
                  <a:pt x="6" y="46"/>
                </a:lnTo>
                <a:lnTo>
                  <a:pt x="6" y="38"/>
                </a:lnTo>
                <a:lnTo>
                  <a:pt x="6" y="36"/>
                </a:lnTo>
                <a:lnTo>
                  <a:pt x="6" y="36"/>
                </a:lnTo>
                <a:lnTo>
                  <a:pt x="6" y="28"/>
                </a:lnTo>
                <a:lnTo>
                  <a:pt x="10" y="22"/>
                </a:lnTo>
                <a:lnTo>
                  <a:pt x="14" y="14"/>
                </a:lnTo>
                <a:lnTo>
                  <a:pt x="18" y="10"/>
                </a:lnTo>
                <a:lnTo>
                  <a:pt x="24" y="6"/>
                </a:lnTo>
                <a:lnTo>
                  <a:pt x="32" y="2"/>
                </a:lnTo>
                <a:lnTo>
                  <a:pt x="40" y="0"/>
                </a:lnTo>
                <a:lnTo>
                  <a:pt x="50" y="0"/>
                </a:lnTo>
                <a:lnTo>
                  <a:pt x="50" y="0"/>
                </a:lnTo>
                <a:lnTo>
                  <a:pt x="60" y="0"/>
                </a:lnTo>
                <a:lnTo>
                  <a:pt x="72" y="4"/>
                </a:lnTo>
                <a:lnTo>
                  <a:pt x="84" y="8"/>
                </a:lnTo>
                <a:lnTo>
                  <a:pt x="94" y="14"/>
                </a:lnTo>
                <a:lnTo>
                  <a:pt x="84" y="34"/>
                </a:lnTo>
                <a:lnTo>
                  <a:pt x="84" y="34"/>
                </a:lnTo>
                <a:lnTo>
                  <a:pt x="66" y="24"/>
                </a:lnTo>
                <a:lnTo>
                  <a:pt x="56" y="22"/>
                </a:lnTo>
                <a:lnTo>
                  <a:pt x="48" y="22"/>
                </a:lnTo>
                <a:lnTo>
                  <a:pt x="48" y="22"/>
                </a:lnTo>
                <a:lnTo>
                  <a:pt x="42" y="22"/>
                </a:lnTo>
                <a:lnTo>
                  <a:pt x="36" y="26"/>
                </a:lnTo>
                <a:lnTo>
                  <a:pt x="32" y="28"/>
                </a:lnTo>
                <a:lnTo>
                  <a:pt x="32" y="34"/>
                </a:lnTo>
                <a:lnTo>
                  <a:pt x="32" y="34"/>
                </a:lnTo>
                <a:lnTo>
                  <a:pt x="32" y="34"/>
                </a:lnTo>
                <a:lnTo>
                  <a:pt x="32" y="38"/>
                </a:lnTo>
                <a:lnTo>
                  <a:pt x="34" y="40"/>
                </a:lnTo>
                <a:lnTo>
                  <a:pt x="40" y="44"/>
                </a:lnTo>
                <a:lnTo>
                  <a:pt x="60" y="52"/>
                </a:lnTo>
                <a:lnTo>
                  <a:pt x="60" y="52"/>
                </a:lnTo>
                <a:lnTo>
                  <a:pt x="72" y="56"/>
                </a:lnTo>
                <a:lnTo>
                  <a:pt x="84" y="64"/>
                </a:lnTo>
                <a:lnTo>
                  <a:pt x="90" y="68"/>
                </a:lnTo>
                <a:lnTo>
                  <a:pt x="94" y="74"/>
                </a:lnTo>
                <a:lnTo>
                  <a:pt x="96" y="80"/>
                </a:lnTo>
                <a:lnTo>
                  <a:pt x="98" y="88"/>
                </a:lnTo>
                <a:lnTo>
                  <a:pt x="98" y="88"/>
                </a:lnTo>
                <a:lnTo>
                  <a:pt x="98" y="88"/>
                </a:lnTo>
                <a:lnTo>
                  <a:pt x="96" y="96"/>
                </a:lnTo>
                <a:lnTo>
                  <a:pt x="94" y="104"/>
                </a:lnTo>
                <a:lnTo>
                  <a:pt x="90" y="112"/>
                </a:lnTo>
                <a:lnTo>
                  <a:pt x="84" y="116"/>
                </a:lnTo>
                <a:lnTo>
                  <a:pt x="78" y="120"/>
                </a:lnTo>
                <a:lnTo>
                  <a:pt x="70" y="124"/>
                </a:lnTo>
                <a:lnTo>
                  <a:pt x="60" y="126"/>
                </a:lnTo>
                <a:lnTo>
                  <a:pt x="52" y="126"/>
                </a:lnTo>
                <a:lnTo>
                  <a:pt x="52" y="126"/>
                </a:lnTo>
                <a:lnTo>
                  <a:pt x="38" y="126"/>
                </a:lnTo>
                <a:lnTo>
                  <a:pt x="24" y="122"/>
                </a:lnTo>
                <a:lnTo>
                  <a:pt x="12" y="116"/>
                </a:lnTo>
                <a:lnTo>
                  <a:pt x="0" y="108"/>
                </a:lnTo>
                <a:lnTo>
                  <a:pt x="0" y="10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8" name="Rectangle 215"/>
          <p:cNvSpPr>
            <a:spLocks noChangeArrowheads="1"/>
          </p:cNvSpPr>
          <p:nvPr userDrawn="1"/>
        </p:nvSpPr>
        <p:spPr bwMode="auto">
          <a:xfrm>
            <a:off x="3918717" y="1261899"/>
            <a:ext cx="93602" cy="37676"/>
          </a:xfrm>
          <a:prstGeom prst="rect">
            <a:avLst/>
          </a:prstGeom>
          <a:solidFill>
            <a:srgbClr val="F7D3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9" name="Freeform 216"/>
          <p:cNvSpPr>
            <a:spLocks/>
          </p:cNvSpPr>
          <p:nvPr userDrawn="1"/>
        </p:nvSpPr>
        <p:spPr bwMode="auto">
          <a:xfrm>
            <a:off x="4055108" y="1148872"/>
            <a:ext cx="101625" cy="228747"/>
          </a:xfrm>
          <a:custGeom>
            <a:avLst/>
            <a:gdLst>
              <a:gd name="T0" fmla="*/ 16 w 76"/>
              <a:gd name="T1" fmla="*/ 72 h 170"/>
              <a:gd name="T2" fmla="*/ 0 w 76"/>
              <a:gd name="T3" fmla="*/ 72 h 170"/>
              <a:gd name="T4" fmla="*/ 0 w 76"/>
              <a:gd name="T5" fmla="*/ 48 h 170"/>
              <a:gd name="T6" fmla="*/ 16 w 76"/>
              <a:gd name="T7" fmla="*/ 48 h 170"/>
              <a:gd name="T8" fmla="*/ 16 w 76"/>
              <a:gd name="T9" fmla="*/ 40 h 170"/>
              <a:gd name="T10" fmla="*/ 16 w 76"/>
              <a:gd name="T11" fmla="*/ 40 h 170"/>
              <a:gd name="T12" fmla="*/ 16 w 76"/>
              <a:gd name="T13" fmla="*/ 30 h 170"/>
              <a:gd name="T14" fmla="*/ 18 w 76"/>
              <a:gd name="T15" fmla="*/ 22 h 170"/>
              <a:gd name="T16" fmla="*/ 22 w 76"/>
              <a:gd name="T17" fmla="*/ 14 h 170"/>
              <a:gd name="T18" fmla="*/ 26 w 76"/>
              <a:gd name="T19" fmla="*/ 8 h 170"/>
              <a:gd name="T20" fmla="*/ 26 w 76"/>
              <a:gd name="T21" fmla="*/ 8 h 170"/>
              <a:gd name="T22" fmla="*/ 30 w 76"/>
              <a:gd name="T23" fmla="*/ 4 h 170"/>
              <a:gd name="T24" fmla="*/ 38 w 76"/>
              <a:gd name="T25" fmla="*/ 2 h 170"/>
              <a:gd name="T26" fmla="*/ 44 w 76"/>
              <a:gd name="T27" fmla="*/ 0 h 170"/>
              <a:gd name="T28" fmla="*/ 54 w 76"/>
              <a:gd name="T29" fmla="*/ 0 h 170"/>
              <a:gd name="T30" fmla="*/ 54 w 76"/>
              <a:gd name="T31" fmla="*/ 0 h 170"/>
              <a:gd name="T32" fmla="*/ 66 w 76"/>
              <a:gd name="T33" fmla="*/ 0 h 170"/>
              <a:gd name="T34" fmla="*/ 76 w 76"/>
              <a:gd name="T35" fmla="*/ 2 h 170"/>
              <a:gd name="T36" fmla="*/ 76 w 76"/>
              <a:gd name="T37" fmla="*/ 26 h 170"/>
              <a:gd name="T38" fmla="*/ 76 w 76"/>
              <a:gd name="T39" fmla="*/ 26 h 170"/>
              <a:gd name="T40" fmla="*/ 68 w 76"/>
              <a:gd name="T41" fmla="*/ 24 h 170"/>
              <a:gd name="T42" fmla="*/ 60 w 76"/>
              <a:gd name="T43" fmla="*/ 24 h 170"/>
              <a:gd name="T44" fmla="*/ 60 w 76"/>
              <a:gd name="T45" fmla="*/ 24 h 170"/>
              <a:gd name="T46" fmla="*/ 52 w 76"/>
              <a:gd name="T47" fmla="*/ 24 h 170"/>
              <a:gd name="T48" fmla="*/ 48 w 76"/>
              <a:gd name="T49" fmla="*/ 28 h 170"/>
              <a:gd name="T50" fmla="*/ 44 w 76"/>
              <a:gd name="T51" fmla="*/ 34 h 170"/>
              <a:gd name="T52" fmla="*/ 44 w 76"/>
              <a:gd name="T53" fmla="*/ 42 h 170"/>
              <a:gd name="T54" fmla="*/ 44 w 76"/>
              <a:gd name="T55" fmla="*/ 48 h 170"/>
              <a:gd name="T56" fmla="*/ 76 w 76"/>
              <a:gd name="T57" fmla="*/ 48 h 170"/>
              <a:gd name="T58" fmla="*/ 76 w 76"/>
              <a:gd name="T59" fmla="*/ 72 h 170"/>
              <a:gd name="T60" fmla="*/ 44 w 76"/>
              <a:gd name="T61" fmla="*/ 72 h 170"/>
              <a:gd name="T62" fmla="*/ 44 w 76"/>
              <a:gd name="T63" fmla="*/ 170 h 170"/>
              <a:gd name="T64" fmla="*/ 16 w 76"/>
              <a:gd name="T65" fmla="*/ 170 h 170"/>
              <a:gd name="T66" fmla="*/ 16 w 76"/>
              <a:gd name="T67" fmla="*/ 72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6" h="170">
                <a:moveTo>
                  <a:pt x="16" y="72"/>
                </a:moveTo>
                <a:lnTo>
                  <a:pt x="0" y="72"/>
                </a:lnTo>
                <a:lnTo>
                  <a:pt x="0" y="48"/>
                </a:lnTo>
                <a:lnTo>
                  <a:pt x="16" y="48"/>
                </a:lnTo>
                <a:lnTo>
                  <a:pt x="16" y="40"/>
                </a:lnTo>
                <a:lnTo>
                  <a:pt x="16" y="40"/>
                </a:lnTo>
                <a:lnTo>
                  <a:pt x="16" y="30"/>
                </a:lnTo>
                <a:lnTo>
                  <a:pt x="18" y="22"/>
                </a:lnTo>
                <a:lnTo>
                  <a:pt x="22" y="14"/>
                </a:lnTo>
                <a:lnTo>
                  <a:pt x="26" y="8"/>
                </a:lnTo>
                <a:lnTo>
                  <a:pt x="26" y="8"/>
                </a:lnTo>
                <a:lnTo>
                  <a:pt x="30" y="4"/>
                </a:lnTo>
                <a:lnTo>
                  <a:pt x="38" y="2"/>
                </a:lnTo>
                <a:lnTo>
                  <a:pt x="44" y="0"/>
                </a:lnTo>
                <a:lnTo>
                  <a:pt x="54" y="0"/>
                </a:lnTo>
                <a:lnTo>
                  <a:pt x="54" y="0"/>
                </a:lnTo>
                <a:lnTo>
                  <a:pt x="66" y="0"/>
                </a:lnTo>
                <a:lnTo>
                  <a:pt x="76" y="2"/>
                </a:lnTo>
                <a:lnTo>
                  <a:pt x="76" y="26"/>
                </a:lnTo>
                <a:lnTo>
                  <a:pt x="76" y="26"/>
                </a:lnTo>
                <a:lnTo>
                  <a:pt x="68" y="24"/>
                </a:lnTo>
                <a:lnTo>
                  <a:pt x="60" y="24"/>
                </a:lnTo>
                <a:lnTo>
                  <a:pt x="60" y="24"/>
                </a:lnTo>
                <a:lnTo>
                  <a:pt x="52" y="24"/>
                </a:lnTo>
                <a:lnTo>
                  <a:pt x="48" y="28"/>
                </a:lnTo>
                <a:lnTo>
                  <a:pt x="44" y="34"/>
                </a:lnTo>
                <a:lnTo>
                  <a:pt x="44" y="42"/>
                </a:lnTo>
                <a:lnTo>
                  <a:pt x="44" y="48"/>
                </a:lnTo>
                <a:lnTo>
                  <a:pt x="76" y="48"/>
                </a:lnTo>
                <a:lnTo>
                  <a:pt x="76" y="72"/>
                </a:lnTo>
                <a:lnTo>
                  <a:pt x="44" y="72"/>
                </a:lnTo>
                <a:lnTo>
                  <a:pt x="44" y="170"/>
                </a:lnTo>
                <a:lnTo>
                  <a:pt x="16" y="170"/>
                </a:lnTo>
                <a:lnTo>
                  <a:pt x="16"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0" name="Freeform 217"/>
          <p:cNvSpPr>
            <a:spLocks noEditPoints="1"/>
          </p:cNvSpPr>
          <p:nvPr userDrawn="1"/>
        </p:nvSpPr>
        <p:spPr bwMode="auto">
          <a:xfrm>
            <a:off x="4191500" y="1208077"/>
            <a:ext cx="173832" cy="172233"/>
          </a:xfrm>
          <a:custGeom>
            <a:avLst/>
            <a:gdLst>
              <a:gd name="T0" fmla="*/ 0 w 130"/>
              <a:gd name="T1" fmla="*/ 64 h 128"/>
              <a:gd name="T2" fmla="*/ 0 w 130"/>
              <a:gd name="T3" fmla="*/ 52 h 128"/>
              <a:gd name="T4" fmla="*/ 10 w 130"/>
              <a:gd name="T5" fmla="*/ 30 h 128"/>
              <a:gd name="T6" fmla="*/ 28 w 130"/>
              <a:gd name="T7" fmla="*/ 12 h 128"/>
              <a:gd name="T8" fmla="*/ 50 w 130"/>
              <a:gd name="T9" fmla="*/ 2 h 128"/>
              <a:gd name="T10" fmla="*/ 64 w 130"/>
              <a:gd name="T11" fmla="*/ 0 h 128"/>
              <a:gd name="T12" fmla="*/ 90 w 130"/>
              <a:gd name="T13" fmla="*/ 6 h 128"/>
              <a:gd name="T14" fmla="*/ 112 w 130"/>
              <a:gd name="T15" fmla="*/ 20 h 128"/>
              <a:gd name="T16" fmla="*/ 124 w 130"/>
              <a:gd name="T17" fmla="*/ 40 h 128"/>
              <a:gd name="T18" fmla="*/ 130 w 130"/>
              <a:gd name="T19" fmla="*/ 64 h 128"/>
              <a:gd name="T20" fmla="*/ 130 w 130"/>
              <a:gd name="T21" fmla="*/ 64 h 128"/>
              <a:gd name="T22" fmla="*/ 124 w 130"/>
              <a:gd name="T23" fmla="*/ 90 h 128"/>
              <a:gd name="T24" fmla="*/ 112 w 130"/>
              <a:gd name="T25" fmla="*/ 110 h 128"/>
              <a:gd name="T26" fmla="*/ 90 w 130"/>
              <a:gd name="T27" fmla="*/ 124 h 128"/>
              <a:gd name="T28" fmla="*/ 64 w 130"/>
              <a:gd name="T29" fmla="*/ 128 h 128"/>
              <a:gd name="T30" fmla="*/ 50 w 130"/>
              <a:gd name="T31" fmla="*/ 128 h 128"/>
              <a:gd name="T32" fmla="*/ 28 w 130"/>
              <a:gd name="T33" fmla="*/ 118 h 128"/>
              <a:gd name="T34" fmla="*/ 10 w 130"/>
              <a:gd name="T35" fmla="*/ 100 h 128"/>
              <a:gd name="T36" fmla="*/ 0 w 130"/>
              <a:gd name="T37" fmla="*/ 78 h 128"/>
              <a:gd name="T38" fmla="*/ 0 w 130"/>
              <a:gd name="T39" fmla="*/ 66 h 128"/>
              <a:gd name="T40" fmla="*/ 102 w 130"/>
              <a:gd name="T41" fmla="*/ 64 h 128"/>
              <a:gd name="T42" fmla="*/ 100 w 130"/>
              <a:gd name="T43" fmla="*/ 56 h 128"/>
              <a:gd name="T44" fmla="*/ 96 w 130"/>
              <a:gd name="T45" fmla="*/ 42 h 128"/>
              <a:gd name="T46" fmla="*/ 86 w 130"/>
              <a:gd name="T47" fmla="*/ 32 h 128"/>
              <a:gd name="T48" fmla="*/ 72 w 130"/>
              <a:gd name="T49" fmla="*/ 26 h 128"/>
              <a:gd name="T50" fmla="*/ 64 w 130"/>
              <a:gd name="T51" fmla="*/ 26 h 128"/>
              <a:gd name="T52" fmla="*/ 48 w 130"/>
              <a:gd name="T53" fmla="*/ 28 h 128"/>
              <a:gd name="T54" fmla="*/ 38 w 130"/>
              <a:gd name="T55" fmla="*/ 36 h 128"/>
              <a:gd name="T56" fmla="*/ 30 w 130"/>
              <a:gd name="T57" fmla="*/ 50 h 128"/>
              <a:gd name="T58" fmla="*/ 28 w 130"/>
              <a:gd name="T59" fmla="*/ 64 h 128"/>
              <a:gd name="T60" fmla="*/ 28 w 130"/>
              <a:gd name="T61" fmla="*/ 64 h 128"/>
              <a:gd name="T62" fmla="*/ 30 w 130"/>
              <a:gd name="T63" fmla="*/ 80 h 128"/>
              <a:gd name="T64" fmla="*/ 38 w 130"/>
              <a:gd name="T65" fmla="*/ 92 h 128"/>
              <a:gd name="T66" fmla="*/ 50 w 130"/>
              <a:gd name="T67" fmla="*/ 102 h 128"/>
              <a:gd name="T68" fmla="*/ 64 w 130"/>
              <a:gd name="T69" fmla="*/ 104 h 128"/>
              <a:gd name="T70" fmla="*/ 72 w 130"/>
              <a:gd name="T71" fmla="*/ 104 h 128"/>
              <a:gd name="T72" fmla="*/ 86 w 130"/>
              <a:gd name="T73" fmla="*/ 98 h 128"/>
              <a:gd name="T74" fmla="*/ 96 w 130"/>
              <a:gd name="T75" fmla="*/ 86 h 128"/>
              <a:gd name="T76" fmla="*/ 100 w 130"/>
              <a:gd name="T77" fmla="*/ 74 h 128"/>
              <a:gd name="T78" fmla="*/ 102 w 130"/>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0" h="128">
                <a:moveTo>
                  <a:pt x="0" y="66"/>
                </a:moveTo>
                <a:lnTo>
                  <a:pt x="0" y="64"/>
                </a:lnTo>
                <a:lnTo>
                  <a:pt x="0" y="64"/>
                </a:lnTo>
                <a:lnTo>
                  <a:pt x="0" y="52"/>
                </a:lnTo>
                <a:lnTo>
                  <a:pt x="4" y="40"/>
                </a:lnTo>
                <a:lnTo>
                  <a:pt x="10" y="30"/>
                </a:lnTo>
                <a:lnTo>
                  <a:pt x="18" y="20"/>
                </a:lnTo>
                <a:lnTo>
                  <a:pt x="28" y="12"/>
                </a:lnTo>
                <a:lnTo>
                  <a:pt x="38" y="6"/>
                </a:lnTo>
                <a:lnTo>
                  <a:pt x="50" y="2"/>
                </a:lnTo>
                <a:lnTo>
                  <a:pt x="64" y="0"/>
                </a:lnTo>
                <a:lnTo>
                  <a:pt x="64" y="0"/>
                </a:lnTo>
                <a:lnTo>
                  <a:pt x="78" y="2"/>
                </a:lnTo>
                <a:lnTo>
                  <a:pt x="90" y="6"/>
                </a:lnTo>
                <a:lnTo>
                  <a:pt x="102" y="12"/>
                </a:lnTo>
                <a:lnTo>
                  <a:pt x="112" y="20"/>
                </a:lnTo>
                <a:lnTo>
                  <a:pt x="118" y="28"/>
                </a:lnTo>
                <a:lnTo>
                  <a:pt x="124" y="40"/>
                </a:lnTo>
                <a:lnTo>
                  <a:pt x="128" y="52"/>
                </a:lnTo>
                <a:lnTo>
                  <a:pt x="130" y="64"/>
                </a:lnTo>
                <a:lnTo>
                  <a:pt x="130" y="64"/>
                </a:lnTo>
                <a:lnTo>
                  <a:pt x="130" y="64"/>
                </a:lnTo>
                <a:lnTo>
                  <a:pt x="128" y="78"/>
                </a:lnTo>
                <a:lnTo>
                  <a:pt x="124" y="90"/>
                </a:lnTo>
                <a:lnTo>
                  <a:pt x="118" y="100"/>
                </a:lnTo>
                <a:lnTo>
                  <a:pt x="112" y="110"/>
                </a:lnTo>
                <a:lnTo>
                  <a:pt x="102" y="118"/>
                </a:lnTo>
                <a:lnTo>
                  <a:pt x="90" y="124"/>
                </a:lnTo>
                <a:lnTo>
                  <a:pt x="78" y="128"/>
                </a:lnTo>
                <a:lnTo>
                  <a:pt x="64" y="128"/>
                </a:lnTo>
                <a:lnTo>
                  <a:pt x="64" y="128"/>
                </a:lnTo>
                <a:lnTo>
                  <a:pt x="50" y="128"/>
                </a:lnTo>
                <a:lnTo>
                  <a:pt x="38" y="124"/>
                </a:lnTo>
                <a:lnTo>
                  <a:pt x="28" y="118"/>
                </a:lnTo>
                <a:lnTo>
                  <a:pt x="18" y="110"/>
                </a:lnTo>
                <a:lnTo>
                  <a:pt x="10" y="100"/>
                </a:lnTo>
                <a:lnTo>
                  <a:pt x="4" y="90"/>
                </a:lnTo>
                <a:lnTo>
                  <a:pt x="0" y="78"/>
                </a:lnTo>
                <a:lnTo>
                  <a:pt x="0" y="66"/>
                </a:lnTo>
                <a:lnTo>
                  <a:pt x="0" y="66"/>
                </a:lnTo>
                <a:close/>
                <a:moveTo>
                  <a:pt x="102" y="66"/>
                </a:moveTo>
                <a:lnTo>
                  <a:pt x="102" y="64"/>
                </a:lnTo>
                <a:lnTo>
                  <a:pt x="102" y="64"/>
                </a:lnTo>
                <a:lnTo>
                  <a:pt x="100" y="56"/>
                </a:lnTo>
                <a:lnTo>
                  <a:pt x="98" y="50"/>
                </a:lnTo>
                <a:lnTo>
                  <a:pt x="96" y="42"/>
                </a:lnTo>
                <a:lnTo>
                  <a:pt x="92" y="38"/>
                </a:lnTo>
                <a:lnTo>
                  <a:pt x="86" y="32"/>
                </a:lnTo>
                <a:lnTo>
                  <a:pt x="80" y="28"/>
                </a:lnTo>
                <a:lnTo>
                  <a:pt x="72" y="26"/>
                </a:lnTo>
                <a:lnTo>
                  <a:pt x="64" y="26"/>
                </a:lnTo>
                <a:lnTo>
                  <a:pt x="64" y="26"/>
                </a:lnTo>
                <a:lnTo>
                  <a:pt x="56" y="26"/>
                </a:lnTo>
                <a:lnTo>
                  <a:pt x="48" y="28"/>
                </a:lnTo>
                <a:lnTo>
                  <a:pt x="42" y="32"/>
                </a:lnTo>
                <a:lnTo>
                  <a:pt x="38" y="36"/>
                </a:lnTo>
                <a:lnTo>
                  <a:pt x="32"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6" y="104"/>
                </a:lnTo>
                <a:lnTo>
                  <a:pt x="64" y="104"/>
                </a:lnTo>
                <a:lnTo>
                  <a:pt x="64" y="104"/>
                </a:lnTo>
                <a:lnTo>
                  <a:pt x="72" y="104"/>
                </a:lnTo>
                <a:lnTo>
                  <a:pt x="80" y="102"/>
                </a:lnTo>
                <a:lnTo>
                  <a:pt x="86" y="98"/>
                </a:lnTo>
                <a:lnTo>
                  <a:pt x="92" y="92"/>
                </a:lnTo>
                <a:lnTo>
                  <a:pt x="96" y="86"/>
                </a:lnTo>
                <a:lnTo>
                  <a:pt x="100" y="80"/>
                </a:lnTo>
                <a:lnTo>
                  <a:pt x="100" y="74"/>
                </a:lnTo>
                <a:lnTo>
                  <a:pt x="102" y="66"/>
                </a:lnTo>
                <a:lnTo>
                  <a:pt x="102"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1" name="Freeform 218"/>
          <p:cNvSpPr>
            <a:spLocks/>
          </p:cNvSpPr>
          <p:nvPr userDrawn="1"/>
        </p:nvSpPr>
        <p:spPr bwMode="auto">
          <a:xfrm>
            <a:off x="4410796" y="1208077"/>
            <a:ext cx="152437" cy="172233"/>
          </a:xfrm>
          <a:custGeom>
            <a:avLst/>
            <a:gdLst>
              <a:gd name="T0" fmla="*/ 0 w 114"/>
              <a:gd name="T1" fmla="*/ 66 h 128"/>
              <a:gd name="T2" fmla="*/ 0 w 114"/>
              <a:gd name="T3" fmla="*/ 64 h 128"/>
              <a:gd name="T4" fmla="*/ 0 w 114"/>
              <a:gd name="T5" fmla="*/ 64 h 128"/>
              <a:gd name="T6" fmla="*/ 2 w 114"/>
              <a:gd name="T7" fmla="*/ 52 h 128"/>
              <a:gd name="T8" fmla="*/ 4 w 114"/>
              <a:gd name="T9" fmla="*/ 40 h 128"/>
              <a:gd name="T10" fmla="*/ 10 w 114"/>
              <a:gd name="T11" fmla="*/ 30 h 128"/>
              <a:gd name="T12" fmla="*/ 18 w 114"/>
              <a:gd name="T13" fmla="*/ 20 h 128"/>
              <a:gd name="T14" fmla="*/ 28 w 114"/>
              <a:gd name="T15" fmla="*/ 12 h 128"/>
              <a:gd name="T16" fmla="*/ 38 w 114"/>
              <a:gd name="T17" fmla="*/ 6 h 128"/>
              <a:gd name="T18" fmla="*/ 50 w 114"/>
              <a:gd name="T19" fmla="*/ 2 h 128"/>
              <a:gd name="T20" fmla="*/ 64 w 114"/>
              <a:gd name="T21" fmla="*/ 0 h 128"/>
              <a:gd name="T22" fmla="*/ 64 w 114"/>
              <a:gd name="T23" fmla="*/ 0 h 128"/>
              <a:gd name="T24" fmla="*/ 80 w 114"/>
              <a:gd name="T25" fmla="*/ 2 h 128"/>
              <a:gd name="T26" fmla="*/ 92 w 114"/>
              <a:gd name="T27" fmla="*/ 6 h 128"/>
              <a:gd name="T28" fmla="*/ 104 w 114"/>
              <a:gd name="T29" fmla="*/ 14 h 128"/>
              <a:gd name="T30" fmla="*/ 112 w 114"/>
              <a:gd name="T31" fmla="*/ 22 h 128"/>
              <a:gd name="T32" fmla="*/ 96 w 114"/>
              <a:gd name="T33" fmla="*/ 40 h 128"/>
              <a:gd name="T34" fmla="*/ 96 w 114"/>
              <a:gd name="T35" fmla="*/ 40 h 128"/>
              <a:gd name="T36" fmla="*/ 88 w 114"/>
              <a:gd name="T37" fmla="*/ 34 h 128"/>
              <a:gd name="T38" fmla="*/ 82 w 114"/>
              <a:gd name="T39" fmla="*/ 30 h 128"/>
              <a:gd name="T40" fmla="*/ 74 w 114"/>
              <a:gd name="T41" fmla="*/ 26 h 128"/>
              <a:gd name="T42" fmla="*/ 64 w 114"/>
              <a:gd name="T43" fmla="*/ 26 h 128"/>
              <a:gd name="T44" fmla="*/ 64 w 114"/>
              <a:gd name="T45" fmla="*/ 26 h 128"/>
              <a:gd name="T46" fmla="*/ 56 w 114"/>
              <a:gd name="T47" fmla="*/ 26 h 128"/>
              <a:gd name="T48" fmla="*/ 50 w 114"/>
              <a:gd name="T49" fmla="*/ 28 h 128"/>
              <a:gd name="T50" fmla="*/ 44 w 114"/>
              <a:gd name="T51" fmla="*/ 32 h 128"/>
              <a:gd name="T52" fmla="*/ 38 w 114"/>
              <a:gd name="T53" fmla="*/ 36 h 128"/>
              <a:gd name="T54" fmla="*/ 34 w 114"/>
              <a:gd name="T55" fmla="*/ 42 h 128"/>
              <a:gd name="T56" fmla="*/ 30 w 114"/>
              <a:gd name="T57" fmla="*/ 50 h 128"/>
              <a:gd name="T58" fmla="*/ 28 w 114"/>
              <a:gd name="T59" fmla="*/ 56 h 128"/>
              <a:gd name="T60" fmla="*/ 28 w 114"/>
              <a:gd name="T61" fmla="*/ 64 h 128"/>
              <a:gd name="T62" fmla="*/ 28 w 114"/>
              <a:gd name="T63" fmla="*/ 64 h 128"/>
              <a:gd name="T64" fmla="*/ 28 w 114"/>
              <a:gd name="T65" fmla="*/ 64 h 128"/>
              <a:gd name="T66" fmla="*/ 28 w 114"/>
              <a:gd name="T67" fmla="*/ 72 h 128"/>
              <a:gd name="T68" fmla="*/ 30 w 114"/>
              <a:gd name="T69" fmla="*/ 80 h 128"/>
              <a:gd name="T70" fmla="*/ 34 w 114"/>
              <a:gd name="T71" fmla="*/ 86 h 128"/>
              <a:gd name="T72" fmla="*/ 38 w 114"/>
              <a:gd name="T73" fmla="*/ 92 h 128"/>
              <a:gd name="T74" fmla="*/ 44 w 114"/>
              <a:gd name="T75" fmla="*/ 98 h 128"/>
              <a:gd name="T76" fmla="*/ 50 w 114"/>
              <a:gd name="T77" fmla="*/ 102 h 128"/>
              <a:gd name="T78" fmla="*/ 56 w 114"/>
              <a:gd name="T79" fmla="*/ 104 h 128"/>
              <a:gd name="T80" fmla="*/ 64 w 114"/>
              <a:gd name="T81" fmla="*/ 104 h 128"/>
              <a:gd name="T82" fmla="*/ 64 w 114"/>
              <a:gd name="T83" fmla="*/ 104 h 128"/>
              <a:gd name="T84" fmla="*/ 74 w 114"/>
              <a:gd name="T85" fmla="*/ 104 h 128"/>
              <a:gd name="T86" fmla="*/ 82 w 114"/>
              <a:gd name="T87" fmla="*/ 100 h 128"/>
              <a:gd name="T88" fmla="*/ 90 w 114"/>
              <a:gd name="T89" fmla="*/ 96 h 128"/>
              <a:gd name="T90" fmla="*/ 96 w 114"/>
              <a:gd name="T91" fmla="*/ 90 h 128"/>
              <a:gd name="T92" fmla="*/ 114 w 114"/>
              <a:gd name="T93" fmla="*/ 106 h 128"/>
              <a:gd name="T94" fmla="*/ 114 w 114"/>
              <a:gd name="T95" fmla="*/ 106 h 128"/>
              <a:gd name="T96" fmla="*/ 104 w 114"/>
              <a:gd name="T97" fmla="*/ 114 h 128"/>
              <a:gd name="T98" fmla="*/ 92 w 114"/>
              <a:gd name="T99" fmla="*/ 122 h 128"/>
              <a:gd name="T100" fmla="*/ 80 w 114"/>
              <a:gd name="T101" fmla="*/ 128 h 128"/>
              <a:gd name="T102" fmla="*/ 64 w 114"/>
              <a:gd name="T103" fmla="*/ 128 h 128"/>
              <a:gd name="T104" fmla="*/ 64 w 114"/>
              <a:gd name="T105" fmla="*/ 128 h 128"/>
              <a:gd name="T106" fmla="*/ 50 w 114"/>
              <a:gd name="T107" fmla="*/ 128 h 128"/>
              <a:gd name="T108" fmla="*/ 38 w 114"/>
              <a:gd name="T109" fmla="*/ 124 h 128"/>
              <a:gd name="T110" fmla="*/ 28 w 114"/>
              <a:gd name="T111" fmla="*/ 118 h 128"/>
              <a:gd name="T112" fmla="*/ 18 w 114"/>
              <a:gd name="T113" fmla="*/ 110 h 128"/>
              <a:gd name="T114" fmla="*/ 10 w 114"/>
              <a:gd name="T115" fmla="*/ 100 h 128"/>
              <a:gd name="T116" fmla="*/ 4 w 114"/>
              <a:gd name="T117" fmla="*/ 90 h 128"/>
              <a:gd name="T118" fmla="*/ 2 w 114"/>
              <a:gd name="T119" fmla="*/ 78 h 128"/>
              <a:gd name="T120" fmla="*/ 0 w 114"/>
              <a:gd name="T121" fmla="*/ 66 h 128"/>
              <a:gd name="T122" fmla="*/ 0 w 114"/>
              <a:gd name="T12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4" h="128">
                <a:moveTo>
                  <a:pt x="0" y="66"/>
                </a:moveTo>
                <a:lnTo>
                  <a:pt x="0" y="64"/>
                </a:lnTo>
                <a:lnTo>
                  <a:pt x="0" y="64"/>
                </a:lnTo>
                <a:lnTo>
                  <a:pt x="2" y="52"/>
                </a:lnTo>
                <a:lnTo>
                  <a:pt x="4" y="40"/>
                </a:lnTo>
                <a:lnTo>
                  <a:pt x="10" y="30"/>
                </a:lnTo>
                <a:lnTo>
                  <a:pt x="18" y="20"/>
                </a:lnTo>
                <a:lnTo>
                  <a:pt x="28" y="12"/>
                </a:lnTo>
                <a:lnTo>
                  <a:pt x="38" y="6"/>
                </a:lnTo>
                <a:lnTo>
                  <a:pt x="50" y="2"/>
                </a:lnTo>
                <a:lnTo>
                  <a:pt x="64" y="0"/>
                </a:lnTo>
                <a:lnTo>
                  <a:pt x="64" y="0"/>
                </a:lnTo>
                <a:lnTo>
                  <a:pt x="80" y="2"/>
                </a:lnTo>
                <a:lnTo>
                  <a:pt x="92" y="6"/>
                </a:lnTo>
                <a:lnTo>
                  <a:pt x="104" y="14"/>
                </a:lnTo>
                <a:lnTo>
                  <a:pt x="112" y="22"/>
                </a:lnTo>
                <a:lnTo>
                  <a:pt x="96" y="40"/>
                </a:lnTo>
                <a:lnTo>
                  <a:pt x="96" y="40"/>
                </a:lnTo>
                <a:lnTo>
                  <a:pt x="88" y="34"/>
                </a:lnTo>
                <a:lnTo>
                  <a:pt x="82" y="30"/>
                </a:lnTo>
                <a:lnTo>
                  <a:pt x="74" y="26"/>
                </a:lnTo>
                <a:lnTo>
                  <a:pt x="64" y="26"/>
                </a:lnTo>
                <a:lnTo>
                  <a:pt x="64" y="26"/>
                </a:lnTo>
                <a:lnTo>
                  <a:pt x="56" y="26"/>
                </a:lnTo>
                <a:lnTo>
                  <a:pt x="50" y="28"/>
                </a:lnTo>
                <a:lnTo>
                  <a:pt x="44" y="32"/>
                </a:lnTo>
                <a:lnTo>
                  <a:pt x="38" y="36"/>
                </a:lnTo>
                <a:lnTo>
                  <a:pt x="34" y="42"/>
                </a:lnTo>
                <a:lnTo>
                  <a:pt x="30" y="50"/>
                </a:lnTo>
                <a:lnTo>
                  <a:pt x="28" y="56"/>
                </a:lnTo>
                <a:lnTo>
                  <a:pt x="28" y="64"/>
                </a:lnTo>
                <a:lnTo>
                  <a:pt x="28" y="64"/>
                </a:lnTo>
                <a:lnTo>
                  <a:pt x="28" y="64"/>
                </a:lnTo>
                <a:lnTo>
                  <a:pt x="28" y="72"/>
                </a:lnTo>
                <a:lnTo>
                  <a:pt x="30" y="80"/>
                </a:lnTo>
                <a:lnTo>
                  <a:pt x="34" y="86"/>
                </a:lnTo>
                <a:lnTo>
                  <a:pt x="38" y="92"/>
                </a:lnTo>
                <a:lnTo>
                  <a:pt x="44" y="98"/>
                </a:lnTo>
                <a:lnTo>
                  <a:pt x="50" y="102"/>
                </a:lnTo>
                <a:lnTo>
                  <a:pt x="56" y="104"/>
                </a:lnTo>
                <a:lnTo>
                  <a:pt x="64" y="104"/>
                </a:lnTo>
                <a:lnTo>
                  <a:pt x="64" y="104"/>
                </a:lnTo>
                <a:lnTo>
                  <a:pt x="74" y="104"/>
                </a:lnTo>
                <a:lnTo>
                  <a:pt x="82" y="100"/>
                </a:lnTo>
                <a:lnTo>
                  <a:pt x="90" y="96"/>
                </a:lnTo>
                <a:lnTo>
                  <a:pt x="96" y="90"/>
                </a:lnTo>
                <a:lnTo>
                  <a:pt x="114" y="106"/>
                </a:lnTo>
                <a:lnTo>
                  <a:pt x="114" y="106"/>
                </a:lnTo>
                <a:lnTo>
                  <a:pt x="104" y="114"/>
                </a:lnTo>
                <a:lnTo>
                  <a:pt x="92" y="122"/>
                </a:lnTo>
                <a:lnTo>
                  <a:pt x="80" y="128"/>
                </a:lnTo>
                <a:lnTo>
                  <a:pt x="64" y="128"/>
                </a:lnTo>
                <a:lnTo>
                  <a:pt x="64" y="128"/>
                </a:lnTo>
                <a:lnTo>
                  <a:pt x="50" y="128"/>
                </a:lnTo>
                <a:lnTo>
                  <a:pt x="38" y="124"/>
                </a:lnTo>
                <a:lnTo>
                  <a:pt x="28" y="118"/>
                </a:lnTo>
                <a:lnTo>
                  <a:pt x="18" y="110"/>
                </a:lnTo>
                <a:lnTo>
                  <a:pt x="10" y="100"/>
                </a:lnTo>
                <a:lnTo>
                  <a:pt x="4" y="90"/>
                </a:lnTo>
                <a:lnTo>
                  <a:pt x="2" y="78"/>
                </a:lnTo>
                <a:lnTo>
                  <a:pt x="0" y="66"/>
                </a:lnTo>
                <a:lnTo>
                  <a:pt x="0"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2" name="Freeform 219"/>
          <p:cNvSpPr>
            <a:spLocks/>
          </p:cNvSpPr>
          <p:nvPr userDrawn="1"/>
        </p:nvSpPr>
        <p:spPr bwMode="auto">
          <a:xfrm>
            <a:off x="4608697" y="1213459"/>
            <a:ext cx="147089" cy="166851"/>
          </a:xfrm>
          <a:custGeom>
            <a:avLst/>
            <a:gdLst>
              <a:gd name="T0" fmla="*/ 0 w 110"/>
              <a:gd name="T1" fmla="*/ 78 h 124"/>
              <a:gd name="T2" fmla="*/ 0 w 110"/>
              <a:gd name="T3" fmla="*/ 0 h 124"/>
              <a:gd name="T4" fmla="*/ 28 w 110"/>
              <a:gd name="T5" fmla="*/ 0 h 124"/>
              <a:gd name="T6" fmla="*/ 28 w 110"/>
              <a:gd name="T7" fmla="*/ 70 h 124"/>
              <a:gd name="T8" fmla="*/ 28 w 110"/>
              <a:gd name="T9" fmla="*/ 70 h 124"/>
              <a:gd name="T10" fmla="*/ 30 w 110"/>
              <a:gd name="T11" fmla="*/ 82 h 124"/>
              <a:gd name="T12" fmla="*/ 36 w 110"/>
              <a:gd name="T13" fmla="*/ 92 h 124"/>
              <a:gd name="T14" fmla="*/ 44 w 110"/>
              <a:gd name="T15" fmla="*/ 96 h 124"/>
              <a:gd name="T16" fmla="*/ 54 w 110"/>
              <a:gd name="T17" fmla="*/ 98 h 124"/>
              <a:gd name="T18" fmla="*/ 54 w 110"/>
              <a:gd name="T19" fmla="*/ 98 h 124"/>
              <a:gd name="T20" fmla="*/ 66 w 110"/>
              <a:gd name="T21" fmla="*/ 96 h 124"/>
              <a:gd name="T22" fmla="*/ 74 w 110"/>
              <a:gd name="T23" fmla="*/ 90 h 124"/>
              <a:gd name="T24" fmla="*/ 80 w 110"/>
              <a:gd name="T25" fmla="*/ 82 h 124"/>
              <a:gd name="T26" fmla="*/ 82 w 110"/>
              <a:gd name="T27" fmla="*/ 68 h 124"/>
              <a:gd name="T28" fmla="*/ 82 w 110"/>
              <a:gd name="T29" fmla="*/ 0 h 124"/>
              <a:gd name="T30" fmla="*/ 110 w 110"/>
              <a:gd name="T31" fmla="*/ 0 h 124"/>
              <a:gd name="T32" fmla="*/ 110 w 110"/>
              <a:gd name="T33" fmla="*/ 122 h 124"/>
              <a:gd name="T34" fmla="*/ 82 w 110"/>
              <a:gd name="T35" fmla="*/ 122 h 124"/>
              <a:gd name="T36" fmla="*/ 82 w 110"/>
              <a:gd name="T37" fmla="*/ 102 h 124"/>
              <a:gd name="T38" fmla="*/ 82 w 110"/>
              <a:gd name="T39" fmla="*/ 102 h 124"/>
              <a:gd name="T40" fmla="*/ 76 w 110"/>
              <a:gd name="T41" fmla="*/ 112 h 124"/>
              <a:gd name="T42" fmla="*/ 68 w 110"/>
              <a:gd name="T43" fmla="*/ 118 h 124"/>
              <a:gd name="T44" fmla="*/ 58 w 110"/>
              <a:gd name="T45" fmla="*/ 122 h 124"/>
              <a:gd name="T46" fmla="*/ 44 w 110"/>
              <a:gd name="T47" fmla="*/ 124 h 124"/>
              <a:gd name="T48" fmla="*/ 44 w 110"/>
              <a:gd name="T49" fmla="*/ 124 h 124"/>
              <a:gd name="T50" fmla="*/ 34 w 110"/>
              <a:gd name="T51" fmla="*/ 124 h 124"/>
              <a:gd name="T52" fmla="*/ 26 w 110"/>
              <a:gd name="T53" fmla="*/ 122 h 124"/>
              <a:gd name="T54" fmla="*/ 18 w 110"/>
              <a:gd name="T55" fmla="*/ 118 h 124"/>
              <a:gd name="T56" fmla="*/ 12 w 110"/>
              <a:gd name="T57" fmla="*/ 112 h 124"/>
              <a:gd name="T58" fmla="*/ 8 w 110"/>
              <a:gd name="T59" fmla="*/ 104 h 124"/>
              <a:gd name="T60" fmla="*/ 4 w 110"/>
              <a:gd name="T61" fmla="*/ 96 h 124"/>
              <a:gd name="T62" fmla="*/ 2 w 110"/>
              <a:gd name="T63" fmla="*/ 88 h 124"/>
              <a:gd name="T64" fmla="*/ 0 w 110"/>
              <a:gd name="T65" fmla="*/ 78 h 124"/>
              <a:gd name="T66" fmla="*/ 0 w 110"/>
              <a:gd name="T67" fmla="*/ 7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0" h="124">
                <a:moveTo>
                  <a:pt x="0" y="78"/>
                </a:moveTo>
                <a:lnTo>
                  <a:pt x="0" y="0"/>
                </a:lnTo>
                <a:lnTo>
                  <a:pt x="28" y="0"/>
                </a:lnTo>
                <a:lnTo>
                  <a:pt x="28" y="70"/>
                </a:lnTo>
                <a:lnTo>
                  <a:pt x="28" y="70"/>
                </a:lnTo>
                <a:lnTo>
                  <a:pt x="30" y="82"/>
                </a:lnTo>
                <a:lnTo>
                  <a:pt x="36" y="92"/>
                </a:lnTo>
                <a:lnTo>
                  <a:pt x="44" y="96"/>
                </a:lnTo>
                <a:lnTo>
                  <a:pt x="54" y="98"/>
                </a:lnTo>
                <a:lnTo>
                  <a:pt x="54" y="98"/>
                </a:lnTo>
                <a:lnTo>
                  <a:pt x="66" y="96"/>
                </a:lnTo>
                <a:lnTo>
                  <a:pt x="74" y="90"/>
                </a:lnTo>
                <a:lnTo>
                  <a:pt x="80" y="82"/>
                </a:lnTo>
                <a:lnTo>
                  <a:pt x="82" y="68"/>
                </a:lnTo>
                <a:lnTo>
                  <a:pt x="82" y="0"/>
                </a:lnTo>
                <a:lnTo>
                  <a:pt x="110" y="0"/>
                </a:lnTo>
                <a:lnTo>
                  <a:pt x="110" y="122"/>
                </a:lnTo>
                <a:lnTo>
                  <a:pt x="82" y="122"/>
                </a:lnTo>
                <a:lnTo>
                  <a:pt x="82" y="102"/>
                </a:lnTo>
                <a:lnTo>
                  <a:pt x="82" y="102"/>
                </a:lnTo>
                <a:lnTo>
                  <a:pt x="76" y="112"/>
                </a:lnTo>
                <a:lnTo>
                  <a:pt x="68" y="118"/>
                </a:lnTo>
                <a:lnTo>
                  <a:pt x="58" y="122"/>
                </a:lnTo>
                <a:lnTo>
                  <a:pt x="44" y="124"/>
                </a:lnTo>
                <a:lnTo>
                  <a:pt x="44" y="124"/>
                </a:lnTo>
                <a:lnTo>
                  <a:pt x="34" y="124"/>
                </a:lnTo>
                <a:lnTo>
                  <a:pt x="26" y="122"/>
                </a:lnTo>
                <a:lnTo>
                  <a:pt x="18" y="118"/>
                </a:lnTo>
                <a:lnTo>
                  <a:pt x="12" y="112"/>
                </a:lnTo>
                <a:lnTo>
                  <a:pt x="8" y="104"/>
                </a:lnTo>
                <a:lnTo>
                  <a:pt x="4" y="96"/>
                </a:lnTo>
                <a:lnTo>
                  <a:pt x="2" y="88"/>
                </a:lnTo>
                <a:lnTo>
                  <a:pt x="0" y="78"/>
                </a:lnTo>
                <a:lnTo>
                  <a:pt x="0" y="7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3" name="Freeform 220"/>
          <p:cNvSpPr>
            <a:spLocks/>
          </p:cNvSpPr>
          <p:nvPr userDrawn="1"/>
        </p:nvSpPr>
        <p:spPr bwMode="auto">
          <a:xfrm>
            <a:off x="4809273" y="1210768"/>
            <a:ext cx="128368" cy="169542"/>
          </a:xfrm>
          <a:custGeom>
            <a:avLst/>
            <a:gdLst>
              <a:gd name="T0" fmla="*/ 12 w 96"/>
              <a:gd name="T1" fmla="*/ 88 h 126"/>
              <a:gd name="T2" fmla="*/ 22 w 96"/>
              <a:gd name="T3" fmla="*/ 96 h 126"/>
              <a:gd name="T4" fmla="*/ 42 w 96"/>
              <a:gd name="T5" fmla="*/ 104 h 126"/>
              <a:gd name="T6" fmla="*/ 52 w 96"/>
              <a:gd name="T7" fmla="*/ 104 h 126"/>
              <a:gd name="T8" fmla="*/ 66 w 96"/>
              <a:gd name="T9" fmla="*/ 100 h 126"/>
              <a:gd name="T10" fmla="*/ 70 w 96"/>
              <a:gd name="T11" fmla="*/ 90 h 126"/>
              <a:gd name="T12" fmla="*/ 70 w 96"/>
              <a:gd name="T13" fmla="*/ 90 h 126"/>
              <a:gd name="T14" fmla="*/ 68 w 96"/>
              <a:gd name="T15" fmla="*/ 84 h 126"/>
              <a:gd name="T16" fmla="*/ 44 w 96"/>
              <a:gd name="T17" fmla="*/ 74 h 126"/>
              <a:gd name="T18" fmla="*/ 30 w 96"/>
              <a:gd name="T19" fmla="*/ 68 h 126"/>
              <a:gd name="T20" fmla="*/ 12 w 96"/>
              <a:gd name="T21" fmla="*/ 58 h 126"/>
              <a:gd name="T22" fmla="*/ 6 w 96"/>
              <a:gd name="T23" fmla="*/ 46 h 126"/>
              <a:gd name="T24" fmla="*/ 6 w 96"/>
              <a:gd name="T25" fmla="*/ 36 h 126"/>
              <a:gd name="T26" fmla="*/ 6 w 96"/>
              <a:gd name="T27" fmla="*/ 28 h 126"/>
              <a:gd name="T28" fmla="*/ 12 w 96"/>
              <a:gd name="T29" fmla="*/ 14 h 126"/>
              <a:gd name="T30" fmla="*/ 24 w 96"/>
              <a:gd name="T31" fmla="*/ 6 h 126"/>
              <a:gd name="T32" fmla="*/ 40 w 96"/>
              <a:gd name="T33" fmla="*/ 0 h 126"/>
              <a:gd name="T34" fmla="*/ 48 w 96"/>
              <a:gd name="T35" fmla="*/ 0 h 126"/>
              <a:gd name="T36" fmla="*/ 72 w 96"/>
              <a:gd name="T37" fmla="*/ 4 h 126"/>
              <a:gd name="T38" fmla="*/ 94 w 96"/>
              <a:gd name="T39" fmla="*/ 14 h 126"/>
              <a:gd name="T40" fmla="*/ 82 w 96"/>
              <a:gd name="T41" fmla="*/ 34 h 126"/>
              <a:gd name="T42" fmla="*/ 56 w 96"/>
              <a:gd name="T43" fmla="*/ 22 h 126"/>
              <a:gd name="T44" fmla="*/ 48 w 96"/>
              <a:gd name="T45" fmla="*/ 22 h 126"/>
              <a:gd name="T46" fmla="*/ 36 w 96"/>
              <a:gd name="T47" fmla="*/ 26 h 126"/>
              <a:gd name="T48" fmla="*/ 32 w 96"/>
              <a:gd name="T49" fmla="*/ 34 h 126"/>
              <a:gd name="T50" fmla="*/ 32 w 96"/>
              <a:gd name="T51" fmla="*/ 34 h 126"/>
              <a:gd name="T52" fmla="*/ 34 w 96"/>
              <a:gd name="T53" fmla="*/ 40 h 126"/>
              <a:gd name="T54" fmla="*/ 58 w 96"/>
              <a:gd name="T55" fmla="*/ 52 h 126"/>
              <a:gd name="T56" fmla="*/ 72 w 96"/>
              <a:gd name="T57" fmla="*/ 56 h 126"/>
              <a:gd name="T58" fmla="*/ 90 w 96"/>
              <a:gd name="T59" fmla="*/ 68 h 126"/>
              <a:gd name="T60" fmla="*/ 96 w 96"/>
              <a:gd name="T61" fmla="*/ 80 h 126"/>
              <a:gd name="T62" fmla="*/ 96 w 96"/>
              <a:gd name="T63" fmla="*/ 88 h 126"/>
              <a:gd name="T64" fmla="*/ 96 w 96"/>
              <a:gd name="T65" fmla="*/ 96 h 126"/>
              <a:gd name="T66" fmla="*/ 90 w 96"/>
              <a:gd name="T67" fmla="*/ 112 h 126"/>
              <a:gd name="T68" fmla="*/ 76 w 96"/>
              <a:gd name="T69" fmla="*/ 120 h 126"/>
              <a:gd name="T70" fmla="*/ 60 w 96"/>
              <a:gd name="T71" fmla="*/ 126 h 126"/>
              <a:gd name="T72" fmla="*/ 52 w 96"/>
              <a:gd name="T73" fmla="*/ 126 h 126"/>
              <a:gd name="T74" fmla="*/ 24 w 96"/>
              <a:gd name="T75" fmla="*/ 122 h 126"/>
              <a:gd name="T76" fmla="*/ 0 w 96"/>
              <a:gd name="T77" fmla="*/ 108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6" h="126">
                <a:moveTo>
                  <a:pt x="0" y="108"/>
                </a:moveTo>
                <a:lnTo>
                  <a:pt x="12" y="88"/>
                </a:lnTo>
                <a:lnTo>
                  <a:pt x="12" y="88"/>
                </a:lnTo>
                <a:lnTo>
                  <a:pt x="22" y="96"/>
                </a:lnTo>
                <a:lnTo>
                  <a:pt x="32" y="100"/>
                </a:lnTo>
                <a:lnTo>
                  <a:pt x="42" y="104"/>
                </a:lnTo>
                <a:lnTo>
                  <a:pt x="52" y="104"/>
                </a:lnTo>
                <a:lnTo>
                  <a:pt x="52" y="104"/>
                </a:lnTo>
                <a:lnTo>
                  <a:pt x="60" y="104"/>
                </a:lnTo>
                <a:lnTo>
                  <a:pt x="66" y="100"/>
                </a:lnTo>
                <a:lnTo>
                  <a:pt x="70" y="96"/>
                </a:lnTo>
                <a:lnTo>
                  <a:pt x="70" y="90"/>
                </a:lnTo>
                <a:lnTo>
                  <a:pt x="70" y="90"/>
                </a:lnTo>
                <a:lnTo>
                  <a:pt x="70" y="90"/>
                </a:lnTo>
                <a:lnTo>
                  <a:pt x="70" y="86"/>
                </a:lnTo>
                <a:lnTo>
                  <a:pt x="68" y="84"/>
                </a:lnTo>
                <a:lnTo>
                  <a:pt x="62" y="80"/>
                </a:lnTo>
                <a:lnTo>
                  <a:pt x="44" y="74"/>
                </a:lnTo>
                <a:lnTo>
                  <a:pt x="44" y="74"/>
                </a:lnTo>
                <a:lnTo>
                  <a:pt x="30" y="68"/>
                </a:lnTo>
                <a:lnTo>
                  <a:pt x="18" y="62"/>
                </a:lnTo>
                <a:lnTo>
                  <a:pt x="12" y="58"/>
                </a:lnTo>
                <a:lnTo>
                  <a:pt x="8" y="52"/>
                </a:lnTo>
                <a:lnTo>
                  <a:pt x="6" y="46"/>
                </a:lnTo>
                <a:lnTo>
                  <a:pt x="6" y="38"/>
                </a:lnTo>
                <a:lnTo>
                  <a:pt x="6" y="36"/>
                </a:lnTo>
                <a:lnTo>
                  <a:pt x="6" y="36"/>
                </a:lnTo>
                <a:lnTo>
                  <a:pt x="6" y="28"/>
                </a:lnTo>
                <a:lnTo>
                  <a:pt x="8" y="22"/>
                </a:lnTo>
                <a:lnTo>
                  <a:pt x="12" y="14"/>
                </a:lnTo>
                <a:lnTo>
                  <a:pt x="18" y="10"/>
                </a:lnTo>
                <a:lnTo>
                  <a:pt x="24" y="6"/>
                </a:lnTo>
                <a:lnTo>
                  <a:pt x="32" y="2"/>
                </a:lnTo>
                <a:lnTo>
                  <a:pt x="40" y="0"/>
                </a:lnTo>
                <a:lnTo>
                  <a:pt x="48" y="0"/>
                </a:lnTo>
                <a:lnTo>
                  <a:pt x="48" y="0"/>
                </a:lnTo>
                <a:lnTo>
                  <a:pt x="60" y="0"/>
                </a:lnTo>
                <a:lnTo>
                  <a:pt x="72" y="4"/>
                </a:lnTo>
                <a:lnTo>
                  <a:pt x="84" y="8"/>
                </a:lnTo>
                <a:lnTo>
                  <a:pt x="94" y="14"/>
                </a:lnTo>
                <a:lnTo>
                  <a:pt x="82" y="34"/>
                </a:lnTo>
                <a:lnTo>
                  <a:pt x="82" y="34"/>
                </a:lnTo>
                <a:lnTo>
                  <a:pt x="64" y="24"/>
                </a:lnTo>
                <a:lnTo>
                  <a:pt x="56" y="22"/>
                </a:lnTo>
                <a:lnTo>
                  <a:pt x="48" y="22"/>
                </a:lnTo>
                <a:lnTo>
                  <a:pt x="48" y="22"/>
                </a:lnTo>
                <a:lnTo>
                  <a:pt x="40" y="22"/>
                </a:lnTo>
                <a:lnTo>
                  <a:pt x="36" y="26"/>
                </a:lnTo>
                <a:lnTo>
                  <a:pt x="32" y="28"/>
                </a:lnTo>
                <a:lnTo>
                  <a:pt x="32" y="34"/>
                </a:lnTo>
                <a:lnTo>
                  <a:pt x="32" y="34"/>
                </a:lnTo>
                <a:lnTo>
                  <a:pt x="32" y="34"/>
                </a:lnTo>
                <a:lnTo>
                  <a:pt x="32" y="38"/>
                </a:lnTo>
                <a:lnTo>
                  <a:pt x="34" y="40"/>
                </a:lnTo>
                <a:lnTo>
                  <a:pt x="40" y="44"/>
                </a:lnTo>
                <a:lnTo>
                  <a:pt x="58" y="52"/>
                </a:lnTo>
                <a:lnTo>
                  <a:pt x="58" y="52"/>
                </a:lnTo>
                <a:lnTo>
                  <a:pt x="72" y="56"/>
                </a:lnTo>
                <a:lnTo>
                  <a:pt x="84" y="64"/>
                </a:lnTo>
                <a:lnTo>
                  <a:pt x="90" y="68"/>
                </a:lnTo>
                <a:lnTo>
                  <a:pt x="94" y="74"/>
                </a:lnTo>
                <a:lnTo>
                  <a:pt x="96" y="80"/>
                </a:lnTo>
                <a:lnTo>
                  <a:pt x="96" y="88"/>
                </a:lnTo>
                <a:lnTo>
                  <a:pt x="96" y="88"/>
                </a:lnTo>
                <a:lnTo>
                  <a:pt x="96" y="88"/>
                </a:lnTo>
                <a:lnTo>
                  <a:pt x="96" y="96"/>
                </a:lnTo>
                <a:lnTo>
                  <a:pt x="94" y="104"/>
                </a:lnTo>
                <a:lnTo>
                  <a:pt x="90" y="112"/>
                </a:lnTo>
                <a:lnTo>
                  <a:pt x="84" y="116"/>
                </a:lnTo>
                <a:lnTo>
                  <a:pt x="76" y="120"/>
                </a:lnTo>
                <a:lnTo>
                  <a:pt x="70" y="124"/>
                </a:lnTo>
                <a:lnTo>
                  <a:pt x="60" y="126"/>
                </a:lnTo>
                <a:lnTo>
                  <a:pt x="52" y="126"/>
                </a:lnTo>
                <a:lnTo>
                  <a:pt x="52" y="126"/>
                </a:lnTo>
                <a:lnTo>
                  <a:pt x="38" y="126"/>
                </a:lnTo>
                <a:lnTo>
                  <a:pt x="24" y="122"/>
                </a:lnTo>
                <a:lnTo>
                  <a:pt x="12" y="116"/>
                </a:lnTo>
                <a:lnTo>
                  <a:pt x="0" y="108"/>
                </a:lnTo>
                <a:lnTo>
                  <a:pt x="0" y="10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4" name="Freeform 221"/>
          <p:cNvSpPr>
            <a:spLocks noEditPoints="1"/>
          </p:cNvSpPr>
          <p:nvPr userDrawn="1"/>
        </p:nvSpPr>
        <p:spPr bwMode="auto">
          <a:xfrm>
            <a:off x="4983105" y="1208077"/>
            <a:ext cx="157786" cy="172233"/>
          </a:xfrm>
          <a:custGeom>
            <a:avLst/>
            <a:gdLst>
              <a:gd name="T0" fmla="*/ 0 w 118"/>
              <a:gd name="T1" fmla="*/ 64 h 128"/>
              <a:gd name="T2" fmla="*/ 2 w 118"/>
              <a:gd name="T3" fmla="*/ 52 h 128"/>
              <a:gd name="T4" fmla="*/ 10 w 118"/>
              <a:gd name="T5" fmla="*/ 30 h 128"/>
              <a:gd name="T6" fmla="*/ 26 w 118"/>
              <a:gd name="T7" fmla="*/ 12 h 128"/>
              <a:gd name="T8" fmla="*/ 48 w 118"/>
              <a:gd name="T9" fmla="*/ 2 h 128"/>
              <a:gd name="T10" fmla="*/ 60 w 118"/>
              <a:gd name="T11" fmla="*/ 0 h 128"/>
              <a:gd name="T12" fmla="*/ 86 w 118"/>
              <a:gd name="T13" fmla="*/ 6 h 128"/>
              <a:gd name="T14" fmla="*/ 104 w 118"/>
              <a:gd name="T15" fmla="*/ 20 h 128"/>
              <a:gd name="T16" fmla="*/ 114 w 118"/>
              <a:gd name="T17" fmla="*/ 42 h 128"/>
              <a:gd name="T18" fmla="*/ 118 w 118"/>
              <a:gd name="T19" fmla="*/ 66 h 128"/>
              <a:gd name="T20" fmla="*/ 118 w 118"/>
              <a:gd name="T21" fmla="*/ 74 h 128"/>
              <a:gd name="T22" fmla="*/ 28 w 118"/>
              <a:gd name="T23" fmla="*/ 74 h 128"/>
              <a:gd name="T24" fmla="*/ 36 w 118"/>
              <a:gd name="T25" fmla="*/ 94 h 128"/>
              <a:gd name="T26" fmla="*/ 50 w 118"/>
              <a:gd name="T27" fmla="*/ 104 h 128"/>
              <a:gd name="T28" fmla="*/ 64 w 118"/>
              <a:gd name="T29" fmla="*/ 106 h 128"/>
              <a:gd name="T30" fmla="*/ 82 w 118"/>
              <a:gd name="T31" fmla="*/ 102 h 128"/>
              <a:gd name="T32" fmla="*/ 96 w 118"/>
              <a:gd name="T33" fmla="*/ 92 h 128"/>
              <a:gd name="T34" fmla="*/ 114 w 118"/>
              <a:gd name="T35" fmla="*/ 106 h 128"/>
              <a:gd name="T36" fmla="*/ 92 w 118"/>
              <a:gd name="T37" fmla="*/ 122 h 128"/>
              <a:gd name="T38" fmla="*/ 62 w 118"/>
              <a:gd name="T39" fmla="*/ 128 h 128"/>
              <a:gd name="T40" fmla="*/ 50 w 118"/>
              <a:gd name="T41" fmla="*/ 128 h 128"/>
              <a:gd name="T42" fmla="*/ 28 w 118"/>
              <a:gd name="T43" fmla="*/ 118 h 128"/>
              <a:gd name="T44" fmla="*/ 10 w 118"/>
              <a:gd name="T45" fmla="*/ 102 h 128"/>
              <a:gd name="T46" fmla="*/ 2 w 118"/>
              <a:gd name="T47" fmla="*/ 78 h 128"/>
              <a:gd name="T48" fmla="*/ 0 w 118"/>
              <a:gd name="T49" fmla="*/ 66 h 128"/>
              <a:gd name="T50" fmla="*/ 90 w 118"/>
              <a:gd name="T51" fmla="*/ 56 h 128"/>
              <a:gd name="T52" fmla="*/ 82 w 118"/>
              <a:gd name="T53" fmla="*/ 34 h 128"/>
              <a:gd name="T54" fmla="*/ 72 w 118"/>
              <a:gd name="T55" fmla="*/ 26 h 128"/>
              <a:gd name="T56" fmla="*/ 60 w 118"/>
              <a:gd name="T57" fmla="*/ 24 h 128"/>
              <a:gd name="T58" fmla="*/ 54 w 118"/>
              <a:gd name="T59" fmla="*/ 24 h 128"/>
              <a:gd name="T60" fmla="*/ 38 w 118"/>
              <a:gd name="T61" fmla="*/ 32 h 128"/>
              <a:gd name="T62" fmla="*/ 28 w 118"/>
              <a:gd name="T63" fmla="*/ 5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8" h="128">
                <a:moveTo>
                  <a:pt x="0" y="66"/>
                </a:moveTo>
                <a:lnTo>
                  <a:pt x="0" y="64"/>
                </a:lnTo>
                <a:lnTo>
                  <a:pt x="0" y="64"/>
                </a:lnTo>
                <a:lnTo>
                  <a:pt x="2" y="52"/>
                </a:lnTo>
                <a:lnTo>
                  <a:pt x="4" y="40"/>
                </a:lnTo>
                <a:lnTo>
                  <a:pt x="10" y="30"/>
                </a:lnTo>
                <a:lnTo>
                  <a:pt x="16" y="20"/>
                </a:lnTo>
                <a:lnTo>
                  <a:pt x="26" y="12"/>
                </a:lnTo>
                <a:lnTo>
                  <a:pt x="36" y="6"/>
                </a:lnTo>
                <a:lnTo>
                  <a:pt x="48" y="2"/>
                </a:lnTo>
                <a:lnTo>
                  <a:pt x="60" y="0"/>
                </a:lnTo>
                <a:lnTo>
                  <a:pt x="60" y="0"/>
                </a:lnTo>
                <a:lnTo>
                  <a:pt x="74" y="2"/>
                </a:lnTo>
                <a:lnTo>
                  <a:pt x="86" y="6"/>
                </a:lnTo>
                <a:lnTo>
                  <a:pt x="96" y="12"/>
                </a:lnTo>
                <a:lnTo>
                  <a:pt x="104" y="20"/>
                </a:lnTo>
                <a:lnTo>
                  <a:pt x="110" y="30"/>
                </a:lnTo>
                <a:lnTo>
                  <a:pt x="114" y="42"/>
                </a:lnTo>
                <a:lnTo>
                  <a:pt x="118" y="54"/>
                </a:lnTo>
                <a:lnTo>
                  <a:pt x="118" y="66"/>
                </a:lnTo>
                <a:lnTo>
                  <a:pt x="118" y="66"/>
                </a:lnTo>
                <a:lnTo>
                  <a:pt x="118" y="74"/>
                </a:lnTo>
                <a:lnTo>
                  <a:pt x="28" y="74"/>
                </a:lnTo>
                <a:lnTo>
                  <a:pt x="28" y="74"/>
                </a:lnTo>
                <a:lnTo>
                  <a:pt x="32" y="88"/>
                </a:lnTo>
                <a:lnTo>
                  <a:pt x="36" y="94"/>
                </a:lnTo>
                <a:lnTo>
                  <a:pt x="40" y="98"/>
                </a:lnTo>
                <a:lnTo>
                  <a:pt x="50" y="104"/>
                </a:lnTo>
                <a:lnTo>
                  <a:pt x="64" y="106"/>
                </a:lnTo>
                <a:lnTo>
                  <a:pt x="64" y="106"/>
                </a:lnTo>
                <a:lnTo>
                  <a:pt x="74" y="104"/>
                </a:lnTo>
                <a:lnTo>
                  <a:pt x="82" y="102"/>
                </a:lnTo>
                <a:lnTo>
                  <a:pt x="90" y="98"/>
                </a:lnTo>
                <a:lnTo>
                  <a:pt x="96" y="92"/>
                </a:lnTo>
                <a:lnTo>
                  <a:pt x="114" y="106"/>
                </a:lnTo>
                <a:lnTo>
                  <a:pt x="114" y="106"/>
                </a:lnTo>
                <a:lnTo>
                  <a:pt x="104" y="116"/>
                </a:lnTo>
                <a:lnTo>
                  <a:pt x="92" y="122"/>
                </a:lnTo>
                <a:lnTo>
                  <a:pt x="78" y="128"/>
                </a:lnTo>
                <a:lnTo>
                  <a:pt x="62" y="128"/>
                </a:lnTo>
                <a:lnTo>
                  <a:pt x="62" y="128"/>
                </a:lnTo>
                <a:lnTo>
                  <a:pt x="50" y="128"/>
                </a:lnTo>
                <a:lnTo>
                  <a:pt x="38" y="124"/>
                </a:lnTo>
                <a:lnTo>
                  <a:pt x="28" y="118"/>
                </a:lnTo>
                <a:lnTo>
                  <a:pt x="18" y="112"/>
                </a:lnTo>
                <a:lnTo>
                  <a:pt x="10" y="102"/>
                </a:lnTo>
                <a:lnTo>
                  <a:pt x="4" y="92"/>
                </a:lnTo>
                <a:lnTo>
                  <a:pt x="2" y="78"/>
                </a:lnTo>
                <a:lnTo>
                  <a:pt x="0" y="66"/>
                </a:lnTo>
                <a:lnTo>
                  <a:pt x="0" y="66"/>
                </a:lnTo>
                <a:close/>
                <a:moveTo>
                  <a:pt x="90" y="56"/>
                </a:moveTo>
                <a:lnTo>
                  <a:pt x="90" y="56"/>
                </a:lnTo>
                <a:lnTo>
                  <a:pt x="88" y="44"/>
                </a:lnTo>
                <a:lnTo>
                  <a:pt x="82" y="34"/>
                </a:lnTo>
                <a:lnTo>
                  <a:pt x="78" y="30"/>
                </a:lnTo>
                <a:lnTo>
                  <a:pt x="72" y="26"/>
                </a:lnTo>
                <a:lnTo>
                  <a:pt x="66" y="24"/>
                </a:lnTo>
                <a:lnTo>
                  <a:pt x="60" y="24"/>
                </a:lnTo>
                <a:lnTo>
                  <a:pt x="60" y="24"/>
                </a:lnTo>
                <a:lnTo>
                  <a:pt x="54" y="24"/>
                </a:lnTo>
                <a:lnTo>
                  <a:pt x="48" y="26"/>
                </a:lnTo>
                <a:lnTo>
                  <a:pt x="38" y="32"/>
                </a:lnTo>
                <a:lnTo>
                  <a:pt x="32" y="44"/>
                </a:lnTo>
                <a:lnTo>
                  <a:pt x="28" y="56"/>
                </a:lnTo>
                <a:lnTo>
                  <a:pt x="90" y="5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5" name="Freeform 222"/>
          <p:cNvSpPr>
            <a:spLocks noEditPoints="1"/>
          </p:cNvSpPr>
          <p:nvPr userDrawn="1"/>
        </p:nvSpPr>
        <p:spPr bwMode="auto">
          <a:xfrm>
            <a:off x="5189029" y="1148872"/>
            <a:ext cx="168484" cy="231438"/>
          </a:xfrm>
          <a:custGeom>
            <a:avLst/>
            <a:gdLst>
              <a:gd name="T0" fmla="*/ 0 w 126"/>
              <a:gd name="T1" fmla="*/ 108 h 172"/>
              <a:gd name="T2" fmla="*/ 0 w 126"/>
              <a:gd name="T3" fmla="*/ 94 h 172"/>
              <a:gd name="T4" fmla="*/ 10 w 126"/>
              <a:gd name="T5" fmla="*/ 70 h 172"/>
              <a:gd name="T6" fmla="*/ 26 w 126"/>
              <a:gd name="T7" fmla="*/ 54 h 172"/>
              <a:gd name="T8" fmla="*/ 46 w 126"/>
              <a:gd name="T9" fmla="*/ 46 h 172"/>
              <a:gd name="T10" fmla="*/ 56 w 126"/>
              <a:gd name="T11" fmla="*/ 44 h 172"/>
              <a:gd name="T12" fmla="*/ 82 w 126"/>
              <a:gd name="T13" fmla="*/ 52 h 172"/>
              <a:gd name="T14" fmla="*/ 98 w 126"/>
              <a:gd name="T15" fmla="*/ 66 h 172"/>
              <a:gd name="T16" fmla="*/ 126 w 126"/>
              <a:gd name="T17" fmla="*/ 0 h 172"/>
              <a:gd name="T18" fmla="*/ 98 w 126"/>
              <a:gd name="T19" fmla="*/ 170 h 172"/>
              <a:gd name="T20" fmla="*/ 98 w 126"/>
              <a:gd name="T21" fmla="*/ 150 h 172"/>
              <a:gd name="T22" fmla="*/ 82 w 126"/>
              <a:gd name="T23" fmla="*/ 166 h 172"/>
              <a:gd name="T24" fmla="*/ 56 w 126"/>
              <a:gd name="T25" fmla="*/ 172 h 172"/>
              <a:gd name="T26" fmla="*/ 46 w 126"/>
              <a:gd name="T27" fmla="*/ 172 h 172"/>
              <a:gd name="T28" fmla="*/ 26 w 126"/>
              <a:gd name="T29" fmla="*/ 164 h 172"/>
              <a:gd name="T30" fmla="*/ 10 w 126"/>
              <a:gd name="T31" fmla="*/ 146 h 172"/>
              <a:gd name="T32" fmla="*/ 0 w 126"/>
              <a:gd name="T33" fmla="*/ 124 h 172"/>
              <a:gd name="T34" fmla="*/ 0 w 126"/>
              <a:gd name="T35" fmla="*/ 108 h 172"/>
              <a:gd name="T36" fmla="*/ 98 w 126"/>
              <a:gd name="T37" fmla="*/ 108 h 172"/>
              <a:gd name="T38" fmla="*/ 98 w 126"/>
              <a:gd name="T39" fmla="*/ 100 h 172"/>
              <a:gd name="T40" fmla="*/ 92 w 126"/>
              <a:gd name="T41" fmla="*/ 86 h 172"/>
              <a:gd name="T42" fmla="*/ 82 w 126"/>
              <a:gd name="T43" fmla="*/ 76 h 172"/>
              <a:gd name="T44" fmla="*/ 70 w 126"/>
              <a:gd name="T45" fmla="*/ 70 h 172"/>
              <a:gd name="T46" fmla="*/ 62 w 126"/>
              <a:gd name="T47" fmla="*/ 70 h 172"/>
              <a:gd name="T48" fmla="*/ 50 w 126"/>
              <a:gd name="T49" fmla="*/ 72 h 172"/>
              <a:gd name="T50" fmla="*/ 38 w 126"/>
              <a:gd name="T51" fmla="*/ 80 h 172"/>
              <a:gd name="T52" fmla="*/ 30 w 126"/>
              <a:gd name="T53" fmla="*/ 92 h 172"/>
              <a:gd name="T54" fmla="*/ 28 w 126"/>
              <a:gd name="T55" fmla="*/ 108 h 172"/>
              <a:gd name="T56" fmla="*/ 28 w 126"/>
              <a:gd name="T57" fmla="*/ 108 h 172"/>
              <a:gd name="T58" fmla="*/ 30 w 126"/>
              <a:gd name="T59" fmla="*/ 126 h 172"/>
              <a:gd name="T60" fmla="*/ 38 w 126"/>
              <a:gd name="T61" fmla="*/ 138 h 172"/>
              <a:gd name="T62" fmla="*/ 50 w 126"/>
              <a:gd name="T63" fmla="*/ 146 h 172"/>
              <a:gd name="T64" fmla="*/ 62 w 126"/>
              <a:gd name="T65" fmla="*/ 148 h 172"/>
              <a:gd name="T66" fmla="*/ 70 w 126"/>
              <a:gd name="T67" fmla="*/ 148 h 172"/>
              <a:gd name="T68" fmla="*/ 82 w 126"/>
              <a:gd name="T69" fmla="*/ 142 h 172"/>
              <a:gd name="T70" fmla="*/ 92 w 126"/>
              <a:gd name="T71" fmla="*/ 132 h 172"/>
              <a:gd name="T72" fmla="*/ 98 w 126"/>
              <a:gd name="T73" fmla="*/ 118 h 172"/>
              <a:gd name="T74" fmla="*/ 98 w 126"/>
              <a:gd name="T75" fmla="*/ 108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6" h="172">
                <a:moveTo>
                  <a:pt x="0" y="108"/>
                </a:moveTo>
                <a:lnTo>
                  <a:pt x="0" y="108"/>
                </a:lnTo>
                <a:lnTo>
                  <a:pt x="0" y="108"/>
                </a:lnTo>
                <a:lnTo>
                  <a:pt x="0" y="94"/>
                </a:lnTo>
                <a:lnTo>
                  <a:pt x="4" y="82"/>
                </a:lnTo>
                <a:lnTo>
                  <a:pt x="10" y="70"/>
                </a:lnTo>
                <a:lnTo>
                  <a:pt x="16" y="62"/>
                </a:lnTo>
                <a:lnTo>
                  <a:pt x="26" y="54"/>
                </a:lnTo>
                <a:lnTo>
                  <a:pt x="36" y="50"/>
                </a:lnTo>
                <a:lnTo>
                  <a:pt x="46" y="46"/>
                </a:lnTo>
                <a:lnTo>
                  <a:pt x="56" y="44"/>
                </a:lnTo>
                <a:lnTo>
                  <a:pt x="56" y="44"/>
                </a:lnTo>
                <a:lnTo>
                  <a:pt x="70" y="46"/>
                </a:lnTo>
                <a:lnTo>
                  <a:pt x="82" y="52"/>
                </a:lnTo>
                <a:lnTo>
                  <a:pt x="90" y="58"/>
                </a:lnTo>
                <a:lnTo>
                  <a:pt x="98" y="66"/>
                </a:lnTo>
                <a:lnTo>
                  <a:pt x="98" y="0"/>
                </a:lnTo>
                <a:lnTo>
                  <a:pt x="126" y="0"/>
                </a:lnTo>
                <a:lnTo>
                  <a:pt x="126" y="170"/>
                </a:lnTo>
                <a:lnTo>
                  <a:pt x="98" y="170"/>
                </a:lnTo>
                <a:lnTo>
                  <a:pt x="98" y="150"/>
                </a:lnTo>
                <a:lnTo>
                  <a:pt x="98" y="150"/>
                </a:lnTo>
                <a:lnTo>
                  <a:pt x="90" y="158"/>
                </a:lnTo>
                <a:lnTo>
                  <a:pt x="82" y="166"/>
                </a:lnTo>
                <a:lnTo>
                  <a:pt x="70" y="170"/>
                </a:lnTo>
                <a:lnTo>
                  <a:pt x="56" y="172"/>
                </a:lnTo>
                <a:lnTo>
                  <a:pt x="56" y="172"/>
                </a:lnTo>
                <a:lnTo>
                  <a:pt x="46" y="172"/>
                </a:lnTo>
                <a:lnTo>
                  <a:pt x="36" y="168"/>
                </a:lnTo>
                <a:lnTo>
                  <a:pt x="26" y="164"/>
                </a:lnTo>
                <a:lnTo>
                  <a:pt x="18" y="156"/>
                </a:lnTo>
                <a:lnTo>
                  <a:pt x="10" y="146"/>
                </a:lnTo>
                <a:lnTo>
                  <a:pt x="4" y="136"/>
                </a:lnTo>
                <a:lnTo>
                  <a:pt x="0" y="124"/>
                </a:lnTo>
                <a:lnTo>
                  <a:pt x="0" y="108"/>
                </a:lnTo>
                <a:lnTo>
                  <a:pt x="0" y="108"/>
                </a:lnTo>
                <a:close/>
                <a:moveTo>
                  <a:pt x="98" y="108"/>
                </a:moveTo>
                <a:lnTo>
                  <a:pt x="98" y="108"/>
                </a:lnTo>
                <a:lnTo>
                  <a:pt x="98" y="108"/>
                </a:lnTo>
                <a:lnTo>
                  <a:pt x="98" y="100"/>
                </a:lnTo>
                <a:lnTo>
                  <a:pt x="96" y="92"/>
                </a:lnTo>
                <a:lnTo>
                  <a:pt x="92" y="86"/>
                </a:lnTo>
                <a:lnTo>
                  <a:pt x="88" y="80"/>
                </a:lnTo>
                <a:lnTo>
                  <a:pt x="82" y="76"/>
                </a:lnTo>
                <a:lnTo>
                  <a:pt x="76" y="72"/>
                </a:lnTo>
                <a:lnTo>
                  <a:pt x="70" y="70"/>
                </a:lnTo>
                <a:lnTo>
                  <a:pt x="62" y="70"/>
                </a:lnTo>
                <a:lnTo>
                  <a:pt x="62" y="70"/>
                </a:lnTo>
                <a:lnTo>
                  <a:pt x="56" y="70"/>
                </a:lnTo>
                <a:lnTo>
                  <a:pt x="50" y="72"/>
                </a:lnTo>
                <a:lnTo>
                  <a:pt x="44" y="76"/>
                </a:lnTo>
                <a:lnTo>
                  <a:pt x="38" y="80"/>
                </a:lnTo>
                <a:lnTo>
                  <a:pt x="34" y="86"/>
                </a:lnTo>
                <a:lnTo>
                  <a:pt x="30" y="92"/>
                </a:lnTo>
                <a:lnTo>
                  <a:pt x="28" y="100"/>
                </a:lnTo>
                <a:lnTo>
                  <a:pt x="28" y="108"/>
                </a:lnTo>
                <a:lnTo>
                  <a:pt x="28" y="108"/>
                </a:lnTo>
                <a:lnTo>
                  <a:pt x="28" y="108"/>
                </a:lnTo>
                <a:lnTo>
                  <a:pt x="28" y="118"/>
                </a:lnTo>
                <a:lnTo>
                  <a:pt x="30" y="126"/>
                </a:lnTo>
                <a:lnTo>
                  <a:pt x="34" y="132"/>
                </a:lnTo>
                <a:lnTo>
                  <a:pt x="38" y="138"/>
                </a:lnTo>
                <a:lnTo>
                  <a:pt x="44" y="142"/>
                </a:lnTo>
                <a:lnTo>
                  <a:pt x="50" y="146"/>
                </a:lnTo>
                <a:lnTo>
                  <a:pt x="56" y="148"/>
                </a:lnTo>
                <a:lnTo>
                  <a:pt x="62" y="148"/>
                </a:lnTo>
                <a:lnTo>
                  <a:pt x="62" y="148"/>
                </a:lnTo>
                <a:lnTo>
                  <a:pt x="70" y="148"/>
                </a:lnTo>
                <a:lnTo>
                  <a:pt x="76" y="146"/>
                </a:lnTo>
                <a:lnTo>
                  <a:pt x="82" y="142"/>
                </a:lnTo>
                <a:lnTo>
                  <a:pt x="88" y="138"/>
                </a:lnTo>
                <a:lnTo>
                  <a:pt x="92" y="132"/>
                </a:lnTo>
                <a:lnTo>
                  <a:pt x="96" y="124"/>
                </a:lnTo>
                <a:lnTo>
                  <a:pt x="98" y="118"/>
                </a:lnTo>
                <a:lnTo>
                  <a:pt x="98" y="108"/>
                </a:lnTo>
                <a:lnTo>
                  <a:pt x="98" y="108"/>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6" name="Freeform 223"/>
          <p:cNvSpPr>
            <a:spLocks noEditPoints="1"/>
          </p:cNvSpPr>
          <p:nvPr userDrawn="1"/>
        </p:nvSpPr>
        <p:spPr bwMode="auto">
          <a:xfrm>
            <a:off x="5523322" y="1210768"/>
            <a:ext cx="149763" cy="169542"/>
          </a:xfrm>
          <a:custGeom>
            <a:avLst/>
            <a:gdLst>
              <a:gd name="T0" fmla="*/ 84 w 112"/>
              <a:gd name="T1" fmla="*/ 108 h 126"/>
              <a:gd name="T2" fmla="*/ 76 w 112"/>
              <a:gd name="T3" fmla="*/ 116 h 126"/>
              <a:gd name="T4" fmla="*/ 56 w 112"/>
              <a:gd name="T5" fmla="*/ 126 h 126"/>
              <a:gd name="T6" fmla="*/ 44 w 112"/>
              <a:gd name="T7" fmla="*/ 126 h 126"/>
              <a:gd name="T8" fmla="*/ 28 w 112"/>
              <a:gd name="T9" fmla="*/ 124 h 126"/>
              <a:gd name="T10" fmla="*/ 14 w 112"/>
              <a:gd name="T11" fmla="*/ 116 h 126"/>
              <a:gd name="T12" fmla="*/ 4 w 112"/>
              <a:gd name="T13" fmla="*/ 104 h 126"/>
              <a:gd name="T14" fmla="*/ 0 w 112"/>
              <a:gd name="T15" fmla="*/ 88 h 126"/>
              <a:gd name="T16" fmla="*/ 0 w 112"/>
              <a:gd name="T17" fmla="*/ 88 h 126"/>
              <a:gd name="T18" fmla="*/ 4 w 112"/>
              <a:gd name="T19" fmla="*/ 70 h 126"/>
              <a:gd name="T20" fmla="*/ 14 w 112"/>
              <a:gd name="T21" fmla="*/ 58 h 126"/>
              <a:gd name="T22" fmla="*/ 30 w 112"/>
              <a:gd name="T23" fmla="*/ 50 h 126"/>
              <a:gd name="T24" fmla="*/ 50 w 112"/>
              <a:gd name="T25" fmla="*/ 48 h 126"/>
              <a:gd name="T26" fmla="*/ 68 w 112"/>
              <a:gd name="T27" fmla="*/ 50 h 126"/>
              <a:gd name="T28" fmla="*/ 84 w 112"/>
              <a:gd name="T29" fmla="*/ 50 h 126"/>
              <a:gd name="T30" fmla="*/ 82 w 112"/>
              <a:gd name="T31" fmla="*/ 40 h 126"/>
              <a:gd name="T32" fmla="*/ 76 w 112"/>
              <a:gd name="T33" fmla="*/ 32 h 126"/>
              <a:gd name="T34" fmla="*/ 54 w 112"/>
              <a:gd name="T35" fmla="*/ 24 h 126"/>
              <a:gd name="T36" fmla="*/ 36 w 112"/>
              <a:gd name="T37" fmla="*/ 26 h 126"/>
              <a:gd name="T38" fmla="*/ 10 w 112"/>
              <a:gd name="T39" fmla="*/ 10 h 126"/>
              <a:gd name="T40" fmla="*/ 32 w 112"/>
              <a:gd name="T41" fmla="*/ 2 h 126"/>
              <a:gd name="T42" fmla="*/ 58 w 112"/>
              <a:gd name="T43" fmla="*/ 0 h 126"/>
              <a:gd name="T44" fmla="*/ 70 w 112"/>
              <a:gd name="T45" fmla="*/ 0 h 126"/>
              <a:gd name="T46" fmla="*/ 90 w 112"/>
              <a:gd name="T47" fmla="*/ 8 h 126"/>
              <a:gd name="T48" fmla="*/ 104 w 112"/>
              <a:gd name="T49" fmla="*/ 20 h 126"/>
              <a:gd name="T50" fmla="*/ 110 w 112"/>
              <a:gd name="T51" fmla="*/ 40 h 126"/>
              <a:gd name="T52" fmla="*/ 112 w 112"/>
              <a:gd name="T53" fmla="*/ 124 h 126"/>
              <a:gd name="T54" fmla="*/ 84 w 112"/>
              <a:gd name="T55" fmla="*/ 72 h 126"/>
              <a:gd name="T56" fmla="*/ 72 w 112"/>
              <a:gd name="T57" fmla="*/ 70 h 126"/>
              <a:gd name="T58" fmla="*/ 56 w 112"/>
              <a:gd name="T59" fmla="*/ 68 h 126"/>
              <a:gd name="T60" fmla="*/ 36 w 112"/>
              <a:gd name="T61" fmla="*/ 72 h 126"/>
              <a:gd name="T62" fmla="*/ 28 w 112"/>
              <a:gd name="T63" fmla="*/ 86 h 126"/>
              <a:gd name="T64" fmla="*/ 28 w 112"/>
              <a:gd name="T65" fmla="*/ 88 h 126"/>
              <a:gd name="T66" fmla="*/ 34 w 112"/>
              <a:gd name="T67" fmla="*/ 100 h 126"/>
              <a:gd name="T68" fmla="*/ 52 w 112"/>
              <a:gd name="T69" fmla="*/ 106 h 126"/>
              <a:gd name="T70" fmla="*/ 64 w 112"/>
              <a:gd name="T71" fmla="*/ 104 h 126"/>
              <a:gd name="T72" fmla="*/ 82 w 112"/>
              <a:gd name="T73" fmla="*/ 90 h 126"/>
              <a:gd name="T74" fmla="*/ 84 w 112"/>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2" h="126">
                <a:moveTo>
                  <a:pt x="84" y="124"/>
                </a:moveTo>
                <a:lnTo>
                  <a:pt x="84" y="108"/>
                </a:lnTo>
                <a:lnTo>
                  <a:pt x="84" y="108"/>
                </a:lnTo>
                <a:lnTo>
                  <a:pt x="76" y="116"/>
                </a:lnTo>
                <a:lnTo>
                  <a:pt x="68" y="122"/>
                </a:lnTo>
                <a:lnTo>
                  <a:pt x="56" y="126"/>
                </a:lnTo>
                <a:lnTo>
                  <a:pt x="44" y="126"/>
                </a:lnTo>
                <a:lnTo>
                  <a:pt x="44" y="126"/>
                </a:lnTo>
                <a:lnTo>
                  <a:pt x="36" y="126"/>
                </a:lnTo>
                <a:lnTo>
                  <a:pt x="28" y="124"/>
                </a:lnTo>
                <a:lnTo>
                  <a:pt x="20" y="120"/>
                </a:lnTo>
                <a:lnTo>
                  <a:pt x="14" y="116"/>
                </a:lnTo>
                <a:lnTo>
                  <a:pt x="8" y="112"/>
                </a:lnTo>
                <a:lnTo>
                  <a:pt x="4" y="104"/>
                </a:lnTo>
                <a:lnTo>
                  <a:pt x="2" y="98"/>
                </a:lnTo>
                <a:lnTo>
                  <a:pt x="0" y="88"/>
                </a:lnTo>
                <a:lnTo>
                  <a:pt x="0" y="88"/>
                </a:lnTo>
                <a:lnTo>
                  <a:pt x="0" y="88"/>
                </a:lnTo>
                <a:lnTo>
                  <a:pt x="2"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80" y="36"/>
                </a:lnTo>
                <a:lnTo>
                  <a:pt x="76" y="32"/>
                </a:lnTo>
                <a:lnTo>
                  <a:pt x="66" y="26"/>
                </a:lnTo>
                <a:lnTo>
                  <a:pt x="54" y="24"/>
                </a:lnTo>
                <a:lnTo>
                  <a:pt x="54" y="24"/>
                </a:lnTo>
                <a:lnTo>
                  <a:pt x="36" y="26"/>
                </a:lnTo>
                <a:lnTo>
                  <a:pt x="18" y="32"/>
                </a:lnTo>
                <a:lnTo>
                  <a:pt x="10" y="10"/>
                </a:lnTo>
                <a:lnTo>
                  <a:pt x="10" y="10"/>
                </a:lnTo>
                <a:lnTo>
                  <a:pt x="32" y="2"/>
                </a:lnTo>
                <a:lnTo>
                  <a:pt x="44" y="0"/>
                </a:lnTo>
                <a:lnTo>
                  <a:pt x="58" y="0"/>
                </a:lnTo>
                <a:lnTo>
                  <a:pt x="58" y="0"/>
                </a:lnTo>
                <a:lnTo>
                  <a:pt x="70" y="0"/>
                </a:lnTo>
                <a:lnTo>
                  <a:pt x="82" y="4"/>
                </a:lnTo>
                <a:lnTo>
                  <a:pt x="90" y="8"/>
                </a:lnTo>
                <a:lnTo>
                  <a:pt x="98" y="14"/>
                </a:lnTo>
                <a:lnTo>
                  <a:pt x="104" y="20"/>
                </a:lnTo>
                <a:lnTo>
                  <a:pt x="108" y="30"/>
                </a:lnTo>
                <a:lnTo>
                  <a:pt x="110" y="40"/>
                </a:lnTo>
                <a:lnTo>
                  <a:pt x="112" y="52"/>
                </a:lnTo>
                <a:lnTo>
                  <a:pt x="112" y="124"/>
                </a:lnTo>
                <a:lnTo>
                  <a:pt x="84" y="124"/>
                </a:lnTo>
                <a:close/>
                <a:moveTo>
                  <a:pt x="84" y="72"/>
                </a:moveTo>
                <a:lnTo>
                  <a:pt x="84" y="72"/>
                </a:lnTo>
                <a:lnTo>
                  <a:pt x="72" y="70"/>
                </a:lnTo>
                <a:lnTo>
                  <a:pt x="56" y="68"/>
                </a:lnTo>
                <a:lnTo>
                  <a:pt x="56" y="68"/>
                </a:lnTo>
                <a:lnTo>
                  <a:pt x="44" y="70"/>
                </a:lnTo>
                <a:lnTo>
                  <a:pt x="36"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8" name="Freeform 224"/>
          <p:cNvSpPr>
            <a:spLocks noEditPoints="1"/>
          </p:cNvSpPr>
          <p:nvPr userDrawn="1"/>
        </p:nvSpPr>
        <p:spPr bwMode="auto">
          <a:xfrm>
            <a:off x="5734595" y="1208077"/>
            <a:ext cx="168484" cy="220673"/>
          </a:xfrm>
          <a:custGeom>
            <a:avLst/>
            <a:gdLst>
              <a:gd name="T0" fmla="*/ 28 w 126"/>
              <a:gd name="T1" fmla="*/ 4 h 164"/>
              <a:gd name="T2" fmla="*/ 28 w 126"/>
              <a:gd name="T3" fmla="*/ 24 h 164"/>
              <a:gd name="T4" fmla="*/ 46 w 126"/>
              <a:gd name="T5" fmla="*/ 8 h 164"/>
              <a:gd name="T6" fmla="*/ 70 w 126"/>
              <a:gd name="T7" fmla="*/ 0 h 164"/>
              <a:gd name="T8" fmla="*/ 80 w 126"/>
              <a:gd name="T9" fmla="*/ 2 h 164"/>
              <a:gd name="T10" fmla="*/ 100 w 126"/>
              <a:gd name="T11" fmla="*/ 10 h 164"/>
              <a:gd name="T12" fmla="*/ 116 w 126"/>
              <a:gd name="T13" fmla="*/ 26 h 164"/>
              <a:gd name="T14" fmla="*/ 126 w 126"/>
              <a:gd name="T15" fmla="*/ 50 h 164"/>
              <a:gd name="T16" fmla="*/ 126 w 126"/>
              <a:gd name="T17" fmla="*/ 64 h 164"/>
              <a:gd name="T18" fmla="*/ 126 w 126"/>
              <a:gd name="T19" fmla="*/ 80 h 164"/>
              <a:gd name="T20" fmla="*/ 116 w 126"/>
              <a:gd name="T21" fmla="*/ 102 h 164"/>
              <a:gd name="T22" fmla="*/ 100 w 126"/>
              <a:gd name="T23" fmla="*/ 120 h 164"/>
              <a:gd name="T24" fmla="*/ 80 w 126"/>
              <a:gd name="T25" fmla="*/ 128 h 164"/>
              <a:gd name="T26" fmla="*/ 70 w 126"/>
              <a:gd name="T27" fmla="*/ 128 h 164"/>
              <a:gd name="T28" fmla="*/ 44 w 126"/>
              <a:gd name="T29" fmla="*/ 122 h 164"/>
              <a:gd name="T30" fmla="*/ 28 w 126"/>
              <a:gd name="T31" fmla="*/ 106 h 164"/>
              <a:gd name="T32" fmla="*/ 0 w 126"/>
              <a:gd name="T33" fmla="*/ 164 h 164"/>
              <a:gd name="T34" fmla="*/ 98 w 126"/>
              <a:gd name="T35" fmla="*/ 64 h 164"/>
              <a:gd name="T36" fmla="*/ 98 w 126"/>
              <a:gd name="T37" fmla="*/ 64 h 164"/>
              <a:gd name="T38" fmla="*/ 96 w 126"/>
              <a:gd name="T39" fmla="*/ 48 h 164"/>
              <a:gd name="T40" fmla="*/ 88 w 126"/>
              <a:gd name="T41" fmla="*/ 36 h 164"/>
              <a:gd name="T42" fmla="*/ 76 w 126"/>
              <a:gd name="T43" fmla="*/ 28 h 164"/>
              <a:gd name="T44" fmla="*/ 64 w 126"/>
              <a:gd name="T45" fmla="*/ 26 h 164"/>
              <a:gd name="T46" fmla="*/ 56 w 126"/>
              <a:gd name="T47" fmla="*/ 26 h 164"/>
              <a:gd name="T48" fmla="*/ 44 w 126"/>
              <a:gd name="T49" fmla="*/ 32 h 164"/>
              <a:gd name="T50" fmla="*/ 34 w 126"/>
              <a:gd name="T51" fmla="*/ 42 h 164"/>
              <a:gd name="T52" fmla="*/ 28 w 126"/>
              <a:gd name="T53" fmla="*/ 56 h 164"/>
              <a:gd name="T54" fmla="*/ 28 w 126"/>
              <a:gd name="T55" fmla="*/ 64 h 164"/>
              <a:gd name="T56" fmla="*/ 28 w 126"/>
              <a:gd name="T57" fmla="*/ 74 h 164"/>
              <a:gd name="T58" fmla="*/ 34 w 126"/>
              <a:gd name="T59" fmla="*/ 88 h 164"/>
              <a:gd name="T60" fmla="*/ 44 w 126"/>
              <a:gd name="T61" fmla="*/ 98 h 164"/>
              <a:gd name="T62" fmla="*/ 56 w 126"/>
              <a:gd name="T63" fmla="*/ 104 h 164"/>
              <a:gd name="T64" fmla="*/ 64 w 126"/>
              <a:gd name="T65" fmla="*/ 104 h 164"/>
              <a:gd name="T66" fmla="*/ 76 w 126"/>
              <a:gd name="T67" fmla="*/ 102 h 164"/>
              <a:gd name="T68" fmla="*/ 88 w 126"/>
              <a:gd name="T69" fmla="*/ 94 h 164"/>
              <a:gd name="T70" fmla="*/ 96 w 126"/>
              <a:gd name="T71" fmla="*/ 82 h 164"/>
              <a:gd name="T72" fmla="*/ 98 w 126"/>
              <a:gd name="T73" fmla="*/ 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64">
                <a:moveTo>
                  <a:pt x="0" y="4"/>
                </a:moveTo>
                <a:lnTo>
                  <a:pt x="28" y="4"/>
                </a:lnTo>
                <a:lnTo>
                  <a:pt x="28" y="24"/>
                </a:lnTo>
                <a:lnTo>
                  <a:pt x="28" y="24"/>
                </a:lnTo>
                <a:lnTo>
                  <a:pt x="36" y="14"/>
                </a:lnTo>
                <a:lnTo>
                  <a:pt x="46" y="8"/>
                </a:lnTo>
                <a:lnTo>
                  <a:pt x="56" y="2"/>
                </a:lnTo>
                <a:lnTo>
                  <a:pt x="70" y="0"/>
                </a:lnTo>
                <a:lnTo>
                  <a:pt x="70" y="0"/>
                </a:lnTo>
                <a:lnTo>
                  <a:pt x="80" y="2"/>
                </a:lnTo>
                <a:lnTo>
                  <a:pt x="90" y="6"/>
                </a:lnTo>
                <a:lnTo>
                  <a:pt x="100" y="10"/>
                </a:lnTo>
                <a:lnTo>
                  <a:pt x="110" y="18"/>
                </a:lnTo>
                <a:lnTo>
                  <a:pt x="116" y="26"/>
                </a:lnTo>
                <a:lnTo>
                  <a:pt x="122" y="38"/>
                </a:lnTo>
                <a:lnTo>
                  <a:pt x="126" y="50"/>
                </a:lnTo>
                <a:lnTo>
                  <a:pt x="126" y="64"/>
                </a:lnTo>
                <a:lnTo>
                  <a:pt x="126" y="64"/>
                </a:lnTo>
                <a:lnTo>
                  <a:pt x="126" y="64"/>
                </a:lnTo>
                <a:lnTo>
                  <a:pt x="126" y="80"/>
                </a:lnTo>
                <a:lnTo>
                  <a:pt x="122" y="92"/>
                </a:lnTo>
                <a:lnTo>
                  <a:pt x="116" y="102"/>
                </a:lnTo>
                <a:lnTo>
                  <a:pt x="110" y="112"/>
                </a:lnTo>
                <a:lnTo>
                  <a:pt x="100" y="120"/>
                </a:lnTo>
                <a:lnTo>
                  <a:pt x="92" y="124"/>
                </a:lnTo>
                <a:lnTo>
                  <a:pt x="80" y="128"/>
                </a:lnTo>
                <a:lnTo>
                  <a:pt x="70" y="128"/>
                </a:lnTo>
                <a:lnTo>
                  <a:pt x="70" y="128"/>
                </a:lnTo>
                <a:lnTo>
                  <a:pt x="56" y="126"/>
                </a:lnTo>
                <a:lnTo>
                  <a:pt x="44" y="122"/>
                </a:lnTo>
                <a:lnTo>
                  <a:pt x="36" y="116"/>
                </a:lnTo>
                <a:lnTo>
                  <a:pt x="28" y="106"/>
                </a:lnTo>
                <a:lnTo>
                  <a:pt x="28" y="164"/>
                </a:lnTo>
                <a:lnTo>
                  <a:pt x="0" y="164"/>
                </a:lnTo>
                <a:lnTo>
                  <a:pt x="0" y="4"/>
                </a:lnTo>
                <a:close/>
                <a:moveTo>
                  <a:pt x="98" y="64"/>
                </a:moveTo>
                <a:lnTo>
                  <a:pt x="98" y="64"/>
                </a:lnTo>
                <a:lnTo>
                  <a:pt x="98" y="64"/>
                </a:lnTo>
                <a:lnTo>
                  <a:pt x="98" y="56"/>
                </a:lnTo>
                <a:lnTo>
                  <a:pt x="96" y="48"/>
                </a:lnTo>
                <a:lnTo>
                  <a:pt x="92" y="42"/>
                </a:lnTo>
                <a:lnTo>
                  <a:pt x="88" y="36"/>
                </a:lnTo>
                <a:lnTo>
                  <a:pt x="82" y="32"/>
                </a:lnTo>
                <a:lnTo>
                  <a:pt x="76" y="28"/>
                </a:lnTo>
                <a:lnTo>
                  <a:pt x="70" y="26"/>
                </a:lnTo>
                <a:lnTo>
                  <a:pt x="64" y="26"/>
                </a:lnTo>
                <a:lnTo>
                  <a:pt x="64" y="26"/>
                </a:lnTo>
                <a:lnTo>
                  <a:pt x="56" y="26"/>
                </a:lnTo>
                <a:lnTo>
                  <a:pt x="50" y="28"/>
                </a:lnTo>
                <a:lnTo>
                  <a:pt x="44" y="32"/>
                </a:lnTo>
                <a:lnTo>
                  <a:pt x="38" y="36"/>
                </a:lnTo>
                <a:lnTo>
                  <a:pt x="34" y="42"/>
                </a:lnTo>
                <a:lnTo>
                  <a:pt x="30" y="48"/>
                </a:lnTo>
                <a:lnTo>
                  <a:pt x="28" y="56"/>
                </a:lnTo>
                <a:lnTo>
                  <a:pt x="28" y="64"/>
                </a:lnTo>
                <a:lnTo>
                  <a:pt x="28" y="64"/>
                </a:lnTo>
                <a:lnTo>
                  <a:pt x="28" y="64"/>
                </a:lnTo>
                <a:lnTo>
                  <a:pt x="28" y="74"/>
                </a:lnTo>
                <a:lnTo>
                  <a:pt x="30" y="82"/>
                </a:lnTo>
                <a:lnTo>
                  <a:pt x="34" y="88"/>
                </a:lnTo>
                <a:lnTo>
                  <a:pt x="38" y="94"/>
                </a:lnTo>
                <a:lnTo>
                  <a:pt x="44" y="98"/>
                </a:lnTo>
                <a:lnTo>
                  <a:pt x="50" y="102"/>
                </a:lnTo>
                <a:lnTo>
                  <a:pt x="56" y="104"/>
                </a:lnTo>
                <a:lnTo>
                  <a:pt x="64" y="104"/>
                </a:lnTo>
                <a:lnTo>
                  <a:pt x="64" y="104"/>
                </a:lnTo>
                <a:lnTo>
                  <a:pt x="70" y="104"/>
                </a:lnTo>
                <a:lnTo>
                  <a:pt x="76" y="102"/>
                </a:lnTo>
                <a:lnTo>
                  <a:pt x="82" y="98"/>
                </a:lnTo>
                <a:lnTo>
                  <a:pt x="88" y="94"/>
                </a:lnTo>
                <a:lnTo>
                  <a:pt x="92" y="88"/>
                </a:lnTo>
                <a:lnTo>
                  <a:pt x="96" y="82"/>
                </a:lnTo>
                <a:lnTo>
                  <a:pt x="98" y="74"/>
                </a:lnTo>
                <a:lnTo>
                  <a:pt x="98" y="64"/>
                </a:lnTo>
                <a:lnTo>
                  <a:pt x="98" y="6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29" name="Freeform 225"/>
          <p:cNvSpPr>
            <a:spLocks noEditPoints="1"/>
          </p:cNvSpPr>
          <p:nvPr userDrawn="1"/>
        </p:nvSpPr>
        <p:spPr bwMode="auto">
          <a:xfrm>
            <a:off x="5959240" y="1208077"/>
            <a:ext cx="171158" cy="220673"/>
          </a:xfrm>
          <a:custGeom>
            <a:avLst/>
            <a:gdLst>
              <a:gd name="T0" fmla="*/ 28 w 128"/>
              <a:gd name="T1" fmla="*/ 4 h 164"/>
              <a:gd name="T2" fmla="*/ 28 w 128"/>
              <a:gd name="T3" fmla="*/ 24 h 164"/>
              <a:gd name="T4" fmla="*/ 46 w 128"/>
              <a:gd name="T5" fmla="*/ 8 h 164"/>
              <a:gd name="T6" fmla="*/ 70 w 128"/>
              <a:gd name="T7" fmla="*/ 0 h 164"/>
              <a:gd name="T8" fmla="*/ 82 w 128"/>
              <a:gd name="T9" fmla="*/ 2 h 164"/>
              <a:gd name="T10" fmla="*/ 102 w 128"/>
              <a:gd name="T11" fmla="*/ 10 h 164"/>
              <a:gd name="T12" fmla="*/ 118 w 128"/>
              <a:gd name="T13" fmla="*/ 26 h 164"/>
              <a:gd name="T14" fmla="*/ 126 w 128"/>
              <a:gd name="T15" fmla="*/ 50 h 164"/>
              <a:gd name="T16" fmla="*/ 128 w 128"/>
              <a:gd name="T17" fmla="*/ 64 h 164"/>
              <a:gd name="T18" fmla="*/ 126 w 128"/>
              <a:gd name="T19" fmla="*/ 80 h 164"/>
              <a:gd name="T20" fmla="*/ 118 w 128"/>
              <a:gd name="T21" fmla="*/ 102 h 164"/>
              <a:gd name="T22" fmla="*/ 102 w 128"/>
              <a:gd name="T23" fmla="*/ 120 h 164"/>
              <a:gd name="T24" fmla="*/ 82 w 128"/>
              <a:gd name="T25" fmla="*/ 128 h 164"/>
              <a:gd name="T26" fmla="*/ 70 w 128"/>
              <a:gd name="T27" fmla="*/ 128 h 164"/>
              <a:gd name="T28" fmla="*/ 46 w 128"/>
              <a:gd name="T29" fmla="*/ 122 h 164"/>
              <a:gd name="T30" fmla="*/ 28 w 128"/>
              <a:gd name="T31" fmla="*/ 106 h 164"/>
              <a:gd name="T32" fmla="*/ 0 w 128"/>
              <a:gd name="T33" fmla="*/ 164 h 164"/>
              <a:gd name="T34" fmla="*/ 100 w 128"/>
              <a:gd name="T35" fmla="*/ 64 h 164"/>
              <a:gd name="T36" fmla="*/ 100 w 128"/>
              <a:gd name="T37" fmla="*/ 64 h 164"/>
              <a:gd name="T38" fmla="*/ 96 w 128"/>
              <a:gd name="T39" fmla="*/ 48 h 164"/>
              <a:gd name="T40" fmla="*/ 88 w 128"/>
              <a:gd name="T41" fmla="*/ 36 h 164"/>
              <a:gd name="T42" fmla="*/ 78 w 128"/>
              <a:gd name="T43" fmla="*/ 28 h 164"/>
              <a:gd name="T44" fmla="*/ 64 w 128"/>
              <a:gd name="T45" fmla="*/ 26 h 164"/>
              <a:gd name="T46" fmla="*/ 56 w 128"/>
              <a:gd name="T47" fmla="*/ 26 h 164"/>
              <a:gd name="T48" fmla="*/ 44 w 128"/>
              <a:gd name="T49" fmla="*/ 32 h 164"/>
              <a:gd name="T50" fmla="*/ 34 w 128"/>
              <a:gd name="T51" fmla="*/ 42 h 164"/>
              <a:gd name="T52" fmla="*/ 28 w 128"/>
              <a:gd name="T53" fmla="*/ 56 h 164"/>
              <a:gd name="T54" fmla="*/ 28 w 128"/>
              <a:gd name="T55" fmla="*/ 64 h 164"/>
              <a:gd name="T56" fmla="*/ 28 w 128"/>
              <a:gd name="T57" fmla="*/ 74 h 164"/>
              <a:gd name="T58" fmla="*/ 34 w 128"/>
              <a:gd name="T59" fmla="*/ 88 h 164"/>
              <a:gd name="T60" fmla="*/ 44 w 128"/>
              <a:gd name="T61" fmla="*/ 98 h 164"/>
              <a:gd name="T62" fmla="*/ 56 w 128"/>
              <a:gd name="T63" fmla="*/ 104 h 164"/>
              <a:gd name="T64" fmla="*/ 64 w 128"/>
              <a:gd name="T65" fmla="*/ 104 h 164"/>
              <a:gd name="T66" fmla="*/ 78 w 128"/>
              <a:gd name="T67" fmla="*/ 102 h 164"/>
              <a:gd name="T68" fmla="*/ 88 w 128"/>
              <a:gd name="T69" fmla="*/ 94 h 164"/>
              <a:gd name="T70" fmla="*/ 96 w 128"/>
              <a:gd name="T71" fmla="*/ 82 h 164"/>
              <a:gd name="T72" fmla="*/ 100 w 128"/>
              <a:gd name="T73" fmla="*/ 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8" h="164">
                <a:moveTo>
                  <a:pt x="0" y="4"/>
                </a:moveTo>
                <a:lnTo>
                  <a:pt x="28" y="4"/>
                </a:lnTo>
                <a:lnTo>
                  <a:pt x="28" y="24"/>
                </a:lnTo>
                <a:lnTo>
                  <a:pt x="28" y="24"/>
                </a:lnTo>
                <a:lnTo>
                  <a:pt x="36" y="14"/>
                </a:lnTo>
                <a:lnTo>
                  <a:pt x="46" y="8"/>
                </a:lnTo>
                <a:lnTo>
                  <a:pt x="56" y="2"/>
                </a:lnTo>
                <a:lnTo>
                  <a:pt x="70" y="0"/>
                </a:lnTo>
                <a:lnTo>
                  <a:pt x="70" y="0"/>
                </a:lnTo>
                <a:lnTo>
                  <a:pt x="82" y="2"/>
                </a:lnTo>
                <a:lnTo>
                  <a:pt x="92" y="6"/>
                </a:lnTo>
                <a:lnTo>
                  <a:pt x="102" y="10"/>
                </a:lnTo>
                <a:lnTo>
                  <a:pt x="110" y="18"/>
                </a:lnTo>
                <a:lnTo>
                  <a:pt x="118" y="26"/>
                </a:lnTo>
                <a:lnTo>
                  <a:pt x="122" y="38"/>
                </a:lnTo>
                <a:lnTo>
                  <a:pt x="126" y="50"/>
                </a:lnTo>
                <a:lnTo>
                  <a:pt x="128" y="64"/>
                </a:lnTo>
                <a:lnTo>
                  <a:pt x="128" y="64"/>
                </a:lnTo>
                <a:lnTo>
                  <a:pt x="128" y="64"/>
                </a:lnTo>
                <a:lnTo>
                  <a:pt x="126" y="80"/>
                </a:lnTo>
                <a:lnTo>
                  <a:pt x="122" y="92"/>
                </a:lnTo>
                <a:lnTo>
                  <a:pt x="118" y="102"/>
                </a:lnTo>
                <a:lnTo>
                  <a:pt x="110" y="112"/>
                </a:lnTo>
                <a:lnTo>
                  <a:pt x="102" y="120"/>
                </a:lnTo>
                <a:lnTo>
                  <a:pt x="92" y="124"/>
                </a:lnTo>
                <a:lnTo>
                  <a:pt x="82" y="128"/>
                </a:lnTo>
                <a:lnTo>
                  <a:pt x="70" y="128"/>
                </a:lnTo>
                <a:lnTo>
                  <a:pt x="70" y="128"/>
                </a:lnTo>
                <a:lnTo>
                  <a:pt x="56" y="126"/>
                </a:lnTo>
                <a:lnTo>
                  <a:pt x="46" y="122"/>
                </a:lnTo>
                <a:lnTo>
                  <a:pt x="36" y="116"/>
                </a:lnTo>
                <a:lnTo>
                  <a:pt x="28" y="106"/>
                </a:lnTo>
                <a:lnTo>
                  <a:pt x="28" y="164"/>
                </a:lnTo>
                <a:lnTo>
                  <a:pt x="0" y="164"/>
                </a:lnTo>
                <a:lnTo>
                  <a:pt x="0" y="4"/>
                </a:lnTo>
                <a:close/>
                <a:moveTo>
                  <a:pt x="100" y="64"/>
                </a:moveTo>
                <a:lnTo>
                  <a:pt x="100" y="64"/>
                </a:lnTo>
                <a:lnTo>
                  <a:pt x="100" y="64"/>
                </a:lnTo>
                <a:lnTo>
                  <a:pt x="98" y="56"/>
                </a:lnTo>
                <a:lnTo>
                  <a:pt x="96" y="48"/>
                </a:lnTo>
                <a:lnTo>
                  <a:pt x="92" y="42"/>
                </a:lnTo>
                <a:lnTo>
                  <a:pt x="88" y="36"/>
                </a:lnTo>
                <a:lnTo>
                  <a:pt x="84" y="32"/>
                </a:lnTo>
                <a:lnTo>
                  <a:pt x="78" y="28"/>
                </a:lnTo>
                <a:lnTo>
                  <a:pt x="70" y="26"/>
                </a:lnTo>
                <a:lnTo>
                  <a:pt x="64" y="26"/>
                </a:lnTo>
                <a:lnTo>
                  <a:pt x="64" y="26"/>
                </a:lnTo>
                <a:lnTo>
                  <a:pt x="56" y="26"/>
                </a:lnTo>
                <a:lnTo>
                  <a:pt x="50" y="28"/>
                </a:lnTo>
                <a:lnTo>
                  <a:pt x="44" y="32"/>
                </a:lnTo>
                <a:lnTo>
                  <a:pt x="38" y="36"/>
                </a:lnTo>
                <a:lnTo>
                  <a:pt x="34" y="42"/>
                </a:lnTo>
                <a:lnTo>
                  <a:pt x="32" y="48"/>
                </a:lnTo>
                <a:lnTo>
                  <a:pt x="28" y="56"/>
                </a:lnTo>
                <a:lnTo>
                  <a:pt x="28" y="64"/>
                </a:lnTo>
                <a:lnTo>
                  <a:pt x="28" y="64"/>
                </a:lnTo>
                <a:lnTo>
                  <a:pt x="28" y="64"/>
                </a:lnTo>
                <a:lnTo>
                  <a:pt x="28" y="74"/>
                </a:lnTo>
                <a:lnTo>
                  <a:pt x="32" y="82"/>
                </a:lnTo>
                <a:lnTo>
                  <a:pt x="34" y="88"/>
                </a:lnTo>
                <a:lnTo>
                  <a:pt x="38" y="94"/>
                </a:lnTo>
                <a:lnTo>
                  <a:pt x="44" y="98"/>
                </a:lnTo>
                <a:lnTo>
                  <a:pt x="50" y="102"/>
                </a:lnTo>
                <a:lnTo>
                  <a:pt x="56" y="104"/>
                </a:lnTo>
                <a:lnTo>
                  <a:pt x="64" y="104"/>
                </a:lnTo>
                <a:lnTo>
                  <a:pt x="64" y="104"/>
                </a:lnTo>
                <a:lnTo>
                  <a:pt x="72" y="104"/>
                </a:lnTo>
                <a:lnTo>
                  <a:pt x="78" y="102"/>
                </a:lnTo>
                <a:lnTo>
                  <a:pt x="84" y="98"/>
                </a:lnTo>
                <a:lnTo>
                  <a:pt x="88" y="94"/>
                </a:lnTo>
                <a:lnTo>
                  <a:pt x="94" y="88"/>
                </a:lnTo>
                <a:lnTo>
                  <a:pt x="96" y="82"/>
                </a:lnTo>
                <a:lnTo>
                  <a:pt x="98" y="74"/>
                </a:lnTo>
                <a:lnTo>
                  <a:pt x="100" y="64"/>
                </a:lnTo>
                <a:lnTo>
                  <a:pt x="100" y="64"/>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1" name="Freeform 226"/>
          <p:cNvSpPr>
            <a:spLocks/>
          </p:cNvSpPr>
          <p:nvPr userDrawn="1"/>
        </p:nvSpPr>
        <p:spPr bwMode="auto">
          <a:xfrm>
            <a:off x="6186559" y="1210768"/>
            <a:ext cx="93602" cy="166851"/>
          </a:xfrm>
          <a:custGeom>
            <a:avLst/>
            <a:gdLst>
              <a:gd name="T0" fmla="*/ 0 w 70"/>
              <a:gd name="T1" fmla="*/ 2 h 124"/>
              <a:gd name="T2" fmla="*/ 28 w 70"/>
              <a:gd name="T3" fmla="*/ 2 h 124"/>
              <a:gd name="T4" fmla="*/ 28 w 70"/>
              <a:gd name="T5" fmla="*/ 30 h 124"/>
              <a:gd name="T6" fmla="*/ 28 w 70"/>
              <a:gd name="T7" fmla="*/ 30 h 124"/>
              <a:gd name="T8" fmla="*/ 34 w 70"/>
              <a:gd name="T9" fmla="*/ 16 h 124"/>
              <a:gd name="T10" fmla="*/ 44 w 70"/>
              <a:gd name="T11" fmla="*/ 6 h 124"/>
              <a:gd name="T12" fmla="*/ 50 w 70"/>
              <a:gd name="T13" fmla="*/ 4 h 124"/>
              <a:gd name="T14" fmla="*/ 56 w 70"/>
              <a:gd name="T15" fmla="*/ 0 h 124"/>
              <a:gd name="T16" fmla="*/ 64 w 70"/>
              <a:gd name="T17" fmla="*/ 0 h 124"/>
              <a:gd name="T18" fmla="*/ 70 w 70"/>
              <a:gd name="T19" fmla="*/ 0 h 124"/>
              <a:gd name="T20" fmla="*/ 70 w 70"/>
              <a:gd name="T21" fmla="*/ 28 h 124"/>
              <a:gd name="T22" fmla="*/ 70 w 70"/>
              <a:gd name="T23" fmla="*/ 28 h 124"/>
              <a:gd name="T24" fmla="*/ 70 w 70"/>
              <a:gd name="T25" fmla="*/ 28 h 124"/>
              <a:gd name="T26" fmla="*/ 60 w 70"/>
              <a:gd name="T27" fmla="*/ 30 h 124"/>
              <a:gd name="T28" fmla="*/ 52 w 70"/>
              <a:gd name="T29" fmla="*/ 32 h 124"/>
              <a:gd name="T30" fmla="*/ 46 w 70"/>
              <a:gd name="T31" fmla="*/ 36 h 124"/>
              <a:gd name="T32" fmla="*/ 40 w 70"/>
              <a:gd name="T33" fmla="*/ 40 h 124"/>
              <a:gd name="T34" fmla="*/ 34 w 70"/>
              <a:gd name="T35" fmla="*/ 48 h 124"/>
              <a:gd name="T36" fmla="*/ 30 w 70"/>
              <a:gd name="T37" fmla="*/ 56 h 124"/>
              <a:gd name="T38" fmla="*/ 28 w 70"/>
              <a:gd name="T39" fmla="*/ 66 h 124"/>
              <a:gd name="T40" fmla="*/ 28 w 70"/>
              <a:gd name="T41" fmla="*/ 78 h 124"/>
              <a:gd name="T42" fmla="*/ 28 w 70"/>
              <a:gd name="T43" fmla="*/ 124 h 124"/>
              <a:gd name="T44" fmla="*/ 0 w 70"/>
              <a:gd name="T45" fmla="*/ 124 h 124"/>
              <a:gd name="T46" fmla="*/ 0 w 70"/>
              <a:gd name="T47" fmla="*/ 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 h="124">
                <a:moveTo>
                  <a:pt x="0" y="2"/>
                </a:moveTo>
                <a:lnTo>
                  <a:pt x="28" y="2"/>
                </a:lnTo>
                <a:lnTo>
                  <a:pt x="28" y="30"/>
                </a:lnTo>
                <a:lnTo>
                  <a:pt x="28" y="30"/>
                </a:lnTo>
                <a:lnTo>
                  <a:pt x="34" y="16"/>
                </a:lnTo>
                <a:lnTo>
                  <a:pt x="44" y="6"/>
                </a:lnTo>
                <a:lnTo>
                  <a:pt x="50" y="4"/>
                </a:lnTo>
                <a:lnTo>
                  <a:pt x="56" y="0"/>
                </a:lnTo>
                <a:lnTo>
                  <a:pt x="64" y="0"/>
                </a:lnTo>
                <a:lnTo>
                  <a:pt x="70" y="0"/>
                </a:lnTo>
                <a:lnTo>
                  <a:pt x="70" y="28"/>
                </a:lnTo>
                <a:lnTo>
                  <a:pt x="70" y="28"/>
                </a:lnTo>
                <a:lnTo>
                  <a:pt x="70" y="28"/>
                </a:lnTo>
                <a:lnTo>
                  <a:pt x="60" y="30"/>
                </a:lnTo>
                <a:lnTo>
                  <a:pt x="52" y="32"/>
                </a:lnTo>
                <a:lnTo>
                  <a:pt x="46" y="36"/>
                </a:lnTo>
                <a:lnTo>
                  <a:pt x="40" y="40"/>
                </a:lnTo>
                <a:lnTo>
                  <a:pt x="34" y="48"/>
                </a:lnTo>
                <a:lnTo>
                  <a:pt x="30" y="56"/>
                </a:lnTo>
                <a:lnTo>
                  <a:pt x="28" y="66"/>
                </a:lnTo>
                <a:lnTo>
                  <a:pt x="28" y="78"/>
                </a:lnTo>
                <a:lnTo>
                  <a:pt x="28" y="124"/>
                </a:lnTo>
                <a:lnTo>
                  <a:pt x="0" y="124"/>
                </a:lnTo>
                <a:lnTo>
                  <a:pt x="0" y="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2" name="Freeform 227"/>
          <p:cNvSpPr>
            <a:spLocks noEditPoints="1"/>
          </p:cNvSpPr>
          <p:nvPr userDrawn="1"/>
        </p:nvSpPr>
        <p:spPr bwMode="auto">
          <a:xfrm>
            <a:off x="6317602" y="1208077"/>
            <a:ext cx="176507" cy="172233"/>
          </a:xfrm>
          <a:custGeom>
            <a:avLst/>
            <a:gdLst>
              <a:gd name="T0" fmla="*/ 0 w 132"/>
              <a:gd name="T1" fmla="*/ 64 h 128"/>
              <a:gd name="T2" fmla="*/ 2 w 132"/>
              <a:gd name="T3" fmla="*/ 52 h 128"/>
              <a:gd name="T4" fmla="*/ 12 w 132"/>
              <a:gd name="T5" fmla="*/ 30 h 128"/>
              <a:gd name="T6" fmla="*/ 30 w 132"/>
              <a:gd name="T7" fmla="*/ 12 h 128"/>
              <a:gd name="T8" fmla="*/ 52 w 132"/>
              <a:gd name="T9" fmla="*/ 2 h 128"/>
              <a:gd name="T10" fmla="*/ 66 w 132"/>
              <a:gd name="T11" fmla="*/ 0 h 128"/>
              <a:gd name="T12" fmla="*/ 92 w 132"/>
              <a:gd name="T13" fmla="*/ 6 h 128"/>
              <a:gd name="T14" fmla="*/ 112 w 132"/>
              <a:gd name="T15" fmla="*/ 20 h 128"/>
              <a:gd name="T16" fmla="*/ 126 w 132"/>
              <a:gd name="T17" fmla="*/ 40 h 128"/>
              <a:gd name="T18" fmla="*/ 132 w 132"/>
              <a:gd name="T19" fmla="*/ 64 h 128"/>
              <a:gd name="T20" fmla="*/ 132 w 132"/>
              <a:gd name="T21" fmla="*/ 64 h 128"/>
              <a:gd name="T22" fmla="*/ 126 w 132"/>
              <a:gd name="T23" fmla="*/ 90 h 128"/>
              <a:gd name="T24" fmla="*/ 112 w 132"/>
              <a:gd name="T25" fmla="*/ 110 h 128"/>
              <a:gd name="T26" fmla="*/ 92 w 132"/>
              <a:gd name="T27" fmla="*/ 124 h 128"/>
              <a:gd name="T28" fmla="*/ 66 w 132"/>
              <a:gd name="T29" fmla="*/ 128 h 128"/>
              <a:gd name="T30" fmla="*/ 52 w 132"/>
              <a:gd name="T31" fmla="*/ 128 h 128"/>
              <a:gd name="T32" fmla="*/ 28 w 132"/>
              <a:gd name="T33" fmla="*/ 118 h 128"/>
              <a:gd name="T34" fmla="*/ 12 w 132"/>
              <a:gd name="T35" fmla="*/ 100 h 128"/>
              <a:gd name="T36" fmla="*/ 2 w 132"/>
              <a:gd name="T37" fmla="*/ 78 h 128"/>
              <a:gd name="T38" fmla="*/ 0 w 132"/>
              <a:gd name="T39" fmla="*/ 66 h 128"/>
              <a:gd name="T40" fmla="*/ 104 w 132"/>
              <a:gd name="T41" fmla="*/ 64 h 128"/>
              <a:gd name="T42" fmla="*/ 102 w 132"/>
              <a:gd name="T43" fmla="*/ 56 h 128"/>
              <a:gd name="T44" fmla="*/ 98 w 132"/>
              <a:gd name="T45" fmla="*/ 42 h 128"/>
              <a:gd name="T46" fmla="*/ 88 w 132"/>
              <a:gd name="T47" fmla="*/ 32 h 128"/>
              <a:gd name="T48" fmla="*/ 74 w 132"/>
              <a:gd name="T49" fmla="*/ 26 h 128"/>
              <a:gd name="T50" fmla="*/ 66 w 132"/>
              <a:gd name="T51" fmla="*/ 26 h 128"/>
              <a:gd name="T52" fmla="*/ 50 w 132"/>
              <a:gd name="T53" fmla="*/ 28 h 128"/>
              <a:gd name="T54" fmla="*/ 38 w 132"/>
              <a:gd name="T55" fmla="*/ 36 h 128"/>
              <a:gd name="T56" fmla="*/ 32 w 132"/>
              <a:gd name="T57" fmla="*/ 50 h 128"/>
              <a:gd name="T58" fmla="*/ 28 w 132"/>
              <a:gd name="T59" fmla="*/ 64 h 128"/>
              <a:gd name="T60" fmla="*/ 28 w 132"/>
              <a:gd name="T61" fmla="*/ 64 h 128"/>
              <a:gd name="T62" fmla="*/ 32 w 132"/>
              <a:gd name="T63" fmla="*/ 80 h 128"/>
              <a:gd name="T64" fmla="*/ 40 w 132"/>
              <a:gd name="T65" fmla="*/ 92 h 128"/>
              <a:gd name="T66" fmla="*/ 52 w 132"/>
              <a:gd name="T67" fmla="*/ 102 h 128"/>
              <a:gd name="T68" fmla="*/ 66 w 132"/>
              <a:gd name="T69" fmla="*/ 104 h 128"/>
              <a:gd name="T70" fmla="*/ 74 w 132"/>
              <a:gd name="T71" fmla="*/ 104 h 128"/>
              <a:gd name="T72" fmla="*/ 88 w 132"/>
              <a:gd name="T73" fmla="*/ 98 h 128"/>
              <a:gd name="T74" fmla="*/ 98 w 132"/>
              <a:gd name="T75" fmla="*/ 86 h 128"/>
              <a:gd name="T76" fmla="*/ 102 w 132"/>
              <a:gd name="T77" fmla="*/ 74 h 128"/>
              <a:gd name="T78" fmla="*/ 104 w 132"/>
              <a:gd name="T79"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32" h="128">
                <a:moveTo>
                  <a:pt x="0" y="66"/>
                </a:moveTo>
                <a:lnTo>
                  <a:pt x="0" y="64"/>
                </a:lnTo>
                <a:lnTo>
                  <a:pt x="0" y="64"/>
                </a:lnTo>
                <a:lnTo>
                  <a:pt x="2" y="52"/>
                </a:lnTo>
                <a:lnTo>
                  <a:pt x="6" y="40"/>
                </a:lnTo>
                <a:lnTo>
                  <a:pt x="12" y="30"/>
                </a:lnTo>
                <a:lnTo>
                  <a:pt x="20" y="20"/>
                </a:lnTo>
                <a:lnTo>
                  <a:pt x="30" y="12"/>
                </a:lnTo>
                <a:lnTo>
                  <a:pt x="40" y="6"/>
                </a:lnTo>
                <a:lnTo>
                  <a:pt x="52" y="2"/>
                </a:lnTo>
                <a:lnTo>
                  <a:pt x="66" y="0"/>
                </a:lnTo>
                <a:lnTo>
                  <a:pt x="66" y="0"/>
                </a:lnTo>
                <a:lnTo>
                  <a:pt x="80" y="2"/>
                </a:lnTo>
                <a:lnTo>
                  <a:pt x="92" y="6"/>
                </a:lnTo>
                <a:lnTo>
                  <a:pt x="104" y="12"/>
                </a:lnTo>
                <a:lnTo>
                  <a:pt x="112" y="20"/>
                </a:lnTo>
                <a:lnTo>
                  <a:pt x="120" y="28"/>
                </a:lnTo>
                <a:lnTo>
                  <a:pt x="126" y="40"/>
                </a:lnTo>
                <a:lnTo>
                  <a:pt x="130" y="52"/>
                </a:lnTo>
                <a:lnTo>
                  <a:pt x="132" y="64"/>
                </a:lnTo>
                <a:lnTo>
                  <a:pt x="132" y="64"/>
                </a:lnTo>
                <a:lnTo>
                  <a:pt x="132" y="64"/>
                </a:lnTo>
                <a:lnTo>
                  <a:pt x="130" y="78"/>
                </a:lnTo>
                <a:lnTo>
                  <a:pt x="126" y="90"/>
                </a:lnTo>
                <a:lnTo>
                  <a:pt x="120" y="100"/>
                </a:lnTo>
                <a:lnTo>
                  <a:pt x="112" y="110"/>
                </a:lnTo>
                <a:lnTo>
                  <a:pt x="104" y="118"/>
                </a:lnTo>
                <a:lnTo>
                  <a:pt x="92" y="124"/>
                </a:lnTo>
                <a:lnTo>
                  <a:pt x="80" y="128"/>
                </a:lnTo>
                <a:lnTo>
                  <a:pt x="66" y="128"/>
                </a:lnTo>
                <a:lnTo>
                  <a:pt x="66" y="128"/>
                </a:lnTo>
                <a:lnTo>
                  <a:pt x="52" y="128"/>
                </a:lnTo>
                <a:lnTo>
                  <a:pt x="40" y="124"/>
                </a:lnTo>
                <a:lnTo>
                  <a:pt x="28" y="118"/>
                </a:lnTo>
                <a:lnTo>
                  <a:pt x="20" y="110"/>
                </a:lnTo>
                <a:lnTo>
                  <a:pt x="12" y="100"/>
                </a:lnTo>
                <a:lnTo>
                  <a:pt x="6" y="90"/>
                </a:lnTo>
                <a:lnTo>
                  <a:pt x="2" y="78"/>
                </a:lnTo>
                <a:lnTo>
                  <a:pt x="0" y="66"/>
                </a:lnTo>
                <a:lnTo>
                  <a:pt x="0" y="66"/>
                </a:lnTo>
                <a:close/>
                <a:moveTo>
                  <a:pt x="104" y="66"/>
                </a:moveTo>
                <a:lnTo>
                  <a:pt x="104" y="64"/>
                </a:lnTo>
                <a:lnTo>
                  <a:pt x="104" y="64"/>
                </a:lnTo>
                <a:lnTo>
                  <a:pt x="102" y="56"/>
                </a:lnTo>
                <a:lnTo>
                  <a:pt x="100" y="50"/>
                </a:lnTo>
                <a:lnTo>
                  <a:pt x="98" y="42"/>
                </a:lnTo>
                <a:lnTo>
                  <a:pt x="92" y="38"/>
                </a:lnTo>
                <a:lnTo>
                  <a:pt x="88" y="32"/>
                </a:lnTo>
                <a:lnTo>
                  <a:pt x="80" y="28"/>
                </a:lnTo>
                <a:lnTo>
                  <a:pt x="74" y="26"/>
                </a:lnTo>
                <a:lnTo>
                  <a:pt x="66" y="26"/>
                </a:lnTo>
                <a:lnTo>
                  <a:pt x="66" y="26"/>
                </a:lnTo>
                <a:lnTo>
                  <a:pt x="58" y="26"/>
                </a:lnTo>
                <a:lnTo>
                  <a:pt x="50" y="28"/>
                </a:lnTo>
                <a:lnTo>
                  <a:pt x="44" y="32"/>
                </a:lnTo>
                <a:lnTo>
                  <a:pt x="38" y="36"/>
                </a:lnTo>
                <a:lnTo>
                  <a:pt x="34" y="42"/>
                </a:lnTo>
                <a:lnTo>
                  <a:pt x="32" y="50"/>
                </a:lnTo>
                <a:lnTo>
                  <a:pt x="30" y="56"/>
                </a:lnTo>
                <a:lnTo>
                  <a:pt x="28" y="64"/>
                </a:lnTo>
                <a:lnTo>
                  <a:pt x="28" y="64"/>
                </a:lnTo>
                <a:lnTo>
                  <a:pt x="28" y="64"/>
                </a:lnTo>
                <a:lnTo>
                  <a:pt x="30" y="72"/>
                </a:lnTo>
                <a:lnTo>
                  <a:pt x="32" y="80"/>
                </a:lnTo>
                <a:lnTo>
                  <a:pt x="34" y="86"/>
                </a:lnTo>
                <a:lnTo>
                  <a:pt x="40" y="92"/>
                </a:lnTo>
                <a:lnTo>
                  <a:pt x="44" y="98"/>
                </a:lnTo>
                <a:lnTo>
                  <a:pt x="52" y="102"/>
                </a:lnTo>
                <a:lnTo>
                  <a:pt x="58" y="104"/>
                </a:lnTo>
                <a:lnTo>
                  <a:pt x="66" y="104"/>
                </a:lnTo>
                <a:lnTo>
                  <a:pt x="66" y="104"/>
                </a:lnTo>
                <a:lnTo>
                  <a:pt x="74" y="104"/>
                </a:lnTo>
                <a:lnTo>
                  <a:pt x="82" y="102"/>
                </a:lnTo>
                <a:lnTo>
                  <a:pt x="88" y="98"/>
                </a:lnTo>
                <a:lnTo>
                  <a:pt x="94" y="92"/>
                </a:lnTo>
                <a:lnTo>
                  <a:pt x="98" y="86"/>
                </a:lnTo>
                <a:lnTo>
                  <a:pt x="100" y="80"/>
                </a:lnTo>
                <a:lnTo>
                  <a:pt x="102" y="74"/>
                </a:lnTo>
                <a:lnTo>
                  <a:pt x="104" y="66"/>
                </a:lnTo>
                <a:lnTo>
                  <a:pt x="104"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3" name="Freeform 228"/>
          <p:cNvSpPr>
            <a:spLocks noEditPoints="1"/>
          </p:cNvSpPr>
          <p:nvPr userDrawn="1"/>
        </p:nvSpPr>
        <p:spPr bwMode="auto">
          <a:xfrm>
            <a:off x="6536898" y="1210768"/>
            <a:ext cx="147089" cy="169542"/>
          </a:xfrm>
          <a:custGeom>
            <a:avLst/>
            <a:gdLst>
              <a:gd name="T0" fmla="*/ 82 w 110"/>
              <a:gd name="T1" fmla="*/ 108 h 126"/>
              <a:gd name="T2" fmla="*/ 76 w 110"/>
              <a:gd name="T3" fmla="*/ 116 h 126"/>
              <a:gd name="T4" fmla="*/ 56 w 110"/>
              <a:gd name="T5" fmla="*/ 126 h 126"/>
              <a:gd name="T6" fmla="*/ 44 w 110"/>
              <a:gd name="T7" fmla="*/ 126 h 126"/>
              <a:gd name="T8" fmla="*/ 26 w 110"/>
              <a:gd name="T9" fmla="*/ 124 h 126"/>
              <a:gd name="T10" fmla="*/ 12 w 110"/>
              <a:gd name="T11" fmla="*/ 116 h 126"/>
              <a:gd name="T12" fmla="*/ 4 w 110"/>
              <a:gd name="T13" fmla="*/ 104 h 126"/>
              <a:gd name="T14" fmla="*/ 0 w 110"/>
              <a:gd name="T15" fmla="*/ 88 h 126"/>
              <a:gd name="T16" fmla="*/ 0 w 110"/>
              <a:gd name="T17" fmla="*/ 88 h 126"/>
              <a:gd name="T18" fmla="*/ 4 w 110"/>
              <a:gd name="T19" fmla="*/ 70 h 126"/>
              <a:gd name="T20" fmla="*/ 14 w 110"/>
              <a:gd name="T21" fmla="*/ 58 h 126"/>
              <a:gd name="T22" fmla="*/ 30 w 110"/>
              <a:gd name="T23" fmla="*/ 50 h 126"/>
              <a:gd name="T24" fmla="*/ 50 w 110"/>
              <a:gd name="T25" fmla="*/ 48 h 126"/>
              <a:gd name="T26" fmla="*/ 68 w 110"/>
              <a:gd name="T27" fmla="*/ 50 h 126"/>
              <a:gd name="T28" fmla="*/ 84 w 110"/>
              <a:gd name="T29" fmla="*/ 50 h 126"/>
              <a:gd name="T30" fmla="*/ 82 w 110"/>
              <a:gd name="T31" fmla="*/ 40 h 126"/>
              <a:gd name="T32" fmla="*/ 76 w 110"/>
              <a:gd name="T33" fmla="*/ 32 h 126"/>
              <a:gd name="T34" fmla="*/ 54 w 110"/>
              <a:gd name="T35" fmla="*/ 24 h 126"/>
              <a:gd name="T36" fmla="*/ 34 w 110"/>
              <a:gd name="T37" fmla="*/ 26 h 126"/>
              <a:gd name="T38" fmla="*/ 10 w 110"/>
              <a:gd name="T39" fmla="*/ 10 h 126"/>
              <a:gd name="T40" fmla="*/ 32 w 110"/>
              <a:gd name="T41" fmla="*/ 2 h 126"/>
              <a:gd name="T42" fmla="*/ 56 w 110"/>
              <a:gd name="T43" fmla="*/ 0 h 126"/>
              <a:gd name="T44" fmla="*/ 70 w 110"/>
              <a:gd name="T45" fmla="*/ 0 h 126"/>
              <a:gd name="T46" fmla="*/ 90 w 110"/>
              <a:gd name="T47" fmla="*/ 8 h 126"/>
              <a:gd name="T48" fmla="*/ 104 w 110"/>
              <a:gd name="T49" fmla="*/ 20 h 126"/>
              <a:gd name="T50" fmla="*/ 110 w 110"/>
              <a:gd name="T51" fmla="*/ 40 h 126"/>
              <a:gd name="T52" fmla="*/ 110 w 110"/>
              <a:gd name="T53" fmla="*/ 124 h 126"/>
              <a:gd name="T54" fmla="*/ 84 w 110"/>
              <a:gd name="T55" fmla="*/ 72 h 126"/>
              <a:gd name="T56" fmla="*/ 72 w 110"/>
              <a:gd name="T57" fmla="*/ 70 h 126"/>
              <a:gd name="T58" fmla="*/ 56 w 110"/>
              <a:gd name="T59" fmla="*/ 68 h 126"/>
              <a:gd name="T60" fmla="*/ 34 w 110"/>
              <a:gd name="T61" fmla="*/ 72 h 126"/>
              <a:gd name="T62" fmla="*/ 28 w 110"/>
              <a:gd name="T63" fmla="*/ 86 h 126"/>
              <a:gd name="T64" fmla="*/ 28 w 110"/>
              <a:gd name="T65" fmla="*/ 88 h 126"/>
              <a:gd name="T66" fmla="*/ 34 w 110"/>
              <a:gd name="T67" fmla="*/ 100 h 126"/>
              <a:gd name="T68" fmla="*/ 52 w 110"/>
              <a:gd name="T69" fmla="*/ 106 h 126"/>
              <a:gd name="T70" fmla="*/ 64 w 110"/>
              <a:gd name="T71" fmla="*/ 104 h 126"/>
              <a:gd name="T72" fmla="*/ 82 w 110"/>
              <a:gd name="T73" fmla="*/ 90 h 126"/>
              <a:gd name="T74" fmla="*/ 84 w 110"/>
              <a:gd name="T75" fmla="*/ 8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 h="126">
                <a:moveTo>
                  <a:pt x="82" y="124"/>
                </a:moveTo>
                <a:lnTo>
                  <a:pt x="82" y="108"/>
                </a:lnTo>
                <a:lnTo>
                  <a:pt x="82" y="108"/>
                </a:lnTo>
                <a:lnTo>
                  <a:pt x="76" y="116"/>
                </a:lnTo>
                <a:lnTo>
                  <a:pt x="66" y="122"/>
                </a:lnTo>
                <a:lnTo>
                  <a:pt x="56" y="126"/>
                </a:lnTo>
                <a:lnTo>
                  <a:pt x="44" y="126"/>
                </a:lnTo>
                <a:lnTo>
                  <a:pt x="44" y="126"/>
                </a:lnTo>
                <a:lnTo>
                  <a:pt x="34" y="126"/>
                </a:lnTo>
                <a:lnTo>
                  <a:pt x="26" y="124"/>
                </a:lnTo>
                <a:lnTo>
                  <a:pt x="20" y="120"/>
                </a:lnTo>
                <a:lnTo>
                  <a:pt x="12" y="116"/>
                </a:lnTo>
                <a:lnTo>
                  <a:pt x="8" y="112"/>
                </a:lnTo>
                <a:lnTo>
                  <a:pt x="4" y="104"/>
                </a:lnTo>
                <a:lnTo>
                  <a:pt x="0" y="98"/>
                </a:lnTo>
                <a:lnTo>
                  <a:pt x="0" y="88"/>
                </a:lnTo>
                <a:lnTo>
                  <a:pt x="0" y="88"/>
                </a:lnTo>
                <a:lnTo>
                  <a:pt x="0" y="88"/>
                </a:lnTo>
                <a:lnTo>
                  <a:pt x="0" y="78"/>
                </a:lnTo>
                <a:lnTo>
                  <a:pt x="4" y="70"/>
                </a:lnTo>
                <a:lnTo>
                  <a:pt x="8" y="64"/>
                </a:lnTo>
                <a:lnTo>
                  <a:pt x="14" y="58"/>
                </a:lnTo>
                <a:lnTo>
                  <a:pt x="22" y="54"/>
                </a:lnTo>
                <a:lnTo>
                  <a:pt x="30" y="50"/>
                </a:lnTo>
                <a:lnTo>
                  <a:pt x="40" y="48"/>
                </a:lnTo>
                <a:lnTo>
                  <a:pt x="50" y="48"/>
                </a:lnTo>
                <a:lnTo>
                  <a:pt x="50" y="48"/>
                </a:lnTo>
                <a:lnTo>
                  <a:pt x="68" y="50"/>
                </a:lnTo>
                <a:lnTo>
                  <a:pt x="84" y="54"/>
                </a:lnTo>
                <a:lnTo>
                  <a:pt x="84" y="50"/>
                </a:lnTo>
                <a:lnTo>
                  <a:pt x="84" y="50"/>
                </a:lnTo>
                <a:lnTo>
                  <a:pt x="82" y="40"/>
                </a:lnTo>
                <a:lnTo>
                  <a:pt x="78" y="36"/>
                </a:lnTo>
                <a:lnTo>
                  <a:pt x="76" y="32"/>
                </a:lnTo>
                <a:lnTo>
                  <a:pt x="66" y="26"/>
                </a:lnTo>
                <a:lnTo>
                  <a:pt x="54" y="24"/>
                </a:lnTo>
                <a:lnTo>
                  <a:pt x="54" y="24"/>
                </a:lnTo>
                <a:lnTo>
                  <a:pt x="34" y="26"/>
                </a:lnTo>
                <a:lnTo>
                  <a:pt x="18" y="32"/>
                </a:lnTo>
                <a:lnTo>
                  <a:pt x="10" y="10"/>
                </a:lnTo>
                <a:lnTo>
                  <a:pt x="10" y="10"/>
                </a:lnTo>
                <a:lnTo>
                  <a:pt x="32" y="2"/>
                </a:lnTo>
                <a:lnTo>
                  <a:pt x="44" y="0"/>
                </a:lnTo>
                <a:lnTo>
                  <a:pt x="56" y="0"/>
                </a:lnTo>
                <a:lnTo>
                  <a:pt x="56" y="0"/>
                </a:lnTo>
                <a:lnTo>
                  <a:pt x="70" y="0"/>
                </a:lnTo>
                <a:lnTo>
                  <a:pt x="80" y="4"/>
                </a:lnTo>
                <a:lnTo>
                  <a:pt x="90" y="8"/>
                </a:lnTo>
                <a:lnTo>
                  <a:pt x="98" y="14"/>
                </a:lnTo>
                <a:lnTo>
                  <a:pt x="104" y="20"/>
                </a:lnTo>
                <a:lnTo>
                  <a:pt x="108" y="30"/>
                </a:lnTo>
                <a:lnTo>
                  <a:pt x="110" y="40"/>
                </a:lnTo>
                <a:lnTo>
                  <a:pt x="110" y="52"/>
                </a:lnTo>
                <a:lnTo>
                  <a:pt x="110" y="124"/>
                </a:lnTo>
                <a:lnTo>
                  <a:pt x="82" y="124"/>
                </a:lnTo>
                <a:close/>
                <a:moveTo>
                  <a:pt x="84" y="72"/>
                </a:moveTo>
                <a:lnTo>
                  <a:pt x="84" y="72"/>
                </a:lnTo>
                <a:lnTo>
                  <a:pt x="72" y="70"/>
                </a:lnTo>
                <a:lnTo>
                  <a:pt x="56" y="68"/>
                </a:lnTo>
                <a:lnTo>
                  <a:pt x="56" y="68"/>
                </a:lnTo>
                <a:lnTo>
                  <a:pt x="44" y="70"/>
                </a:lnTo>
                <a:lnTo>
                  <a:pt x="34" y="72"/>
                </a:lnTo>
                <a:lnTo>
                  <a:pt x="30" y="78"/>
                </a:lnTo>
                <a:lnTo>
                  <a:pt x="28" y="86"/>
                </a:lnTo>
                <a:lnTo>
                  <a:pt x="28" y="88"/>
                </a:lnTo>
                <a:lnTo>
                  <a:pt x="28" y="88"/>
                </a:lnTo>
                <a:lnTo>
                  <a:pt x="30" y="94"/>
                </a:lnTo>
                <a:lnTo>
                  <a:pt x="34" y="100"/>
                </a:lnTo>
                <a:lnTo>
                  <a:pt x="42" y="104"/>
                </a:lnTo>
                <a:lnTo>
                  <a:pt x="52" y="106"/>
                </a:lnTo>
                <a:lnTo>
                  <a:pt x="52" y="106"/>
                </a:lnTo>
                <a:lnTo>
                  <a:pt x="64" y="104"/>
                </a:lnTo>
                <a:lnTo>
                  <a:pt x="74" y="98"/>
                </a:lnTo>
                <a:lnTo>
                  <a:pt x="82" y="90"/>
                </a:lnTo>
                <a:lnTo>
                  <a:pt x="84" y="86"/>
                </a:lnTo>
                <a:lnTo>
                  <a:pt x="84" y="80"/>
                </a:lnTo>
                <a:lnTo>
                  <a:pt x="84" y="72"/>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4" name="Freeform 229"/>
          <p:cNvSpPr>
            <a:spLocks/>
          </p:cNvSpPr>
          <p:nvPr userDrawn="1"/>
        </p:nvSpPr>
        <p:spPr bwMode="auto">
          <a:xfrm>
            <a:off x="6737473" y="1208077"/>
            <a:ext cx="152437" cy="172233"/>
          </a:xfrm>
          <a:custGeom>
            <a:avLst/>
            <a:gdLst>
              <a:gd name="T0" fmla="*/ 0 w 114"/>
              <a:gd name="T1" fmla="*/ 66 h 128"/>
              <a:gd name="T2" fmla="*/ 0 w 114"/>
              <a:gd name="T3" fmla="*/ 64 h 128"/>
              <a:gd name="T4" fmla="*/ 0 w 114"/>
              <a:gd name="T5" fmla="*/ 64 h 128"/>
              <a:gd name="T6" fmla="*/ 2 w 114"/>
              <a:gd name="T7" fmla="*/ 52 h 128"/>
              <a:gd name="T8" fmla="*/ 6 w 114"/>
              <a:gd name="T9" fmla="*/ 40 h 128"/>
              <a:gd name="T10" fmla="*/ 10 w 114"/>
              <a:gd name="T11" fmla="*/ 30 h 128"/>
              <a:gd name="T12" fmla="*/ 18 w 114"/>
              <a:gd name="T13" fmla="*/ 20 h 128"/>
              <a:gd name="T14" fmla="*/ 28 w 114"/>
              <a:gd name="T15" fmla="*/ 12 h 128"/>
              <a:gd name="T16" fmla="*/ 38 w 114"/>
              <a:gd name="T17" fmla="*/ 6 h 128"/>
              <a:gd name="T18" fmla="*/ 50 w 114"/>
              <a:gd name="T19" fmla="*/ 2 h 128"/>
              <a:gd name="T20" fmla="*/ 64 w 114"/>
              <a:gd name="T21" fmla="*/ 0 h 128"/>
              <a:gd name="T22" fmla="*/ 64 w 114"/>
              <a:gd name="T23" fmla="*/ 0 h 128"/>
              <a:gd name="T24" fmla="*/ 80 w 114"/>
              <a:gd name="T25" fmla="*/ 2 h 128"/>
              <a:gd name="T26" fmla="*/ 92 w 114"/>
              <a:gd name="T27" fmla="*/ 6 h 128"/>
              <a:gd name="T28" fmla="*/ 104 w 114"/>
              <a:gd name="T29" fmla="*/ 14 h 128"/>
              <a:gd name="T30" fmla="*/ 114 w 114"/>
              <a:gd name="T31" fmla="*/ 22 h 128"/>
              <a:gd name="T32" fmla="*/ 96 w 114"/>
              <a:gd name="T33" fmla="*/ 40 h 128"/>
              <a:gd name="T34" fmla="*/ 96 w 114"/>
              <a:gd name="T35" fmla="*/ 40 h 128"/>
              <a:gd name="T36" fmla="*/ 90 w 114"/>
              <a:gd name="T37" fmla="*/ 34 h 128"/>
              <a:gd name="T38" fmla="*/ 82 w 114"/>
              <a:gd name="T39" fmla="*/ 30 h 128"/>
              <a:gd name="T40" fmla="*/ 74 w 114"/>
              <a:gd name="T41" fmla="*/ 26 h 128"/>
              <a:gd name="T42" fmla="*/ 64 w 114"/>
              <a:gd name="T43" fmla="*/ 26 h 128"/>
              <a:gd name="T44" fmla="*/ 64 w 114"/>
              <a:gd name="T45" fmla="*/ 26 h 128"/>
              <a:gd name="T46" fmla="*/ 56 w 114"/>
              <a:gd name="T47" fmla="*/ 26 h 128"/>
              <a:gd name="T48" fmla="*/ 50 w 114"/>
              <a:gd name="T49" fmla="*/ 28 h 128"/>
              <a:gd name="T50" fmla="*/ 44 w 114"/>
              <a:gd name="T51" fmla="*/ 32 h 128"/>
              <a:gd name="T52" fmla="*/ 38 w 114"/>
              <a:gd name="T53" fmla="*/ 36 h 128"/>
              <a:gd name="T54" fmla="*/ 34 w 114"/>
              <a:gd name="T55" fmla="*/ 42 h 128"/>
              <a:gd name="T56" fmla="*/ 32 w 114"/>
              <a:gd name="T57" fmla="*/ 50 h 128"/>
              <a:gd name="T58" fmla="*/ 30 w 114"/>
              <a:gd name="T59" fmla="*/ 56 h 128"/>
              <a:gd name="T60" fmla="*/ 28 w 114"/>
              <a:gd name="T61" fmla="*/ 64 h 128"/>
              <a:gd name="T62" fmla="*/ 28 w 114"/>
              <a:gd name="T63" fmla="*/ 64 h 128"/>
              <a:gd name="T64" fmla="*/ 28 w 114"/>
              <a:gd name="T65" fmla="*/ 64 h 128"/>
              <a:gd name="T66" fmla="*/ 30 w 114"/>
              <a:gd name="T67" fmla="*/ 72 h 128"/>
              <a:gd name="T68" fmla="*/ 32 w 114"/>
              <a:gd name="T69" fmla="*/ 80 h 128"/>
              <a:gd name="T70" fmla="*/ 34 w 114"/>
              <a:gd name="T71" fmla="*/ 86 h 128"/>
              <a:gd name="T72" fmla="*/ 38 w 114"/>
              <a:gd name="T73" fmla="*/ 92 h 128"/>
              <a:gd name="T74" fmla="*/ 44 w 114"/>
              <a:gd name="T75" fmla="*/ 98 h 128"/>
              <a:gd name="T76" fmla="*/ 50 w 114"/>
              <a:gd name="T77" fmla="*/ 102 h 128"/>
              <a:gd name="T78" fmla="*/ 58 w 114"/>
              <a:gd name="T79" fmla="*/ 104 h 128"/>
              <a:gd name="T80" fmla="*/ 66 w 114"/>
              <a:gd name="T81" fmla="*/ 104 h 128"/>
              <a:gd name="T82" fmla="*/ 66 w 114"/>
              <a:gd name="T83" fmla="*/ 104 h 128"/>
              <a:gd name="T84" fmla="*/ 74 w 114"/>
              <a:gd name="T85" fmla="*/ 104 h 128"/>
              <a:gd name="T86" fmla="*/ 82 w 114"/>
              <a:gd name="T87" fmla="*/ 100 h 128"/>
              <a:gd name="T88" fmla="*/ 90 w 114"/>
              <a:gd name="T89" fmla="*/ 96 h 128"/>
              <a:gd name="T90" fmla="*/ 98 w 114"/>
              <a:gd name="T91" fmla="*/ 90 h 128"/>
              <a:gd name="T92" fmla="*/ 114 w 114"/>
              <a:gd name="T93" fmla="*/ 106 h 128"/>
              <a:gd name="T94" fmla="*/ 114 w 114"/>
              <a:gd name="T95" fmla="*/ 106 h 128"/>
              <a:gd name="T96" fmla="*/ 104 w 114"/>
              <a:gd name="T97" fmla="*/ 114 h 128"/>
              <a:gd name="T98" fmla="*/ 94 w 114"/>
              <a:gd name="T99" fmla="*/ 122 h 128"/>
              <a:gd name="T100" fmla="*/ 80 w 114"/>
              <a:gd name="T101" fmla="*/ 128 h 128"/>
              <a:gd name="T102" fmla="*/ 64 w 114"/>
              <a:gd name="T103" fmla="*/ 128 h 128"/>
              <a:gd name="T104" fmla="*/ 64 w 114"/>
              <a:gd name="T105" fmla="*/ 128 h 128"/>
              <a:gd name="T106" fmla="*/ 50 w 114"/>
              <a:gd name="T107" fmla="*/ 128 h 128"/>
              <a:gd name="T108" fmla="*/ 38 w 114"/>
              <a:gd name="T109" fmla="*/ 124 h 128"/>
              <a:gd name="T110" fmla="*/ 28 w 114"/>
              <a:gd name="T111" fmla="*/ 118 h 128"/>
              <a:gd name="T112" fmla="*/ 18 w 114"/>
              <a:gd name="T113" fmla="*/ 110 h 128"/>
              <a:gd name="T114" fmla="*/ 10 w 114"/>
              <a:gd name="T115" fmla="*/ 100 h 128"/>
              <a:gd name="T116" fmla="*/ 6 w 114"/>
              <a:gd name="T117" fmla="*/ 90 h 128"/>
              <a:gd name="T118" fmla="*/ 2 w 114"/>
              <a:gd name="T119" fmla="*/ 78 h 128"/>
              <a:gd name="T120" fmla="*/ 0 w 114"/>
              <a:gd name="T121" fmla="*/ 66 h 128"/>
              <a:gd name="T122" fmla="*/ 0 w 114"/>
              <a:gd name="T123"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14" h="128">
                <a:moveTo>
                  <a:pt x="0" y="66"/>
                </a:moveTo>
                <a:lnTo>
                  <a:pt x="0" y="64"/>
                </a:lnTo>
                <a:lnTo>
                  <a:pt x="0" y="64"/>
                </a:lnTo>
                <a:lnTo>
                  <a:pt x="2" y="52"/>
                </a:lnTo>
                <a:lnTo>
                  <a:pt x="6" y="40"/>
                </a:lnTo>
                <a:lnTo>
                  <a:pt x="10" y="30"/>
                </a:lnTo>
                <a:lnTo>
                  <a:pt x="18" y="20"/>
                </a:lnTo>
                <a:lnTo>
                  <a:pt x="28" y="12"/>
                </a:lnTo>
                <a:lnTo>
                  <a:pt x="38" y="6"/>
                </a:lnTo>
                <a:lnTo>
                  <a:pt x="50" y="2"/>
                </a:lnTo>
                <a:lnTo>
                  <a:pt x="64" y="0"/>
                </a:lnTo>
                <a:lnTo>
                  <a:pt x="64" y="0"/>
                </a:lnTo>
                <a:lnTo>
                  <a:pt x="80" y="2"/>
                </a:lnTo>
                <a:lnTo>
                  <a:pt x="92" y="6"/>
                </a:lnTo>
                <a:lnTo>
                  <a:pt x="104" y="14"/>
                </a:lnTo>
                <a:lnTo>
                  <a:pt x="114" y="22"/>
                </a:lnTo>
                <a:lnTo>
                  <a:pt x="96" y="40"/>
                </a:lnTo>
                <a:lnTo>
                  <a:pt x="96" y="40"/>
                </a:lnTo>
                <a:lnTo>
                  <a:pt x="90" y="34"/>
                </a:lnTo>
                <a:lnTo>
                  <a:pt x="82" y="30"/>
                </a:lnTo>
                <a:lnTo>
                  <a:pt x="74" y="26"/>
                </a:lnTo>
                <a:lnTo>
                  <a:pt x="64" y="26"/>
                </a:lnTo>
                <a:lnTo>
                  <a:pt x="64" y="26"/>
                </a:lnTo>
                <a:lnTo>
                  <a:pt x="56" y="26"/>
                </a:lnTo>
                <a:lnTo>
                  <a:pt x="50" y="28"/>
                </a:lnTo>
                <a:lnTo>
                  <a:pt x="44" y="32"/>
                </a:lnTo>
                <a:lnTo>
                  <a:pt x="38" y="36"/>
                </a:lnTo>
                <a:lnTo>
                  <a:pt x="34" y="42"/>
                </a:lnTo>
                <a:lnTo>
                  <a:pt x="32" y="50"/>
                </a:lnTo>
                <a:lnTo>
                  <a:pt x="30" y="56"/>
                </a:lnTo>
                <a:lnTo>
                  <a:pt x="28" y="64"/>
                </a:lnTo>
                <a:lnTo>
                  <a:pt x="28" y="64"/>
                </a:lnTo>
                <a:lnTo>
                  <a:pt x="28" y="64"/>
                </a:lnTo>
                <a:lnTo>
                  <a:pt x="30" y="72"/>
                </a:lnTo>
                <a:lnTo>
                  <a:pt x="32" y="80"/>
                </a:lnTo>
                <a:lnTo>
                  <a:pt x="34" y="86"/>
                </a:lnTo>
                <a:lnTo>
                  <a:pt x="38" y="92"/>
                </a:lnTo>
                <a:lnTo>
                  <a:pt x="44" y="98"/>
                </a:lnTo>
                <a:lnTo>
                  <a:pt x="50" y="102"/>
                </a:lnTo>
                <a:lnTo>
                  <a:pt x="58" y="104"/>
                </a:lnTo>
                <a:lnTo>
                  <a:pt x="66" y="104"/>
                </a:lnTo>
                <a:lnTo>
                  <a:pt x="66" y="104"/>
                </a:lnTo>
                <a:lnTo>
                  <a:pt x="74" y="104"/>
                </a:lnTo>
                <a:lnTo>
                  <a:pt x="82" y="100"/>
                </a:lnTo>
                <a:lnTo>
                  <a:pt x="90" y="96"/>
                </a:lnTo>
                <a:lnTo>
                  <a:pt x="98" y="90"/>
                </a:lnTo>
                <a:lnTo>
                  <a:pt x="114" y="106"/>
                </a:lnTo>
                <a:lnTo>
                  <a:pt x="114" y="106"/>
                </a:lnTo>
                <a:lnTo>
                  <a:pt x="104" y="114"/>
                </a:lnTo>
                <a:lnTo>
                  <a:pt x="94" y="122"/>
                </a:lnTo>
                <a:lnTo>
                  <a:pt x="80" y="128"/>
                </a:lnTo>
                <a:lnTo>
                  <a:pt x="64" y="128"/>
                </a:lnTo>
                <a:lnTo>
                  <a:pt x="64" y="128"/>
                </a:lnTo>
                <a:lnTo>
                  <a:pt x="50" y="128"/>
                </a:lnTo>
                <a:lnTo>
                  <a:pt x="38" y="124"/>
                </a:lnTo>
                <a:lnTo>
                  <a:pt x="28" y="118"/>
                </a:lnTo>
                <a:lnTo>
                  <a:pt x="18" y="110"/>
                </a:lnTo>
                <a:lnTo>
                  <a:pt x="10" y="100"/>
                </a:lnTo>
                <a:lnTo>
                  <a:pt x="6" y="90"/>
                </a:lnTo>
                <a:lnTo>
                  <a:pt x="2" y="78"/>
                </a:lnTo>
                <a:lnTo>
                  <a:pt x="0" y="66"/>
                </a:lnTo>
                <a:lnTo>
                  <a:pt x="0" y="6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5" name="Freeform 230"/>
          <p:cNvSpPr>
            <a:spLocks/>
          </p:cNvSpPr>
          <p:nvPr userDrawn="1"/>
        </p:nvSpPr>
        <p:spPr bwMode="auto">
          <a:xfrm>
            <a:off x="6940723" y="1148872"/>
            <a:ext cx="147089" cy="228747"/>
          </a:xfrm>
          <a:custGeom>
            <a:avLst/>
            <a:gdLst>
              <a:gd name="T0" fmla="*/ 0 w 110"/>
              <a:gd name="T1" fmla="*/ 0 h 170"/>
              <a:gd name="T2" fmla="*/ 28 w 110"/>
              <a:gd name="T3" fmla="*/ 0 h 170"/>
              <a:gd name="T4" fmla="*/ 28 w 110"/>
              <a:gd name="T5" fmla="*/ 66 h 170"/>
              <a:gd name="T6" fmla="*/ 28 w 110"/>
              <a:gd name="T7" fmla="*/ 66 h 170"/>
              <a:gd name="T8" fmla="*/ 34 w 110"/>
              <a:gd name="T9" fmla="*/ 58 h 170"/>
              <a:gd name="T10" fmla="*/ 42 w 110"/>
              <a:gd name="T11" fmla="*/ 52 h 170"/>
              <a:gd name="T12" fmla="*/ 52 w 110"/>
              <a:gd name="T13" fmla="*/ 46 h 170"/>
              <a:gd name="T14" fmla="*/ 66 w 110"/>
              <a:gd name="T15" fmla="*/ 44 h 170"/>
              <a:gd name="T16" fmla="*/ 66 w 110"/>
              <a:gd name="T17" fmla="*/ 44 h 170"/>
              <a:gd name="T18" fmla="*/ 76 w 110"/>
              <a:gd name="T19" fmla="*/ 46 h 170"/>
              <a:gd name="T20" fmla="*/ 84 w 110"/>
              <a:gd name="T21" fmla="*/ 48 h 170"/>
              <a:gd name="T22" fmla="*/ 92 w 110"/>
              <a:gd name="T23" fmla="*/ 52 h 170"/>
              <a:gd name="T24" fmla="*/ 98 w 110"/>
              <a:gd name="T25" fmla="*/ 58 h 170"/>
              <a:gd name="T26" fmla="*/ 102 w 110"/>
              <a:gd name="T27" fmla="*/ 64 h 170"/>
              <a:gd name="T28" fmla="*/ 106 w 110"/>
              <a:gd name="T29" fmla="*/ 72 h 170"/>
              <a:gd name="T30" fmla="*/ 108 w 110"/>
              <a:gd name="T31" fmla="*/ 82 h 170"/>
              <a:gd name="T32" fmla="*/ 110 w 110"/>
              <a:gd name="T33" fmla="*/ 92 h 170"/>
              <a:gd name="T34" fmla="*/ 110 w 110"/>
              <a:gd name="T35" fmla="*/ 170 h 170"/>
              <a:gd name="T36" fmla="*/ 82 w 110"/>
              <a:gd name="T37" fmla="*/ 170 h 170"/>
              <a:gd name="T38" fmla="*/ 82 w 110"/>
              <a:gd name="T39" fmla="*/ 100 h 170"/>
              <a:gd name="T40" fmla="*/ 82 w 110"/>
              <a:gd name="T41" fmla="*/ 100 h 170"/>
              <a:gd name="T42" fmla="*/ 80 w 110"/>
              <a:gd name="T43" fmla="*/ 88 h 170"/>
              <a:gd name="T44" fmla="*/ 74 w 110"/>
              <a:gd name="T45" fmla="*/ 78 h 170"/>
              <a:gd name="T46" fmla="*/ 66 w 110"/>
              <a:gd name="T47" fmla="*/ 72 h 170"/>
              <a:gd name="T48" fmla="*/ 54 w 110"/>
              <a:gd name="T49" fmla="*/ 70 h 170"/>
              <a:gd name="T50" fmla="*/ 54 w 110"/>
              <a:gd name="T51" fmla="*/ 70 h 170"/>
              <a:gd name="T52" fmla="*/ 44 w 110"/>
              <a:gd name="T53" fmla="*/ 72 h 170"/>
              <a:gd name="T54" fmla="*/ 36 w 110"/>
              <a:gd name="T55" fmla="*/ 78 h 170"/>
              <a:gd name="T56" fmla="*/ 30 w 110"/>
              <a:gd name="T57" fmla="*/ 88 h 170"/>
              <a:gd name="T58" fmla="*/ 28 w 110"/>
              <a:gd name="T59" fmla="*/ 100 h 170"/>
              <a:gd name="T60" fmla="*/ 28 w 110"/>
              <a:gd name="T61" fmla="*/ 170 h 170"/>
              <a:gd name="T62" fmla="*/ 0 w 110"/>
              <a:gd name="T63" fmla="*/ 170 h 170"/>
              <a:gd name="T64" fmla="*/ 0 w 110"/>
              <a:gd name="T65"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70">
                <a:moveTo>
                  <a:pt x="0" y="0"/>
                </a:moveTo>
                <a:lnTo>
                  <a:pt x="28" y="0"/>
                </a:lnTo>
                <a:lnTo>
                  <a:pt x="28" y="66"/>
                </a:lnTo>
                <a:lnTo>
                  <a:pt x="28" y="66"/>
                </a:lnTo>
                <a:lnTo>
                  <a:pt x="34" y="58"/>
                </a:lnTo>
                <a:lnTo>
                  <a:pt x="42" y="52"/>
                </a:lnTo>
                <a:lnTo>
                  <a:pt x="52" y="46"/>
                </a:lnTo>
                <a:lnTo>
                  <a:pt x="66" y="44"/>
                </a:lnTo>
                <a:lnTo>
                  <a:pt x="66" y="44"/>
                </a:lnTo>
                <a:lnTo>
                  <a:pt x="76" y="46"/>
                </a:lnTo>
                <a:lnTo>
                  <a:pt x="84" y="48"/>
                </a:lnTo>
                <a:lnTo>
                  <a:pt x="92" y="52"/>
                </a:lnTo>
                <a:lnTo>
                  <a:pt x="98" y="58"/>
                </a:lnTo>
                <a:lnTo>
                  <a:pt x="102" y="64"/>
                </a:lnTo>
                <a:lnTo>
                  <a:pt x="106" y="72"/>
                </a:lnTo>
                <a:lnTo>
                  <a:pt x="108" y="82"/>
                </a:lnTo>
                <a:lnTo>
                  <a:pt x="110" y="92"/>
                </a:lnTo>
                <a:lnTo>
                  <a:pt x="110" y="170"/>
                </a:lnTo>
                <a:lnTo>
                  <a:pt x="82" y="170"/>
                </a:lnTo>
                <a:lnTo>
                  <a:pt x="82" y="100"/>
                </a:lnTo>
                <a:lnTo>
                  <a:pt x="82" y="100"/>
                </a:lnTo>
                <a:lnTo>
                  <a:pt x="80" y="88"/>
                </a:lnTo>
                <a:lnTo>
                  <a:pt x="74" y="78"/>
                </a:lnTo>
                <a:lnTo>
                  <a:pt x="66" y="72"/>
                </a:lnTo>
                <a:lnTo>
                  <a:pt x="54" y="70"/>
                </a:lnTo>
                <a:lnTo>
                  <a:pt x="54" y="70"/>
                </a:lnTo>
                <a:lnTo>
                  <a:pt x="44" y="72"/>
                </a:lnTo>
                <a:lnTo>
                  <a:pt x="36" y="78"/>
                </a:lnTo>
                <a:lnTo>
                  <a:pt x="30" y="88"/>
                </a:lnTo>
                <a:lnTo>
                  <a:pt x="28" y="100"/>
                </a:lnTo>
                <a:lnTo>
                  <a:pt x="28" y="170"/>
                </a:lnTo>
                <a:lnTo>
                  <a:pt x="0" y="170"/>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6" name="Freeform 232"/>
          <p:cNvSpPr>
            <a:spLocks/>
          </p:cNvSpPr>
          <p:nvPr userDrawn="1"/>
        </p:nvSpPr>
        <p:spPr bwMode="auto">
          <a:xfrm>
            <a:off x="1220412" y="285750"/>
            <a:ext cx="655214" cy="737372"/>
          </a:xfrm>
          <a:custGeom>
            <a:avLst/>
            <a:gdLst>
              <a:gd name="T0" fmla="*/ 0 w 490"/>
              <a:gd name="T1" fmla="*/ 274 h 548"/>
              <a:gd name="T2" fmla="*/ 2 w 490"/>
              <a:gd name="T3" fmla="*/ 246 h 548"/>
              <a:gd name="T4" fmla="*/ 12 w 490"/>
              <a:gd name="T5" fmla="*/ 194 h 548"/>
              <a:gd name="T6" fmla="*/ 32 w 490"/>
              <a:gd name="T7" fmla="*/ 144 h 548"/>
              <a:gd name="T8" fmla="*/ 60 w 490"/>
              <a:gd name="T9" fmla="*/ 100 h 548"/>
              <a:gd name="T10" fmla="*/ 96 w 490"/>
              <a:gd name="T11" fmla="*/ 64 h 548"/>
              <a:gd name="T12" fmla="*/ 140 w 490"/>
              <a:gd name="T13" fmla="*/ 34 h 548"/>
              <a:gd name="T14" fmla="*/ 190 w 490"/>
              <a:gd name="T15" fmla="*/ 12 h 548"/>
              <a:gd name="T16" fmla="*/ 246 w 490"/>
              <a:gd name="T17" fmla="*/ 2 h 548"/>
              <a:gd name="T18" fmla="*/ 276 w 490"/>
              <a:gd name="T19" fmla="*/ 0 h 548"/>
              <a:gd name="T20" fmla="*/ 344 w 490"/>
              <a:gd name="T21" fmla="*/ 6 h 548"/>
              <a:gd name="T22" fmla="*/ 400 w 490"/>
              <a:gd name="T23" fmla="*/ 24 h 548"/>
              <a:gd name="T24" fmla="*/ 446 w 490"/>
              <a:gd name="T25" fmla="*/ 50 h 548"/>
              <a:gd name="T26" fmla="*/ 486 w 490"/>
              <a:gd name="T27" fmla="*/ 82 h 548"/>
              <a:gd name="T28" fmla="*/ 412 w 490"/>
              <a:gd name="T29" fmla="*/ 168 h 548"/>
              <a:gd name="T30" fmla="*/ 380 w 490"/>
              <a:gd name="T31" fmla="*/ 142 h 548"/>
              <a:gd name="T32" fmla="*/ 348 w 490"/>
              <a:gd name="T33" fmla="*/ 124 h 548"/>
              <a:gd name="T34" fmla="*/ 314 w 490"/>
              <a:gd name="T35" fmla="*/ 112 h 548"/>
              <a:gd name="T36" fmla="*/ 276 w 490"/>
              <a:gd name="T37" fmla="*/ 108 h 548"/>
              <a:gd name="T38" fmla="*/ 260 w 490"/>
              <a:gd name="T39" fmla="*/ 108 h 548"/>
              <a:gd name="T40" fmla="*/ 228 w 490"/>
              <a:gd name="T41" fmla="*/ 116 h 548"/>
              <a:gd name="T42" fmla="*/ 200 w 490"/>
              <a:gd name="T43" fmla="*/ 128 h 548"/>
              <a:gd name="T44" fmla="*/ 176 w 490"/>
              <a:gd name="T45" fmla="*/ 146 h 548"/>
              <a:gd name="T46" fmla="*/ 156 w 490"/>
              <a:gd name="T47" fmla="*/ 168 h 548"/>
              <a:gd name="T48" fmla="*/ 140 w 490"/>
              <a:gd name="T49" fmla="*/ 194 h 548"/>
              <a:gd name="T50" fmla="*/ 130 w 490"/>
              <a:gd name="T51" fmla="*/ 224 h 548"/>
              <a:gd name="T52" fmla="*/ 124 w 490"/>
              <a:gd name="T53" fmla="*/ 256 h 548"/>
              <a:gd name="T54" fmla="*/ 122 w 490"/>
              <a:gd name="T55" fmla="*/ 274 h 548"/>
              <a:gd name="T56" fmla="*/ 124 w 490"/>
              <a:gd name="T57" fmla="*/ 292 h 548"/>
              <a:gd name="T58" fmla="*/ 128 w 490"/>
              <a:gd name="T59" fmla="*/ 324 h 548"/>
              <a:gd name="T60" fmla="*/ 140 w 490"/>
              <a:gd name="T61" fmla="*/ 352 h 548"/>
              <a:gd name="T62" fmla="*/ 156 w 490"/>
              <a:gd name="T63" fmla="*/ 380 h 548"/>
              <a:gd name="T64" fmla="*/ 176 w 490"/>
              <a:gd name="T65" fmla="*/ 402 h 548"/>
              <a:gd name="T66" fmla="*/ 200 w 490"/>
              <a:gd name="T67" fmla="*/ 420 h 548"/>
              <a:gd name="T68" fmla="*/ 228 w 490"/>
              <a:gd name="T69" fmla="*/ 432 h 548"/>
              <a:gd name="T70" fmla="*/ 260 w 490"/>
              <a:gd name="T71" fmla="*/ 440 h 548"/>
              <a:gd name="T72" fmla="*/ 276 w 490"/>
              <a:gd name="T73" fmla="*/ 440 h 548"/>
              <a:gd name="T74" fmla="*/ 318 w 490"/>
              <a:gd name="T75" fmla="*/ 436 h 548"/>
              <a:gd name="T76" fmla="*/ 352 w 490"/>
              <a:gd name="T77" fmla="*/ 424 h 548"/>
              <a:gd name="T78" fmla="*/ 384 w 490"/>
              <a:gd name="T79" fmla="*/ 404 h 548"/>
              <a:gd name="T80" fmla="*/ 490 w 490"/>
              <a:gd name="T81" fmla="*/ 454 h 548"/>
              <a:gd name="T82" fmla="*/ 468 w 490"/>
              <a:gd name="T83" fmla="*/ 474 h 548"/>
              <a:gd name="T84" fmla="*/ 424 w 490"/>
              <a:gd name="T85" fmla="*/ 508 h 548"/>
              <a:gd name="T86" fmla="*/ 372 w 490"/>
              <a:gd name="T87" fmla="*/ 534 h 548"/>
              <a:gd name="T88" fmla="*/ 308 w 490"/>
              <a:gd name="T89" fmla="*/ 546 h 548"/>
              <a:gd name="T90" fmla="*/ 272 w 490"/>
              <a:gd name="T91" fmla="*/ 548 h 548"/>
              <a:gd name="T92" fmla="*/ 216 w 490"/>
              <a:gd name="T93" fmla="*/ 542 h 548"/>
              <a:gd name="T94" fmla="*/ 164 w 490"/>
              <a:gd name="T95" fmla="*/ 526 h 548"/>
              <a:gd name="T96" fmla="*/ 118 w 490"/>
              <a:gd name="T97" fmla="*/ 502 h 548"/>
              <a:gd name="T98" fmla="*/ 78 w 490"/>
              <a:gd name="T99" fmla="*/ 468 h 548"/>
              <a:gd name="T100" fmla="*/ 46 w 490"/>
              <a:gd name="T101" fmla="*/ 428 h 548"/>
              <a:gd name="T102" fmla="*/ 22 w 490"/>
              <a:gd name="T103" fmla="*/ 382 h 548"/>
              <a:gd name="T104" fmla="*/ 6 w 490"/>
              <a:gd name="T105" fmla="*/ 332 h 548"/>
              <a:gd name="T106" fmla="*/ 0 w 490"/>
              <a:gd name="T107" fmla="*/ 27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0" h="548">
                <a:moveTo>
                  <a:pt x="0" y="276"/>
                </a:moveTo>
                <a:lnTo>
                  <a:pt x="0" y="274"/>
                </a:lnTo>
                <a:lnTo>
                  <a:pt x="0" y="274"/>
                </a:lnTo>
                <a:lnTo>
                  <a:pt x="2" y="246"/>
                </a:lnTo>
                <a:lnTo>
                  <a:pt x="6" y="220"/>
                </a:lnTo>
                <a:lnTo>
                  <a:pt x="12" y="194"/>
                </a:lnTo>
                <a:lnTo>
                  <a:pt x="22" y="168"/>
                </a:lnTo>
                <a:lnTo>
                  <a:pt x="32" y="144"/>
                </a:lnTo>
                <a:lnTo>
                  <a:pt x="46" y="122"/>
                </a:lnTo>
                <a:lnTo>
                  <a:pt x="60" y="100"/>
                </a:lnTo>
                <a:lnTo>
                  <a:pt x="78" y="80"/>
                </a:lnTo>
                <a:lnTo>
                  <a:pt x="96" y="64"/>
                </a:lnTo>
                <a:lnTo>
                  <a:pt x="118" y="48"/>
                </a:lnTo>
                <a:lnTo>
                  <a:pt x="140" y="34"/>
                </a:lnTo>
                <a:lnTo>
                  <a:pt x="166" y="22"/>
                </a:lnTo>
                <a:lnTo>
                  <a:pt x="190" y="12"/>
                </a:lnTo>
                <a:lnTo>
                  <a:pt x="218" y="6"/>
                </a:lnTo>
                <a:lnTo>
                  <a:pt x="246" y="2"/>
                </a:lnTo>
                <a:lnTo>
                  <a:pt x="276" y="0"/>
                </a:lnTo>
                <a:lnTo>
                  <a:pt x="276" y="0"/>
                </a:lnTo>
                <a:lnTo>
                  <a:pt x="312" y="2"/>
                </a:lnTo>
                <a:lnTo>
                  <a:pt x="344" y="6"/>
                </a:lnTo>
                <a:lnTo>
                  <a:pt x="374" y="14"/>
                </a:lnTo>
                <a:lnTo>
                  <a:pt x="400" y="24"/>
                </a:lnTo>
                <a:lnTo>
                  <a:pt x="424" y="36"/>
                </a:lnTo>
                <a:lnTo>
                  <a:pt x="446" y="50"/>
                </a:lnTo>
                <a:lnTo>
                  <a:pt x="466" y="64"/>
                </a:lnTo>
                <a:lnTo>
                  <a:pt x="486" y="82"/>
                </a:lnTo>
                <a:lnTo>
                  <a:pt x="412" y="168"/>
                </a:lnTo>
                <a:lnTo>
                  <a:pt x="412" y="168"/>
                </a:lnTo>
                <a:lnTo>
                  <a:pt x="396" y="154"/>
                </a:lnTo>
                <a:lnTo>
                  <a:pt x="380" y="142"/>
                </a:lnTo>
                <a:lnTo>
                  <a:pt x="364" y="132"/>
                </a:lnTo>
                <a:lnTo>
                  <a:pt x="348" y="124"/>
                </a:lnTo>
                <a:lnTo>
                  <a:pt x="332" y="118"/>
                </a:lnTo>
                <a:lnTo>
                  <a:pt x="314" y="112"/>
                </a:lnTo>
                <a:lnTo>
                  <a:pt x="296" y="108"/>
                </a:lnTo>
                <a:lnTo>
                  <a:pt x="276" y="108"/>
                </a:lnTo>
                <a:lnTo>
                  <a:pt x="276" y="108"/>
                </a:lnTo>
                <a:lnTo>
                  <a:pt x="260" y="108"/>
                </a:lnTo>
                <a:lnTo>
                  <a:pt x="244" y="112"/>
                </a:lnTo>
                <a:lnTo>
                  <a:pt x="228" y="116"/>
                </a:lnTo>
                <a:lnTo>
                  <a:pt x="214" y="120"/>
                </a:lnTo>
                <a:lnTo>
                  <a:pt x="200" y="128"/>
                </a:lnTo>
                <a:lnTo>
                  <a:pt x="188" y="136"/>
                </a:lnTo>
                <a:lnTo>
                  <a:pt x="176" y="146"/>
                </a:lnTo>
                <a:lnTo>
                  <a:pt x="166" y="156"/>
                </a:lnTo>
                <a:lnTo>
                  <a:pt x="156" y="168"/>
                </a:lnTo>
                <a:lnTo>
                  <a:pt x="148" y="180"/>
                </a:lnTo>
                <a:lnTo>
                  <a:pt x="140" y="194"/>
                </a:lnTo>
                <a:lnTo>
                  <a:pt x="134" y="208"/>
                </a:lnTo>
                <a:lnTo>
                  <a:pt x="130" y="224"/>
                </a:lnTo>
                <a:lnTo>
                  <a:pt x="126" y="240"/>
                </a:lnTo>
                <a:lnTo>
                  <a:pt x="124" y="256"/>
                </a:lnTo>
                <a:lnTo>
                  <a:pt x="122" y="272"/>
                </a:lnTo>
                <a:lnTo>
                  <a:pt x="122" y="274"/>
                </a:lnTo>
                <a:lnTo>
                  <a:pt x="122" y="274"/>
                </a:lnTo>
                <a:lnTo>
                  <a:pt x="124" y="292"/>
                </a:lnTo>
                <a:lnTo>
                  <a:pt x="126" y="308"/>
                </a:lnTo>
                <a:lnTo>
                  <a:pt x="128" y="324"/>
                </a:lnTo>
                <a:lnTo>
                  <a:pt x="134" y="338"/>
                </a:lnTo>
                <a:lnTo>
                  <a:pt x="140" y="352"/>
                </a:lnTo>
                <a:lnTo>
                  <a:pt x="148" y="366"/>
                </a:lnTo>
                <a:lnTo>
                  <a:pt x="156" y="380"/>
                </a:lnTo>
                <a:lnTo>
                  <a:pt x="166" y="392"/>
                </a:lnTo>
                <a:lnTo>
                  <a:pt x="176" y="402"/>
                </a:lnTo>
                <a:lnTo>
                  <a:pt x="188" y="412"/>
                </a:lnTo>
                <a:lnTo>
                  <a:pt x="200" y="420"/>
                </a:lnTo>
                <a:lnTo>
                  <a:pt x="214" y="428"/>
                </a:lnTo>
                <a:lnTo>
                  <a:pt x="228" y="432"/>
                </a:lnTo>
                <a:lnTo>
                  <a:pt x="244" y="438"/>
                </a:lnTo>
                <a:lnTo>
                  <a:pt x="260" y="440"/>
                </a:lnTo>
                <a:lnTo>
                  <a:pt x="276" y="440"/>
                </a:lnTo>
                <a:lnTo>
                  <a:pt x="276" y="440"/>
                </a:lnTo>
                <a:lnTo>
                  <a:pt x="298" y="440"/>
                </a:lnTo>
                <a:lnTo>
                  <a:pt x="318" y="436"/>
                </a:lnTo>
                <a:lnTo>
                  <a:pt x="336" y="430"/>
                </a:lnTo>
                <a:lnTo>
                  <a:pt x="352" y="424"/>
                </a:lnTo>
                <a:lnTo>
                  <a:pt x="368" y="414"/>
                </a:lnTo>
                <a:lnTo>
                  <a:pt x="384" y="404"/>
                </a:lnTo>
                <a:lnTo>
                  <a:pt x="416" y="378"/>
                </a:lnTo>
                <a:lnTo>
                  <a:pt x="490" y="454"/>
                </a:lnTo>
                <a:lnTo>
                  <a:pt x="490" y="454"/>
                </a:lnTo>
                <a:lnTo>
                  <a:pt x="468" y="474"/>
                </a:lnTo>
                <a:lnTo>
                  <a:pt x="446" y="492"/>
                </a:lnTo>
                <a:lnTo>
                  <a:pt x="424" y="508"/>
                </a:lnTo>
                <a:lnTo>
                  <a:pt x="398" y="522"/>
                </a:lnTo>
                <a:lnTo>
                  <a:pt x="372" y="534"/>
                </a:lnTo>
                <a:lnTo>
                  <a:pt x="342" y="542"/>
                </a:lnTo>
                <a:lnTo>
                  <a:pt x="308" y="546"/>
                </a:lnTo>
                <a:lnTo>
                  <a:pt x="272" y="548"/>
                </a:lnTo>
                <a:lnTo>
                  <a:pt x="272" y="548"/>
                </a:lnTo>
                <a:lnTo>
                  <a:pt x="244" y="546"/>
                </a:lnTo>
                <a:lnTo>
                  <a:pt x="216" y="542"/>
                </a:lnTo>
                <a:lnTo>
                  <a:pt x="190" y="536"/>
                </a:lnTo>
                <a:lnTo>
                  <a:pt x="164" y="526"/>
                </a:lnTo>
                <a:lnTo>
                  <a:pt x="140" y="516"/>
                </a:lnTo>
                <a:lnTo>
                  <a:pt x="118" y="502"/>
                </a:lnTo>
                <a:lnTo>
                  <a:pt x="98" y="486"/>
                </a:lnTo>
                <a:lnTo>
                  <a:pt x="78" y="468"/>
                </a:lnTo>
                <a:lnTo>
                  <a:pt x="60" y="450"/>
                </a:lnTo>
                <a:lnTo>
                  <a:pt x="46" y="428"/>
                </a:lnTo>
                <a:lnTo>
                  <a:pt x="32" y="406"/>
                </a:lnTo>
                <a:lnTo>
                  <a:pt x="22" y="382"/>
                </a:lnTo>
                <a:lnTo>
                  <a:pt x="12" y="358"/>
                </a:lnTo>
                <a:lnTo>
                  <a:pt x="6" y="332"/>
                </a:lnTo>
                <a:lnTo>
                  <a:pt x="2" y="304"/>
                </a:lnTo>
                <a:lnTo>
                  <a:pt x="0" y="276"/>
                </a:lnTo>
                <a:lnTo>
                  <a:pt x="0" y="27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7" name="Freeform 233"/>
          <p:cNvSpPr>
            <a:spLocks/>
          </p:cNvSpPr>
          <p:nvPr userDrawn="1"/>
        </p:nvSpPr>
        <p:spPr bwMode="auto">
          <a:xfrm>
            <a:off x="1974576" y="299206"/>
            <a:ext cx="599053" cy="710461"/>
          </a:xfrm>
          <a:custGeom>
            <a:avLst/>
            <a:gdLst>
              <a:gd name="T0" fmla="*/ 0 w 448"/>
              <a:gd name="T1" fmla="*/ 0 h 528"/>
              <a:gd name="T2" fmla="*/ 116 w 448"/>
              <a:gd name="T3" fmla="*/ 0 h 528"/>
              <a:gd name="T4" fmla="*/ 116 w 448"/>
              <a:gd name="T5" fmla="*/ 210 h 528"/>
              <a:gd name="T6" fmla="*/ 332 w 448"/>
              <a:gd name="T7" fmla="*/ 210 h 528"/>
              <a:gd name="T8" fmla="*/ 332 w 448"/>
              <a:gd name="T9" fmla="*/ 0 h 528"/>
              <a:gd name="T10" fmla="*/ 448 w 448"/>
              <a:gd name="T11" fmla="*/ 0 h 528"/>
              <a:gd name="T12" fmla="*/ 448 w 448"/>
              <a:gd name="T13" fmla="*/ 528 h 528"/>
              <a:gd name="T14" fmla="*/ 332 w 448"/>
              <a:gd name="T15" fmla="*/ 528 h 528"/>
              <a:gd name="T16" fmla="*/ 332 w 448"/>
              <a:gd name="T17" fmla="*/ 316 h 528"/>
              <a:gd name="T18" fmla="*/ 116 w 448"/>
              <a:gd name="T19" fmla="*/ 316 h 528"/>
              <a:gd name="T20" fmla="*/ 116 w 448"/>
              <a:gd name="T21" fmla="*/ 528 h 528"/>
              <a:gd name="T22" fmla="*/ 0 w 448"/>
              <a:gd name="T23" fmla="*/ 528 h 528"/>
              <a:gd name="T24" fmla="*/ 0 w 448"/>
              <a:gd name="T25"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8" h="528">
                <a:moveTo>
                  <a:pt x="0" y="0"/>
                </a:moveTo>
                <a:lnTo>
                  <a:pt x="116" y="0"/>
                </a:lnTo>
                <a:lnTo>
                  <a:pt x="116" y="210"/>
                </a:lnTo>
                <a:lnTo>
                  <a:pt x="332" y="210"/>
                </a:lnTo>
                <a:lnTo>
                  <a:pt x="332" y="0"/>
                </a:lnTo>
                <a:lnTo>
                  <a:pt x="448" y="0"/>
                </a:lnTo>
                <a:lnTo>
                  <a:pt x="448" y="528"/>
                </a:lnTo>
                <a:lnTo>
                  <a:pt x="332" y="528"/>
                </a:lnTo>
                <a:lnTo>
                  <a:pt x="332" y="316"/>
                </a:lnTo>
                <a:lnTo>
                  <a:pt x="116" y="316"/>
                </a:lnTo>
                <a:lnTo>
                  <a:pt x="116"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38" name="Freeform 234"/>
          <p:cNvSpPr>
            <a:spLocks/>
          </p:cNvSpPr>
          <p:nvPr userDrawn="1"/>
        </p:nvSpPr>
        <p:spPr bwMode="auto">
          <a:xfrm>
            <a:off x="2734090" y="299206"/>
            <a:ext cx="540217" cy="710461"/>
          </a:xfrm>
          <a:custGeom>
            <a:avLst/>
            <a:gdLst>
              <a:gd name="T0" fmla="*/ 0 w 404"/>
              <a:gd name="T1" fmla="*/ 0 h 528"/>
              <a:gd name="T2" fmla="*/ 400 w 404"/>
              <a:gd name="T3" fmla="*/ 0 h 528"/>
              <a:gd name="T4" fmla="*/ 400 w 404"/>
              <a:gd name="T5" fmla="*/ 104 h 528"/>
              <a:gd name="T6" fmla="*/ 116 w 404"/>
              <a:gd name="T7" fmla="*/ 104 h 528"/>
              <a:gd name="T8" fmla="*/ 116 w 404"/>
              <a:gd name="T9" fmla="*/ 210 h 528"/>
              <a:gd name="T10" fmla="*/ 366 w 404"/>
              <a:gd name="T11" fmla="*/ 210 h 528"/>
              <a:gd name="T12" fmla="*/ 366 w 404"/>
              <a:gd name="T13" fmla="*/ 314 h 528"/>
              <a:gd name="T14" fmla="*/ 116 w 404"/>
              <a:gd name="T15" fmla="*/ 314 h 528"/>
              <a:gd name="T16" fmla="*/ 116 w 404"/>
              <a:gd name="T17" fmla="*/ 426 h 528"/>
              <a:gd name="T18" fmla="*/ 404 w 404"/>
              <a:gd name="T19" fmla="*/ 426 h 528"/>
              <a:gd name="T20" fmla="*/ 404 w 404"/>
              <a:gd name="T21" fmla="*/ 528 h 528"/>
              <a:gd name="T22" fmla="*/ 0 w 404"/>
              <a:gd name="T23" fmla="*/ 528 h 528"/>
              <a:gd name="T24" fmla="*/ 0 w 404"/>
              <a:gd name="T25"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4" h="528">
                <a:moveTo>
                  <a:pt x="0" y="0"/>
                </a:moveTo>
                <a:lnTo>
                  <a:pt x="400" y="0"/>
                </a:lnTo>
                <a:lnTo>
                  <a:pt x="400" y="104"/>
                </a:lnTo>
                <a:lnTo>
                  <a:pt x="116" y="104"/>
                </a:lnTo>
                <a:lnTo>
                  <a:pt x="116" y="210"/>
                </a:lnTo>
                <a:lnTo>
                  <a:pt x="366" y="210"/>
                </a:lnTo>
                <a:lnTo>
                  <a:pt x="366" y="314"/>
                </a:lnTo>
                <a:lnTo>
                  <a:pt x="116" y="314"/>
                </a:lnTo>
                <a:lnTo>
                  <a:pt x="116" y="426"/>
                </a:lnTo>
                <a:lnTo>
                  <a:pt x="404" y="426"/>
                </a:lnTo>
                <a:lnTo>
                  <a:pt x="404"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0" name="Freeform 235"/>
          <p:cNvSpPr>
            <a:spLocks/>
          </p:cNvSpPr>
          <p:nvPr userDrawn="1"/>
        </p:nvSpPr>
        <p:spPr bwMode="auto">
          <a:xfrm>
            <a:off x="3408024" y="299206"/>
            <a:ext cx="708701" cy="710461"/>
          </a:xfrm>
          <a:custGeom>
            <a:avLst/>
            <a:gdLst>
              <a:gd name="T0" fmla="*/ 0 w 530"/>
              <a:gd name="T1" fmla="*/ 0 h 528"/>
              <a:gd name="T2" fmla="*/ 126 w 530"/>
              <a:gd name="T3" fmla="*/ 0 h 528"/>
              <a:gd name="T4" fmla="*/ 264 w 530"/>
              <a:gd name="T5" fmla="*/ 224 h 528"/>
              <a:gd name="T6" fmla="*/ 404 w 530"/>
              <a:gd name="T7" fmla="*/ 0 h 528"/>
              <a:gd name="T8" fmla="*/ 530 w 530"/>
              <a:gd name="T9" fmla="*/ 0 h 528"/>
              <a:gd name="T10" fmla="*/ 530 w 530"/>
              <a:gd name="T11" fmla="*/ 528 h 528"/>
              <a:gd name="T12" fmla="*/ 414 w 530"/>
              <a:gd name="T13" fmla="*/ 528 h 528"/>
              <a:gd name="T14" fmla="*/ 414 w 530"/>
              <a:gd name="T15" fmla="*/ 184 h 528"/>
              <a:gd name="T16" fmla="*/ 264 w 530"/>
              <a:gd name="T17" fmla="*/ 410 h 528"/>
              <a:gd name="T18" fmla="*/ 262 w 530"/>
              <a:gd name="T19" fmla="*/ 410 h 528"/>
              <a:gd name="T20" fmla="*/ 114 w 530"/>
              <a:gd name="T21" fmla="*/ 186 h 528"/>
              <a:gd name="T22" fmla="*/ 114 w 530"/>
              <a:gd name="T23" fmla="*/ 528 h 528"/>
              <a:gd name="T24" fmla="*/ 0 w 530"/>
              <a:gd name="T25" fmla="*/ 528 h 528"/>
              <a:gd name="T26" fmla="*/ 0 w 530"/>
              <a:gd name="T2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0" h="528">
                <a:moveTo>
                  <a:pt x="0" y="0"/>
                </a:moveTo>
                <a:lnTo>
                  <a:pt x="126" y="0"/>
                </a:lnTo>
                <a:lnTo>
                  <a:pt x="264" y="224"/>
                </a:lnTo>
                <a:lnTo>
                  <a:pt x="404" y="0"/>
                </a:lnTo>
                <a:lnTo>
                  <a:pt x="530" y="0"/>
                </a:lnTo>
                <a:lnTo>
                  <a:pt x="530" y="528"/>
                </a:lnTo>
                <a:lnTo>
                  <a:pt x="414" y="528"/>
                </a:lnTo>
                <a:lnTo>
                  <a:pt x="414" y="184"/>
                </a:lnTo>
                <a:lnTo>
                  <a:pt x="264" y="410"/>
                </a:lnTo>
                <a:lnTo>
                  <a:pt x="262" y="410"/>
                </a:lnTo>
                <a:lnTo>
                  <a:pt x="114" y="186"/>
                </a:lnTo>
                <a:lnTo>
                  <a:pt x="114"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1" name="Rectangle 236"/>
          <p:cNvSpPr>
            <a:spLocks noChangeArrowheads="1"/>
          </p:cNvSpPr>
          <p:nvPr userDrawn="1"/>
        </p:nvSpPr>
        <p:spPr bwMode="auto">
          <a:xfrm>
            <a:off x="4279859" y="299206"/>
            <a:ext cx="157786" cy="710461"/>
          </a:xfrm>
          <a:prstGeom prst="rect">
            <a:avLst/>
          </a:prstGeom>
          <a:solidFill>
            <a:srgbClr val="F7D3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2" name="Freeform 237"/>
          <p:cNvSpPr>
            <a:spLocks/>
          </p:cNvSpPr>
          <p:nvPr userDrawn="1"/>
        </p:nvSpPr>
        <p:spPr bwMode="auto">
          <a:xfrm>
            <a:off x="4547293" y="288441"/>
            <a:ext cx="558937" cy="731990"/>
          </a:xfrm>
          <a:custGeom>
            <a:avLst/>
            <a:gdLst>
              <a:gd name="T0" fmla="*/ 68 w 418"/>
              <a:gd name="T1" fmla="*/ 378 h 544"/>
              <a:gd name="T2" fmla="*/ 124 w 418"/>
              <a:gd name="T3" fmla="*/ 414 h 544"/>
              <a:gd name="T4" fmla="*/ 184 w 418"/>
              <a:gd name="T5" fmla="*/ 438 h 544"/>
              <a:gd name="T6" fmla="*/ 226 w 418"/>
              <a:gd name="T7" fmla="*/ 442 h 544"/>
              <a:gd name="T8" fmla="*/ 272 w 418"/>
              <a:gd name="T9" fmla="*/ 434 h 544"/>
              <a:gd name="T10" fmla="*/ 298 w 418"/>
              <a:gd name="T11" fmla="*/ 412 h 544"/>
              <a:gd name="T12" fmla="*/ 304 w 418"/>
              <a:gd name="T13" fmla="*/ 390 h 544"/>
              <a:gd name="T14" fmla="*/ 300 w 418"/>
              <a:gd name="T15" fmla="*/ 370 h 544"/>
              <a:gd name="T16" fmla="*/ 270 w 418"/>
              <a:gd name="T17" fmla="*/ 346 h 544"/>
              <a:gd name="T18" fmla="*/ 196 w 418"/>
              <a:gd name="T19" fmla="*/ 322 h 544"/>
              <a:gd name="T20" fmla="*/ 124 w 418"/>
              <a:gd name="T21" fmla="*/ 300 h 544"/>
              <a:gd name="T22" fmla="*/ 70 w 418"/>
              <a:gd name="T23" fmla="*/ 272 h 544"/>
              <a:gd name="T24" fmla="*/ 40 w 418"/>
              <a:gd name="T25" fmla="*/ 240 h 544"/>
              <a:gd name="T26" fmla="*/ 24 w 418"/>
              <a:gd name="T27" fmla="*/ 198 h 544"/>
              <a:gd name="T28" fmla="*/ 22 w 418"/>
              <a:gd name="T29" fmla="*/ 160 h 544"/>
              <a:gd name="T30" fmla="*/ 24 w 418"/>
              <a:gd name="T31" fmla="*/ 126 h 544"/>
              <a:gd name="T32" fmla="*/ 42 w 418"/>
              <a:gd name="T33" fmla="*/ 80 h 544"/>
              <a:gd name="T34" fmla="*/ 74 w 418"/>
              <a:gd name="T35" fmla="*/ 44 h 544"/>
              <a:gd name="T36" fmla="*/ 116 w 418"/>
              <a:gd name="T37" fmla="*/ 18 h 544"/>
              <a:gd name="T38" fmla="*/ 168 w 418"/>
              <a:gd name="T39" fmla="*/ 2 h 544"/>
              <a:gd name="T40" fmla="*/ 206 w 418"/>
              <a:gd name="T41" fmla="*/ 0 h 544"/>
              <a:gd name="T42" fmla="*/ 288 w 418"/>
              <a:gd name="T43" fmla="*/ 10 h 544"/>
              <a:gd name="T44" fmla="*/ 360 w 418"/>
              <a:gd name="T45" fmla="*/ 38 h 544"/>
              <a:gd name="T46" fmla="*/ 342 w 418"/>
              <a:gd name="T47" fmla="*/ 156 h 544"/>
              <a:gd name="T48" fmla="*/ 290 w 418"/>
              <a:gd name="T49" fmla="*/ 124 h 544"/>
              <a:gd name="T50" fmla="*/ 238 w 418"/>
              <a:gd name="T51" fmla="*/ 106 h 544"/>
              <a:gd name="T52" fmla="*/ 206 w 418"/>
              <a:gd name="T53" fmla="*/ 102 h 544"/>
              <a:gd name="T54" fmla="*/ 164 w 418"/>
              <a:gd name="T55" fmla="*/ 110 h 544"/>
              <a:gd name="T56" fmla="*/ 142 w 418"/>
              <a:gd name="T57" fmla="*/ 130 h 544"/>
              <a:gd name="T58" fmla="*/ 138 w 418"/>
              <a:gd name="T59" fmla="*/ 150 h 544"/>
              <a:gd name="T60" fmla="*/ 142 w 418"/>
              <a:gd name="T61" fmla="*/ 172 h 544"/>
              <a:gd name="T62" fmla="*/ 174 w 418"/>
              <a:gd name="T63" fmla="*/ 196 h 544"/>
              <a:gd name="T64" fmla="*/ 252 w 418"/>
              <a:gd name="T65" fmla="*/ 220 h 544"/>
              <a:gd name="T66" fmla="*/ 352 w 418"/>
              <a:gd name="T67" fmla="*/ 258 h 544"/>
              <a:gd name="T68" fmla="*/ 386 w 418"/>
              <a:gd name="T69" fmla="*/ 284 h 544"/>
              <a:gd name="T70" fmla="*/ 408 w 418"/>
              <a:gd name="T71" fmla="*/ 320 h 544"/>
              <a:gd name="T72" fmla="*/ 418 w 418"/>
              <a:gd name="T73" fmla="*/ 362 h 544"/>
              <a:gd name="T74" fmla="*/ 418 w 418"/>
              <a:gd name="T75" fmla="*/ 380 h 544"/>
              <a:gd name="T76" fmla="*/ 410 w 418"/>
              <a:gd name="T77" fmla="*/ 434 h 544"/>
              <a:gd name="T78" fmla="*/ 388 w 418"/>
              <a:gd name="T79" fmla="*/ 478 h 544"/>
              <a:gd name="T80" fmla="*/ 352 w 418"/>
              <a:gd name="T81" fmla="*/ 512 h 544"/>
              <a:gd name="T82" fmla="*/ 304 w 418"/>
              <a:gd name="T83" fmla="*/ 534 h 544"/>
              <a:gd name="T84" fmla="*/ 246 w 418"/>
              <a:gd name="T85" fmla="*/ 544 h 544"/>
              <a:gd name="T86" fmla="*/ 194 w 418"/>
              <a:gd name="T87" fmla="*/ 544 h 544"/>
              <a:gd name="T88" fmla="*/ 106 w 418"/>
              <a:gd name="T89" fmla="*/ 524 h 544"/>
              <a:gd name="T90" fmla="*/ 24 w 418"/>
              <a:gd name="T91" fmla="*/ 48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8" h="544">
                <a:moveTo>
                  <a:pt x="0" y="460"/>
                </a:moveTo>
                <a:lnTo>
                  <a:pt x="68" y="378"/>
                </a:lnTo>
                <a:lnTo>
                  <a:pt x="68" y="378"/>
                </a:lnTo>
                <a:lnTo>
                  <a:pt x="86" y="392"/>
                </a:lnTo>
                <a:lnTo>
                  <a:pt x="106" y="404"/>
                </a:lnTo>
                <a:lnTo>
                  <a:pt x="124" y="414"/>
                </a:lnTo>
                <a:lnTo>
                  <a:pt x="144" y="424"/>
                </a:lnTo>
                <a:lnTo>
                  <a:pt x="162" y="432"/>
                </a:lnTo>
                <a:lnTo>
                  <a:pt x="184" y="438"/>
                </a:lnTo>
                <a:lnTo>
                  <a:pt x="204" y="440"/>
                </a:lnTo>
                <a:lnTo>
                  <a:pt x="226" y="442"/>
                </a:lnTo>
                <a:lnTo>
                  <a:pt x="226" y="442"/>
                </a:lnTo>
                <a:lnTo>
                  <a:pt x="244" y="440"/>
                </a:lnTo>
                <a:lnTo>
                  <a:pt x="258" y="438"/>
                </a:lnTo>
                <a:lnTo>
                  <a:pt x="272" y="434"/>
                </a:lnTo>
                <a:lnTo>
                  <a:pt x="284" y="428"/>
                </a:lnTo>
                <a:lnTo>
                  <a:pt x="292" y="422"/>
                </a:lnTo>
                <a:lnTo>
                  <a:pt x="298" y="412"/>
                </a:lnTo>
                <a:lnTo>
                  <a:pt x="302" y="402"/>
                </a:lnTo>
                <a:lnTo>
                  <a:pt x="304" y="392"/>
                </a:lnTo>
                <a:lnTo>
                  <a:pt x="304" y="390"/>
                </a:lnTo>
                <a:lnTo>
                  <a:pt x="304" y="390"/>
                </a:lnTo>
                <a:lnTo>
                  <a:pt x="302" y="380"/>
                </a:lnTo>
                <a:lnTo>
                  <a:pt x="300" y="370"/>
                </a:lnTo>
                <a:lnTo>
                  <a:pt x="292" y="362"/>
                </a:lnTo>
                <a:lnTo>
                  <a:pt x="284" y="354"/>
                </a:lnTo>
                <a:lnTo>
                  <a:pt x="270" y="346"/>
                </a:lnTo>
                <a:lnTo>
                  <a:pt x="250" y="338"/>
                </a:lnTo>
                <a:lnTo>
                  <a:pt x="226" y="332"/>
                </a:lnTo>
                <a:lnTo>
                  <a:pt x="196" y="322"/>
                </a:lnTo>
                <a:lnTo>
                  <a:pt x="196" y="322"/>
                </a:lnTo>
                <a:lnTo>
                  <a:pt x="158" y="312"/>
                </a:lnTo>
                <a:lnTo>
                  <a:pt x="124" y="300"/>
                </a:lnTo>
                <a:lnTo>
                  <a:pt x="94" y="288"/>
                </a:lnTo>
                <a:lnTo>
                  <a:pt x="82" y="280"/>
                </a:lnTo>
                <a:lnTo>
                  <a:pt x="70" y="272"/>
                </a:lnTo>
                <a:lnTo>
                  <a:pt x="58" y="262"/>
                </a:lnTo>
                <a:lnTo>
                  <a:pt x="48" y="252"/>
                </a:lnTo>
                <a:lnTo>
                  <a:pt x="40" y="240"/>
                </a:lnTo>
                <a:lnTo>
                  <a:pt x="34" y="226"/>
                </a:lnTo>
                <a:lnTo>
                  <a:pt x="28" y="212"/>
                </a:lnTo>
                <a:lnTo>
                  <a:pt x="24" y="198"/>
                </a:lnTo>
                <a:lnTo>
                  <a:pt x="22" y="180"/>
                </a:lnTo>
                <a:lnTo>
                  <a:pt x="22" y="162"/>
                </a:lnTo>
                <a:lnTo>
                  <a:pt x="22" y="160"/>
                </a:lnTo>
                <a:lnTo>
                  <a:pt x="22" y="160"/>
                </a:lnTo>
                <a:lnTo>
                  <a:pt x="22" y="142"/>
                </a:lnTo>
                <a:lnTo>
                  <a:pt x="24" y="126"/>
                </a:lnTo>
                <a:lnTo>
                  <a:pt x="30" y="110"/>
                </a:lnTo>
                <a:lnTo>
                  <a:pt x="36" y="94"/>
                </a:lnTo>
                <a:lnTo>
                  <a:pt x="42" y="80"/>
                </a:lnTo>
                <a:lnTo>
                  <a:pt x="52" y="66"/>
                </a:lnTo>
                <a:lnTo>
                  <a:pt x="62" y="54"/>
                </a:lnTo>
                <a:lnTo>
                  <a:pt x="74" y="44"/>
                </a:lnTo>
                <a:lnTo>
                  <a:pt x="86" y="34"/>
                </a:lnTo>
                <a:lnTo>
                  <a:pt x="100" y="26"/>
                </a:lnTo>
                <a:lnTo>
                  <a:pt x="116" y="18"/>
                </a:lnTo>
                <a:lnTo>
                  <a:pt x="132" y="12"/>
                </a:lnTo>
                <a:lnTo>
                  <a:pt x="150" y="6"/>
                </a:lnTo>
                <a:lnTo>
                  <a:pt x="168" y="2"/>
                </a:lnTo>
                <a:lnTo>
                  <a:pt x="186" y="0"/>
                </a:lnTo>
                <a:lnTo>
                  <a:pt x="206" y="0"/>
                </a:lnTo>
                <a:lnTo>
                  <a:pt x="206" y="0"/>
                </a:lnTo>
                <a:lnTo>
                  <a:pt x="234" y="2"/>
                </a:lnTo>
                <a:lnTo>
                  <a:pt x="262" y="4"/>
                </a:lnTo>
                <a:lnTo>
                  <a:pt x="288" y="10"/>
                </a:lnTo>
                <a:lnTo>
                  <a:pt x="314" y="18"/>
                </a:lnTo>
                <a:lnTo>
                  <a:pt x="338" y="28"/>
                </a:lnTo>
                <a:lnTo>
                  <a:pt x="360" y="38"/>
                </a:lnTo>
                <a:lnTo>
                  <a:pt x="382" y="52"/>
                </a:lnTo>
                <a:lnTo>
                  <a:pt x="404" y="68"/>
                </a:lnTo>
                <a:lnTo>
                  <a:pt x="342" y="156"/>
                </a:lnTo>
                <a:lnTo>
                  <a:pt x="342" y="156"/>
                </a:lnTo>
                <a:lnTo>
                  <a:pt x="308" y="134"/>
                </a:lnTo>
                <a:lnTo>
                  <a:pt x="290" y="124"/>
                </a:lnTo>
                <a:lnTo>
                  <a:pt x="272" y="116"/>
                </a:lnTo>
                <a:lnTo>
                  <a:pt x="256" y="110"/>
                </a:lnTo>
                <a:lnTo>
                  <a:pt x="238" y="106"/>
                </a:lnTo>
                <a:lnTo>
                  <a:pt x="222" y="104"/>
                </a:lnTo>
                <a:lnTo>
                  <a:pt x="206" y="102"/>
                </a:lnTo>
                <a:lnTo>
                  <a:pt x="206" y="102"/>
                </a:lnTo>
                <a:lnTo>
                  <a:pt x="190" y="104"/>
                </a:lnTo>
                <a:lnTo>
                  <a:pt x="176" y="106"/>
                </a:lnTo>
                <a:lnTo>
                  <a:pt x="164" y="110"/>
                </a:lnTo>
                <a:lnTo>
                  <a:pt x="154" y="116"/>
                </a:lnTo>
                <a:lnTo>
                  <a:pt x="146" y="124"/>
                </a:lnTo>
                <a:lnTo>
                  <a:pt x="142" y="130"/>
                </a:lnTo>
                <a:lnTo>
                  <a:pt x="138" y="140"/>
                </a:lnTo>
                <a:lnTo>
                  <a:pt x="138" y="148"/>
                </a:lnTo>
                <a:lnTo>
                  <a:pt x="138" y="150"/>
                </a:lnTo>
                <a:lnTo>
                  <a:pt x="138" y="150"/>
                </a:lnTo>
                <a:lnTo>
                  <a:pt x="138" y="162"/>
                </a:lnTo>
                <a:lnTo>
                  <a:pt x="142" y="172"/>
                </a:lnTo>
                <a:lnTo>
                  <a:pt x="150" y="182"/>
                </a:lnTo>
                <a:lnTo>
                  <a:pt x="160" y="190"/>
                </a:lnTo>
                <a:lnTo>
                  <a:pt x="174" y="196"/>
                </a:lnTo>
                <a:lnTo>
                  <a:pt x="194" y="204"/>
                </a:lnTo>
                <a:lnTo>
                  <a:pt x="252" y="220"/>
                </a:lnTo>
                <a:lnTo>
                  <a:pt x="252" y="220"/>
                </a:lnTo>
                <a:lnTo>
                  <a:pt x="290" y="232"/>
                </a:lnTo>
                <a:lnTo>
                  <a:pt x="322" y="244"/>
                </a:lnTo>
                <a:lnTo>
                  <a:pt x="352" y="258"/>
                </a:lnTo>
                <a:lnTo>
                  <a:pt x="364" y="266"/>
                </a:lnTo>
                <a:lnTo>
                  <a:pt x="376" y="276"/>
                </a:lnTo>
                <a:lnTo>
                  <a:pt x="386" y="284"/>
                </a:lnTo>
                <a:lnTo>
                  <a:pt x="394" y="296"/>
                </a:lnTo>
                <a:lnTo>
                  <a:pt x="402" y="306"/>
                </a:lnTo>
                <a:lnTo>
                  <a:pt x="408" y="320"/>
                </a:lnTo>
                <a:lnTo>
                  <a:pt x="412" y="332"/>
                </a:lnTo>
                <a:lnTo>
                  <a:pt x="416" y="346"/>
                </a:lnTo>
                <a:lnTo>
                  <a:pt x="418" y="362"/>
                </a:lnTo>
                <a:lnTo>
                  <a:pt x="418" y="378"/>
                </a:lnTo>
                <a:lnTo>
                  <a:pt x="418" y="380"/>
                </a:lnTo>
                <a:lnTo>
                  <a:pt x="418" y="380"/>
                </a:lnTo>
                <a:lnTo>
                  <a:pt x="418" y="400"/>
                </a:lnTo>
                <a:lnTo>
                  <a:pt x="416" y="418"/>
                </a:lnTo>
                <a:lnTo>
                  <a:pt x="410" y="434"/>
                </a:lnTo>
                <a:lnTo>
                  <a:pt x="404" y="450"/>
                </a:lnTo>
                <a:lnTo>
                  <a:pt x="396" y="464"/>
                </a:lnTo>
                <a:lnTo>
                  <a:pt x="388" y="478"/>
                </a:lnTo>
                <a:lnTo>
                  <a:pt x="376" y="490"/>
                </a:lnTo>
                <a:lnTo>
                  <a:pt x="364" y="502"/>
                </a:lnTo>
                <a:lnTo>
                  <a:pt x="352" y="512"/>
                </a:lnTo>
                <a:lnTo>
                  <a:pt x="336" y="520"/>
                </a:lnTo>
                <a:lnTo>
                  <a:pt x="320" y="528"/>
                </a:lnTo>
                <a:lnTo>
                  <a:pt x="304" y="534"/>
                </a:lnTo>
                <a:lnTo>
                  <a:pt x="286" y="538"/>
                </a:lnTo>
                <a:lnTo>
                  <a:pt x="266" y="542"/>
                </a:lnTo>
                <a:lnTo>
                  <a:pt x="246" y="544"/>
                </a:lnTo>
                <a:lnTo>
                  <a:pt x="224" y="544"/>
                </a:lnTo>
                <a:lnTo>
                  <a:pt x="224" y="544"/>
                </a:lnTo>
                <a:lnTo>
                  <a:pt x="194" y="544"/>
                </a:lnTo>
                <a:lnTo>
                  <a:pt x="164" y="540"/>
                </a:lnTo>
                <a:lnTo>
                  <a:pt x="136" y="532"/>
                </a:lnTo>
                <a:lnTo>
                  <a:pt x="106" y="524"/>
                </a:lnTo>
                <a:lnTo>
                  <a:pt x="78" y="512"/>
                </a:lnTo>
                <a:lnTo>
                  <a:pt x="50" y="496"/>
                </a:lnTo>
                <a:lnTo>
                  <a:pt x="24" y="480"/>
                </a:lnTo>
                <a:lnTo>
                  <a:pt x="0" y="460"/>
                </a:lnTo>
                <a:lnTo>
                  <a:pt x="0" y="46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3" name="Freeform 238"/>
          <p:cNvSpPr>
            <a:spLocks/>
          </p:cNvSpPr>
          <p:nvPr userDrawn="1"/>
        </p:nvSpPr>
        <p:spPr bwMode="auto">
          <a:xfrm>
            <a:off x="5173090" y="299206"/>
            <a:ext cx="585681" cy="710461"/>
          </a:xfrm>
          <a:custGeom>
            <a:avLst/>
            <a:gdLst>
              <a:gd name="T0" fmla="*/ 160 w 438"/>
              <a:gd name="T1" fmla="*/ 106 h 528"/>
              <a:gd name="T2" fmla="*/ 0 w 438"/>
              <a:gd name="T3" fmla="*/ 106 h 528"/>
              <a:gd name="T4" fmla="*/ 0 w 438"/>
              <a:gd name="T5" fmla="*/ 0 h 528"/>
              <a:gd name="T6" fmla="*/ 438 w 438"/>
              <a:gd name="T7" fmla="*/ 0 h 528"/>
              <a:gd name="T8" fmla="*/ 438 w 438"/>
              <a:gd name="T9" fmla="*/ 106 h 528"/>
              <a:gd name="T10" fmla="*/ 276 w 438"/>
              <a:gd name="T11" fmla="*/ 106 h 528"/>
              <a:gd name="T12" fmla="*/ 276 w 438"/>
              <a:gd name="T13" fmla="*/ 528 h 528"/>
              <a:gd name="T14" fmla="*/ 160 w 438"/>
              <a:gd name="T15" fmla="*/ 528 h 528"/>
              <a:gd name="T16" fmla="*/ 160 w 438"/>
              <a:gd name="T17" fmla="*/ 106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528">
                <a:moveTo>
                  <a:pt x="160" y="106"/>
                </a:moveTo>
                <a:lnTo>
                  <a:pt x="0" y="106"/>
                </a:lnTo>
                <a:lnTo>
                  <a:pt x="0" y="0"/>
                </a:lnTo>
                <a:lnTo>
                  <a:pt x="438" y="0"/>
                </a:lnTo>
                <a:lnTo>
                  <a:pt x="438" y="106"/>
                </a:lnTo>
                <a:lnTo>
                  <a:pt x="276" y="106"/>
                </a:lnTo>
                <a:lnTo>
                  <a:pt x="276" y="528"/>
                </a:lnTo>
                <a:lnTo>
                  <a:pt x="160" y="528"/>
                </a:lnTo>
                <a:lnTo>
                  <a:pt x="160" y="106"/>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4" name="Freeform 239"/>
          <p:cNvSpPr>
            <a:spLocks/>
          </p:cNvSpPr>
          <p:nvPr userDrawn="1"/>
        </p:nvSpPr>
        <p:spPr bwMode="auto">
          <a:xfrm>
            <a:off x="5849698" y="299206"/>
            <a:ext cx="612424" cy="710461"/>
          </a:xfrm>
          <a:custGeom>
            <a:avLst/>
            <a:gdLst>
              <a:gd name="T0" fmla="*/ 0 w 458"/>
              <a:gd name="T1" fmla="*/ 0 h 528"/>
              <a:gd name="T2" fmla="*/ 242 w 458"/>
              <a:gd name="T3" fmla="*/ 0 h 528"/>
              <a:gd name="T4" fmla="*/ 242 w 458"/>
              <a:gd name="T5" fmla="*/ 0 h 528"/>
              <a:gd name="T6" fmla="*/ 268 w 458"/>
              <a:gd name="T7" fmla="*/ 0 h 528"/>
              <a:gd name="T8" fmla="*/ 290 w 458"/>
              <a:gd name="T9" fmla="*/ 4 h 528"/>
              <a:gd name="T10" fmla="*/ 312 w 458"/>
              <a:gd name="T11" fmla="*/ 8 h 528"/>
              <a:gd name="T12" fmla="*/ 332 w 458"/>
              <a:gd name="T13" fmla="*/ 14 h 528"/>
              <a:gd name="T14" fmla="*/ 350 w 458"/>
              <a:gd name="T15" fmla="*/ 22 h 528"/>
              <a:gd name="T16" fmla="*/ 368 w 458"/>
              <a:gd name="T17" fmla="*/ 30 h 528"/>
              <a:gd name="T18" fmla="*/ 382 w 458"/>
              <a:gd name="T19" fmla="*/ 40 h 528"/>
              <a:gd name="T20" fmla="*/ 396 w 458"/>
              <a:gd name="T21" fmla="*/ 54 h 528"/>
              <a:gd name="T22" fmla="*/ 396 w 458"/>
              <a:gd name="T23" fmla="*/ 54 h 528"/>
              <a:gd name="T24" fmla="*/ 408 w 458"/>
              <a:gd name="T25" fmla="*/ 64 h 528"/>
              <a:gd name="T26" fmla="*/ 416 w 458"/>
              <a:gd name="T27" fmla="*/ 78 h 528"/>
              <a:gd name="T28" fmla="*/ 424 w 458"/>
              <a:gd name="T29" fmla="*/ 92 h 528"/>
              <a:gd name="T30" fmla="*/ 430 w 458"/>
              <a:gd name="T31" fmla="*/ 106 h 528"/>
              <a:gd name="T32" fmla="*/ 436 w 458"/>
              <a:gd name="T33" fmla="*/ 122 h 528"/>
              <a:gd name="T34" fmla="*/ 440 w 458"/>
              <a:gd name="T35" fmla="*/ 138 h 528"/>
              <a:gd name="T36" fmla="*/ 442 w 458"/>
              <a:gd name="T37" fmla="*/ 156 h 528"/>
              <a:gd name="T38" fmla="*/ 442 w 458"/>
              <a:gd name="T39" fmla="*/ 174 h 528"/>
              <a:gd name="T40" fmla="*/ 442 w 458"/>
              <a:gd name="T41" fmla="*/ 176 h 528"/>
              <a:gd name="T42" fmla="*/ 442 w 458"/>
              <a:gd name="T43" fmla="*/ 176 h 528"/>
              <a:gd name="T44" fmla="*/ 440 w 458"/>
              <a:gd name="T45" fmla="*/ 206 h 528"/>
              <a:gd name="T46" fmla="*/ 434 w 458"/>
              <a:gd name="T47" fmla="*/ 234 h 528"/>
              <a:gd name="T48" fmla="*/ 424 w 458"/>
              <a:gd name="T49" fmla="*/ 258 h 528"/>
              <a:gd name="T50" fmla="*/ 410 w 458"/>
              <a:gd name="T51" fmla="*/ 280 h 528"/>
              <a:gd name="T52" fmla="*/ 394 w 458"/>
              <a:gd name="T53" fmla="*/ 300 h 528"/>
              <a:gd name="T54" fmla="*/ 374 w 458"/>
              <a:gd name="T55" fmla="*/ 316 h 528"/>
              <a:gd name="T56" fmla="*/ 352 w 458"/>
              <a:gd name="T57" fmla="*/ 330 h 528"/>
              <a:gd name="T58" fmla="*/ 328 w 458"/>
              <a:gd name="T59" fmla="*/ 340 h 528"/>
              <a:gd name="T60" fmla="*/ 458 w 458"/>
              <a:gd name="T61" fmla="*/ 528 h 528"/>
              <a:gd name="T62" fmla="*/ 322 w 458"/>
              <a:gd name="T63" fmla="*/ 528 h 528"/>
              <a:gd name="T64" fmla="*/ 208 w 458"/>
              <a:gd name="T65" fmla="*/ 360 h 528"/>
              <a:gd name="T66" fmla="*/ 118 w 458"/>
              <a:gd name="T67" fmla="*/ 360 h 528"/>
              <a:gd name="T68" fmla="*/ 118 w 458"/>
              <a:gd name="T69" fmla="*/ 528 h 528"/>
              <a:gd name="T70" fmla="*/ 0 w 458"/>
              <a:gd name="T71" fmla="*/ 528 h 528"/>
              <a:gd name="T72" fmla="*/ 0 w 458"/>
              <a:gd name="T73"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58" h="528">
                <a:moveTo>
                  <a:pt x="0" y="0"/>
                </a:moveTo>
                <a:lnTo>
                  <a:pt x="242" y="0"/>
                </a:lnTo>
                <a:lnTo>
                  <a:pt x="242" y="0"/>
                </a:lnTo>
                <a:lnTo>
                  <a:pt x="268" y="0"/>
                </a:lnTo>
                <a:lnTo>
                  <a:pt x="290" y="4"/>
                </a:lnTo>
                <a:lnTo>
                  <a:pt x="312" y="8"/>
                </a:lnTo>
                <a:lnTo>
                  <a:pt x="332" y="14"/>
                </a:lnTo>
                <a:lnTo>
                  <a:pt x="350" y="22"/>
                </a:lnTo>
                <a:lnTo>
                  <a:pt x="368" y="30"/>
                </a:lnTo>
                <a:lnTo>
                  <a:pt x="382" y="40"/>
                </a:lnTo>
                <a:lnTo>
                  <a:pt x="396" y="54"/>
                </a:lnTo>
                <a:lnTo>
                  <a:pt x="396" y="54"/>
                </a:lnTo>
                <a:lnTo>
                  <a:pt x="408" y="64"/>
                </a:lnTo>
                <a:lnTo>
                  <a:pt x="416" y="78"/>
                </a:lnTo>
                <a:lnTo>
                  <a:pt x="424" y="92"/>
                </a:lnTo>
                <a:lnTo>
                  <a:pt x="430" y="106"/>
                </a:lnTo>
                <a:lnTo>
                  <a:pt x="436" y="122"/>
                </a:lnTo>
                <a:lnTo>
                  <a:pt x="440" y="138"/>
                </a:lnTo>
                <a:lnTo>
                  <a:pt x="442" y="156"/>
                </a:lnTo>
                <a:lnTo>
                  <a:pt x="442" y="174"/>
                </a:lnTo>
                <a:lnTo>
                  <a:pt x="442" y="176"/>
                </a:lnTo>
                <a:lnTo>
                  <a:pt x="442" y="176"/>
                </a:lnTo>
                <a:lnTo>
                  <a:pt x="440" y="206"/>
                </a:lnTo>
                <a:lnTo>
                  <a:pt x="434" y="234"/>
                </a:lnTo>
                <a:lnTo>
                  <a:pt x="424" y="258"/>
                </a:lnTo>
                <a:lnTo>
                  <a:pt x="410" y="280"/>
                </a:lnTo>
                <a:lnTo>
                  <a:pt x="394" y="300"/>
                </a:lnTo>
                <a:lnTo>
                  <a:pt x="374" y="316"/>
                </a:lnTo>
                <a:lnTo>
                  <a:pt x="352" y="330"/>
                </a:lnTo>
                <a:lnTo>
                  <a:pt x="328" y="340"/>
                </a:lnTo>
                <a:lnTo>
                  <a:pt x="458" y="528"/>
                </a:lnTo>
                <a:lnTo>
                  <a:pt x="322" y="528"/>
                </a:lnTo>
                <a:lnTo>
                  <a:pt x="208" y="360"/>
                </a:lnTo>
                <a:lnTo>
                  <a:pt x="118" y="360"/>
                </a:lnTo>
                <a:lnTo>
                  <a:pt x="118" y="528"/>
                </a:lnTo>
                <a:lnTo>
                  <a:pt x="0" y="528"/>
                </a:lnTo>
                <a:lnTo>
                  <a:pt x="0" y="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5" name="Freeform 240"/>
          <p:cNvSpPr>
            <a:spLocks/>
          </p:cNvSpPr>
          <p:nvPr userDrawn="1"/>
        </p:nvSpPr>
        <p:spPr bwMode="auto">
          <a:xfrm>
            <a:off x="6007484" y="439145"/>
            <a:ext cx="275457" cy="204527"/>
          </a:xfrm>
          <a:custGeom>
            <a:avLst/>
            <a:gdLst>
              <a:gd name="T0" fmla="*/ 118 w 206"/>
              <a:gd name="T1" fmla="*/ 152 h 152"/>
              <a:gd name="T2" fmla="*/ 118 w 206"/>
              <a:gd name="T3" fmla="*/ 152 h 152"/>
              <a:gd name="T4" fmla="*/ 138 w 206"/>
              <a:gd name="T5" fmla="*/ 152 h 152"/>
              <a:gd name="T6" fmla="*/ 154 w 206"/>
              <a:gd name="T7" fmla="*/ 148 h 152"/>
              <a:gd name="T8" fmla="*/ 170 w 206"/>
              <a:gd name="T9" fmla="*/ 140 h 152"/>
              <a:gd name="T10" fmla="*/ 182 w 206"/>
              <a:gd name="T11" fmla="*/ 132 h 152"/>
              <a:gd name="T12" fmla="*/ 192 w 206"/>
              <a:gd name="T13" fmla="*/ 122 h 152"/>
              <a:gd name="T14" fmla="*/ 200 w 206"/>
              <a:gd name="T15" fmla="*/ 108 h 152"/>
              <a:gd name="T16" fmla="*/ 204 w 206"/>
              <a:gd name="T17" fmla="*/ 94 h 152"/>
              <a:gd name="T18" fmla="*/ 206 w 206"/>
              <a:gd name="T19" fmla="*/ 78 h 152"/>
              <a:gd name="T20" fmla="*/ 206 w 206"/>
              <a:gd name="T21" fmla="*/ 76 h 152"/>
              <a:gd name="T22" fmla="*/ 206 w 206"/>
              <a:gd name="T23" fmla="*/ 76 h 152"/>
              <a:gd name="T24" fmla="*/ 204 w 206"/>
              <a:gd name="T25" fmla="*/ 58 h 152"/>
              <a:gd name="T26" fmla="*/ 200 w 206"/>
              <a:gd name="T27" fmla="*/ 44 h 152"/>
              <a:gd name="T28" fmla="*/ 192 w 206"/>
              <a:gd name="T29" fmla="*/ 30 h 152"/>
              <a:gd name="T30" fmla="*/ 182 w 206"/>
              <a:gd name="T31" fmla="*/ 20 h 152"/>
              <a:gd name="T32" fmla="*/ 168 w 206"/>
              <a:gd name="T33" fmla="*/ 12 h 152"/>
              <a:gd name="T34" fmla="*/ 152 w 206"/>
              <a:gd name="T35" fmla="*/ 6 h 152"/>
              <a:gd name="T36" fmla="*/ 134 w 206"/>
              <a:gd name="T37" fmla="*/ 2 h 152"/>
              <a:gd name="T38" fmla="*/ 114 w 206"/>
              <a:gd name="T39" fmla="*/ 0 h 152"/>
              <a:gd name="T40" fmla="*/ 0 w 206"/>
              <a:gd name="T41" fmla="*/ 0 h 152"/>
              <a:gd name="T42" fmla="*/ 0 w 206"/>
              <a:gd name="T43" fmla="*/ 152 h 152"/>
              <a:gd name="T44" fmla="*/ 118 w 206"/>
              <a:gd name="T45"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6" h="152">
                <a:moveTo>
                  <a:pt x="118" y="152"/>
                </a:moveTo>
                <a:lnTo>
                  <a:pt x="118" y="152"/>
                </a:lnTo>
                <a:lnTo>
                  <a:pt x="138" y="152"/>
                </a:lnTo>
                <a:lnTo>
                  <a:pt x="154" y="148"/>
                </a:lnTo>
                <a:lnTo>
                  <a:pt x="170" y="140"/>
                </a:lnTo>
                <a:lnTo>
                  <a:pt x="182" y="132"/>
                </a:lnTo>
                <a:lnTo>
                  <a:pt x="192" y="122"/>
                </a:lnTo>
                <a:lnTo>
                  <a:pt x="200" y="108"/>
                </a:lnTo>
                <a:lnTo>
                  <a:pt x="204" y="94"/>
                </a:lnTo>
                <a:lnTo>
                  <a:pt x="206" y="78"/>
                </a:lnTo>
                <a:lnTo>
                  <a:pt x="206" y="76"/>
                </a:lnTo>
                <a:lnTo>
                  <a:pt x="206" y="76"/>
                </a:lnTo>
                <a:lnTo>
                  <a:pt x="204" y="58"/>
                </a:lnTo>
                <a:lnTo>
                  <a:pt x="200" y="44"/>
                </a:lnTo>
                <a:lnTo>
                  <a:pt x="192" y="30"/>
                </a:lnTo>
                <a:lnTo>
                  <a:pt x="182" y="20"/>
                </a:lnTo>
                <a:lnTo>
                  <a:pt x="168" y="12"/>
                </a:lnTo>
                <a:lnTo>
                  <a:pt x="152" y="6"/>
                </a:lnTo>
                <a:lnTo>
                  <a:pt x="134" y="2"/>
                </a:lnTo>
                <a:lnTo>
                  <a:pt x="114" y="0"/>
                </a:lnTo>
                <a:lnTo>
                  <a:pt x="0" y="0"/>
                </a:lnTo>
                <a:lnTo>
                  <a:pt x="0" y="152"/>
                </a:lnTo>
                <a:lnTo>
                  <a:pt x="118" y="152"/>
                </a:lnTo>
                <a:close/>
              </a:path>
            </a:pathLst>
          </a:cu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6" name="Freeform 241"/>
          <p:cNvSpPr>
            <a:spLocks/>
          </p:cNvSpPr>
          <p:nvPr userDrawn="1"/>
        </p:nvSpPr>
        <p:spPr bwMode="auto">
          <a:xfrm>
            <a:off x="6462122" y="299206"/>
            <a:ext cx="700678" cy="710461"/>
          </a:xfrm>
          <a:custGeom>
            <a:avLst/>
            <a:gdLst>
              <a:gd name="T0" fmla="*/ 204 w 524"/>
              <a:gd name="T1" fmla="*/ 320 h 528"/>
              <a:gd name="T2" fmla="*/ 0 w 524"/>
              <a:gd name="T3" fmla="*/ 0 h 528"/>
              <a:gd name="T4" fmla="*/ 136 w 524"/>
              <a:gd name="T5" fmla="*/ 0 h 528"/>
              <a:gd name="T6" fmla="*/ 262 w 524"/>
              <a:gd name="T7" fmla="*/ 212 h 528"/>
              <a:gd name="T8" fmla="*/ 390 w 524"/>
              <a:gd name="T9" fmla="*/ 0 h 528"/>
              <a:gd name="T10" fmla="*/ 524 w 524"/>
              <a:gd name="T11" fmla="*/ 0 h 528"/>
              <a:gd name="T12" fmla="*/ 320 w 524"/>
              <a:gd name="T13" fmla="*/ 318 h 528"/>
              <a:gd name="T14" fmla="*/ 320 w 524"/>
              <a:gd name="T15" fmla="*/ 528 h 528"/>
              <a:gd name="T16" fmla="*/ 204 w 524"/>
              <a:gd name="T17" fmla="*/ 528 h 528"/>
              <a:gd name="T18" fmla="*/ 204 w 524"/>
              <a:gd name="T19" fmla="*/ 32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4" h="528">
                <a:moveTo>
                  <a:pt x="204" y="320"/>
                </a:moveTo>
                <a:lnTo>
                  <a:pt x="0" y="0"/>
                </a:lnTo>
                <a:lnTo>
                  <a:pt x="136" y="0"/>
                </a:lnTo>
                <a:lnTo>
                  <a:pt x="262" y="212"/>
                </a:lnTo>
                <a:lnTo>
                  <a:pt x="390" y="0"/>
                </a:lnTo>
                <a:lnTo>
                  <a:pt x="524" y="0"/>
                </a:lnTo>
                <a:lnTo>
                  <a:pt x="320" y="318"/>
                </a:lnTo>
                <a:lnTo>
                  <a:pt x="320" y="528"/>
                </a:lnTo>
                <a:lnTo>
                  <a:pt x="204" y="528"/>
                </a:lnTo>
                <a:lnTo>
                  <a:pt x="204" y="320"/>
                </a:lnTo>
                <a:close/>
              </a:path>
            </a:pathLst>
          </a:custGeom>
          <a:solidFill>
            <a:srgbClr val="F7D300"/>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67" name="Rectangle 41"/>
          <p:cNvSpPr>
            <a:spLocks noChangeArrowheads="1"/>
          </p:cNvSpPr>
          <p:nvPr userDrawn="1"/>
        </p:nvSpPr>
        <p:spPr bwMode="auto">
          <a:xfrm>
            <a:off x="7449970" y="272871"/>
            <a:ext cx="1366336" cy="12003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spAutoFit/>
          </a:bodyPr>
          <a:lstStyle/>
          <a:p>
            <a:pPr fontAlgn="base">
              <a:spcBef>
                <a:spcPct val="0"/>
              </a:spcBef>
              <a:spcAft>
                <a:spcPct val="0"/>
              </a:spcAft>
            </a:pPr>
            <a:r>
              <a:rPr lang="en-US" sz="2600" b="1" dirty="0">
                <a:solidFill>
                  <a:srgbClr val="FFFFFF"/>
                </a:solidFill>
                <a:latin typeface="Arial Black" pitchFamily="34" charset="0"/>
              </a:rPr>
              <a:t>Gilbert </a:t>
            </a:r>
          </a:p>
          <a:p>
            <a:pPr fontAlgn="base">
              <a:spcBef>
                <a:spcPct val="0"/>
              </a:spcBef>
              <a:spcAft>
                <a:spcPct val="0"/>
              </a:spcAft>
            </a:pPr>
            <a:r>
              <a:rPr lang="en-US" sz="2600" b="1" dirty="0">
                <a:solidFill>
                  <a:srgbClr val="FFFFFF"/>
                </a:solidFill>
                <a:latin typeface="Arial Black" pitchFamily="34" charset="0"/>
              </a:rPr>
              <a:t>Kirss </a:t>
            </a:r>
          </a:p>
          <a:p>
            <a:pPr fontAlgn="base">
              <a:spcBef>
                <a:spcPct val="0"/>
              </a:spcBef>
              <a:spcAft>
                <a:spcPct val="0"/>
              </a:spcAft>
            </a:pPr>
            <a:r>
              <a:rPr lang="en-US" sz="2600" b="1" dirty="0">
                <a:solidFill>
                  <a:srgbClr val="FFFFFF"/>
                </a:solidFill>
                <a:latin typeface="Arial Black" pitchFamily="34" charset="0"/>
              </a:rPr>
              <a:t>Foster</a:t>
            </a:r>
          </a:p>
        </p:txBody>
      </p:sp>
    </p:spTree>
    <p:extLst>
      <p:ext uri="{BB962C8B-B14F-4D97-AF65-F5344CB8AC3E}">
        <p14:creationId xmlns:p14="http://schemas.microsoft.com/office/powerpoint/2010/main" val="41794698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effectLst/>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920906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6625"/>
            <a:ext cx="7620000" cy="869950"/>
          </a:xfrm>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a:xfrm>
            <a:off x="228600" y="1066801"/>
            <a:ext cx="8686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1025767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atin typeface="Arial Black" pitchFamily="34" charset="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C635E55-CB1D-472F-9901-EBAF6658061D}" type="slidenum">
              <a:rPr lang="en-US"/>
              <a:pPr>
                <a:defRPr/>
              </a:pPr>
              <a:t>‹#›</a:t>
            </a:fld>
            <a:endParaRPr lang="en-US" dirty="0"/>
          </a:p>
        </p:txBody>
      </p:sp>
    </p:spTree>
    <p:extLst>
      <p:ext uri="{BB962C8B-B14F-4D97-AF65-F5344CB8AC3E}">
        <p14:creationId xmlns:p14="http://schemas.microsoft.com/office/powerpoint/2010/main" val="40021606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3"/>
          <p:cNvSpPr>
            <a:spLocks noGrp="1" noChangeArrowheads="1"/>
          </p:cNvSpPr>
          <p:nvPr>
            <p:ph type="sldNum" sz="quarter" idx="10"/>
          </p:nvPr>
        </p:nvSpPr>
        <p:spPr>
          <a:ln/>
        </p:spPr>
        <p:txBody>
          <a:bodyPr/>
          <a:lstStyle>
            <a:lvl1pPr>
              <a:defRPr/>
            </a:lvl1pPr>
          </a:lstStyle>
          <a:p>
            <a:pPr>
              <a:defRPr/>
            </a:pPr>
            <a:fld id="{A79DE1D1-79E8-40BE-B0AB-F99592B24213}" type="slidenum">
              <a:rPr lang="en-US"/>
              <a:pPr>
                <a:defRPr/>
              </a:pPr>
              <a:t>‹#›</a:t>
            </a:fld>
            <a:endParaRPr lang="en-US" dirty="0"/>
          </a:p>
        </p:txBody>
      </p:sp>
    </p:spTree>
    <p:extLst>
      <p:ext uri="{BB962C8B-B14F-4D97-AF65-F5344CB8AC3E}">
        <p14:creationId xmlns:p14="http://schemas.microsoft.com/office/powerpoint/2010/main" val="2850676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600200"/>
            <a:ext cx="42672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2672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3"/>
          <p:cNvSpPr>
            <a:spLocks noGrp="1" noChangeArrowheads="1"/>
          </p:cNvSpPr>
          <p:nvPr>
            <p:ph type="sldNum" sz="quarter" idx="10"/>
          </p:nvPr>
        </p:nvSpPr>
        <p:spPr>
          <a:ln/>
        </p:spPr>
        <p:txBody>
          <a:bodyPr/>
          <a:lstStyle>
            <a:lvl1pPr>
              <a:defRPr/>
            </a:lvl1pPr>
          </a:lstStyle>
          <a:p>
            <a:pPr>
              <a:defRPr/>
            </a:pPr>
            <a:fld id="{9120F44F-09CE-4E93-ADAB-7E450424D389}" type="slidenum">
              <a:rPr lang="en-US"/>
              <a:pPr>
                <a:defRPr/>
              </a:pPr>
              <a:t>‹#›</a:t>
            </a:fld>
            <a:endParaRPr lang="en-US" dirty="0"/>
          </a:p>
        </p:txBody>
      </p:sp>
    </p:spTree>
    <p:extLst>
      <p:ext uri="{BB962C8B-B14F-4D97-AF65-F5344CB8AC3E}">
        <p14:creationId xmlns:p14="http://schemas.microsoft.com/office/powerpoint/2010/main" val="2763889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3"/>
          <p:cNvSpPr>
            <a:spLocks noGrp="1" noChangeArrowheads="1"/>
          </p:cNvSpPr>
          <p:nvPr>
            <p:ph type="sldNum" sz="quarter" idx="10"/>
          </p:nvPr>
        </p:nvSpPr>
        <p:spPr>
          <a:ln/>
        </p:spPr>
        <p:txBody>
          <a:bodyPr/>
          <a:lstStyle>
            <a:lvl1pPr>
              <a:defRPr/>
            </a:lvl1pPr>
          </a:lstStyle>
          <a:p>
            <a:pPr>
              <a:defRPr/>
            </a:pPr>
            <a:fld id="{CD6FFE01-2B97-4A32-981D-A4A897D0E491}" type="slidenum">
              <a:rPr lang="en-US"/>
              <a:pPr>
                <a:defRPr/>
              </a:pPr>
              <a:t>‹#›</a:t>
            </a:fld>
            <a:endParaRPr lang="en-US" dirty="0"/>
          </a:p>
        </p:txBody>
      </p:sp>
    </p:spTree>
    <p:extLst>
      <p:ext uri="{BB962C8B-B14F-4D97-AF65-F5344CB8AC3E}">
        <p14:creationId xmlns:p14="http://schemas.microsoft.com/office/powerpoint/2010/main" val="27332068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3"/>
          <p:cNvSpPr>
            <a:spLocks noGrp="1" noChangeArrowheads="1"/>
          </p:cNvSpPr>
          <p:nvPr>
            <p:ph type="sldNum" sz="quarter" idx="10"/>
          </p:nvPr>
        </p:nvSpPr>
        <p:spPr>
          <a:ln/>
        </p:spPr>
        <p:txBody>
          <a:bodyPr/>
          <a:lstStyle>
            <a:lvl1pPr>
              <a:defRPr/>
            </a:lvl1pPr>
          </a:lstStyle>
          <a:p>
            <a:pPr>
              <a:defRPr/>
            </a:pPr>
            <a:fld id="{711C17E1-BFDE-40E4-888F-E5FEAE4FDC14}" type="slidenum">
              <a:rPr lang="en-US"/>
              <a:pPr>
                <a:defRPr/>
              </a:pPr>
              <a:t>‹#›</a:t>
            </a:fld>
            <a:endParaRPr lang="en-US" dirty="0"/>
          </a:p>
        </p:txBody>
      </p:sp>
    </p:spTree>
    <p:extLst>
      <p:ext uri="{BB962C8B-B14F-4D97-AF65-F5344CB8AC3E}">
        <p14:creationId xmlns:p14="http://schemas.microsoft.com/office/powerpoint/2010/main" val="17971518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3"/>
          <p:cNvSpPr>
            <a:spLocks noGrp="1" noChangeArrowheads="1"/>
          </p:cNvSpPr>
          <p:nvPr>
            <p:ph type="sldNum" sz="quarter" idx="10"/>
          </p:nvPr>
        </p:nvSpPr>
        <p:spPr>
          <a:ln/>
        </p:spPr>
        <p:txBody>
          <a:bodyPr/>
          <a:lstStyle>
            <a:lvl1pPr>
              <a:defRPr/>
            </a:lvl1pPr>
          </a:lstStyle>
          <a:p>
            <a:pPr>
              <a:defRPr/>
            </a:pPr>
            <a:fld id="{5FD674A7-B45A-45F9-ADA3-AD4637A34DA4}" type="slidenum">
              <a:rPr lang="en-US"/>
              <a:pPr>
                <a:defRPr/>
              </a:pPr>
              <a:t>‹#›</a:t>
            </a:fld>
            <a:endParaRPr lang="en-US" dirty="0"/>
          </a:p>
        </p:txBody>
      </p:sp>
    </p:spTree>
    <p:extLst>
      <p:ext uri="{BB962C8B-B14F-4D97-AF65-F5344CB8AC3E}">
        <p14:creationId xmlns:p14="http://schemas.microsoft.com/office/powerpoint/2010/main" val="40258086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3"/>
          <p:cNvSpPr>
            <a:spLocks noGrp="1" noChangeArrowheads="1"/>
          </p:cNvSpPr>
          <p:nvPr>
            <p:ph type="sldNum" sz="quarter" idx="10"/>
          </p:nvPr>
        </p:nvSpPr>
        <p:spPr>
          <a:ln/>
        </p:spPr>
        <p:txBody>
          <a:bodyPr/>
          <a:lstStyle>
            <a:lvl1pPr>
              <a:defRPr/>
            </a:lvl1pPr>
          </a:lstStyle>
          <a:p>
            <a:pPr>
              <a:defRPr/>
            </a:pPr>
            <a:fld id="{C0C15B6B-A617-442D-B23A-CDE5EAFEF64C}" type="slidenum">
              <a:rPr lang="en-US"/>
              <a:pPr>
                <a:defRPr/>
              </a:pPr>
              <a:t>‹#›</a:t>
            </a:fld>
            <a:endParaRPr lang="en-US" dirty="0"/>
          </a:p>
        </p:txBody>
      </p:sp>
    </p:spTree>
    <p:extLst>
      <p:ext uri="{BB962C8B-B14F-4D97-AF65-F5344CB8AC3E}">
        <p14:creationId xmlns:p14="http://schemas.microsoft.com/office/powerpoint/2010/main" val="1185974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3"/>
          <p:cNvSpPr>
            <a:spLocks noGrp="1" noChangeArrowheads="1"/>
          </p:cNvSpPr>
          <p:nvPr>
            <p:ph type="sldNum" sz="quarter" idx="10"/>
          </p:nvPr>
        </p:nvSpPr>
        <p:spPr>
          <a:ln/>
        </p:spPr>
        <p:txBody>
          <a:bodyPr/>
          <a:lstStyle>
            <a:lvl1pPr>
              <a:defRPr/>
            </a:lvl1pPr>
          </a:lstStyle>
          <a:p>
            <a:pPr>
              <a:defRPr/>
            </a:pPr>
            <a:fld id="{A5BB7E1C-129F-405C-87A8-499A12AF2775}" type="slidenum">
              <a:rPr lang="en-US"/>
              <a:pPr>
                <a:defRPr/>
              </a:pPr>
              <a:t>‹#›</a:t>
            </a:fld>
            <a:endParaRPr lang="en-US" dirty="0"/>
          </a:p>
        </p:txBody>
      </p:sp>
    </p:spTree>
    <p:extLst>
      <p:ext uri="{BB962C8B-B14F-4D97-AF65-F5344CB8AC3E}">
        <p14:creationId xmlns:p14="http://schemas.microsoft.com/office/powerpoint/2010/main" val="29182409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3BB5036F-274C-4B6A-AA92-E32D8C3E43D1}" type="slidenum">
              <a:rPr lang="en-US"/>
              <a:pPr>
                <a:defRPr/>
              </a:pPr>
              <a:t>‹#›</a:t>
            </a:fld>
            <a:endParaRPr lang="en-US" dirty="0"/>
          </a:p>
        </p:txBody>
      </p:sp>
    </p:spTree>
    <p:extLst>
      <p:ext uri="{BB962C8B-B14F-4D97-AF65-F5344CB8AC3E}">
        <p14:creationId xmlns:p14="http://schemas.microsoft.com/office/powerpoint/2010/main" val="4457621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219075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41985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3"/>
          <p:cNvSpPr>
            <a:spLocks noGrp="1" noChangeArrowheads="1"/>
          </p:cNvSpPr>
          <p:nvPr>
            <p:ph type="sldNum" sz="quarter" idx="10"/>
          </p:nvPr>
        </p:nvSpPr>
        <p:spPr>
          <a:ln/>
        </p:spPr>
        <p:txBody>
          <a:bodyPr/>
          <a:lstStyle>
            <a:lvl1pPr>
              <a:defRPr/>
            </a:lvl1pPr>
          </a:lstStyle>
          <a:p>
            <a:pPr>
              <a:defRPr/>
            </a:pPr>
            <a:fld id="{53C59695-C194-4561-B9CE-5D437492360F}" type="slidenum">
              <a:rPr lang="en-US"/>
              <a:pPr>
                <a:defRPr/>
              </a:pPr>
              <a:t>‹#›</a:t>
            </a:fld>
            <a:endParaRPr lang="en-US" dirty="0"/>
          </a:p>
        </p:txBody>
      </p:sp>
    </p:spTree>
    <p:extLst>
      <p:ext uri="{BB962C8B-B14F-4D97-AF65-F5344CB8AC3E}">
        <p14:creationId xmlns:p14="http://schemas.microsoft.com/office/powerpoint/2010/main" val="3773046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pPr fontAlgn="base">
              <a:spcBef>
                <a:spcPct val="0"/>
              </a:spcBef>
              <a:spcAft>
                <a:spcPct val="0"/>
              </a:spcAft>
            </a:pPr>
            <a:fld id="{B759308E-9F8C-4EE3-B99A-E3A248BAE64A}" type="datetime1">
              <a:rPr lang="en-US" smtClean="0">
                <a:solidFill>
                  <a:srgbClr val="000000"/>
                </a:solidFill>
              </a:rPr>
              <a:t>10/2/2024</a:t>
            </a:fld>
            <a:endParaRPr lang="en-US">
              <a:solidFill>
                <a:srgbClr val="000000"/>
              </a:solidFill>
            </a:endParaRPr>
          </a:p>
        </p:txBody>
      </p:sp>
      <p:sp>
        <p:nvSpPr>
          <p:cNvPr id="5" name="Footer Placeholder 4"/>
          <p:cNvSpPr>
            <a:spLocks noGrp="1"/>
          </p:cNvSpPr>
          <p:nvPr>
            <p:ph type="ftr" sz="quarter" idx="11"/>
          </p:nvPr>
        </p:nvSpPr>
        <p:spPr>
          <a:xfrm>
            <a:off x="914400" y="4323846"/>
            <a:ext cx="4880610" cy="365125"/>
          </a:xfrm>
          <a:prstGeom prst="rect">
            <a:avLst/>
          </a:prstGeom>
        </p:spPr>
        <p:txBody>
          <a:bodyPr/>
          <a:lstStyle/>
          <a:p>
            <a:pPr fontAlgn="base">
              <a:spcBef>
                <a:spcPct val="0"/>
              </a:spcBef>
              <a:spcAft>
                <a:spcPct val="0"/>
              </a:spcAft>
            </a:pPr>
            <a:endParaRPr lang="en-US">
              <a:solidFill>
                <a:srgbClr val="000000"/>
              </a:solidFill>
            </a:endParaRPr>
          </a:p>
        </p:txBody>
      </p:sp>
      <p:sp>
        <p:nvSpPr>
          <p:cNvPr id="6" name="Slide Number Placeholder 5"/>
          <p:cNvSpPr>
            <a:spLocks noGrp="1"/>
          </p:cNvSpPr>
          <p:nvPr>
            <p:ph type="sldNum" sz="quarter" idx="12"/>
          </p:nvPr>
        </p:nvSpPr>
        <p:spPr>
          <a:xfrm>
            <a:off x="6057900" y="1430867"/>
            <a:ext cx="2171700" cy="365125"/>
          </a:xfrm>
        </p:spPr>
        <p:txBody>
          <a:bodyPr/>
          <a:lstStyle/>
          <a:p>
            <a:fld id="{63C103D7-7FC1-4B9F-A526-BC88A3C4AA47}" type="slidenum">
              <a:rPr lang="en-US"/>
              <a:pPr/>
              <a:t>‹#›</a:t>
            </a:fld>
            <a:endParaRPr lang="en-US"/>
          </a:p>
        </p:txBody>
      </p:sp>
    </p:spTree>
    <p:extLst>
      <p:ext uri="{BB962C8B-B14F-4D97-AF65-F5344CB8AC3E}">
        <p14:creationId xmlns:p14="http://schemas.microsoft.com/office/powerpoint/2010/main" val="6675256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a:prstGeom prst="rect">
            <a:avLst/>
          </a:prstGeom>
        </p:spPr>
        <p:txBody>
          <a:bodyPr/>
          <a:lstStyle/>
          <a:p>
            <a:fld id="{EA8CD7FF-FDB2-440D-A186-3A3DEF0D5949}"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a:xfrm>
            <a:off x="914400" y="4323846"/>
            <a:ext cx="4880610"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0"/>
            <a:ext cx="217170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5206241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71700" y="381001"/>
            <a:ext cx="6377940" cy="1254759"/>
          </a:xfrm>
        </p:spPr>
        <p:txBody>
          <a:bodyPr/>
          <a:lstStyle/>
          <a:p>
            <a:r>
              <a:rPr lang="en-US" dirty="0"/>
              <a:t>Click to edit Master title style</a:t>
            </a:r>
          </a:p>
        </p:txBody>
      </p:sp>
      <p:sp>
        <p:nvSpPr>
          <p:cNvPr id="3" name="Content Placeholder 2"/>
          <p:cNvSpPr>
            <a:spLocks noGrp="1"/>
          </p:cNvSpPr>
          <p:nvPr>
            <p:ph idx="1"/>
          </p:nvPr>
        </p:nvSpPr>
        <p:spPr>
          <a:xfrm>
            <a:off x="594360" y="1635760"/>
            <a:ext cx="7955280" cy="4720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41CF0339-93FE-4BF3-93BD-803C164F6C65}"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5876"/>
            <a:ext cx="1977390" cy="365125"/>
          </a:xfrm>
        </p:spPr>
        <p:txBody>
          <a:bodyPr lIns="91440"/>
          <a:lstStyle>
            <a:lvl1pPr algn="l">
              <a:defRPr b="1">
                <a:solidFill>
                  <a:schemeClr val="bg1"/>
                </a:solidFill>
              </a:defRPr>
            </a:lvl1pPr>
          </a:lstStyle>
          <a:p>
            <a:fld id="{63C103D7-7FC1-4B9F-A526-BC88A3C4AA4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37235975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0ECEDC61-3AF0-4144-8FB0-CCE8DCDB9BAC}"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3"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6538546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C51870D5-EFDF-47F0-B192-A71B543292DF}"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1225092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12230" y="6356351"/>
            <a:ext cx="2137410" cy="365125"/>
          </a:xfrm>
          <a:prstGeom prst="rect">
            <a:avLst/>
          </a:prstGeom>
        </p:spPr>
        <p:txBody>
          <a:bodyPr/>
          <a:lstStyle/>
          <a:p>
            <a:fld id="{F5D2D5C2-D93E-497D-AEC9-1CC59CD079FD}" type="datetime1">
              <a:rPr lang="en-US" smtClean="0">
                <a:solidFill>
                  <a:prstClr val="white"/>
                </a:solidFill>
              </a:rPr>
              <a:t>10/2/2024</a:t>
            </a:fld>
            <a:endParaRPr lang="en-US">
              <a:solidFill>
                <a:prstClr val="white"/>
              </a:solidFill>
            </a:endParaRPr>
          </a:p>
        </p:txBody>
      </p:sp>
      <p:sp>
        <p:nvSpPr>
          <p:cNvPr id="8" name="Footer Placeholder 7"/>
          <p:cNvSpPr>
            <a:spLocks noGrp="1"/>
          </p:cNvSpPr>
          <p:nvPr>
            <p:ph type="ftr" sz="quarter" idx="11"/>
          </p:nvPr>
        </p:nvSpPr>
        <p:spPr/>
        <p:txBody>
          <a:bodyPr/>
          <a:lstStyle/>
          <a:p>
            <a:endParaRPr lang="en-US">
              <a:solidFill>
                <a:prstClr val="white">
                  <a:tint val="75000"/>
                </a:prstClr>
              </a:solidFill>
            </a:endParaRPr>
          </a:p>
        </p:txBody>
      </p:sp>
      <p:sp>
        <p:nvSpPr>
          <p:cNvPr id="9" name="Slide Number Placeholder 8"/>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2085483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98527061-65EB-40A8-9BBE-4C146B18480A}" type="datetime1">
              <a:rPr lang="en-US" smtClean="0">
                <a:solidFill>
                  <a:prstClr val="white"/>
                </a:solidFill>
              </a:rPr>
              <a:t>10/2/2024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806846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12230" y="6356351"/>
            <a:ext cx="2137410" cy="365125"/>
          </a:xfrm>
          <a:prstGeom prst="rect">
            <a:avLst/>
          </a:prstGeom>
        </p:spPr>
        <p:txBody>
          <a:bodyPr/>
          <a:lstStyle/>
          <a:p>
            <a:fld id="{233A52DB-2908-40A1-A12A-45AA86460853}" type="datetime1">
              <a:rPr lang="en-US" smtClean="0">
                <a:solidFill>
                  <a:prstClr val="white"/>
                </a:solidFill>
              </a:rPr>
              <a:t>10/2/2024</a:t>
            </a:fld>
            <a:endParaRPr lang="en-US">
              <a:solidFill>
                <a:prstClr val="white"/>
              </a:solidFill>
            </a:endParaRPr>
          </a:p>
        </p:txBody>
      </p:sp>
      <p:sp>
        <p:nvSpPr>
          <p:cNvPr id="3" name="Footer Placeholder 2"/>
          <p:cNvSpPr>
            <a:spLocks noGrp="1"/>
          </p:cNvSpPr>
          <p:nvPr>
            <p:ph type="ftr" sz="quarter" idx="11"/>
          </p:nvPr>
        </p:nvSpPr>
        <p:spPr/>
        <p:txBody>
          <a:bodyPr/>
          <a:lstStyle/>
          <a:p>
            <a:endParaRPr lang="en-US">
              <a:solidFill>
                <a:prstClr val="white">
                  <a:tint val="75000"/>
                </a:prstClr>
              </a:solidFill>
            </a:endParaRPr>
          </a:p>
        </p:txBody>
      </p:sp>
      <p:sp>
        <p:nvSpPr>
          <p:cNvPr id="4" name="Slide Number Placeholder 3"/>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6479978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51E6F9AE-8A21-4013-B34D-774A690C4B3A}"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7882"/>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81384742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D95043C6-0B93-4E01-92A4-4B211591F877}"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455127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412230" y="6356351"/>
            <a:ext cx="2137410" cy="365125"/>
          </a:xfrm>
          <a:prstGeom prst="rect">
            <a:avLst/>
          </a:prstGeom>
        </p:spPr>
        <p:txBody>
          <a:bodyPr/>
          <a:lstStyle/>
          <a:p>
            <a:fld id="{34F034C2-390E-499B-8554-44B839312931}"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5292626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48B44991-9621-4176-A9BC-0494715BCEC7}"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17118243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a:prstGeom prst="rect">
            <a:avLst/>
          </a:prstGeom>
        </p:spPr>
        <p:txBody>
          <a:bodyPr/>
          <a:lstStyle>
            <a:lvl1pPr algn="r">
              <a:defRPr/>
            </a:lvl1pPr>
          </a:lstStyle>
          <a:p>
            <a:fld id="{05B3E98A-112D-4F45-A2F5-E23A8C874E6E}"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a:xfrm>
            <a:off x="594360" y="379438"/>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white"/>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white"/>
                </a:solidFill>
                <a:effectLst/>
              </a:rPr>
              <a:t>”</a:t>
            </a:r>
          </a:p>
        </p:txBody>
      </p:sp>
    </p:spTree>
    <p:extLst>
      <p:ext uri="{BB962C8B-B14F-4D97-AF65-F5344CB8AC3E}">
        <p14:creationId xmlns:p14="http://schemas.microsoft.com/office/powerpoint/2010/main" val="6676065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a:prstGeom prst="rect">
            <a:avLst/>
          </a:prstGeom>
        </p:spPr>
        <p:txBody>
          <a:bodyPr/>
          <a:lstStyle>
            <a:lvl1pPr algn="r">
              <a:defRPr/>
            </a:lvl1pPr>
          </a:lstStyle>
          <a:p>
            <a:fld id="{3A89AC60-1123-47E8-9704-E981B2554097}" type="datetime1">
              <a:rPr lang="en-US" smtClean="0">
                <a:solidFill>
                  <a:prstClr val="white"/>
                </a:solidFill>
              </a:rPr>
              <a:t>10/2/2024</a:t>
            </a:fld>
            <a:endParaRPr lang="en-US">
              <a:solidFill>
                <a:prstClr val="white"/>
              </a:solidFill>
            </a:endParaRPr>
          </a:p>
        </p:txBody>
      </p:sp>
      <p:sp>
        <p:nvSpPr>
          <p:cNvPr id="6" name="Footer Placeholder 5"/>
          <p:cNvSpPr>
            <a:spLocks noGrp="1"/>
          </p:cNvSpPr>
          <p:nvPr>
            <p:ph type="ftr" sz="quarter" idx="11"/>
          </p:nvPr>
        </p:nvSpPr>
        <p:spPr>
          <a:xfrm>
            <a:off x="594360" y="378884"/>
            <a:ext cx="4830656" cy="365125"/>
          </a:xfrm>
        </p:spPr>
        <p:txBody>
          <a:bodyPr/>
          <a:lstStyle/>
          <a:p>
            <a:endParaRPr lang="en-US">
              <a:solidFill>
                <a:prstClr val="white">
                  <a:tint val="75000"/>
                </a:prstClr>
              </a:solidFill>
            </a:endParaRPr>
          </a:p>
        </p:txBody>
      </p:sp>
      <p:sp>
        <p:nvSpPr>
          <p:cNvPr id="7" name="Slide Number Placeholder 6"/>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1411299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60C9D4E8-45E3-45BE-BEE6-DB1AD8410C73}" type="datetime1">
              <a:rPr lang="en-US" smtClean="0">
                <a:solidFill>
                  <a:prstClr val="white"/>
                </a:solidFill>
              </a:rPr>
              <a:t>10/2/2024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0"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2561458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a:xfrm>
            <a:off x="6412230" y="6356351"/>
            <a:ext cx="2137410" cy="365125"/>
          </a:xfrm>
          <a:prstGeom prst="rect">
            <a:avLst/>
          </a:prstGeom>
        </p:spPr>
        <p:txBody>
          <a:bodyPr/>
          <a:lstStyle/>
          <a:p>
            <a:fld id="{7834E425-C69F-4E5C-BB88-9FE45090A073}" type="datetime1">
              <a:rPr lang="en-US" smtClean="0">
                <a:solidFill>
                  <a:prstClr val="white"/>
                </a:solidFill>
              </a:rPr>
              <a:t>10/2/2024</a:t>
            </a:fld>
            <a:endParaRPr lang="en-US">
              <a:solidFill>
                <a:prstClr val="white"/>
              </a:solidFill>
            </a:endParaRPr>
          </a:p>
        </p:txBody>
      </p:sp>
      <p:sp>
        <p:nvSpPr>
          <p:cNvPr id="4" name="Footer Placeholder 3"/>
          <p:cNvSpPr>
            <a:spLocks noGrp="1"/>
          </p:cNvSpPr>
          <p:nvPr>
            <p:ph type="ftr" sz="quarter" idx="11"/>
          </p:nvPr>
        </p:nvSpPr>
        <p:spPr/>
        <p:txBody>
          <a:bodyPr/>
          <a:lstStyle/>
          <a:p>
            <a:endParaRPr lang="en-US">
              <a:solidFill>
                <a:prstClr val="white">
                  <a:tint val="75000"/>
                </a:prstClr>
              </a:solidFill>
            </a:endParaRPr>
          </a:p>
        </p:txBody>
      </p:sp>
      <p:sp>
        <p:nvSpPr>
          <p:cNvPr id="5" name="Slide Number Placeholder 4"/>
          <p:cNvSpPr>
            <a:spLocks noGrp="1"/>
          </p:cNvSpPr>
          <p:nvPr>
            <p:ph type="sldNum" sz="quarter" idx="12"/>
          </p:nvPr>
        </p:nvSpPr>
        <p:spPr>
          <a:xfrm>
            <a:off x="3284" y="0"/>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40137383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12230" y="6356351"/>
            <a:ext cx="2137410" cy="365125"/>
          </a:xfrm>
          <a:prstGeom prst="rect">
            <a:avLst/>
          </a:prstGeom>
        </p:spPr>
        <p:txBody>
          <a:bodyPr/>
          <a:lstStyle/>
          <a:p>
            <a:fld id="{9D9AF33C-E5E1-4F82-8F21-C22B907A6E1A}"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0" y="-108"/>
            <a:ext cx="1977390" cy="365125"/>
          </a:xfrm>
        </p:spPr>
        <p:txBody>
          <a:bodyPr/>
          <a:lstStyle>
            <a:lvl1pPr algn="l">
              <a:defRPr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5192817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a:prstGeom prst="rect">
            <a:avLst/>
          </a:prstGeom>
        </p:spPr>
        <p:txBody>
          <a:bodyPr/>
          <a:lstStyle>
            <a:lvl1pPr algn="r">
              <a:defRPr/>
            </a:lvl1pPr>
          </a:lstStyle>
          <a:p>
            <a:fld id="{FB410BCB-B5CE-4AD7-8AE4-523A06B6266E}" type="datetime1">
              <a:rPr lang="en-US" smtClean="0">
                <a:solidFill>
                  <a:prstClr val="white"/>
                </a:solidFill>
              </a:rPr>
              <a:t>10/2/2024</a:t>
            </a:fld>
            <a:endParaRPr lang="en-US">
              <a:solidFill>
                <a:prstClr val="white"/>
              </a:solidFill>
            </a:endParaRPr>
          </a:p>
        </p:txBody>
      </p:sp>
      <p:sp>
        <p:nvSpPr>
          <p:cNvPr id="5" name="Footer Placeholder 4"/>
          <p:cNvSpPr>
            <a:spLocks noGrp="1"/>
          </p:cNvSpPr>
          <p:nvPr>
            <p:ph type="ftr" sz="quarter" idx="11"/>
          </p:nvPr>
        </p:nvSpPr>
        <p:spPr>
          <a:xfrm>
            <a:off x="594360" y="381001"/>
            <a:ext cx="4830656" cy="365125"/>
          </a:xfrm>
        </p:spPr>
        <p:txBody>
          <a:bodyPr/>
          <a:lstStyle/>
          <a:p>
            <a:endParaRPr lang="en-US">
              <a:solidFill>
                <a:prstClr val="white">
                  <a:tint val="75000"/>
                </a:prstClr>
              </a:solidFill>
            </a:endParaRPr>
          </a:p>
        </p:txBody>
      </p:sp>
      <p:sp>
        <p:nvSpPr>
          <p:cNvPr id="6" name="Slide Number Placeholder 5"/>
          <p:cNvSpPr>
            <a:spLocks noGrp="1"/>
          </p:cNvSpPr>
          <p:nvPr>
            <p:ph type="sldNum" sz="quarter" idx="12"/>
          </p:nvPr>
        </p:nvSpPr>
        <p:spPr>
          <a:xfrm>
            <a:off x="7882466" y="381001"/>
            <a:ext cx="667174" cy="365125"/>
          </a:xfrm>
        </p:spPr>
        <p:txBody>
          <a:bodyPr/>
          <a:lstStyle/>
          <a:p>
            <a:fld id="{63C103D7-7FC1-4B9F-A526-BC88A3C4AA47}" type="slidenum">
              <a:rPr lang="en-US" smtClean="0">
                <a:solidFill>
                  <a:prstClr val="white">
                    <a:tint val="75000"/>
                  </a:prstClr>
                </a:solidFill>
              </a:rPr>
              <a:pPr/>
              <a:t>‹#›</a:t>
            </a:fld>
            <a:endParaRPr lang="en-US">
              <a:solidFill>
                <a:prstClr val="white">
                  <a:tint val="75000"/>
                </a:prstClr>
              </a:solidFill>
            </a:endParaRPr>
          </a:p>
        </p:txBody>
      </p:sp>
    </p:spTree>
    <p:extLst>
      <p:ext uri="{BB962C8B-B14F-4D97-AF65-F5344CB8AC3E}">
        <p14:creationId xmlns:p14="http://schemas.microsoft.com/office/powerpoint/2010/main" val="2666601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heme" Target="../theme/theme2.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image" Target="../media/image1.png"/><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381001"/>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36880" y="1674029"/>
            <a:ext cx="8321040" cy="47775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solidFill>
                <a:prstClr val="white">
                  <a:tint val="75000"/>
                </a:prstClr>
              </a:solidFill>
            </a:endParaRPr>
          </a:p>
        </p:txBody>
      </p:sp>
      <p:sp>
        <p:nvSpPr>
          <p:cNvPr id="6" name="Slide Number Placeholder 5"/>
          <p:cNvSpPr>
            <a:spLocks noGrp="1"/>
          </p:cNvSpPr>
          <p:nvPr>
            <p:ph type="sldNum" sz="quarter" idx="4"/>
          </p:nvPr>
        </p:nvSpPr>
        <p:spPr>
          <a:xfrm>
            <a:off x="0" y="0"/>
            <a:ext cx="1977390" cy="365125"/>
          </a:xfrm>
          <a:prstGeom prst="rect">
            <a:avLst/>
          </a:prstGeom>
        </p:spPr>
        <p:txBody>
          <a:bodyPr vert="horz" lIns="91440" tIns="45720" rIns="91440" bIns="45720" rtlCol="0" anchor="ctr"/>
          <a:lstStyle>
            <a:lvl1pPr algn="l">
              <a:defRPr sz="1200" b="1">
                <a:solidFill>
                  <a:schemeClr val="bg1"/>
                </a:solidFill>
              </a:defRPr>
            </a:lvl1pPr>
          </a:lstStyle>
          <a:p>
            <a:fld id="{63C103D7-7FC1-4B9F-A526-BC88A3C4AA47}" type="slidenum">
              <a:rPr lang="en-US" smtClean="0"/>
              <a:pPr/>
              <a:t>‹#›</a:t>
            </a:fld>
            <a:endParaRPr lang="en-US"/>
          </a:p>
        </p:txBody>
      </p:sp>
    </p:spTree>
    <p:extLst>
      <p:ext uri="{BB962C8B-B14F-4D97-AF65-F5344CB8AC3E}">
        <p14:creationId xmlns:p14="http://schemas.microsoft.com/office/powerpoint/2010/main" val="3504424874"/>
      </p:ext>
    </p:extLst>
  </p:cSld>
  <p:clrMap bg1="lt1" tx1="dk1" bg2="lt2" tx2="dk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39" r:id="rId12"/>
    <p:sldLayoutId id="2147484040" r:id="rId13"/>
    <p:sldLayoutId id="2147484041" r:id="rId14"/>
    <p:sldLayoutId id="2147484042" r:id="rId15"/>
    <p:sldLayoutId id="2147484043" r:id="rId16"/>
    <p:sldLayoutId id="2147484044" r:id="rId17"/>
    <p:sldLayoutId id="2147484139" r:id="rId18"/>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Rectangle 27"/>
          <p:cNvSpPr>
            <a:spLocks noChangeArrowheads="1"/>
          </p:cNvSpPr>
          <p:nvPr userDrawn="1"/>
        </p:nvSpPr>
        <p:spPr bwMode="auto">
          <a:xfrm>
            <a:off x="0" y="6583680"/>
            <a:ext cx="9144000" cy="274320"/>
          </a:xfrm>
          <a:prstGeom prst="rect">
            <a:avLst/>
          </a:prstGeom>
          <a:solidFill>
            <a:srgbClr val="335359"/>
          </a:solidFill>
          <a:ln>
            <a:solidFill>
              <a:srgbClr val="335359"/>
            </a:solid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26" name="Rectangle 27"/>
          <p:cNvSpPr>
            <a:spLocks noChangeArrowheads="1"/>
          </p:cNvSpPr>
          <p:nvPr userDrawn="1"/>
        </p:nvSpPr>
        <p:spPr bwMode="auto">
          <a:xfrm>
            <a:off x="0" y="0"/>
            <a:ext cx="9144000" cy="1219200"/>
          </a:xfrm>
          <a:prstGeom prst="rect">
            <a:avLst/>
          </a:prstGeom>
          <a:solidFill>
            <a:srgbClr val="335359"/>
          </a:solidFill>
          <a:ln>
            <a:noFill/>
          </a:ln>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sz="1600">
              <a:solidFill>
                <a:srgbClr val="000000"/>
              </a:solidFill>
            </a:endParaRPr>
          </a:p>
        </p:txBody>
      </p:sp>
      <p:sp>
        <p:nvSpPr>
          <p:cNvPr id="1029" name="Rectangle 21"/>
          <p:cNvSpPr>
            <a:spLocks noGrp="1" noChangeArrowheads="1"/>
          </p:cNvSpPr>
          <p:nvPr>
            <p:ph type="title"/>
          </p:nvPr>
        </p:nvSpPr>
        <p:spPr bwMode="auto">
          <a:xfrm>
            <a:off x="228600" y="120650"/>
            <a:ext cx="7239000" cy="106680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91440" rIns="91440" bIns="91440" numCol="1" anchor="ctr" anchorCtr="0" compatLnSpc="1">
            <a:prstTxWarp prst="textNoShape">
              <a:avLst/>
            </a:prstTxWarp>
          </a:bodyPr>
          <a:lstStyle/>
          <a:p>
            <a:pPr lvl="0"/>
            <a:r>
              <a:rPr lang="en-US" dirty="0"/>
              <a:t>Click to edit Master title style</a:t>
            </a:r>
          </a:p>
        </p:txBody>
      </p:sp>
      <p:sp>
        <p:nvSpPr>
          <p:cNvPr id="1030" name="Rectangle 22"/>
          <p:cNvSpPr>
            <a:spLocks noGrp="1" noChangeArrowheads="1"/>
          </p:cNvSpPr>
          <p:nvPr>
            <p:ph type="body" idx="1"/>
          </p:nvPr>
        </p:nvSpPr>
        <p:spPr bwMode="auto">
          <a:xfrm>
            <a:off x="228600" y="1449729"/>
            <a:ext cx="8686800" cy="53827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7" name="Rectangle 23"/>
          <p:cNvSpPr>
            <a:spLocks noGrp="1" noChangeArrowheads="1"/>
          </p:cNvSpPr>
          <p:nvPr>
            <p:ph type="sldNum" sz="quarter" idx="4"/>
          </p:nvPr>
        </p:nvSpPr>
        <p:spPr bwMode="auto">
          <a:xfrm>
            <a:off x="8606191" y="6625590"/>
            <a:ext cx="339725" cy="1905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18288" rIns="91440" bIns="18288" numCol="1" anchor="ctr" anchorCtr="0" compatLnSpc="1">
            <a:prstTxWarp prst="textNoShape">
              <a:avLst/>
            </a:prstTxWarp>
            <a:spAutoFit/>
          </a:bodyPr>
          <a:lstStyle>
            <a:lvl1pPr algn="r">
              <a:defRPr sz="1000" b="1" smtClean="0">
                <a:solidFill>
                  <a:srgbClr val="F7D300"/>
                </a:solidFill>
              </a:defRPr>
            </a:lvl1pPr>
          </a:lstStyle>
          <a:p>
            <a:pPr fontAlgn="base">
              <a:spcBef>
                <a:spcPct val="0"/>
              </a:spcBef>
              <a:spcAft>
                <a:spcPct val="0"/>
              </a:spcAft>
              <a:defRPr/>
            </a:pPr>
            <a:fld id="{473E995E-6982-4670-AE9E-E91CD3C76706}" type="slidenum">
              <a:rPr lang="en-US"/>
              <a:pPr fontAlgn="base">
                <a:spcBef>
                  <a:spcPct val="0"/>
                </a:spcBef>
                <a:spcAft>
                  <a:spcPct val="0"/>
                </a:spcAft>
                <a:defRPr/>
              </a:pPr>
              <a:t>‹#›</a:t>
            </a:fld>
            <a:endParaRPr lang="en-US" dirty="0"/>
          </a:p>
        </p:txBody>
      </p:sp>
      <p:grpSp>
        <p:nvGrpSpPr>
          <p:cNvPr id="12" name="Group 11"/>
          <p:cNvGrpSpPr/>
          <p:nvPr userDrawn="1"/>
        </p:nvGrpSpPr>
        <p:grpSpPr>
          <a:xfrm>
            <a:off x="7848600" y="76200"/>
            <a:ext cx="1143000" cy="990600"/>
            <a:chOff x="7687152" y="136449"/>
            <a:chExt cx="1221083" cy="1192649"/>
          </a:xfrm>
          <a:effectLst>
            <a:outerShdw blurRad="50800" dist="38100" algn="l" rotWithShape="0">
              <a:prstClr val="black">
                <a:alpha val="40000"/>
              </a:prstClr>
            </a:outerShdw>
          </a:effectLst>
        </p:grpSpPr>
        <p:sp>
          <p:nvSpPr>
            <p:cNvPr id="4" name="AutoShape 3"/>
            <p:cNvSpPr>
              <a:spLocks noChangeAspect="1" noChangeArrowheads="1" noTextEdit="1"/>
            </p:cNvSpPr>
            <p:nvPr userDrawn="1"/>
          </p:nvSpPr>
          <p:spPr bwMode="auto">
            <a:xfrm rot="1164575">
              <a:off x="7687152" y="196992"/>
              <a:ext cx="1221083" cy="1071563"/>
            </a:xfrm>
            <a:prstGeom prst="rect">
              <a:avLst/>
            </a:prstGeom>
            <a:noFill/>
            <a:ln>
              <a:noFill/>
            </a:ln>
            <a:scene3d>
              <a:camera prst="orthographicFront"/>
              <a:lightRig rig="threePt" dir="t"/>
            </a:scene3d>
            <a:sp3d>
              <a:bevelT/>
            </a:sp3d>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5" name="Freeform 5"/>
            <p:cNvSpPr>
              <a:spLocks/>
            </p:cNvSpPr>
            <p:nvPr userDrawn="1"/>
          </p:nvSpPr>
          <p:spPr bwMode="auto">
            <a:xfrm rot="1164575">
              <a:off x="7734223" y="244063"/>
              <a:ext cx="1126941" cy="977421"/>
            </a:xfrm>
            <a:custGeom>
              <a:avLst/>
              <a:gdLst>
                <a:gd name="T0" fmla="*/ 204 w 814"/>
                <a:gd name="T1" fmla="*/ 706 h 706"/>
                <a:gd name="T2" fmla="*/ 0 w 814"/>
                <a:gd name="T3" fmla="*/ 352 h 706"/>
                <a:gd name="T4" fmla="*/ 204 w 814"/>
                <a:gd name="T5" fmla="*/ 0 h 706"/>
                <a:gd name="T6" fmla="*/ 612 w 814"/>
                <a:gd name="T7" fmla="*/ 0 h 706"/>
                <a:gd name="T8" fmla="*/ 814 w 814"/>
                <a:gd name="T9" fmla="*/ 352 h 706"/>
                <a:gd name="T10" fmla="*/ 612 w 814"/>
                <a:gd name="T11" fmla="*/ 706 h 706"/>
                <a:gd name="T12" fmla="*/ 204 w 814"/>
                <a:gd name="T13" fmla="*/ 706 h 706"/>
              </a:gdLst>
              <a:ahLst/>
              <a:cxnLst>
                <a:cxn ang="0">
                  <a:pos x="T0" y="T1"/>
                </a:cxn>
                <a:cxn ang="0">
                  <a:pos x="T2" y="T3"/>
                </a:cxn>
                <a:cxn ang="0">
                  <a:pos x="T4" y="T5"/>
                </a:cxn>
                <a:cxn ang="0">
                  <a:pos x="T6" y="T7"/>
                </a:cxn>
                <a:cxn ang="0">
                  <a:pos x="T8" y="T9"/>
                </a:cxn>
                <a:cxn ang="0">
                  <a:pos x="T10" y="T11"/>
                </a:cxn>
                <a:cxn ang="0">
                  <a:pos x="T12" y="T13"/>
                </a:cxn>
              </a:cxnLst>
              <a:rect l="0" t="0" r="r" b="b"/>
              <a:pathLst>
                <a:path w="814" h="706">
                  <a:moveTo>
                    <a:pt x="204" y="706"/>
                  </a:moveTo>
                  <a:lnTo>
                    <a:pt x="0" y="352"/>
                  </a:lnTo>
                  <a:lnTo>
                    <a:pt x="204" y="0"/>
                  </a:lnTo>
                  <a:lnTo>
                    <a:pt x="612" y="0"/>
                  </a:lnTo>
                  <a:lnTo>
                    <a:pt x="814" y="352"/>
                  </a:lnTo>
                  <a:lnTo>
                    <a:pt x="612" y="706"/>
                  </a:lnTo>
                  <a:lnTo>
                    <a:pt x="204" y="706"/>
                  </a:lnTo>
                  <a:close/>
                </a:path>
              </a:pathLst>
            </a:custGeom>
            <a:noFill/>
            <a:ln w="28575">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6" name="Freeform 6"/>
            <p:cNvSpPr>
              <a:spLocks/>
            </p:cNvSpPr>
            <p:nvPr userDrawn="1"/>
          </p:nvSpPr>
          <p:spPr bwMode="auto">
            <a:xfrm rot="1164575">
              <a:off x="8361513" y="1246031"/>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8 h 60"/>
                <a:gd name="T12" fmla="*/ 36 w 58"/>
                <a:gd name="T13" fmla="*/ 58 h 60"/>
                <a:gd name="T14" fmla="*/ 30 w 58"/>
                <a:gd name="T15" fmla="*/ 60 h 60"/>
                <a:gd name="T16" fmla="*/ 30 w 58"/>
                <a:gd name="T17" fmla="*/ 60 h 60"/>
                <a:gd name="T18" fmla="*/ 24 w 58"/>
                <a:gd name="T19" fmla="*/ 58 h 60"/>
                <a:gd name="T20" fmla="*/ 18 w 58"/>
                <a:gd name="T21" fmla="*/ 58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8"/>
                  </a:lnTo>
                  <a:lnTo>
                    <a:pt x="36" y="58"/>
                  </a:lnTo>
                  <a:lnTo>
                    <a:pt x="30" y="60"/>
                  </a:lnTo>
                  <a:lnTo>
                    <a:pt x="30" y="60"/>
                  </a:lnTo>
                  <a:lnTo>
                    <a:pt x="24" y="58"/>
                  </a:lnTo>
                  <a:lnTo>
                    <a:pt x="18" y="58"/>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7" name="Freeform 7"/>
            <p:cNvSpPr>
              <a:spLocks/>
            </p:cNvSpPr>
            <p:nvPr userDrawn="1"/>
          </p:nvSpPr>
          <p:spPr bwMode="auto">
            <a:xfrm rot="1164575">
              <a:off x="8790297" y="880336"/>
              <a:ext cx="80298" cy="80298"/>
            </a:xfrm>
            <a:custGeom>
              <a:avLst/>
              <a:gdLst>
                <a:gd name="T0" fmla="*/ 58 w 58"/>
                <a:gd name="T1" fmla="*/ 28 h 58"/>
                <a:gd name="T2" fmla="*/ 58 w 58"/>
                <a:gd name="T3" fmla="*/ 28 h 58"/>
                <a:gd name="T4" fmla="*/ 58 w 58"/>
                <a:gd name="T5" fmla="*/ 34 h 58"/>
                <a:gd name="T6" fmla="*/ 56 w 58"/>
                <a:gd name="T7" fmla="*/ 40 h 58"/>
                <a:gd name="T8" fmla="*/ 50 w 58"/>
                <a:gd name="T9" fmla="*/ 50 h 58"/>
                <a:gd name="T10" fmla="*/ 40 w 58"/>
                <a:gd name="T11" fmla="*/ 56 h 58"/>
                <a:gd name="T12" fmla="*/ 34 w 58"/>
                <a:gd name="T13" fmla="*/ 58 h 58"/>
                <a:gd name="T14" fmla="*/ 28 w 58"/>
                <a:gd name="T15" fmla="*/ 58 h 58"/>
                <a:gd name="T16" fmla="*/ 28 w 58"/>
                <a:gd name="T17" fmla="*/ 58 h 58"/>
                <a:gd name="T18" fmla="*/ 24 w 58"/>
                <a:gd name="T19" fmla="*/ 58 h 58"/>
                <a:gd name="T20" fmla="*/ 18 w 58"/>
                <a:gd name="T21" fmla="*/ 56 h 58"/>
                <a:gd name="T22" fmla="*/ 8 w 58"/>
                <a:gd name="T23" fmla="*/ 50 h 58"/>
                <a:gd name="T24" fmla="*/ 2 w 58"/>
                <a:gd name="T25" fmla="*/ 40 h 58"/>
                <a:gd name="T26" fmla="*/ 0 w 58"/>
                <a:gd name="T27" fmla="*/ 34 h 58"/>
                <a:gd name="T28" fmla="*/ 0 w 58"/>
                <a:gd name="T29" fmla="*/ 28 h 58"/>
                <a:gd name="T30" fmla="*/ 0 w 58"/>
                <a:gd name="T31" fmla="*/ 28 h 58"/>
                <a:gd name="T32" fmla="*/ 0 w 58"/>
                <a:gd name="T33" fmla="*/ 22 h 58"/>
                <a:gd name="T34" fmla="*/ 2 w 58"/>
                <a:gd name="T35" fmla="*/ 18 h 58"/>
                <a:gd name="T36" fmla="*/ 8 w 58"/>
                <a:gd name="T37" fmla="*/ 8 h 58"/>
                <a:gd name="T38" fmla="*/ 18 w 58"/>
                <a:gd name="T39" fmla="*/ 2 h 58"/>
                <a:gd name="T40" fmla="*/ 24 w 58"/>
                <a:gd name="T41" fmla="*/ 0 h 58"/>
                <a:gd name="T42" fmla="*/ 28 w 58"/>
                <a:gd name="T43" fmla="*/ 0 h 58"/>
                <a:gd name="T44" fmla="*/ 28 w 58"/>
                <a:gd name="T45" fmla="*/ 0 h 58"/>
                <a:gd name="T46" fmla="*/ 34 w 58"/>
                <a:gd name="T47" fmla="*/ 0 h 58"/>
                <a:gd name="T48" fmla="*/ 40 w 58"/>
                <a:gd name="T49" fmla="*/ 2 h 58"/>
                <a:gd name="T50" fmla="*/ 50 w 58"/>
                <a:gd name="T51" fmla="*/ 8 h 58"/>
                <a:gd name="T52" fmla="*/ 56 w 58"/>
                <a:gd name="T53" fmla="*/ 18 h 58"/>
                <a:gd name="T54" fmla="*/ 58 w 58"/>
                <a:gd name="T55" fmla="*/ 22 h 58"/>
                <a:gd name="T56" fmla="*/ 58 w 58"/>
                <a:gd name="T57" fmla="*/ 28 h 58"/>
                <a:gd name="T58" fmla="*/ 58 w 58"/>
                <a:gd name="T59"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58" y="28"/>
                  </a:moveTo>
                  <a:lnTo>
                    <a:pt x="58" y="28"/>
                  </a:lnTo>
                  <a:lnTo>
                    <a:pt x="58" y="34"/>
                  </a:lnTo>
                  <a:lnTo>
                    <a:pt x="56" y="40"/>
                  </a:lnTo>
                  <a:lnTo>
                    <a:pt x="50" y="50"/>
                  </a:lnTo>
                  <a:lnTo>
                    <a:pt x="40" y="56"/>
                  </a:lnTo>
                  <a:lnTo>
                    <a:pt x="34" y="58"/>
                  </a:lnTo>
                  <a:lnTo>
                    <a:pt x="28" y="58"/>
                  </a:lnTo>
                  <a:lnTo>
                    <a:pt x="28" y="58"/>
                  </a:lnTo>
                  <a:lnTo>
                    <a:pt x="24" y="58"/>
                  </a:lnTo>
                  <a:lnTo>
                    <a:pt x="18" y="56"/>
                  </a:lnTo>
                  <a:lnTo>
                    <a:pt x="8" y="50"/>
                  </a:lnTo>
                  <a:lnTo>
                    <a:pt x="2" y="40"/>
                  </a:lnTo>
                  <a:lnTo>
                    <a:pt x="0" y="34"/>
                  </a:lnTo>
                  <a:lnTo>
                    <a:pt x="0" y="28"/>
                  </a:lnTo>
                  <a:lnTo>
                    <a:pt x="0" y="28"/>
                  </a:lnTo>
                  <a:lnTo>
                    <a:pt x="0" y="22"/>
                  </a:lnTo>
                  <a:lnTo>
                    <a:pt x="2" y="18"/>
                  </a:lnTo>
                  <a:lnTo>
                    <a:pt x="8" y="8"/>
                  </a:lnTo>
                  <a:lnTo>
                    <a:pt x="18" y="2"/>
                  </a:lnTo>
                  <a:lnTo>
                    <a:pt x="24" y="0"/>
                  </a:lnTo>
                  <a:lnTo>
                    <a:pt x="28" y="0"/>
                  </a:lnTo>
                  <a:lnTo>
                    <a:pt x="28" y="0"/>
                  </a:lnTo>
                  <a:lnTo>
                    <a:pt x="34" y="0"/>
                  </a:lnTo>
                  <a:lnTo>
                    <a:pt x="40" y="2"/>
                  </a:lnTo>
                  <a:lnTo>
                    <a:pt x="50" y="8"/>
                  </a:lnTo>
                  <a:lnTo>
                    <a:pt x="56" y="18"/>
                  </a:lnTo>
                  <a:lnTo>
                    <a:pt x="58" y="22"/>
                  </a:lnTo>
                  <a:lnTo>
                    <a:pt x="58" y="28"/>
                  </a:lnTo>
                  <a:lnTo>
                    <a:pt x="58" y="28"/>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8" name="Freeform 8"/>
            <p:cNvSpPr>
              <a:spLocks/>
            </p:cNvSpPr>
            <p:nvPr userDrawn="1"/>
          </p:nvSpPr>
          <p:spPr bwMode="auto">
            <a:xfrm rot="1164575">
              <a:off x="8686328" y="324161"/>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6 h 60"/>
                <a:gd name="T12" fmla="*/ 36 w 58"/>
                <a:gd name="T13" fmla="*/ 58 h 60"/>
                <a:gd name="T14" fmla="*/ 30 w 58"/>
                <a:gd name="T15" fmla="*/ 60 h 60"/>
                <a:gd name="T16" fmla="*/ 30 w 58"/>
                <a:gd name="T17" fmla="*/ 60 h 60"/>
                <a:gd name="T18" fmla="*/ 24 w 58"/>
                <a:gd name="T19" fmla="*/ 58 h 60"/>
                <a:gd name="T20" fmla="*/ 18 w 58"/>
                <a:gd name="T21" fmla="*/ 56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6"/>
                  </a:lnTo>
                  <a:lnTo>
                    <a:pt x="36" y="58"/>
                  </a:lnTo>
                  <a:lnTo>
                    <a:pt x="30" y="60"/>
                  </a:lnTo>
                  <a:lnTo>
                    <a:pt x="30" y="60"/>
                  </a:lnTo>
                  <a:lnTo>
                    <a:pt x="24" y="58"/>
                  </a:lnTo>
                  <a:lnTo>
                    <a:pt x="18" y="56"/>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9" name="Freeform 9"/>
            <p:cNvSpPr>
              <a:spLocks/>
            </p:cNvSpPr>
            <p:nvPr userDrawn="1"/>
          </p:nvSpPr>
          <p:spPr bwMode="auto">
            <a:xfrm rot="1164575">
              <a:off x="8153576" y="136449"/>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6 h 60"/>
                <a:gd name="T12" fmla="*/ 36 w 58"/>
                <a:gd name="T13" fmla="*/ 58 h 60"/>
                <a:gd name="T14" fmla="*/ 30 w 58"/>
                <a:gd name="T15" fmla="*/ 60 h 60"/>
                <a:gd name="T16" fmla="*/ 30 w 58"/>
                <a:gd name="T17" fmla="*/ 60 h 60"/>
                <a:gd name="T18" fmla="*/ 24 w 58"/>
                <a:gd name="T19" fmla="*/ 58 h 60"/>
                <a:gd name="T20" fmla="*/ 18 w 58"/>
                <a:gd name="T21" fmla="*/ 56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6"/>
                  </a:lnTo>
                  <a:lnTo>
                    <a:pt x="36" y="58"/>
                  </a:lnTo>
                  <a:lnTo>
                    <a:pt x="30" y="60"/>
                  </a:lnTo>
                  <a:lnTo>
                    <a:pt x="30" y="60"/>
                  </a:lnTo>
                  <a:lnTo>
                    <a:pt x="24" y="58"/>
                  </a:lnTo>
                  <a:lnTo>
                    <a:pt x="18" y="56"/>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0" name="Freeform 10"/>
            <p:cNvSpPr>
              <a:spLocks/>
            </p:cNvSpPr>
            <p:nvPr userDrawn="1"/>
          </p:nvSpPr>
          <p:spPr bwMode="auto">
            <a:xfrm rot="1164575">
              <a:off x="7724792" y="504913"/>
              <a:ext cx="80298" cy="80298"/>
            </a:xfrm>
            <a:custGeom>
              <a:avLst/>
              <a:gdLst>
                <a:gd name="T0" fmla="*/ 58 w 58"/>
                <a:gd name="T1" fmla="*/ 28 h 58"/>
                <a:gd name="T2" fmla="*/ 58 w 58"/>
                <a:gd name="T3" fmla="*/ 28 h 58"/>
                <a:gd name="T4" fmla="*/ 58 w 58"/>
                <a:gd name="T5" fmla="*/ 34 h 58"/>
                <a:gd name="T6" fmla="*/ 56 w 58"/>
                <a:gd name="T7" fmla="*/ 40 h 58"/>
                <a:gd name="T8" fmla="*/ 50 w 58"/>
                <a:gd name="T9" fmla="*/ 50 h 58"/>
                <a:gd name="T10" fmla="*/ 42 w 58"/>
                <a:gd name="T11" fmla="*/ 56 h 58"/>
                <a:gd name="T12" fmla="*/ 36 w 58"/>
                <a:gd name="T13" fmla="*/ 58 h 58"/>
                <a:gd name="T14" fmla="*/ 30 w 58"/>
                <a:gd name="T15" fmla="*/ 58 h 58"/>
                <a:gd name="T16" fmla="*/ 30 w 58"/>
                <a:gd name="T17" fmla="*/ 58 h 58"/>
                <a:gd name="T18" fmla="*/ 24 w 58"/>
                <a:gd name="T19" fmla="*/ 58 h 58"/>
                <a:gd name="T20" fmla="*/ 18 w 58"/>
                <a:gd name="T21" fmla="*/ 56 h 58"/>
                <a:gd name="T22" fmla="*/ 8 w 58"/>
                <a:gd name="T23" fmla="*/ 50 h 58"/>
                <a:gd name="T24" fmla="*/ 2 w 58"/>
                <a:gd name="T25" fmla="*/ 40 h 58"/>
                <a:gd name="T26" fmla="*/ 0 w 58"/>
                <a:gd name="T27" fmla="*/ 34 h 58"/>
                <a:gd name="T28" fmla="*/ 0 w 58"/>
                <a:gd name="T29" fmla="*/ 28 h 58"/>
                <a:gd name="T30" fmla="*/ 0 w 58"/>
                <a:gd name="T31" fmla="*/ 28 h 58"/>
                <a:gd name="T32" fmla="*/ 0 w 58"/>
                <a:gd name="T33" fmla="*/ 22 h 58"/>
                <a:gd name="T34" fmla="*/ 2 w 58"/>
                <a:gd name="T35" fmla="*/ 18 h 58"/>
                <a:gd name="T36" fmla="*/ 8 w 58"/>
                <a:gd name="T37" fmla="*/ 8 h 58"/>
                <a:gd name="T38" fmla="*/ 18 w 58"/>
                <a:gd name="T39" fmla="*/ 2 h 58"/>
                <a:gd name="T40" fmla="*/ 24 w 58"/>
                <a:gd name="T41" fmla="*/ 0 h 58"/>
                <a:gd name="T42" fmla="*/ 30 w 58"/>
                <a:gd name="T43" fmla="*/ 0 h 58"/>
                <a:gd name="T44" fmla="*/ 30 w 58"/>
                <a:gd name="T45" fmla="*/ 0 h 58"/>
                <a:gd name="T46" fmla="*/ 36 w 58"/>
                <a:gd name="T47" fmla="*/ 0 h 58"/>
                <a:gd name="T48" fmla="*/ 42 w 58"/>
                <a:gd name="T49" fmla="*/ 2 h 58"/>
                <a:gd name="T50" fmla="*/ 50 w 58"/>
                <a:gd name="T51" fmla="*/ 8 h 58"/>
                <a:gd name="T52" fmla="*/ 56 w 58"/>
                <a:gd name="T53" fmla="*/ 18 h 58"/>
                <a:gd name="T54" fmla="*/ 58 w 58"/>
                <a:gd name="T55" fmla="*/ 22 h 58"/>
                <a:gd name="T56" fmla="*/ 58 w 58"/>
                <a:gd name="T57" fmla="*/ 28 h 58"/>
                <a:gd name="T58" fmla="*/ 58 w 58"/>
                <a:gd name="T59" fmla="*/ 2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58">
                  <a:moveTo>
                    <a:pt x="58" y="28"/>
                  </a:moveTo>
                  <a:lnTo>
                    <a:pt x="58" y="28"/>
                  </a:lnTo>
                  <a:lnTo>
                    <a:pt x="58" y="34"/>
                  </a:lnTo>
                  <a:lnTo>
                    <a:pt x="56" y="40"/>
                  </a:lnTo>
                  <a:lnTo>
                    <a:pt x="50" y="50"/>
                  </a:lnTo>
                  <a:lnTo>
                    <a:pt x="42" y="56"/>
                  </a:lnTo>
                  <a:lnTo>
                    <a:pt x="36" y="58"/>
                  </a:lnTo>
                  <a:lnTo>
                    <a:pt x="30" y="58"/>
                  </a:lnTo>
                  <a:lnTo>
                    <a:pt x="30" y="58"/>
                  </a:lnTo>
                  <a:lnTo>
                    <a:pt x="24" y="58"/>
                  </a:lnTo>
                  <a:lnTo>
                    <a:pt x="18" y="56"/>
                  </a:lnTo>
                  <a:lnTo>
                    <a:pt x="8" y="50"/>
                  </a:lnTo>
                  <a:lnTo>
                    <a:pt x="2" y="40"/>
                  </a:lnTo>
                  <a:lnTo>
                    <a:pt x="0" y="34"/>
                  </a:lnTo>
                  <a:lnTo>
                    <a:pt x="0" y="28"/>
                  </a:lnTo>
                  <a:lnTo>
                    <a:pt x="0" y="28"/>
                  </a:lnTo>
                  <a:lnTo>
                    <a:pt x="0" y="22"/>
                  </a:lnTo>
                  <a:lnTo>
                    <a:pt x="2" y="18"/>
                  </a:lnTo>
                  <a:lnTo>
                    <a:pt x="8" y="8"/>
                  </a:lnTo>
                  <a:lnTo>
                    <a:pt x="18" y="2"/>
                  </a:lnTo>
                  <a:lnTo>
                    <a:pt x="24" y="0"/>
                  </a:lnTo>
                  <a:lnTo>
                    <a:pt x="30" y="0"/>
                  </a:lnTo>
                  <a:lnTo>
                    <a:pt x="30" y="0"/>
                  </a:lnTo>
                  <a:lnTo>
                    <a:pt x="36" y="0"/>
                  </a:lnTo>
                  <a:lnTo>
                    <a:pt x="42" y="2"/>
                  </a:lnTo>
                  <a:lnTo>
                    <a:pt x="50" y="8"/>
                  </a:lnTo>
                  <a:lnTo>
                    <a:pt x="56" y="18"/>
                  </a:lnTo>
                  <a:lnTo>
                    <a:pt x="58" y="22"/>
                  </a:lnTo>
                  <a:lnTo>
                    <a:pt x="58" y="28"/>
                  </a:lnTo>
                  <a:lnTo>
                    <a:pt x="58" y="28"/>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sp>
          <p:nvSpPr>
            <p:cNvPr id="11" name="Freeform 11"/>
            <p:cNvSpPr>
              <a:spLocks/>
            </p:cNvSpPr>
            <p:nvPr userDrawn="1"/>
          </p:nvSpPr>
          <p:spPr bwMode="auto">
            <a:xfrm rot="1164575">
              <a:off x="7828761" y="1058320"/>
              <a:ext cx="80298" cy="83067"/>
            </a:xfrm>
            <a:custGeom>
              <a:avLst/>
              <a:gdLst>
                <a:gd name="T0" fmla="*/ 58 w 58"/>
                <a:gd name="T1" fmla="*/ 30 h 60"/>
                <a:gd name="T2" fmla="*/ 58 w 58"/>
                <a:gd name="T3" fmla="*/ 30 h 60"/>
                <a:gd name="T4" fmla="*/ 58 w 58"/>
                <a:gd name="T5" fmla="*/ 36 h 60"/>
                <a:gd name="T6" fmla="*/ 56 w 58"/>
                <a:gd name="T7" fmla="*/ 42 h 60"/>
                <a:gd name="T8" fmla="*/ 50 w 58"/>
                <a:gd name="T9" fmla="*/ 50 h 60"/>
                <a:gd name="T10" fmla="*/ 40 w 58"/>
                <a:gd name="T11" fmla="*/ 58 h 60"/>
                <a:gd name="T12" fmla="*/ 36 w 58"/>
                <a:gd name="T13" fmla="*/ 58 h 60"/>
                <a:gd name="T14" fmla="*/ 30 w 58"/>
                <a:gd name="T15" fmla="*/ 60 h 60"/>
                <a:gd name="T16" fmla="*/ 30 w 58"/>
                <a:gd name="T17" fmla="*/ 60 h 60"/>
                <a:gd name="T18" fmla="*/ 24 w 58"/>
                <a:gd name="T19" fmla="*/ 58 h 60"/>
                <a:gd name="T20" fmla="*/ 18 w 58"/>
                <a:gd name="T21" fmla="*/ 58 h 60"/>
                <a:gd name="T22" fmla="*/ 8 w 58"/>
                <a:gd name="T23" fmla="*/ 50 h 60"/>
                <a:gd name="T24" fmla="*/ 2 w 58"/>
                <a:gd name="T25" fmla="*/ 42 h 60"/>
                <a:gd name="T26" fmla="*/ 0 w 58"/>
                <a:gd name="T27" fmla="*/ 36 h 60"/>
                <a:gd name="T28" fmla="*/ 0 w 58"/>
                <a:gd name="T29" fmla="*/ 30 h 60"/>
                <a:gd name="T30" fmla="*/ 0 w 58"/>
                <a:gd name="T31" fmla="*/ 30 h 60"/>
                <a:gd name="T32" fmla="*/ 0 w 58"/>
                <a:gd name="T33" fmla="*/ 24 h 60"/>
                <a:gd name="T34" fmla="*/ 2 w 58"/>
                <a:gd name="T35" fmla="*/ 18 h 60"/>
                <a:gd name="T36" fmla="*/ 8 w 58"/>
                <a:gd name="T37" fmla="*/ 10 h 60"/>
                <a:gd name="T38" fmla="*/ 18 w 58"/>
                <a:gd name="T39" fmla="*/ 2 h 60"/>
                <a:gd name="T40" fmla="*/ 24 w 58"/>
                <a:gd name="T41" fmla="*/ 2 h 60"/>
                <a:gd name="T42" fmla="*/ 30 w 58"/>
                <a:gd name="T43" fmla="*/ 0 h 60"/>
                <a:gd name="T44" fmla="*/ 30 w 58"/>
                <a:gd name="T45" fmla="*/ 0 h 60"/>
                <a:gd name="T46" fmla="*/ 36 w 58"/>
                <a:gd name="T47" fmla="*/ 2 h 60"/>
                <a:gd name="T48" fmla="*/ 40 w 58"/>
                <a:gd name="T49" fmla="*/ 2 h 60"/>
                <a:gd name="T50" fmla="*/ 50 w 58"/>
                <a:gd name="T51" fmla="*/ 10 h 60"/>
                <a:gd name="T52" fmla="*/ 56 w 58"/>
                <a:gd name="T53" fmla="*/ 18 h 60"/>
                <a:gd name="T54" fmla="*/ 58 w 58"/>
                <a:gd name="T55" fmla="*/ 24 h 60"/>
                <a:gd name="T56" fmla="*/ 58 w 58"/>
                <a:gd name="T57" fmla="*/ 30 h 60"/>
                <a:gd name="T58" fmla="*/ 58 w 58"/>
                <a:gd name="T59" fmla="*/ 3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8" h="60">
                  <a:moveTo>
                    <a:pt x="58" y="30"/>
                  </a:moveTo>
                  <a:lnTo>
                    <a:pt x="58" y="30"/>
                  </a:lnTo>
                  <a:lnTo>
                    <a:pt x="58" y="36"/>
                  </a:lnTo>
                  <a:lnTo>
                    <a:pt x="56" y="42"/>
                  </a:lnTo>
                  <a:lnTo>
                    <a:pt x="50" y="50"/>
                  </a:lnTo>
                  <a:lnTo>
                    <a:pt x="40" y="58"/>
                  </a:lnTo>
                  <a:lnTo>
                    <a:pt x="36" y="58"/>
                  </a:lnTo>
                  <a:lnTo>
                    <a:pt x="30" y="60"/>
                  </a:lnTo>
                  <a:lnTo>
                    <a:pt x="30" y="60"/>
                  </a:lnTo>
                  <a:lnTo>
                    <a:pt x="24" y="58"/>
                  </a:lnTo>
                  <a:lnTo>
                    <a:pt x="18" y="58"/>
                  </a:lnTo>
                  <a:lnTo>
                    <a:pt x="8" y="50"/>
                  </a:lnTo>
                  <a:lnTo>
                    <a:pt x="2" y="42"/>
                  </a:lnTo>
                  <a:lnTo>
                    <a:pt x="0" y="36"/>
                  </a:lnTo>
                  <a:lnTo>
                    <a:pt x="0" y="30"/>
                  </a:lnTo>
                  <a:lnTo>
                    <a:pt x="0" y="30"/>
                  </a:lnTo>
                  <a:lnTo>
                    <a:pt x="0" y="24"/>
                  </a:lnTo>
                  <a:lnTo>
                    <a:pt x="2" y="18"/>
                  </a:lnTo>
                  <a:lnTo>
                    <a:pt x="8" y="10"/>
                  </a:lnTo>
                  <a:lnTo>
                    <a:pt x="18" y="2"/>
                  </a:lnTo>
                  <a:lnTo>
                    <a:pt x="24" y="2"/>
                  </a:lnTo>
                  <a:lnTo>
                    <a:pt x="30" y="0"/>
                  </a:lnTo>
                  <a:lnTo>
                    <a:pt x="30" y="0"/>
                  </a:lnTo>
                  <a:lnTo>
                    <a:pt x="36" y="2"/>
                  </a:lnTo>
                  <a:lnTo>
                    <a:pt x="40" y="2"/>
                  </a:lnTo>
                  <a:lnTo>
                    <a:pt x="50" y="10"/>
                  </a:lnTo>
                  <a:lnTo>
                    <a:pt x="56" y="18"/>
                  </a:lnTo>
                  <a:lnTo>
                    <a:pt x="58" y="24"/>
                  </a:lnTo>
                  <a:lnTo>
                    <a:pt x="58" y="30"/>
                  </a:lnTo>
                  <a:lnTo>
                    <a:pt x="58" y="30"/>
                  </a:lnTo>
                  <a:close/>
                </a:path>
              </a:pathLst>
            </a:custGeom>
            <a:solidFill>
              <a:srgbClr val="FCEA10"/>
            </a:solidFill>
            <a:ln w="38100">
              <a:solidFill>
                <a:srgbClr val="FCEA10"/>
              </a:solidFill>
              <a:prstDash val="solid"/>
              <a:round/>
              <a:headEnd/>
              <a:tailEnd/>
            </a:ln>
            <a:scene3d>
              <a:camera prst="orthographicFront"/>
              <a:lightRig rig="threePt" dir="t"/>
            </a:scene3d>
            <a:sp3d>
              <a:bevelT/>
            </a:sp3d>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US">
                <a:solidFill>
                  <a:srgbClr val="000000"/>
                </a:solidFill>
              </a:endParaRPr>
            </a:p>
          </p:txBody>
        </p:sp>
      </p:grpSp>
      <p:sp>
        <p:nvSpPr>
          <p:cNvPr id="16" name="Text Box 18"/>
          <p:cNvSpPr txBox="1">
            <a:spLocks noChangeArrowheads="1"/>
          </p:cNvSpPr>
          <p:nvPr userDrawn="1"/>
        </p:nvSpPr>
        <p:spPr bwMode="auto">
          <a:xfrm>
            <a:off x="228600" y="6604084"/>
            <a:ext cx="2058577" cy="25391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defRPr/>
            </a:pPr>
            <a:r>
              <a:rPr lang="en-US" sz="1050" b="1" dirty="0">
                <a:solidFill>
                  <a:srgbClr val="F7D300"/>
                </a:solidFill>
              </a:rPr>
              <a:t>© 2014 W. W. Norton Co., Inc.</a:t>
            </a:r>
          </a:p>
        </p:txBody>
      </p:sp>
    </p:spTree>
    <p:extLst>
      <p:ext uri="{BB962C8B-B14F-4D97-AF65-F5344CB8AC3E}">
        <p14:creationId xmlns:p14="http://schemas.microsoft.com/office/powerpoint/2010/main" val="2299237305"/>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 id="2147484058" r:id="rId12"/>
    <p:sldLayoutId id="2147484059" r:id="rId13"/>
    <p:sldLayoutId id="2147484060" r:id="rId14"/>
  </p:sldLayoutIdLst>
  <p:hf hdr="0" ftr="0" dt="0"/>
  <p:txStyles>
    <p:titleStyle>
      <a:lvl1pPr algn="l" rtl="0" eaLnBrk="0" fontAlgn="base" hangingPunct="0">
        <a:spcBef>
          <a:spcPct val="0"/>
        </a:spcBef>
        <a:spcAft>
          <a:spcPct val="0"/>
        </a:spcAft>
        <a:defRPr sz="4000" b="0">
          <a:solidFill>
            <a:srgbClr val="F7D300"/>
          </a:solidFill>
          <a:latin typeface="Arial"/>
          <a:ea typeface="+mj-ea"/>
          <a:cs typeface="Arial"/>
        </a:defRPr>
      </a:lvl1pPr>
      <a:lvl2pPr algn="l" rtl="0" eaLnBrk="0" fontAlgn="base" hangingPunct="0">
        <a:spcBef>
          <a:spcPct val="0"/>
        </a:spcBef>
        <a:spcAft>
          <a:spcPct val="0"/>
        </a:spcAft>
        <a:defRPr sz="4000" b="1">
          <a:solidFill>
            <a:schemeClr val="bg1"/>
          </a:solidFill>
          <a:latin typeface="Arial" charset="0"/>
          <a:cs typeface="Arial" charset="0"/>
        </a:defRPr>
      </a:lvl2pPr>
      <a:lvl3pPr algn="l" rtl="0" eaLnBrk="0" fontAlgn="base" hangingPunct="0">
        <a:spcBef>
          <a:spcPct val="0"/>
        </a:spcBef>
        <a:spcAft>
          <a:spcPct val="0"/>
        </a:spcAft>
        <a:defRPr sz="4000" b="1">
          <a:solidFill>
            <a:schemeClr val="bg1"/>
          </a:solidFill>
          <a:latin typeface="Arial" charset="0"/>
          <a:cs typeface="Arial" charset="0"/>
        </a:defRPr>
      </a:lvl3pPr>
      <a:lvl4pPr algn="l" rtl="0" eaLnBrk="0" fontAlgn="base" hangingPunct="0">
        <a:spcBef>
          <a:spcPct val="0"/>
        </a:spcBef>
        <a:spcAft>
          <a:spcPct val="0"/>
        </a:spcAft>
        <a:defRPr sz="4000" b="1">
          <a:solidFill>
            <a:schemeClr val="bg1"/>
          </a:solidFill>
          <a:latin typeface="Arial" charset="0"/>
          <a:cs typeface="Arial" charset="0"/>
        </a:defRPr>
      </a:lvl4pPr>
      <a:lvl5pPr algn="l" rtl="0" eaLnBrk="0" fontAlgn="base" hangingPunct="0">
        <a:spcBef>
          <a:spcPct val="0"/>
        </a:spcBef>
        <a:spcAft>
          <a:spcPct val="0"/>
        </a:spcAft>
        <a:defRPr sz="4000" b="1">
          <a:solidFill>
            <a:schemeClr val="bg1"/>
          </a:solidFill>
          <a:latin typeface="Arial" charset="0"/>
          <a:cs typeface="Arial" charset="0"/>
        </a:defRPr>
      </a:lvl5pPr>
      <a:lvl6pPr marL="457200" algn="l" rtl="0" fontAlgn="base">
        <a:spcBef>
          <a:spcPct val="0"/>
        </a:spcBef>
        <a:spcAft>
          <a:spcPct val="0"/>
        </a:spcAft>
        <a:defRPr sz="4000">
          <a:solidFill>
            <a:schemeClr val="tx1"/>
          </a:solidFill>
          <a:latin typeface="Arial Rounded MT Bold" pitchFamily="34" charset="0"/>
          <a:cs typeface="Arial" charset="0"/>
        </a:defRPr>
      </a:lvl6pPr>
      <a:lvl7pPr marL="914400" algn="l" rtl="0" fontAlgn="base">
        <a:spcBef>
          <a:spcPct val="0"/>
        </a:spcBef>
        <a:spcAft>
          <a:spcPct val="0"/>
        </a:spcAft>
        <a:defRPr sz="4000">
          <a:solidFill>
            <a:schemeClr val="tx1"/>
          </a:solidFill>
          <a:latin typeface="Arial Rounded MT Bold" pitchFamily="34" charset="0"/>
          <a:cs typeface="Arial" charset="0"/>
        </a:defRPr>
      </a:lvl7pPr>
      <a:lvl8pPr marL="1371600" algn="l" rtl="0" fontAlgn="base">
        <a:spcBef>
          <a:spcPct val="0"/>
        </a:spcBef>
        <a:spcAft>
          <a:spcPct val="0"/>
        </a:spcAft>
        <a:defRPr sz="4000">
          <a:solidFill>
            <a:schemeClr val="tx1"/>
          </a:solidFill>
          <a:latin typeface="Arial Rounded MT Bold" pitchFamily="34" charset="0"/>
          <a:cs typeface="Arial" charset="0"/>
        </a:defRPr>
      </a:lvl8pPr>
      <a:lvl9pPr marL="1828800" algn="l" rtl="0" fontAlgn="base">
        <a:spcBef>
          <a:spcPct val="0"/>
        </a:spcBef>
        <a:spcAft>
          <a:spcPct val="0"/>
        </a:spcAft>
        <a:defRPr sz="4000">
          <a:solidFill>
            <a:schemeClr val="tx1"/>
          </a:solidFill>
          <a:latin typeface="Arial Rounded MT Bold" pitchFamily="34" charset="0"/>
          <a:cs typeface="Arial" charset="0"/>
        </a:defRPr>
      </a:lvl9pPr>
    </p:titleStyle>
    <p:bodyStyle>
      <a:lvl1pPr marL="342900" indent="-342900" algn="l" rtl="0" eaLnBrk="0" fontAlgn="base" hangingPunct="0">
        <a:spcBef>
          <a:spcPct val="20000"/>
        </a:spcBef>
        <a:spcAft>
          <a:spcPct val="0"/>
        </a:spcAft>
        <a:buClr>
          <a:srgbClr val="335359"/>
        </a:buClr>
        <a:buChar char="•"/>
        <a:defRPr sz="3200" b="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Clr>
          <a:srgbClr val="335359"/>
        </a:buClr>
        <a:buChar char="•"/>
        <a:defRPr sz="2800" b="0">
          <a:solidFill>
            <a:schemeClr val="tx1"/>
          </a:solidFill>
          <a:latin typeface="Arial" pitchFamily="34" charset="0"/>
          <a:cs typeface="Arial" pitchFamily="34" charset="0"/>
        </a:defRPr>
      </a:lvl2pPr>
      <a:lvl3pPr marL="1143000" indent="-228600" algn="l" rtl="0" eaLnBrk="0" fontAlgn="base" hangingPunct="0">
        <a:spcBef>
          <a:spcPct val="20000"/>
        </a:spcBef>
        <a:spcAft>
          <a:spcPct val="0"/>
        </a:spcAft>
        <a:buClr>
          <a:srgbClr val="335359"/>
        </a:buClr>
        <a:buChar char="•"/>
        <a:defRPr sz="2400" b="0">
          <a:solidFill>
            <a:schemeClr val="tx1"/>
          </a:solidFill>
          <a:latin typeface="Arial" pitchFamily="34" charset="0"/>
          <a:cs typeface="Arial" pitchFamily="34" charset="0"/>
        </a:defRPr>
      </a:lvl3pPr>
      <a:lvl4pPr marL="1600200" indent="-228600" algn="l" rtl="0" eaLnBrk="0" fontAlgn="base" hangingPunct="0">
        <a:spcBef>
          <a:spcPct val="20000"/>
        </a:spcBef>
        <a:spcAft>
          <a:spcPct val="0"/>
        </a:spcAft>
        <a:buClr>
          <a:srgbClr val="335359"/>
        </a:buClr>
        <a:buChar char="•"/>
        <a:defRPr sz="2000" b="0">
          <a:solidFill>
            <a:schemeClr val="tx1"/>
          </a:solidFill>
          <a:latin typeface="Arial" pitchFamily="34" charset="0"/>
          <a:cs typeface="Arial" pitchFamily="34" charset="0"/>
        </a:defRPr>
      </a:lvl4pPr>
      <a:lvl5pPr marL="2057400" indent="-228600" algn="l" rtl="0" eaLnBrk="0" fontAlgn="base" hangingPunct="0">
        <a:spcBef>
          <a:spcPct val="20000"/>
        </a:spcBef>
        <a:spcAft>
          <a:spcPct val="0"/>
        </a:spcAft>
        <a:buClr>
          <a:srgbClr val="335359"/>
        </a:buClr>
        <a:buChar char="•"/>
        <a:defRPr sz="2000" b="0">
          <a:solidFill>
            <a:schemeClr val="tx1"/>
          </a:solidFill>
          <a:latin typeface="Arial" pitchFamily="34" charset="0"/>
          <a:cs typeface="Arial" pitchFamily="34" charset="0"/>
        </a:defRPr>
      </a:lvl5pPr>
      <a:lvl6pPr marL="2514600" indent="-228600" algn="l" rtl="0" fontAlgn="base">
        <a:spcBef>
          <a:spcPct val="20000"/>
        </a:spcBef>
        <a:spcAft>
          <a:spcPct val="0"/>
        </a:spcAft>
        <a:buClr>
          <a:srgbClr val="00B2CC"/>
        </a:buClr>
        <a:buChar char="•"/>
        <a:defRPr sz="2000">
          <a:solidFill>
            <a:schemeClr val="tx1"/>
          </a:solidFill>
          <a:latin typeface="+mn-lt"/>
          <a:cs typeface="+mn-cs"/>
        </a:defRPr>
      </a:lvl6pPr>
      <a:lvl7pPr marL="2971800" indent="-228600" algn="l" rtl="0" fontAlgn="base">
        <a:spcBef>
          <a:spcPct val="20000"/>
        </a:spcBef>
        <a:spcAft>
          <a:spcPct val="0"/>
        </a:spcAft>
        <a:buClr>
          <a:srgbClr val="00B2CC"/>
        </a:buClr>
        <a:buChar char="•"/>
        <a:defRPr sz="2000">
          <a:solidFill>
            <a:schemeClr val="tx1"/>
          </a:solidFill>
          <a:latin typeface="+mn-lt"/>
          <a:cs typeface="+mn-cs"/>
        </a:defRPr>
      </a:lvl7pPr>
      <a:lvl8pPr marL="3429000" indent="-228600" algn="l" rtl="0" fontAlgn="base">
        <a:spcBef>
          <a:spcPct val="20000"/>
        </a:spcBef>
        <a:spcAft>
          <a:spcPct val="0"/>
        </a:spcAft>
        <a:buClr>
          <a:srgbClr val="00B2CC"/>
        </a:buClr>
        <a:buChar char="•"/>
        <a:defRPr sz="2000">
          <a:solidFill>
            <a:schemeClr val="tx1"/>
          </a:solidFill>
          <a:latin typeface="+mn-lt"/>
          <a:cs typeface="+mn-cs"/>
        </a:defRPr>
      </a:lvl8pPr>
      <a:lvl9pPr marL="3886200" indent="-228600" algn="l" rtl="0" fontAlgn="base">
        <a:spcBef>
          <a:spcPct val="20000"/>
        </a:spcBef>
        <a:spcAft>
          <a:spcPct val="0"/>
        </a:spcAft>
        <a:buClr>
          <a:srgbClr val="00B2CC"/>
        </a:buClr>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381001"/>
            <a:ext cx="6377940" cy="129302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36880" y="1674029"/>
            <a:ext cx="8321040" cy="47775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solidFill>
                <a:prstClr val="white">
                  <a:tint val="75000"/>
                </a:prstClr>
              </a:solidFill>
            </a:endParaRPr>
          </a:p>
        </p:txBody>
      </p:sp>
      <p:sp>
        <p:nvSpPr>
          <p:cNvPr id="6" name="Slide Number Placeholder 5"/>
          <p:cNvSpPr>
            <a:spLocks noGrp="1"/>
          </p:cNvSpPr>
          <p:nvPr>
            <p:ph type="sldNum" sz="quarter" idx="4"/>
          </p:nvPr>
        </p:nvSpPr>
        <p:spPr>
          <a:xfrm>
            <a:off x="0" y="0"/>
            <a:ext cx="1977390" cy="365125"/>
          </a:xfrm>
          <a:prstGeom prst="rect">
            <a:avLst/>
          </a:prstGeom>
        </p:spPr>
        <p:txBody>
          <a:bodyPr vert="horz" lIns="91440" tIns="45720" rIns="91440" bIns="45720" rtlCol="0" anchor="ctr"/>
          <a:lstStyle>
            <a:lvl1pPr algn="l">
              <a:defRPr sz="1200" b="1">
                <a:solidFill>
                  <a:schemeClr val="bg1"/>
                </a:solidFill>
              </a:defRPr>
            </a:lvl1pPr>
          </a:lstStyle>
          <a:p>
            <a:fld id="{63C103D7-7FC1-4B9F-A526-BC88A3C4AA47}"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481121721"/>
      </p:ext>
    </p:extLst>
  </p:cSld>
  <p:clrMap bg1="dk1" tx1="lt1" bg2="dk2" tx2="lt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 id="2147484073" r:id="rId12"/>
    <p:sldLayoutId id="2147484074" r:id="rId13"/>
    <p:sldLayoutId id="2147484075" r:id="rId14"/>
    <p:sldLayoutId id="2147484076" r:id="rId15"/>
    <p:sldLayoutId id="2147484077" r:id="rId16"/>
    <p:sldLayoutId id="2147484078" r:id="rId17"/>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6.jpe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60.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0.png"/><Relationship Id="rId4" Type="http://schemas.openxmlformats.org/officeDocument/2006/relationships/image" Target="../media/image24.png"/><Relationship Id="rId9" Type="http://schemas.openxmlformats.org/officeDocument/2006/relationships/image" Target="../media/image23.emf"/></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90.png"/><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35086" y="1803405"/>
            <a:ext cx="5094514" cy="1825096"/>
          </a:xfrm>
        </p:spPr>
        <p:txBody>
          <a:bodyPr/>
          <a:lstStyle/>
          <a:p>
            <a:r>
              <a:rPr lang="en-US" dirty="0"/>
              <a:t>CHEM 105</a:t>
            </a:r>
            <a:br>
              <a:rPr lang="en-US" dirty="0"/>
            </a:br>
            <a:r>
              <a:rPr lang="en-US" sz="1800" dirty="0"/>
              <a:t>Sections 31-49</a:t>
            </a:r>
          </a:p>
        </p:txBody>
      </p:sp>
      <p:sp>
        <p:nvSpPr>
          <p:cNvPr id="3" name="Subtitle 2"/>
          <p:cNvSpPr>
            <a:spLocks noGrp="1"/>
          </p:cNvSpPr>
          <p:nvPr>
            <p:ph type="subTitle" idx="1"/>
          </p:nvPr>
        </p:nvSpPr>
        <p:spPr>
          <a:xfrm>
            <a:off x="3135086" y="3632201"/>
            <a:ext cx="5094514" cy="685800"/>
          </a:xfrm>
        </p:spPr>
        <p:txBody>
          <a:bodyPr/>
          <a:lstStyle/>
          <a:p>
            <a:pPr>
              <a:spcBef>
                <a:spcPts val="0"/>
              </a:spcBef>
              <a:spcAft>
                <a:spcPts val="0"/>
              </a:spcAft>
            </a:pPr>
            <a:r>
              <a:rPr lang="en-US" dirty="0"/>
              <a:t>Dr. Stacey J. Smith</a:t>
            </a:r>
          </a:p>
          <a:p>
            <a:pPr>
              <a:spcBef>
                <a:spcPts val="0"/>
              </a:spcBef>
              <a:spcAft>
                <a:spcPts val="0"/>
              </a:spcAft>
            </a:pPr>
            <a:r>
              <a:rPr lang="en-US" dirty="0"/>
              <a:t>Fall 2024</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586" y="2342492"/>
            <a:ext cx="2095500" cy="1857375"/>
          </a:xfrm>
          <a:prstGeom prst="rect">
            <a:avLst/>
          </a:prstGeom>
        </p:spPr>
      </p:pic>
      <p:cxnSp>
        <p:nvCxnSpPr>
          <p:cNvPr id="7" name="Straight Connector 6"/>
          <p:cNvCxnSpPr/>
          <p:nvPr/>
        </p:nvCxnSpPr>
        <p:spPr>
          <a:xfrm>
            <a:off x="1092820" y="4440662"/>
            <a:ext cx="42976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092820" y="2273611"/>
            <a:ext cx="576072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2" descr="Quotes from LDS Prophet Russell M Nelson">
            <a:extLst>
              <a:ext uri="{FF2B5EF4-FFF2-40B4-BE49-F238E27FC236}">
                <a16:creationId xmlns:a16="http://schemas.microsoft.com/office/drawing/2014/main" id="{73B8DBE7-EBDB-2FE2-4673-C3AA896F48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72766" y="3334714"/>
            <a:ext cx="1280774" cy="128077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Quotes from LDS Prophet Russell M Nelson">
            <a:extLst>
              <a:ext uri="{FF2B5EF4-FFF2-40B4-BE49-F238E27FC236}">
                <a16:creationId xmlns:a16="http://schemas.microsoft.com/office/drawing/2014/main" id="{83D3494E-BBD5-3E8F-627C-B43696281FC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749" t="15586" r="6945" b="12404"/>
          <a:stretch/>
        </p:blipFill>
        <p:spPr bwMode="auto">
          <a:xfrm>
            <a:off x="5621462" y="346567"/>
            <a:ext cx="2003553" cy="1731884"/>
          </a:xfrm>
          <a:prstGeom prst="rect">
            <a:avLst/>
          </a:prstGeom>
          <a:noFill/>
          <a:extLst>
            <a:ext uri="{909E8E84-426E-40DD-AFC4-6F175D3DCCD1}">
              <a14:hiddenFill xmlns:a14="http://schemas.microsoft.com/office/drawing/2010/main">
                <a:solidFill>
                  <a:srgbClr val="FFFFFF"/>
                </a:solidFill>
              </a14:hiddenFill>
            </a:ext>
          </a:extLst>
        </p:spPr>
      </p:pic>
      <p:sp>
        <p:nvSpPr>
          <p:cNvPr id="11" name="Subtitle 2">
            <a:extLst>
              <a:ext uri="{FF2B5EF4-FFF2-40B4-BE49-F238E27FC236}">
                <a16:creationId xmlns:a16="http://schemas.microsoft.com/office/drawing/2014/main" id="{B4D75270-D3E6-03D7-6C7B-BD92253BF14B}"/>
              </a:ext>
            </a:extLst>
          </p:cNvPr>
          <p:cNvSpPr txBox="1">
            <a:spLocks/>
          </p:cNvSpPr>
          <p:nvPr/>
        </p:nvSpPr>
        <p:spPr>
          <a:xfrm>
            <a:off x="1039586" y="1930711"/>
            <a:ext cx="5094514" cy="6858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dirty="0">
                <a:solidFill>
                  <a:srgbClr val="D95F30"/>
                </a:solidFill>
              </a:rPr>
              <a:t>Enter to Learn, Go Forth to Serve</a:t>
            </a:r>
          </a:p>
        </p:txBody>
      </p:sp>
      <p:sp>
        <p:nvSpPr>
          <p:cNvPr id="19" name="TextBox 18">
            <a:extLst>
              <a:ext uri="{FF2B5EF4-FFF2-40B4-BE49-F238E27FC236}">
                <a16:creationId xmlns:a16="http://schemas.microsoft.com/office/drawing/2014/main" id="{A88F6C0A-3501-E26B-1C91-551A96B4628A}"/>
              </a:ext>
            </a:extLst>
          </p:cNvPr>
          <p:cNvSpPr txBox="1"/>
          <p:nvPr/>
        </p:nvSpPr>
        <p:spPr>
          <a:xfrm>
            <a:off x="2384010" y="811195"/>
            <a:ext cx="3178339" cy="923330"/>
          </a:xfrm>
          <a:prstGeom prst="rect">
            <a:avLst/>
          </a:prstGeom>
          <a:noFill/>
        </p:spPr>
        <p:txBody>
          <a:bodyPr wrap="square">
            <a:spAutoFit/>
          </a:bodyPr>
          <a:lstStyle/>
          <a:p>
            <a:pPr algn="r"/>
            <a:r>
              <a:rPr lang="en-US" dirty="0"/>
              <a:t>When the road gets difficult, remember why you’re travelling on it.</a:t>
            </a:r>
          </a:p>
        </p:txBody>
      </p:sp>
    </p:spTree>
    <p:extLst>
      <p:ext uri="{BB962C8B-B14F-4D97-AF65-F5344CB8AC3E}">
        <p14:creationId xmlns:p14="http://schemas.microsoft.com/office/powerpoint/2010/main" val="357791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78865" y="642258"/>
            <a:ext cx="4366577" cy="1254759"/>
          </a:xfrm>
        </p:spPr>
        <p:txBody>
          <a:bodyPr vert="horz" lIns="91440" tIns="45720" rIns="91440" bIns="45720" rtlCol="0" anchor="ctr">
            <a:normAutofit fontScale="90000"/>
          </a:bodyPr>
          <a:lstStyle/>
          <a:p>
            <a:r>
              <a:rPr lang="en-US" dirty="0"/>
              <a:t>Lecture 12:</a:t>
            </a:r>
            <a:br>
              <a:rPr lang="en-US" dirty="0"/>
            </a:br>
            <a:r>
              <a:rPr lang="en-US" dirty="0"/>
              <a:t>4.1, 4.2, 4.6, 4.9, 5.3 </a:t>
            </a:r>
          </a:p>
        </p:txBody>
      </p:sp>
      <p:sp>
        <p:nvSpPr>
          <p:cNvPr id="4" name="Rectangle 3"/>
          <p:cNvSpPr/>
          <p:nvPr/>
        </p:nvSpPr>
        <p:spPr>
          <a:xfrm>
            <a:off x="466808" y="1659175"/>
            <a:ext cx="2403222" cy="631648"/>
          </a:xfrm>
          <a:prstGeom prst="rect">
            <a:avLst/>
          </a:prstGeom>
        </p:spPr>
        <p:txBody>
          <a:bodyPr wrap="none">
            <a:spAutoFit/>
          </a:bodyPr>
          <a:lstStyle/>
          <a:p>
            <a:pPr>
              <a:lnSpc>
                <a:spcPct val="70000"/>
              </a:lnSpc>
            </a:pPr>
            <a:r>
              <a:rPr lang="en-US" sz="4800" dirty="0">
                <a:solidFill>
                  <a:prstClr val="black"/>
                </a:solidFill>
                <a:latin typeface="Comic Sans MS"/>
              </a:rPr>
              <a:t>Bonding</a:t>
            </a:r>
            <a:endParaRPr lang="en-US" dirty="0">
              <a:solidFill>
                <a:prstClr val="black"/>
              </a:solidFill>
            </a:endParaRPr>
          </a:p>
        </p:txBody>
      </p:sp>
      <p:sp>
        <p:nvSpPr>
          <p:cNvPr id="2" name="Slide Number Placeholder 1"/>
          <p:cNvSpPr>
            <a:spLocks noGrp="1"/>
          </p:cNvSpPr>
          <p:nvPr>
            <p:ph type="sldNum" sz="quarter" idx="12"/>
          </p:nvPr>
        </p:nvSpPr>
        <p:spPr/>
        <p:txBody>
          <a:bodyPr/>
          <a:lstStyle/>
          <a:p>
            <a:fld id="{63C103D7-7FC1-4B9F-A526-BC88A3C4AA47}" type="slidenum">
              <a:rPr lang="en-US" smtClean="0">
                <a:solidFill>
                  <a:prstClr val="white"/>
                </a:solidFill>
              </a:rPr>
              <a:pPr/>
              <a:t>2</a:t>
            </a:fld>
            <a:endParaRPr lang="en-US" dirty="0">
              <a:solidFill>
                <a:prstClr val="white"/>
              </a:solidFill>
            </a:endParaRPr>
          </a:p>
        </p:txBody>
      </p:sp>
      <p:sp>
        <p:nvSpPr>
          <p:cNvPr id="7" name="Content Placeholder 2"/>
          <p:cNvSpPr txBox="1">
            <a:spLocks/>
          </p:cNvSpPr>
          <p:nvPr/>
        </p:nvSpPr>
        <p:spPr>
          <a:xfrm>
            <a:off x="466808" y="2445247"/>
            <a:ext cx="8372392" cy="39694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None/>
              <a:defRPr/>
            </a:pPr>
            <a:r>
              <a:rPr lang="en-US" sz="2400" dirty="0">
                <a:solidFill>
                  <a:srgbClr val="3366FF"/>
                </a:solidFill>
              </a:rPr>
              <a:t>4.1	Chemical Bonds and Greenhouse Gases</a:t>
            </a:r>
          </a:p>
          <a:p>
            <a:pPr marL="0" indent="0">
              <a:spcBef>
                <a:spcPts val="0"/>
              </a:spcBef>
              <a:buNone/>
              <a:defRPr/>
            </a:pPr>
            <a:r>
              <a:rPr lang="en-US" sz="2400" dirty="0">
                <a:solidFill>
                  <a:srgbClr val="3366FF"/>
                </a:solidFill>
              </a:rPr>
              <a:t>4.2	Electronegativity, Unequal Sharing, &amp; Polar Bonds </a:t>
            </a:r>
          </a:p>
          <a:p>
            <a:pPr marL="0" indent="0">
              <a:spcBef>
                <a:spcPts val="0"/>
              </a:spcBef>
              <a:buNone/>
              <a:defRPr/>
            </a:pPr>
            <a:r>
              <a:rPr lang="en-US" sz="2400" dirty="0"/>
              <a:t>4.3	Naming Compounds and Writing Formulas</a:t>
            </a:r>
          </a:p>
          <a:p>
            <a:pPr marL="0" indent="0">
              <a:spcBef>
                <a:spcPts val="0"/>
              </a:spcBef>
              <a:buNone/>
              <a:defRPr/>
            </a:pPr>
            <a:r>
              <a:rPr lang="en-US" sz="2400" dirty="0"/>
              <a:t>4.4	Lewis Symbols and Lewis Structures</a:t>
            </a:r>
          </a:p>
          <a:p>
            <a:pPr marL="0" indent="0">
              <a:spcBef>
                <a:spcPts val="0"/>
              </a:spcBef>
              <a:buNone/>
              <a:defRPr/>
            </a:pPr>
            <a:r>
              <a:rPr lang="en-US" sz="2400" dirty="0"/>
              <a:t>4.5	Resonance</a:t>
            </a:r>
          </a:p>
          <a:p>
            <a:pPr marL="0" indent="0">
              <a:spcBef>
                <a:spcPts val="0"/>
              </a:spcBef>
              <a:buNone/>
              <a:defRPr/>
            </a:pPr>
            <a:r>
              <a:rPr lang="en-US" sz="2400" dirty="0">
                <a:solidFill>
                  <a:srgbClr val="3366FF"/>
                </a:solidFill>
              </a:rPr>
              <a:t>4.6 	The Lengths and Strengths of Covalent Bonds</a:t>
            </a:r>
          </a:p>
          <a:p>
            <a:pPr marL="0" indent="0">
              <a:spcBef>
                <a:spcPts val="0"/>
              </a:spcBef>
              <a:buNone/>
              <a:defRPr/>
            </a:pPr>
            <a:r>
              <a:rPr lang="en-US" sz="2400" dirty="0">
                <a:solidFill>
                  <a:prstClr val="black"/>
                </a:solidFill>
              </a:rPr>
              <a:t>4.7	Formal Charge:  Choosing among Lewis Structures</a:t>
            </a:r>
          </a:p>
          <a:p>
            <a:pPr marL="0" indent="0">
              <a:spcBef>
                <a:spcPts val="0"/>
              </a:spcBef>
              <a:buNone/>
              <a:defRPr/>
            </a:pPr>
            <a:r>
              <a:rPr lang="en-US" sz="2400" dirty="0">
                <a:solidFill>
                  <a:prstClr val="black"/>
                </a:solidFill>
              </a:rPr>
              <a:t>4.8	Exceptions to the Octet Rule</a:t>
            </a:r>
          </a:p>
          <a:p>
            <a:pPr marL="0" indent="0">
              <a:spcBef>
                <a:spcPts val="0"/>
              </a:spcBef>
              <a:buNone/>
              <a:defRPr/>
            </a:pPr>
            <a:r>
              <a:rPr lang="en-US" sz="2400" dirty="0">
                <a:solidFill>
                  <a:srgbClr val="3366FF"/>
                </a:solidFill>
              </a:rPr>
              <a:t>4.9	Vibrating Bonds and the Greenhouse Effect</a:t>
            </a:r>
          </a:p>
          <a:p>
            <a:pPr marL="0" indent="0">
              <a:spcBef>
                <a:spcPts val="0"/>
              </a:spcBef>
              <a:buNone/>
              <a:defRPr/>
            </a:pPr>
            <a:endParaRPr lang="en-US" sz="2400" dirty="0">
              <a:solidFill>
                <a:prstClr val="black"/>
              </a:solidFill>
            </a:endParaRPr>
          </a:p>
          <a:p>
            <a:pPr marL="0" indent="0">
              <a:spcBef>
                <a:spcPts val="0"/>
              </a:spcBef>
              <a:buNone/>
              <a:defRPr/>
            </a:pPr>
            <a:r>
              <a:rPr lang="en-US" sz="2400" dirty="0">
                <a:solidFill>
                  <a:srgbClr val="3366FF"/>
                </a:solidFill>
              </a:rPr>
              <a:t>5.3	Polar Bonds and Polar Molecules</a:t>
            </a:r>
          </a:p>
        </p:txBody>
      </p:sp>
    </p:spTree>
    <p:extLst>
      <p:ext uri="{BB962C8B-B14F-4D97-AF65-F5344CB8AC3E}">
        <p14:creationId xmlns:p14="http://schemas.microsoft.com/office/powerpoint/2010/main" val="363691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Chemistry</a:t>
            </a:r>
          </a:p>
        </p:txBody>
      </p:sp>
      <p:sp>
        <p:nvSpPr>
          <p:cNvPr id="3" name="Content Placeholder 2"/>
          <p:cNvSpPr>
            <a:spLocks noGrp="1"/>
          </p:cNvSpPr>
          <p:nvPr>
            <p:ph idx="1"/>
          </p:nvPr>
        </p:nvSpPr>
        <p:spPr>
          <a:xfrm>
            <a:off x="541197" y="1932702"/>
            <a:ext cx="4515185" cy="2159621"/>
          </a:xfrm>
        </p:spPr>
        <p:txBody>
          <a:bodyPr>
            <a:normAutofit/>
          </a:bodyPr>
          <a:lstStyle/>
          <a:p>
            <a:r>
              <a:rPr lang="en-US" b="1" dirty="0"/>
              <a:t>The study of matter </a:t>
            </a:r>
            <a:r>
              <a:rPr lang="en-US" dirty="0"/>
              <a:t>– </a:t>
            </a:r>
            <a:br>
              <a:rPr lang="en-US" dirty="0"/>
            </a:br>
            <a:r>
              <a:rPr lang="en-US" dirty="0"/>
              <a:t>its </a:t>
            </a:r>
            <a:r>
              <a:rPr lang="en-US" u="sng" dirty="0"/>
              <a:t>composition</a:t>
            </a:r>
            <a:r>
              <a:rPr lang="en-US" dirty="0"/>
              <a:t>, </a:t>
            </a:r>
            <a:r>
              <a:rPr lang="en-US" u="sng" dirty="0"/>
              <a:t>structure</a:t>
            </a:r>
            <a:r>
              <a:rPr lang="en-US" dirty="0"/>
              <a:t>, </a:t>
            </a:r>
            <a:r>
              <a:rPr lang="en-US" u="sng" dirty="0"/>
              <a:t>properties</a:t>
            </a:r>
            <a:r>
              <a:rPr lang="en-US" dirty="0"/>
              <a:t>, &amp; the </a:t>
            </a:r>
            <a:r>
              <a:rPr lang="en-US" u="sng" dirty="0"/>
              <a:t>changes</a:t>
            </a:r>
            <a:r>
              <a:rPr lang="en-US" dirty="0"/>
              <a:t> it undergoes (along with the </a:t>
            </a:r>
            <a:r>
              <a:rPr lang="en-US" u="sng" dirty="0"/>
              <a:t>energy</a:t>
            </a:r>
            <a:r>
              <a:rPr lang="en-US" dirty="0"/>
              <a:t> involved)</a:t>
            </a:r>
          </a:p>
        </p:txBody>
      </p:sp>
      <p:sp>
        <p:nvSpPr>
          <p:cNvPr id="4" name="Slide Number Placeholder 3"/>
          <p:cNvSpPr>
            <a:spLocks noGrp="1"/>
          </p:cNvSpPr>
          <p:nvPr>
            <p:ph type="sldNum" sz="quarter" idx="12"/>
          </p:nvPr>
        </p:nvSpPr>
        <p:spPr/>
        <p:txBody>
          <a:bodyPr/>
          <a:lstStyle/>
          <a:p>
            <a:pPr algn="l"/>
            <a:fld id="{63C103D7-7FC1-4B9F-A526-BC88A3C4AA47}" type="slidenum">
              <a:rPr lang="en-US" smtClean="0"/>
              <a:pPr algn="l"/>
              <a:t>3</a:t>
            </a:fld>
            <a:endParaRPr lang="en-US" dirty="0"/>
          </a:p>
        </p:txBody>
      </p:sp>
      <p:pic>
        <p:nvPicPr>
          <p:cNvPr id="8" name="Picture 7"/>
          <p:cNvPicPr>
            <a:picLocks noChangeAspect="1"/>
          </p:cNvPicPr>
          <p:nvPr/>
        </p:nvPicPr>
        <p:blipFill>
          <a:blip r:embed="rId3"/>
          <a:stretch>
            <a:fillRect/>
          </a:stretch>
        </p:blipFill>
        <p:spPr>
          <a:xfrm>
            <a:off x="4822466" y="1349123"/>
            <a:ext cx="3727174" cy="2743200"/>
          </a:xfrm>
          <a:prstGeom prst="rect">
            <a:avLst/>
          </a:prstGeom>
        </p:spPr>
      </p:pic>
      <p:sp>
        <p:nvSpPr>
          <p:cNvPr id="9" name="Rectangle 8"/>
          <p:cNvSpPr/>
          <p:nvPr/>
        </p:nvSpPr>
        <p:spPr>
          <a:xfrm>
            <a:off x="541197" y="4092323"/>
            <a:ext cx="8332980" cy="1964127"/>
          </a:xfrm>
          <a:prstGeom prst="rect">
            <a:avLst/>
          </a:prstGeom>
        </p:spPr>
        <p:txBody>
          <a:bodyPr wrap="square">
            <a:spAutoFit/>
          </a:bodyPr>
          <a:lstStyle/>
          <a:p>
            <a:pPr marL="228600" lvl="0" indent="-228600">
              <a:lnSpc>
                <a:spcPct val="90000"/>
              </a:lnSpc>
              <a:spcBef>
                <a:spcPts val="1000"/>
              </a:spcBef>
              <a:buFont typeface="Arial" panose="020B0604020202020204" pitchFamily="34" charset="0"/>
              <a:buChar char="•"/>
            </a:pPr>
            <a:r>
              <a:rPr lang="en-US" sz="2200" b="1" dirty="0">
                <a:solidFill>
                  <a:prstClr val="black"/>
                </a:solidFill>
              </a:rPr>
              <a:t>Outline of </a:t>
            </a:r>
            <a:r>
              <a:rPr lang="en-US" sz="2200" b="1" dirty="0" err="1">
                <a:solidFill>
                  <a:prstClr val="black"/>
                </a:solidFill>
              </a:rPr>
              <a:t>Chem</a:t>
            </a:r>
            <a:r>
              <a:rPr lang="en-US" sz="2200" b="1" dirty="0">
                <a:solidFill>
                  <a:prstClr val="black"/>
                </a:solidFill>
              </a:rPr>
              <a:t> 105:</a:t>
            </a:r>
          </a:p>
          <a:p>
            <a:pPr marL="685800" lvl="1" indent="-228600">
              <a:lnSpc>
                <a:spcPct val="90000"/>
              </a:lnSpc>
              <a:spcBef>
                <a:spcPts val="500"/>
              </a:spcBef>
              <a:buFont typeface="Arial" panose="020B0604020202020204" pitchFamily="34" charset="0"/>
              <a:buChar char="•"/>
            </a:pPr>
            <a:r>
              <a:rPr lang="en-US" u="sng" dirty="0">
                <a:solidFill>
                  <a:prstClr val="black"/>
                </a:solidFill>
              </a:rPr>
              <a:t>Composition</a:t>
            </a:r>
            <a:r>
              <a:rPr lang="en-US" dirty="0">
                <a:solidFill>
                  <a:prstClr val="black"/>
                </a:solidFill>
              </a:rPr>
              <a:t> of Matter </a:t>
            </a:r>
            <a:r>
              <a:rPr lang="en-US" dirty="0">
                <a:solidFill>
                  <a:prstClr val="black"/>
                </a:solidFill>
                <a:sym typeface="Wingdings" panose="05000000000000000000" pitchFamily="2" charset="2"/>
              </a:rPr>
              <a:t> Atoms: Chapters 1-3</a:t>
            </a:r>
          </a:p>
          <a:p>
            <a:pPr marL="685800" lvl="1" indent="-228600">
              <a:lnSpc>
                <a:spcPct val="90000"/>
              </a:lnSpc>
              <a:spcBef>
                <a:spcPts val="500"/>
              </a:spcBef>
              <a:buFont typeface="Arial" panose="020B0604020202020204" pitchFamily="34" charset="0"/>
              <a:buChar char="•"/>
            </a:pPr>
            <a:r>
              <a:rPr lang="en-US" u="sng" dirty="0">
                <a:solidFill>
                  <a:prstClr val="black"/>
                </a:solidFill>
                <a:sym typeface="Wingdings" panose="05000000000000000000" pitchFamily="2" charset="2"/>
              </a:rPr>
              <a:t>Structure</a:t>
            </a:r>
            <a:r>
              <a:rPr lang="en-US" dirty="0">
                <a:solidFill>
                  <a:prstClr val="black"/>
                </a:solidFill>
                <a:sym typeface="Wingdings" panose="05000000000000000000" pitchFamily="2" charset="2"/>
              </a:rPr>
              <a:t> of Matter  Molecules: Chapters 4-5 (18,19)</a:t>
            </a:r>
          </a:p>
          <a:p>
            <a:pPr marL="685800" lvl="1" indent="-228600">
              <a:lnSpc>
                <a:spcPct val="90000"/>
              </a:lnSpc>
              <a:spcBef>
                <a:spcPts val="500"/>
              </a:spcBef>
              <a:buFont typeface="Arial" panose="020B0604020202020204" pitchFamily="34" charset="0"/>
              <a:buChar char="•"/>
            </a:pPr>
            <a:r>
              <a:rPr lang="en-US" u="sng" dirty="0">
                <a:solidFill>
                  <a:prstClr val="black"/>
                </a:solidFill>
                <a:sym typeface="Wingdings" panose="05000000000000000000" pitchFamily="2" charset="2"/>
              </a:rPr>
              <a:t>Properties</a:t>
            </a:r>
            <a:r>
              <a:rPr lang="en-US" dirty="0">
                <a:solidFill>
                  <a:prstClr val="black"/>
                </a:solidFill>
                <a:sym typeface="Wingdings" panose="05000000000000000000" pitchFamily="2" charset="2"/>
              </a:rPr>
              <a:t> of Matter  Phases, Gases: Chapters 6,9</a:t>
            </a:r>
          </a:p>
          <a:p>
            <a:pPr marL="685800" lvl="1" indent="-228600">
              <a:lnSpc>
                <a:spcPct val="90000"/>
              </a:lnSpc>
              <a:spcBef>
                <a:spcPts val="500"/>
              </a:spcBef>
              <a:buFont typeface="Arial" panose="020B0604020202020204" pitchFamily="34" charset="0"/>
              <a:buChar char="•"/>
            </a:pPr>
            <a:r>
              <a:rPr lang="en-US" u="sng" dirty="0">
                <a:solidFill>
                  <a:prstClr val="black"/>
                </a:solidFill>
                <a:sym typeface="Wingdings" panose="05000000000000000000" pitchFamily="2" charset="2"/>
              </a:rPr>
              <a:t>Changes</a:t>
            </a:r>
            <a:r>
              <a:rPr lang="en-US" dirty="0">
                <a:solidFill>
                  <a:prstClr val="black"/>
                </a:solidFill>
                <a:sym typeface="Wingdings" panose="05000000000000000000" pitchFamily="2" charset="2"/>
              </a:rPr>
              <a:t>  Chemical Reactions &amp; the energy involved: Chapters 7,10,12</a:t>
            </a:r>
          </a:p>
          <a:p>
            <a:pPr marL="685800" lvl="1" indent="-228600">
              <a:lnSpc>
                <a:spcPct val="90000"/>
              </a:lnSpc>
              <a:spcBef>
                <a:spcPts val="500"/>
              </a:spcBef>
              <a:buFont typeface="Arial" panose="020B0604020202020204" pitchFamily="34" charset="0"/>
              <a:buChar char="•"/>
            </a:pPr>
            <a:endParaRPr lang="en-US" dirty="0">
              <a:solidFill>
                <a:prstClr val="black"/>
              </a:solidFill>
            </a:endParaRPr>
          </a:p>
        </p:txBody>
      </p:sp>
    </p:spTree>
    <p:extLst>
      <p:ext uri="{BB962C8B-B14F-4D97-AF65-F5344CB8AC3E}">
        <p14:creationId xmlns:p14="http://schemas.microsoft.com/office/powerpoint/2010/main" val="417018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9">
                                            <p:txEl>
                                              <p:pRg st="1" end="1"/>
                                            </p:txEl>
                                          </p:spTgt>
                                        </p:tgtEl>
                                        <p:attrNameLst>
                                          <p:attrName>style.color</p:attrName>
                                        </p:attrNameLst>
                                      </p:cBhvr>
                                      <p:to>
                                        <a:srgbClr val="4833E5"/>
                                      </p:to>
                                    </p:animClr>
                                    <p:animClr clrSpc="rgb" dir="cw">
                                      <p:cBhvr>
                                        <p:cTn id="7" dur="500" fill="hold"/>
                                        <p:tgtEl>
                                          <p:spTgt spid="9">
                                            <p:txEl>
                                              <p:pRg st="1" end="1"/>
                                            </p:txEl>
                                          </p:spTgt>
                                        </p:tgtEl>
                                        <p:attrNameLst>
                                          <p:attrName>fillcolor</p:attrName>
                                        </p:attrNameLst>
                                      </p:cBhvr>
                                      <p:to>
                                        <a:srgbClr val="4833E5"/>
                                      </p:to>
                                    </p:animClr>
                                    <p:set>
                                      <p:cBhvr>
                                        <p:cTn id="8" dur="500" fill="hold"/>
                                        <p:tgtEl>
                                          <p:spTgt spid="9">
                                            <p:txEl>
                                              <p:pRg st="1" end="1"/>
                                            </p:txEl>
                                          </p:spTgt>
                                        </p:tgtEl>
                                        <p:attrNameLst>
                                          <p:attrName>fill.type</p:attrName>
                                        </p:attrNameLst>
                                      </p:cBhvr>
                                      <p:to>
                                        <p:strVal val="solid"/>
                                      </p:to>
                                    </p:set>
                                    <p:set>
                                      <p:cBhvr>
                                        <p:cTn id="9" dur="500" fill="hold"/>
                                        <p:tgtEl>
                                          <p:spTgt spid="9">
                                            <p:txEl>
                                              <p:pRg st="1" end="1"/>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9">
                                            <p:txEl>
                                              <p:pRg st="2" end="2"/>
                                            </p:txEl>
                                          </p:spTgt>
                                        </p:tgtEl>
                                        <p:attrNameLst>
                                          <p:attrName>style.color</p:attrName>
                                        </p:attrNameLst>
                                      </p:cBhvr>
                                      <p:to>
                                        <a:schemeClr val="accent2"/>
                                      </p:to>
                                    </p:animClr>
                                    <p:animClr clrSpc="rgb" dir="cw">
                                      <p:cBhvr>
                                        <p:cTn id="14" dur="500" fill="hold"/>
                                        <p:tgtEl>
                                          <p:spTgt spid="9">
                                            <p:txEl>
                                              <p:pRg st="2" end="2"/>
                                            </p:txEl>
                                          </p:spTgt>
                                        </p:tgtEl>
                                        <p:attrNameLst>
                                          <p:attrName>fillcolor</p:attrName>
                                        </p:attrNameLst>
                                      </p:cBhvr>
                                      <p:to>
                                        <a:schemeClr val="accent2"/>
                                      </p:to>
                                    </p:animClr>
                                    <p:set>
                                      <p:cBhvr>
                                        <p:cTn id="15" dur="500" fill="hold"/>
                                        <p:tgtEl>
                                          <p:spTgt spid="9">
                                            <p:txEl>
                                              <p:pRg st="2" end="2"/>
                                            </p:txEl>
                                          </p:spTgt>
                                        </p:tgtEl>
                                        <p:attrNameLst>
                                          <p:attrName>fill.type</p:attrName>
                                        </p:attrNameLst>
                                      </p:cBhvr>
                                      <p:to>
                                        <p:strVal val="solid"/>
                                      </p:to>
                                    </p:set>
                                    <p:set>
                                      <p:cBhvr>
                                        <p:cTn id="16" dur="500" fill="hold"/>
                                        <p:tgtEl>
                                          <p:spTgt spid="9">
                                            <p:txEl>
                                              <p:pRg st="2" end="2"/>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Structure</a:t>
            </a:r>
          </a:p>
        </p:txBody>
      </p:sp>
      <p:sp>
        <p:nvSpPr>
          <p:cNvPr id="3" name="Content Placeholder 2"/>
          <p:cNvSpPr>
            <a:spLocks noGrp="1"/>
          </p:cNvSpPr>
          <p:nvPr>
            <p:ph idx="1"/>
          </p:nvPr>
        </p:nvSpPr>
        <p:spPr>
          <a:xfrm>
            <a:off x="628226" y="1635760"/>
            <a:ext cx="8118566" cy="4720086"/>
          </a:xfrm>
        </p:spPr>
        <p:txBody>
          <a:bodyPr/>
          <a:lstStyle/>
          <a:p>
            <a:r>
              <a:rPr lang="en-US" sz="2400" dirty="0"/>
              <a:t>Structure of matter = how atoms are arranged spatially</a:t>
            </a:r>
          </a:p>
          <a:p>
            <a:pPr marL="0" indent="0" algn="ctr">
              <a:spcBef>
                <a:spcPts val="2400"/>
              </a:spcBef>
              <a:buNone/>
            </a:pPr>
            <a:r>
              <a:rPr lang="en-US" sz="2000" dirty="0"/>
              <a:t>Example: Ethanol and dimethyl ether have the same composition – same # and types of atoms (C</a:t>
            </a:r>
            <a:r>
              <a:rPr lang="en-US" sz="2000" baseline="-25000" dirty="0"/>
              <a:t>2</a:t>
            </a:r>
            <a:r>
              <a:rPr lang="en-US" sz="2000" dirty="0"/>
              <a:t>H</a:t>
            </a:r>
            <a:r>
              <a:rPr lang="en-US" sz="2000" baseline="-25000" dirty="0"/>
              <a:t>6</a:t>
            </a:r>
            <a:r>
              <a:rPr lang="en-US" sz="2000" dirty="0"/>
              <a:t>O) – but have different structures.</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4</a:t>
            </a:fld>
            <a:endParaRPr lang="en-US" dirty="0"/>
          </a:p>
        </p:txBody>
      </p:sp>
      <p:sp>
        <p:nvSpPr>
          <p:cNvPr id="10" name="Title 1"/>
          <p:cNvSpPr txBox="1">
            <a:spLocks/>
          </p:cNvSpPr>
          <p:nvPr/>
        </p:nvSpPr>
        <p:spPr>
          <a:xfrm>
            <a:off x="3085552" y="5219604"/>
            <a:ext cx="3158339" cy="1254759"/>
          </a:xfrm>
          <a:prstGeom prst="rect">
            <a:avLst/>
          </a:prstGeom>
        </p:spPr>
        <p:txBody>
          <a:bodyPr vert="horz" lIns="91440" tIns="45720" rIns="91440" bIns="45720" rtlCol="0" anchor="ctr">
            <a:normAutofit/>
          </a:bodyPr>
          <a:lstStyle>
            <a:lvl1pPr algn="r" defTabSz="914400" rtl="0" eaLnBrk="1" latinLnBrk="0" hangingPunct="1">
              <a:lnSpc>
                <a:spcPct val="90000"/>
              </a:lnSpc>
              <a:spcBef>
                <a:spcPct val="0"/>
              </a:spcBef>
              <a:buNone/>
              <a:defRPr sz="4800" kern="1200" cap="all" baseline="0">
                <a:solidFill>
                  <a:schemeClr val="tx1"/>
                </a:solidFill>
                <a:latin typeface="+mj-lt"/>
                <a:ea typeface="+mj-ea"/>
                <a:cs typeface="+mj-cs"/>
              </a:defRPr>
            </a:lvl1pPr>
          </a:lstStyle>
          <a:p>
            <a:pPr algn="ctr"/>
            <a:r>
              <a:rPr lang="en-US" dirty="0"/>
              <a:t>Bonds!</a:t>
            </a:r>
          </a:p>
        </p:txBody>
      </p:sp>
      <p:grpSp>
        <p:nvGrpSpPr>
          <p:cNvPr id="9" name="Group 8"/>
          <p:cNvGrpSpPr/>
          <p:nvPr/>
        </p:nvGrpSpPr>
        <p:grpSpPr>
          <a:xfrm>
            <a:off x="988695" y="3227627"/>
            <a:ext cx="7054618" cy="1855713"/>
            <a:chOff x="1031862" y="3839005"/>
            <a:chExt cx="7054618" cy="1855713"/>
          </a:xfrm>
        </p:grpSpPr>
        <p:pic>
          <p:nvPicPr>
            <p:cNvPr id="5" name="Picture 25" descr="images-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459" y="4246918"/>
              <a:ext cx="19891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5064662" y="3839005"/>
              <a:ext cx="3021818" cy="400110"/>
            </a:xfrm>
            <a:prstGeom prst="rect">
              <a:avLst/>
            </a:prstGeom>
          </p:spPr>
          <p:txBody>
            <a:bodyPr wrap="square">
              <a:spAutoFit/>
            </a:bodyPr>
            <a:lstStyle/>
            <a:p>
              <a:pPr algn="ctr"/>
              <a:r>
                <a:rPr lang="en-US" sz="2000" dirty="0"/>
                <a:t>CH</a:t>
              </a:r>
              <a:r>
                <a:rPr lang="en-US" sz="2000" baseline="-25000" dirty="0"/>
                <a:t>3</a:t>
              </a:r>
              <a:r>
                <a:rPr lang="en-US" sz="2000" dirty="0"/>
                <a:t>-O-CH</a:t>
              </a:r>
              <a:r>
                <a:rPr lang="en-US" sz="2000" baseline="-25000" dirty="0"/>
                <a:t>3</a:t>
              </a:r>
            </a:p>
          </p:txBody>
        </p:sp>
        <p:sp>
          <p:nvSpPr>
            <p:cNvPr id="7" name="Rectangle 6"/>
            <p:cNvSpPr/>
            <p:nvPr/>
          </p:nvSpPr>
          <p:spPr>
            <a:xfrm>
              <a:off x="1031862" y="3839005"/>
              <a:ext cx="3469005" cy="400110"/>
            </a:xfrm>
            <a:prstGeom prst="rect">
              <a:avLst/>
            </a:prstGeom>
          </p:spPr>
          <p:txBody>
            <a:bodyPr wrap="square">
              <a:spAutoFit/>
            </a:bodyPr>
            <a:lstStyle/>
            <a:p>
              <a:pPr algn="ctr"/>
              <a:r>
                <a:rPr lang="en-US" sz="2000" dirty="0"/>
                <a:t>CH</a:t>
              </a:r>
              <a:r>
                <a:rPr lang="en-US" sz="2000" baseline="-25000" dirty="0"/>
                <a:t>3</a:t>
              </a:r>
              <a:r>
                <a:rPr lang="en-US" sz="2000" dirty="0"/>
                <a:t>-CH</a:t>
              </a:r>
              <a:r>
                <a:rPr lang="en-US" sz="2000" baseline="-25000" dirty="0"/>
                <a:t>2</a:t>
              </a:r>
              <a:r>
                <a:rPr lang="en-US" sz="2000" dirty="0"/>
                <a:t>-OH</a:t>
              </a:r>
            </a:p>
          </p:txBody>
        </p:sp>
        <p:pic>
          <p:nvPicPr>
            <p:cNvPr id="8" name="Picture 28" descr="images-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971" y="4324471"/>
              <a:ext cx="1981200"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 name="Rectangle 12"/>
          <p:cNvSpPr/>
          <p:nvPr/>
        </p:nvSpPr>
        <p:spPr>
          <a:xfrm>
            <a:off x="5385310" y="3501138"/>
            <a:ext cx="2345084" cy="338554"/>
          </a:xfrm>
          <a:prstGeom prst="rect">
            <a:avLst/>
          </a:prstGeom>
        </p:spPr>
        <p:txBody>
          <a:bodyPr wrap="square">
            <a:spAutoFit/>
          </a:bodyPr>
          <a:lstStyle/>
          <a:p>
            <a:pPr algn="ctr"/>
            <a:r>
              <a:rPr lang="en-US" sz="1600" dirty="0"/>
              <a:t>Dimethyl ether is a gas</a:t>
            </a:r>
          </a:p>
        </p:txBody>
      </p:sp>
      <p:sp>
        <p:nvSpPr>
          <p:cNvPr id="14" name="Rectangle 13"/>
          <p:cNvSpPr/>
          <p:nvPr/>
        </p:nvSpPr>
        <p:spPr>
          <a:xfrm>
            <a:off x="1352222" y="3468236"/>
            <a:ext cx="2741949" cy="338554"/>
          </a:xfrm>
          <a:prstGeom prst="rect">
            <a:avLst/>
          </a:prstGeom>
        </p:spPr>
        <p:txBody>
          <a:bodyPr wrap="square">
            <a:spAutoFit/>
          </a:bodyPr>
          <a:lstStyle/>
          <a:p>
            <a:pPr algn="ctr"/>
            <a:r>
              <a:rPr lang="en-US" sz="1600" dirty="0"/>
              <a:t>Ethanol is a liquid at room T</a:t>
            </a:r>
          </a:p>
        </p:txBody>
      </p:sp>
      <p:sp>
        <p:nvSpPr>
          <p:cNvPr id="12" name="Rectangle 11"/>
          <p:cNvSpPr/>
          <p:nvPr/>
        </p:nvSpPr>
        <p:spPr>
          <a:xfrm>
            <a:off x="3676671" y="4968641"/>
            <a:ext cx="2457917" cy="400110"/>
          </a:xfrm>
          <a:prstGeom prst="rect">
            <a:avLst/>
          </a:prstGeom>
        </p:spPr>
        <p:txBody>
          <a:bodyPr wrap="none">
            <a:spAutoFit/>
          </a:bodyPr>
          <a:lstStyle/>
          <a:p>
            <a:r>
              <a:rPr lang="en-US" sz="2000" dirty="0">
                <a:solidFill>
                  <a:prstClr val="black"/>
                </a:solidFill>
              </a:rPr>
              <a:t>Why the difference?</a:t>
            </a:r>
            <a:endParaRPr lang="en-US" dirty="0"/>
          </a:p>
        </p:txBody>
      </p:sp>
    </p:spTree>
    <p:extLst>
      <p:ext uri="{BB962C8B-B14F-4D97-AF65-F5344CB8AC3E}">
        <p14:creationId xmlns:p14="http://schemas.microsoft.com/office/powerpoint/2010/main" val="162382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4"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Bonding</a:t>
            </a:r>
          </a:p>
        </p:txBody>
      </p:sp>
      <p:sp>
        <p:nvSpPr>
          <p:cNvPr id="3" name="Content Placeholder 2"/>
          <p:cNvSpPr>
            <a:spLocks noGrp="1"/>
          </p:cNvSpPr>
          <p:nvPr>
            <p:ph idx="1"/>
          </p:nvPr>
        </p:nvSpPr>
        <p:spPr>
          <a:xfrm>
            <a:off x="2576266" y="1802425"/>
            <a:ext cx="6319378" cy="4553218"/>
          </a:xfrm>
        </p:spPr>
        <p:txBody>
          <a:bodyPr>
            <a:normAutofit/>
          </a:bodyPr>
          <a:lstStyle/>
          <a:p>
            <a:pPr>
              <a:spcBef>
                <a:spcPts val="600"/>
              </a:spcBef>
              <a:spcAft>
                <a:spcPts val="1200"/>
              </a:spcAft>
            </a:pPr>
            <a:r>
              <a:rPr lang="en-US" sz="2400" dirty="0"/>
              <a:t>Chemical bond = electrostatic attraction holding two atoms close together</a:t>
            </a:r>
          </a:p>
          <a:p>
            <a:pPr lvl="1">
              <a:spcBef>
                <a:spcPts val="600"/>
              </a:spcBef>
            </a:pPr>
            <a:r>
              <a:rPr lang="en-US" sz="2400" dirty="0"/>
              <a:t>Bonds aren’t sticks!</a:t>
            </a:r>
          </a:p>
          <a:p>
            <a:pPr lvl="1">
              <a:spcBef>
                <a:spcPts val="600"/>
              </a:spcBef>
            </a:pPr>
            <a:r>
              <a:rPr lang="en-US" sz="2400" dirty="0"/>
              <a:t>Bonds are simply electrostatic attraction </a:t>
            </a:r>
          </a:p>
          <a:p>
            <a:pPr lvl="2">
              <a:spcBef>
                <a:spcPts val="600"/>
              </a:spcBef>
            </a:pPr>
            <a:r>
              <a:rPr lang="en-US" sz="2000" b="1" u="sng" dirty="0"/>
              <a:t>2 nuclei attracted to the e- around them</a:t>
            </a:r>
          </a:p>
          <a:p>
            <a:pPr lvl="2"/>
            <a:endParaRPr lang="en-US" sz="2000" dirty="0"/>
          </a:p>
          <a:p>
            <a:pPr marL="0" indent="0" algn="ctr">
              <a:buNone/>
            </a:pPr>
            <a:r>
              <a:rPr lang="en-US" sz="2400" i="1" dirty="0"/>
              <a:t>Why do bonds form?</a:t>
            </a:r>
          </a:p>
        </p:txBody>
      </p:sp>
      <p:sp>
        <p:nvSpPr>
          <p:cNvPr id="4" name="Slide Number Placeholder 3"/>
          <p:cNvSpPr>
            <a:spLocks noGrp="1"/>
          </p:cNvSpPr>
          <p:nvPr>
            <p:ph type="sldNum" sz="quarter" idx="12"/>
          </p:nvPr>
        </p:nvSpPr>
        <p:spPr/>
        <p:txBody>
          <a:bodyPr/>
          <a:lstStyle/>
          <a:p>
            <a:fld id="{63C103D7-7FC1-4B9F-A526-BC88A3C4AA47}" type="slidenum">
              <a:rPr lang="en-US" smtClean="0"/>
              <a:pPr/>
              <a:t>5</a:t>
            </a:fld>
            <a:endParaRPr lang="en-US" dirty="0"/>
          </a:p>
        </p:txBody>
      </p:sp>
      <p:grpSp>
        <p:nvGrpSpPr>
          <p:cNvPr id="6" name="Group 5"/>
          <p:cNvGrpSpPr/>
          <p:nvPr/>
        </p:nvGrpSpPr>
        <p:grpSpPr>
          <a:xfrm>
            <a:off x="343041" y="1802425"/>
            <a:ext cx="2147359" cy="3248026"/>
            <a:chOff x="234597" y="1110015"/>
            <a:chExt cx="2147359" cy="3248026"/>
          </a:xfrm>
        </p:grpSpPr>
        <p:pic>
          <p:nvPicPr>
            <p:cNvPr id="2050" name="Picture 2" descr="http://www2.estrellamountain.edu/faculty/farabee/BIOBK/hydrogencv.gif"/>
            <p:cNvPicPr>
              <a:picLocks noChangeAspect="1" noChangeArrowheads="1"/>
            </p:cNvPicPr>
            <p:nvPr/>
          </p:nvPicPr>
          <p:blipFill rotWithShape="1">
            <a:blip r:embed="rId2">
              <a:extLst>
                <a:ext uri="{28A0092B-C50C-407E-A947-70E740481C1C}">
                  <a14:useLocalDpi xmlns:a14="http://schemas.microsoft.com/office/drawing/2010/main" val="0"/>
                </a:ext>
              </a:extLst>
            </a:blip>
            <a:srcRect r="55882"/>
            <a:stretch/>
          </p:blipFill>
          <p:spPr bwMode="auto">
            <a:xfrm>
              <a:off x="234597" y="1110015"/>
              <a:ext cx="2147359" cy="32480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www2.estrellamountain.edu/faculty/farabee/BIOBK/hydrogencv.gif"/>
            <p:cNvPicPr>
              <a:picLocks noChangeAspect="1" noChangeArrowheads="1"/>
            </p:cNvPicPr>
            <p:nvPr/>
          </p:nvPicPr>
          <p:blipFill rotWithShape="1">
            <a:blip r:embed="rId2">
              <a:extLst>
                <a:ext uri="{28A0092B-C50C-407E-A947-70E740481C1C}">
                  <a14:useLocalDpi xmlns:a14="http://schemas.microsoft.com/office/drawing/2010/main" val="0"/>
                </a:ext>
              </a:extLst>
            </a:blip>
            <a:srcRect l="31246" t="77181" r="66319" b="15830"/>
            <a:stretch/>
          </p:blipFill>
          <p:spPr bwMode="auto">
            <a:xfrm rot="4135011">
              <a:off x="1217462" y="3629648"/>
              <a:ext cx="190978" cy="36576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9" name="Straight Arrow Connector 8"/>
          <p:cNvCxnSpPr>
            <a:endCxn id="3" idx="1"/>
          </p:cNvCxnSpPr>
          <p:nvPr/>
        </p:nvCxnSpPr>
        <p:spPr>
          <a:xfrm flipH="1">
            <a:off x="2576266" y="3668889"/>
            <a:ext cx="1058756" cy="410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7828844" y="5009976"/>
            <a:ext cx="1066800" cy="990600"/>
            <a:chOff x="5791200" y="3657600"/>
            <a:chExt cx="1066800" cy="990600"/>
          </a:xfrm>
        </p:grpSpPr>
        <p:sp>
          <p:nvSpPr>
            <p:cNvPr id="11" name="Oval 10"/>
            <p:cNvSpPr/>
            <p:nvPr/>
          </p:nvSpPr>
          <p:spPr>
            <a:xfrm>
              <a:off x="5791200" y="3657600"/>
              <a:ext cx="1066800" cy="990600"/>
            </a:xfrm>
            <a:prstGeom prst="ellipse">
              <a:avLst/>
            </a:prstGeom>
            <a:gradFill flip="none" rotWithShape="1">
              <a:gsLst>
                <a:gs pos="0">
                  <a:srgbClr val="00B0F0"/>
                </a:gs>
                <a:gs pos="100000">
                  <a:srgbClr val="4BACC6">
                    <a:lumMod val="20000"/>
                    <a:lumOff val="80000"/>
                  </a:srgbClr>
                </a:gs>
              </a:gsLst>
              <a:path path="circle">
                <a:fillToRect l="50000" t="50000" r="50000" b="50000"/>
              </a:path>
              <a:tileRect/>
            </a:gra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sp>
          <p:nvSpPr>
            <p:cNvPr id="12" name="Oval 11"/>
            <p:cNvSpPr/>
            <p:nvPr/>
          </p:nvSpPr>
          <p:spPr>
            <a:xfrm>
              <a:off x="6248400" y="4076700"/>
              <a:ext cx="152400" cy="152400"/>
            </a:xfrm>
            <a:prstGeom prst="ellipse">
              <a:avLst/>
            </a:prstGeom>
            <a:solidFill>
              <a:sysClr val="windowText" lastClr="000000"/>
            </a:soli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grpSp>
      <p:grpSp>
        <p:nvGrpSpPr>
          <p:cNvPr id="13" name="Group 12"/>
          <p:cNvGrpSpPr/>
          <p:nvPr/>
        </p:nvGrpSpPr>
        <p:grpSpPr>
          <a:xfrm>
            <a:off x="2799644" y="5009976"/>
            <a:ext cx="1066800" cy="990600"/>
            <a:chOff x="5791200" y="3657600"/>
            <a:chExt cx="1066800" cy="990600"/>
          </a:xfrm>
        </p:grpSpPr>
        <p:sp>
          <p:nvSpPr>
            <p:cNvPr id="14" name="Oval 13"/>
            <p:cNvSpPr/>
            <p:nvPr/>
          </p:nvSpPr>
          <p:spPr>
            <a:xfrm>
              <a:off x="5791200" y="3657600"/>
              <a:ext cx="1066800" cy="990600"/>
            </a:xfrm>
            <a:prstGeom prst="ellipse">
              <a:avLst/>
            </a:prstGeom>
            <a:gradFill flip="none" rotWithShape="1">
              <a:gsLst>
                <a:gs pos="0">
                  <a:srgbClr val="00B0F0"/>
                </a:gs>
                <a:gs pos="100000">
                  <a:srgbClr val="4BACC6">
                    <a:lumMod val="20000"/>
                    <a:lumOff val="80000"/>
                  </a:srgbClr>
                </a:gs>
              </a:gsLst>
              <a:path path="circle">
                <a:fillToRect l="50000" t="50000" r="50000" b="50000"/>
              </a:path>
              <a:tileRect/>
            </a:gra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sp>
          <p:nvSpPr>
            <p:cNvPr id="15" name="Oval 14"/>
            <p:cNvSpPr/>
            <p:nvPr/>
          </p:nvSpPr>
          <p:spPr>
            <a:xfrm>
              <a:off x="6248400" y="4076700"/>
              <a:ext cx="152400" cy="152400"/>
            </a:xfrm>
            <a:prstGeom prst="ellipse">
              <a:avLst/>
            </a:prstGeom>
            <a:solidFill>
              <a:sysClr val="windowText" lastClr="000000"/>
            </a:soli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grpSp>
      <p:grpSp>
        <p:nvGrpSpPr>
          <p:cNvPr id="16" name="Group 15"/>
          <p:cNvGrpSpPr/>
          <p:nvPr/>
        </p:nvGrpSpPr>
        <p:grpSpPr>
          <a:xfrm>
            <a:off x="4704644" y="5009976"/>
            <a:ext cx="2514600" cy="990600"/>
            <a:chOff x="3429000" y="3733800"/>
            <a:chExt cx="2514600" cy="990600"/>
          </a:xfrm>
        </p:grpSpPr>
        <p:grpSp>
          <p:nvGrpSpPr>
            <p:cNvPr id="17" name="Group 16"/>
            <p:cNvGrpSpPr/>
            <p:nvPr/>
          </p:nvGrpSpPr>
          <p:grpSpPr>
            <a:xfrm>
              <a:off x="3429000" y="3733800"/>
              <a:ext cx="2514600" cy="990600"/>
              <a:chOff x="2057400" y="1600200"/>
              <a:chExt cx="2514600" cy="990600"/>
            </a:xfrm>
          </p:grpSpPr>
          <p:sp>
            <p:nvSpPr>
              <p:cNvPr id="23" name="Rounded Rectangle 22"/>
              <p:cNvSpPr/>
              <p:nvPr/>
            </p:nvSpPr>
            <p:spPr>
              <a:xfrm>
                <a:off x="2057400" y="1600200"/>
                <a:ext cx="2514600" cy="990600"/>
              </a:xfrm>
              <a:prstGeom prst="roundRect">
                <a:avLst>
                  <a:gd name="adj" fmla="val 50000"/>
                </a:avLst>
              </a:prstGeom>
              <a:gradFill flip="none" rotWithShape="1">
                <a:gsLst>
                  <a:gs pos="0">
                    <a:sysClr val="window" lastClr="FFFFFF">
                      <a:alpha val="15000"/>
                    </a:sysClr>
                  </a:gs>
                  <a:gs pos="50000">
                    <a:srgbClr val="00B0F0">
                      <a:alpha val="85000"/>
                    </a:srgbClr>
                  </a:gs>
                  <a:gs pos="100000">
                    <a:sysClr val="window" lastClr="FFFFFF">
                      <a:alpha val="15000"/>
                    </a:sysClr>
                  </a:gs>
                </a:gsLst>
                <a:lin ang="5400000" scaled="0"/>
                <a:tileRect/>
              </a:gra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sp>
            <p:nvSpPr>
              <p:cNvPr id="24" name="Rounded Rectangle 23"/>
              <p:cNvSpPr/>
              <p:nvPr/>
            </p:nvSpPr>
            <p:spPr>
              <a:xfrm>
                <a:off x="2057400" y="1600200"/>
                <a:ext cx="2514600" cy="990600"/>
              </a:xfrm>
              <a:prstGeom prst="roundRect">
                <a:avLst>
                  <a:gd name="adj" fmla="val 50000"/>
                </a:avLst>
              </a:prstGeom>
              <a:gradFill flip="none" rotWithShape="1">
                <a:gsLst>
                  <a:gs pos="0">
                    <a:srgbClr val="00B0F0">
                      <a:alpha val="90000"/>
                    </a:srgbClr>
                  </a:gs>
                  <a:gs pos="99000">
                    <a:sysClr val="window" lastClr="FFFFFF">
                      <a:alpha val="50000"/>
                    </a:sysClr>
                  </a:gs>
                </a:gsLst>
                <a:path path="shape">
                  <a:fillToRect l="50000" t="50000" r="50000" b="50000"/>
                </a:path>
                <a:tileRect/>
              </a:gra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grpSp>
        <p:sp>
          <p:nvSpPr>
            <p:cNvPr id="18" name="Oval 17"/>
            <p:cNvSpPr/>
            <p:nvPr/>
          </p:nvSpPr>
          <p:spPr>
            <a:xfrm>
              <a:off x="5334001" y="4152901"/>
              <a:ext cx="152400" cy="152400"/>
            </a:xfrm>
            <a:prstGeom prst="ellipse">
              <a:avLst/>
            </a:prstGeom>
            <a:solidFill>
              <a:sysClr val="windowText" lastClr="000000"/>
            </a:soli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sp>
          <p:nvSpPr>
            <p:cNvPr id="19" name="Oval 18"/>
            <p:cNvSpPr/>
            <p:nvPr/>
          </p:nvSpPr>
          <p:spPr>
            <a:xfrm>
              <a:off x="3888582" y="4155278"/>
              <a:ext cx="152400" cy="152400"/>
            </a:xfrm>
            <a:prstGeom prst="ellipse">
              <a:avLst/>
            </a:prstGeom>
            <a:solidFill>
              <a:sysClr val="windowText" lastClr="000000"/>
            </a:soli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grpSp>
          <p:nvGrpSpPr>
            <p:cNvPr id="20" name="Group 19"/>
            <p:cNvGrpSpPr/>
            <p:nvPr/>
          </p:nvGrpSpPr>
          <p:grpSpPr>
            <a:xfrm>
              <a:off x="3890963" y="4152904"/>
              <a:ext cx="1595438" cy="157158"/>
              <a:chOff x="3886200" y="3576642"/>
              <a:chExt cx="1595438" cy="157158"/>
            </a:xfrm>
          </p:grpSpPr>
          <p:sp>
            <p:nvSpPr>
              <p:cNvPr id="21" name="Oval 20"/>
              <p:cNvSpPr/>
              <p:nvPr/>
            </p:nvSpPr>
            <p:spPr>
              <a:xfrm>
                <a:off x="5329238" y="3576642"/>
                <a:ext cx="152400" cy="152400"/>
              </a:xfrm>
              <a:prstGeom prst="ellipse">
                <a:avLst/>
              </a:prstGeom>
              <a:solidFill>
                <a:sysClr val="windowText" lastClr="000000"/>
              </a:soli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sp>
            <p:nvSpPr>
              <p:cNvPr id="22" name="Oval 21"/>
              <p:cNvSpPr/>
              <p:nvPr/>
            </p:nvSpPr>
            <p:spPr>
              <a:xfrm>
                <a:off x="3886200" y="3581400"/>
                <a:ext cx="152400" cy="152400"/>
              </a:xfrm>
              <a:prstGeom prst="ellipse">
                <a:avLst/>
              </a:prstGeom>
              <a:solidFill>
                <a:sysClr val="windowText" lastClr="000000"/>
              </a:solidFill>
              <a:ln w="25400" cap="flat" cmpd="sng" algn="ctr">
                <a:noFill/>
                <a:prstDash val="solid"/>
              </a:ln>
              <a:effectLst/>
            </p:spPr>
            <p:txBody>
              <a:bodyPr rtlCol="0" anchor="ctr"/>
              <a:lstStyle/>
              <a:p>
                <a:pPr algn="ctr">
                  <a:defRPr/>
                </a:pPr>
                <a:endParaRPr lang="en-US" kern="0">
                  <a:solidFill>
                    <a:prstClr val="white"/>
                  </a:solidFill>
                  <a:latin typeface="Calibri"/>
                </a:endParaRPr>
              </a:p>
            </p:txBody>
          </p:sp>
        </p:grpSp>
      </p:grpSp>
      <p:sp>
        <p:nvSpPr>
          <p:cNvPr id="25" name="TextBox 24"/>
          <p:cNvSpPr txBox="1"/>
          <p:nvPr/>
        </p:nvSpPr>
        <p:spPr>
          <a:xfrm>
            <a:off x="8260644" y="6140276"/>
            <a:ext cx="406400" cy="369332"/>
          </a:xfrm>
          <a:prstGeom prst="rect">
            <a:avLst/>
          </a:prstGeom>
          <a:noFill/>
        </p:spPr>
        <p:txBody>
          <a:bodyPr wrap="square" rtlCol="0">
            <a:spAutoFit/>
          </a:bodyPr>
          <a:lstStyle/>
          <a:p>
            <a:r>
              <a:rPr lang="en-US" dirty="0">
                <a:solidFill>
                  <a:prstClr val="black"/>
                </a:solidFill>
                <a:latin typeface="Calibri"/>
              </a:rPr>
              <a:t>1s</a:t>
            </a:r>
            <a:endParaRPr lang="en-US" baseline="-25000" dirty="0">
              <a:solidFill>
                <a:prstClr val="black"/>
              </a:solidFill>
              <a:latin typeface="Calibri"/>
            </a:endParaRPr>
          </a:p>
        </p:txBody>
      </p:sp>
      <p:sp>
        <p:nvSpPr>
          <p:cNvPr id="26" name="TextBox 25"/>
          <p:cNvSpPr txBox="1"/>
          <p:nvPr/>
        </p:nvSpPr>
        <p:spPr>
          <a:xfrm>
            <a:off x="3104444" y="6152976"/>
            <a:ext cx="406400" cy="369332"/>
          </a:xfrm>
          <a:prstGeom prst="rect">
            <a:avLst/>
          </a:prstGeom>
          <a:noFill/>
        </p:spPr>
        <p:txBody>
          <a:bodyPr wrap="square" rtlCol="0">
            <a:spAutoFit/>
          </a:bodyPr>
          <a:lstStyle/>
          <a:p>
            <a:r>
              <a:rPr lang="en-US" dirty="0">
                <a:solidFill>
                  <a:prstClr val="black"/>
                </a:solidFill>
                <a:latin typeface="Calibri"/>
              </a:rPr>
              <a:t>1s</a:t>
            </a:r>
            <a:endParaRPr lang="en-US" baseline="-25000" dirty="0">
              <a:solidFill>
                <a:prstClr val="black"/>
              </a:solidFill>
              <a:latin typeface="Calibri"/>
            </a:endParaRPr>
          </a:p>
        </p:txBody>
      </p:sp>
    </p:spTree>
    <p:extLst>
      <p:ext uri="{BB962C8B-B14F-4D97-AF65-F5344CB8AC3E}">
        <p14:creationId xmlns:p14="http://schemas.microsoft.com/office/powerpoint/2010/main" val="353779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 presetClass="entr" presetSubtype="0" fill="hold" grpId="1" nodeType="with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 presetClass="entr" presetSubtype="0" fill="hold" grpId="1"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nodeType="clickEffect">
                                  <p:stCondLst>
                                    <p:cond delay="0"/>
                                  </p:stCondLst>
                                  <p:childTnLst>
                                    <p:animMotion origin="layout" path="M -3.33333E-6 2.22222E-6 L -0.18333 0.00023 " pathEditMode="relative" rAng="0" ptsTypes="AA">
                                      <p:cBhvr>
                                        <p:cTn id="34" dur="2000" fill="hold"/>
                                        <p:tgtEl>
                                          <p:spTgt spid="10"/>
                                        </p:tgtEl>
                                        <p:attrNameLst>
                                          <p:attrName>ppt_x</p:attrName>
                                          <p:attrName>ppt_y</p:attrName>
                                        </p:attrNameLst>
                                      </p:cBhvr>
                                      <p:rCtr x="-9167" y="0"/>
                                    </p:animMotion>
                                  </p:childTnLst>
                                </p:cTn>
                              </p:par>
                              <p:par>
                                <p:cTn id="35" presetID="10" presetClass="exit" presetSubtype="0" fill="hold" grpId="0" nodeType="withEffect">
                                  <p:stCondLst>
                                    <p:cond delay="0"/>
                                  </p:stCondLst>
                                  <p:childTnLst>
                                    <p:animEffect transition="out" filter="fade">
                                      <p:cBhvr>
                                        <p:cTn id="36" dur="2000"/>
                                        <p:tgtEl>
                                          <p:spTgt spid="26"/>
                                        </p:tgtEl>
                                      </p:cBhvr>
                                    </p:animEffect>
                                    <p:set>
                                      <p:cBhvr>
                                        <p:cTn id="37" dur="1" fill="hold">
                                          <p:stCondLst>
                                            <p:cond delay="1999"/>
                                          </p:stCondLst>
                                        </p:cTn>
                                        <p:tgtEl>
                                          <p:spTgt spid="26"/>
                                        </p:tgtEl>
                                        <p:attrNameLst>
                                          <p:attrName>style.visibility</p:attrName>
                                        </p:attrNameLst>
                                      </p:cBhvr>
                                      <p:to>
                                        <p:strVal val="hidden"/>
                                      </p:to>
                                    </p:set>
                                  </p:childTnLst>
                                </p:cTn>
                              </p:par>
                              <p:par>
                                <p:cTn id="38" presetID="0" presetClass="path" presetSubtype="0" accel="50000" decel="50000" fill="hold" nodeType="withEffect">
                                  <p:stCondLst>
                                    <p:cond delay="0"/>
                                  </p:stCondLst>
                                  <p:childTnLst>
                                    <p:animMotion origin="layout" path="M -3.33333E-6 2.22222E-6 L 0.20834 0.00023 " pathEditMode="relative" rAng="0" ptsTypes="AA">
                                      <p:cBhvr>
                                        <p:cTn id="39" dur="2000" fill="hold"/>
                                        <p:tgtEl>
                                          <p:spTgt spid="13"/>
                                        </p:tgtEl>
                                        <p:attrNameLst>
                                          <p:attrName>ppt_x</p:attrName>
                                          <p:attrName>ppt_y</p:attrName>
                                        </p:attrNameLst>
                                      </p:cBhvr>
                                      <p:rCtr x="10417" y="0"/>
                                    </p:animMotion>
                                  </p:childTnLst>
                                </p:cTn>
                              </p:par>
                              <p:par>
                                <p:cTn id="40" presetID="10" presetClass="exit" presetSubtype="0" fill="hold" grpId="0" nodeType="withEffect">
                                  <p:stCondLst>
                                    <p:cond delay="0"/>
                                  </p:stCondLst>
                                  <p:childTnLst>
                                    <p:animEffect transition="out" filter="fade">
                                      <p:cBhvr>
                                        <p:cTn id="41" dur="2000"/>
                                        <p:tgtEl>
                                          <p:spTgt spid="25"/>
                                        </p:tgtEl>
                                      </p:cBhvr>
                                    </p:animEffect>
                                    <p:set>
                                      <p:cBhvr>
                                        <p:cTn id="42" dur="1" fill="hold">
                                          <p:stCondLst>
                                            <p:cond delay="1999"/>
                                          </p:stCondLst>
                                        </p:cTn>
                                        <p:tgtEl>
                                          <p:spTgt spid="25"/>
                                        </p:tgtEl>
                                        <p:attrNameLst>
                                          <p:attrName>style.visibility</p:attrName>
                                        </p:attrNameLst>
                                      </p:cBhvr>
                                      <p:to>
                                        <p:strVal val="hidden"/>
                                      </p:to>
                                    </p:set>
                                  </p:childTnLst>
                                </p:cTn>
                              </p:par>
                            </p:childTnLst>
                          </p:cTn>
                        </p:par>
                        <p:par>
                          <p:cTn id="43" fill="hold">
                            <p:stCondLst>
                              <p:cond delay="2000"/>
                            </p:stCondLst>
                            <p:childTnLst>
                              <p:par>
                                <p:cTn id="44" presetID="10" presetClass="entr" presetSubtype="0" fill="hold"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2000"/>
                                        <p:tgtEl>
                                          <p:spTgt spid="16"/>
                                        </p:tgtEl>
                                      </p:cBhvr>
                                    </p:animEffect>
                                  </p:childTnLst>
                                </p:cTn>
                              </p:par>
                            </p:childTnLst>
                          </p:cTn>
                        </p:par>
                        <p:par>
                          <p:cTn id="47" fill="hold">
                            <p:stCondLst>
                              <p:cond delay="4000"/>
                            </p:stCondLst>
                            <p:childTnLst>
                              <p:par>
                                <p:cTn id="48" presetID="10" presetClass="exit" presetSubtype="0" fill="hold" nodeType="afterEffect">
                                  <p:stCondLst>
                                    <p:cond delay="200"/>
                                  </p:stCondLst>
                                  <p:childTnLst>
                                    <p:animEffect transition="out" filter="fade">
                                      <p:cBhvr>
                                        <p:cTn id="49" dur="2000"/>
                                        <p:tgtEl>
                                          <p:spTgt spid="10"/>
                                        </p:tgtEl>
                                      </p:cBhvr>
                                    </p:animEffect>
                                    <p:set>
                                      <p:cBhvr>
                                        <p:cTn id="50" dur="1" fill="hold">
                                          <p:stCondLst>
                                            <p:cond delay="1999"/>
                                          </p:stCondLst>
                                        </p:cTn>
                                        <p:tgtEl>
                                          <p:spTgt spid="10"/>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2000"/>
                                        <p:tgtEl>
                                          <p:spTgt spid="13"/>
                                        </p:tgtEl>
                                      </p:cBhvr>
                                    </p:animEffect>
                                    <p:set>
                                      <p:cBhvr>
                                        <p:cTn id="53" dur="1" fill="hold">
                                          <p:stCondLst>
                                            <p:cond delay="1999"/>
                                          </p:stCondLst>
                                        </p:cTn>
                                        <p:tgtEl>
                                          <p:spTgt spid="13"/>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5" end="5"/>
                                            </p:txEl>
                                          </p:spTgt>
                                        </p:tgtEl>
                                        <p:attrNameLst>
                                          <p:attrName>style.visibility</p:attrName>
                                        </p:attrNameLst>
                                      </p:cBhvr>
                                      <p:to>
                                        <p:strVal val="visible"/>
                                      </p:to>
                                    </p:set>
                                    <p:animEffect transition="in" filter="fade">
                                      <p:cBhvr>
                                        <p:cTn id="5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6" grpId="0"/>
      <p:bldP spid="2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04.03_CHEMAT1_CH0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8044" y="1565206"/>
            <a:ext cx="6017538" cy="4618218"/>
          </a:xfrm>
          <a:prstGeom prst="rect">
            <a:avLst/>
          </a:prstGeom>
        </p:spPr>
      </p:pic>
      <p:sp>
        <p:nvSpPr>
          <p:cNvPr id="21506" name="Rectangle 2"/>
          <p:cNvSpPr>
            <a:spLocks noGrp="1" noChangeArrowheads="1"/>
          </p:cNvSpPr>
          <p:nvPr>
            <p:ph type="title"/>
          </p:nvPr>
        </p:nvSpPr>
        <p:spPr>
          <a:xfrm>
            <a:off x="1411111" y="381001"/>
            <a:ext cx="7304471" cy="1037449"/>
          </a:xfrm>
        </p:spPr>
        <p:txBody>
          <a:bodyPr/>
          <a:lstStyle/>
          <a:p>
            <a:r>
              <a:rPr lang="en-US" sz="4400" dirty="0"/>
              <a:t>Energy</a:t>
            </a:r>
            <a:r>
              <a:rPr lang="en-US" sz="2800" dirty="0"/>
              <a:t> </a:t>
            </a:r>
            <a:br>
              <a:rPr lang="en-US" sz="2800" dirty="0"/>
            </a:br>
            <a:r>
              <a:rPr lang="en-US" sz="2800" dirty="0"/>
              <a:t>as two </a:t>
            </a:r>
            <a:r>
              <a:rPr lang="en-US" sz="2800" b="1" dirty="0"/>
              <a:t>H</a:t>
            </a:r>
            <a:r>
              <a:rPr lang="en-US" sz="2800" dirty="0"/>
              <a:t> Atoms Come Together</a:t>
            </a:r>
          </a:p>
        </p:txBody>
      </p:sp>
      <p:sp>
        <p:nvSpPr>
          <p:cNvPr id="5" name="Slide Number Placeholder 4"/>
          <p:cNvSpPr>
            <a:spLocks noGrp="1"/>
          </p:cNvSpPr>
          <p:nvPr>
            <p:ph type="sldNum" sz="quarter" idx="12"/>
          </p:nvPr>
        </p:nvSpPr>
        <p:spPr/>
        <p:txBody>
          <a:bodyPr/>
          <a:lstStyle/>
          <a:p>
            <a:fld id="{63C103D7-7FC1-4B9F-A526-BC88A3C4AA47}" type="slidenum">
              <a:rPr lang="en-US" smtClean="0"/>
              <a:pPr/>
              <a:t>6</a:t>
            </a:fld>
            <a:endParaRPr lang="en-US" dirty="0"/>
          </a:p>
        </p:txBody>
      </p:sp>
      <p:sp>
        <p:nvSpPr>
          <p:cNvPr id="6" name="Content Placeholder 2"/>
          <p:cNvSpPr>
            <a:spLocks noGrp="1"/>
          </p:cNvSpPr>
          <p:nvPr>
            <p:ph idx="1"/>
          </p:nvPr>
        </p:nvSpPr>
        <p:spPr>
          <a:xfrm>
            <a:off x="239467" y="2348019"/>
            <a:ext cx="2876268" cy="757553"/>
          </a:xfrm>
        </p:spPr>
        <p:txBody>
          <a:bodyPr>
            <a:normAutofit/>
          </a:bodyPr>
          <a:lstStyle/>
          <a:p>
            <a:r>
              <a:rPr lang="en-US" dirty="0"/>
              <a:t>Lower energy state = more stable</a:t>
            </a:r>
          </a:p>
        </p:txBody>
      </p:sp>
      <p:sp>
        <p:nvSpPr>
          <p:cNvPr id="8" name="Content Placeholder 2"/>
          <p:cNvSpPr txBox="1">
            <a:spLocks/>
          </p:cNvSpPr>
          <p:nvPr/>
        </p:nvSpPr>
        <p:spPr>
          <a:xfrm>
            <a:off x="239467" y="1750873"/>
            <a:ext cx="2876268" cy="7575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dirty="0"/>
              <a:t>Minimize energy</a:t>
            </a:r>
          </a:p>
        </p:txBody>
      </p:sp>
      <p:sp>
        <p:nvSpPr>
          <p:cNvPr id="9" name="Content Placeholder 2"/>
          <p:cNvSpPr txBox="1">
            <a:spLocks/>
          </p:cNvSpPr>
          <p:nvPr/>
        </p:nvSpPr>
        <p:spPr>
          <a:xfrm>
            <a:off x="239467" y="3323941"/>
            <a:ext cx="2402133" cy="19417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dirty="0"/>
              <a:t>Two H atoms sharing electrons is more stable than two separate H</a:t>
            </a:r>
          </a:p>
        </p:txBody>
      </p:sp>
    </p:spTree>
    <p:extLst>
      <p:ext uri="{BB962C8B-B14F-4D97-AF65-F5344CB8AC3E}">
        <p14:creationId xmlns:p14="http://schemas.microsoft.com/office/powerpoint/2010/main" val="20449421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494675" y="4923111"/>
            <a:ext cx="7420132" cy="1200372"/>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649357" y="1756736"/>
            <a:ext cx="7265450" cy="4523751"/>
          </a:xfrm>
        </p:spPr>
        <p:txBody>
          <a:bodyPr>
            <a:normAutofit/>
          </a:bodyPr>
          <a:lstStyle/>
          <a:p>
            <a:pPr marL="0" indent="0">
              <a:buNone/>
              <a:defRPr/>
            </a:pPr>
            <a:r>
              <a:rPr lang="en-US" sz="2800" dirty="0">
                <a:solidFill>
                  <a:srgbClr val="000000"/>
                </a:solidFill>
              </a:rPr>
              <a:t>Which is the most accurate description of a chemical bond?</a:t>
            </a:r>
            <a:br>
              <a:rPr lang="en-US" sz="2800" dirty="0">
                <a:solidFill>
                  <a:srgbClr val="000000"/>
                </a:solidFill>
              </a:rPr>
            </a:br>
            <a:endParaRPr lang="en-US" sz="1600" dirty="0">
              <a:solidFill>
                <a:srgbClr val="800000"/>
              </a:solidFill>
              <a:latin typeface="Arial" charset="0"/>
              <a:ea typeface="ＭＳ Ｐゴシック" charset="0"/>
              <a:cs typeface="ＭＳ Ｐゴシック" charset="0"/>
            </a:endParaRPr>
          </a:p>
          <a:p>
            <a:pPr marL="533400" indent="-533400">
              <a:buFontTx/>
              <a:buAutoNum type="alphaUcPeriod"/>
            </a:pPr>
            <a:r>
              <a:rPr lang="en-US" sz="2800" dirty="0"/>
              <a:t>A spring between two atoms</a:t>
            </a:r>
          </a:p>
          <a:p>
            <a:pPr marL="533400" indent="-533400">
              <a:buFontTx/>
              <a:buAutoNum type="alphaUcPeriod"/>
            </a:pPr>
            <a:r>
              <a:rPr lang="en-US" sz="2800" dirty="0"/>
              <a:t>A stick between two atoms</a:t>
            </a:r>
          </a:p>
          <a:p>
            <a:pPr marL="533400" indent="-533400">
              <a:buFontTx/>
              <a:buAutoNum type="alphaUcPeriod"/>
            </a:pPr>
            <a:r>
              <a:rPr lang="en-US" sz="2800" dirty="0"/>
              <a:t>A linking of atoms with their hooks</a:t>
            </a:r>
          </a:p>
          <a:p>
            <a:pPr marL="533400" indent="-533400">
              <a:buFontTx/>
              <a:buAutoNum type="alphaUcPeriod"/>
            </a:pPr>
            <a:r>
              <a:rPr lang="en-US" sz="2800" dirty="0"/>
              <a:t>Electrostatic attraction</a:t>
            </a:r>
          </a:p>
          <a:p>
            <a:pPr marL="533400" indent="-533400">
              <a:buFontTx/>
              <a:buAutoNum type="alphaUcPeriod"/>
            </a:pPr>
            <a:r>
              <a:rPr lang="en-US" sz="2800" dirty="0"/>
              <a:t>Electrostatic attraction providing an energy advantage for atoms to remain near one another</a:t>
            </a:r>
          </a:p>
          <a:p>
            <a:pPr marL="533400" indent="-533400">
              <a:buFontTx/>
              <a:buAutoNum type="alphaUcPeriod"/>
            </a:pPr>
            <a:endParaRPr lang="en-US" sz="2800" dirty="0"/>
          </a:p>
          <a:p>
            <a:pPr marL="0" indent="0">
              <a:buNone/>
            </a:pPr>
            <a:endParaRPr lang="en-US" sz="2800" dirty="0"/>
          </a:p>
        </p:txBody>
      </p:sp>
      <p:sp>
        <p:nvSpPr>
          <p:cNvPr id="88066" name="Rectangle 1026"/>
          <p:cNvSpPr>
            <a:spLocks noGrp="1" noChangeArrowheads="1"/>
          </p:cNvSpPr>
          <p:nvPr>
            <p:ph type="title"/>
          </p:nvPr>
        </p:nvSpPr>
        <p:spPr>
          <a:xfrm>
            <a:off x="2821577" y="441523"/>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7</a:t>
            </a:fld>
            <a:endParaRPr lang="en-US" dirty="0"/>
          </a:p>
        </p:txBody>
      </p:sp>
      <p:pic>
        <p:nvPicPr>
          <p:cNvPr id="11" name="Picture 2" descr="Student iClicker Information - Canvas | Colorado State Universit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99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483911" y="3418337"/>
            <a:ext cx="3995324" cy="464550"/>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649357" y="1756736"/>
            <a:ext cx="7346327" cy="4523751"/>
          </a:xfrm>
        </p:spPr>
        <p:txBody>
          <a:bodyPr>
            <a:normAutofit/>
          </a:bodyPr>
          <a:lstStyle/>
          <a:p>
            <a:pPr marL="0" indent="0">
              <a:buNone/>
              <a:defRPr/>
            </a:pPr>
            <a:r>
              <a:rPr lang="en-US" sz="2800" dirty="0">
                <a:solidFill>
                  <a:srgbClr val="000000"/>
                </a:solidFill>
              </a:rPr>
              <a:t>What is always true about </a:t>
            </a:r>
            <a:r>
              <a:rPr lang="en-US" sz="2800" b="1" u="sng" dirty="0">
                <a:solidFill>
                  <a:srgbClr val="000000"/>
                </a:solidFill>
              </a:rPr>
              <a:t>breaking</a:t>
            </a:r>
            <a:r>
              <a:rPr lang="en-US" sz="2800" dirty="0">
                <a:solidFill>
                  <a:srgbClr val="000000"/>
                </a:solidFill>
              </a:rPr>
              <a:t> a chemical bond?</a:t>
            </a:r>
            <a:br>
              <a:rPr lang="en-US" sz="2800" dirty="0">
                <a:solidFill>
                  <a:srgbClr val="000000"/>
                </a:solidFill>
              </a:rPr>
            </a:br>
            <a:endParaRPr lang="en-US" sz="1600" dirty="0">
              <a:solidFill>
                <a:srgbClr val="800000"/>
              </a:solidFill>
              <a:latin typeface="Arial" charset="0"/>
              <a:ea typeface="ＭＳ Ｐゴシック" charset="0"/>
              <a:cs typeface="ＭＳ Ｐゴシック" charset="0"/>
            </a:endParaRPr>
          </a:p>
          <a:p>
            <a:pPr marL="533400" indent="-533400">
              <a:buFontTx/>
              <a:buAutoNum type="alphaUcPeriod"/>
            </a:pPr>
            <a:r>
              <a:rPr lang="en-US" sz="2800" dirty="0"/>
              <a:t>Energy is released</a:t>
            </a:r>
          </a:p>
          <a:p>
            <a:pPr marL="533400" indent="-533400">
              <a:buFontTx/>
              <a:buAutoNum type="alphaUcPeriod"/>
            </a:pPr>
            <a:r>
              <a:rPr lang="en-US" sz="2800" dirty="0"/>
              <a:t>Energy is required</a:t>
            </a:r>
            <a:endParaRPr lang="en-US" sz="2800" dirty="0">
              <a:solidFill>
                <a:srgbClr val="000000"/>
              </a:solidFill>
            </a:endParaRPr>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p:sp>
        <p:nvSpPr>
          <p:cNvPr id="88066" name="Rectangle 1026"/>
          <p:cNvSpPr>
            <a:spLocks noGrp="1" noChangeArrowheads="1"/>
          </p:cNvSpPr>
          <p:nvPr>
            <p:ph type="title"/>
          </p:nvPr>
        </p:nvSpPr>
        <p:spPr>
          <a:xfrm>
            <a:off x="2821577" y="441523"/>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8</a:t>
            </a:fld>
            <a:endParaRPr lang="en-US" dirty="0"/>
          </a:p>
        </p:txBody>
      </p:sp>
      <p:pic>
        <p:nvPicPr>
          <p:cNvPr id="11" name="Picture 2" descr="Student iClicker Information - Canvas | Colorado State Universit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69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IG04.03_CHEMAT1_CH04.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8044" y="1565206"/>
            <a:ext cx="6017538" cy="4618218"/>
          </a:xfrm>
          <a:prstGeom prst="rect">
            <a:avLst/>
          </a:prstGeom>
        </p:spPr>
      </p:pic>
      <p:sp>
        <p:nvSpPr>
          <p:cNvPr id="21506" name="Rectangle 2"/>
          <p:cNvSpPr>
            <a:spLocks noGrp="1" noChangeArrowheads="1"/>
          </p:cNvSpPr>
          <p:nvPr>
            <p:ph type="title"/>
          </p:nvPr>
        </p:nvSpPr>
        <p:spPr>
          <a:xfrm>
            <a:off x="1411111" y="381001"/>
            <a:ext cx="7304471" cy="1037449"/>
          </a:xfrm>
        </p:spPr>
        <p:txBody>
          <a:bodyPr/>
          <a:lstStyle/>
          <a:p>
            <a:r>
              <a:rPr lang="en-US" sz="4400" dirty="0"/>
              <a:t>Energy</a:t>
            </a:r>
            <a:r>
              <a:rPr lang="en-US" sz="2800" dirty="0"/>
              <a:t> </a:t>
            </a:r>
            <a:br>
              <a:rPr lang="en-US" sz="2800" dirty="0"/>
            </a:br>
            <a:r>
              <a:rPr lang="en-US" sz="2800" dirty="0"/>
              <a:t>as two </a:t>
            </a:r>
            <a:r>
              <a:rPr lang="en-US" sz="2800" b="1" dirty="0"/>
              <a:t>H</a:t>
            </a:r>
            <a:r>
              <a:rPr lang="en-US" sz="2800" dirty="0"/>
              <a:t> Atoms Come Together</a:t>
            </a:r>
          </a:p>
        </p:txBody>
      </p:sp>
      <p:sp>
        <p:nvSpPr>
          <p:cNvPr id="5" name="Slide Number Placeholder 4"/>
          <p:cNvSpPr>
            <a:spLocks noGrp="1"/>
          </p:cNvSpPr>
          <p:nvPr>
            <p:ph type="sldNum" sz="quarter" idx="12"/>
          </p:nvPr>
        </p:nvSpPr>
        <p:spPr/>
        <p:txBody>
          <a:bodyPr/>
          <a:lstStyle/>
          <a:p>
            <a:fld id="{63C103D7-7FC1-4B9F-A526-BC88A3C4AA47}" type="slidenum">
              <a:rPr lang="en-US" smtClean="0"/>
              <a:pPr/>
              <a:t>9</a:t>
            </a:fld>
            <a:endParaRPr lang="en-US" dirty="0"/>
          </a:p>
        </p:txBody>
      </p:sp>
      <p:sp>
        <p:nvSpPr>
          <p:cNvPr id="6" name="Content Placeholder 2"/>
          <p:cNvSpPr>
            <a:spLocks noGrp="1"/>
          </p:cNvSpPr>
          <p:nvPr>
            <p:ph idx="1"/>
          </p:nvPr>
        </p:nvSpPr>
        <p:spPr>
          <a:xfrm>
            <a:off x="239467" y="2348019"/>
            <a:ext cx="2876268" cy="757553"/>
          </a:xfrm>
        </p:spPr>
        <p:txBody>
          <a:bodyPr>
            <a:normAutofit/>
          </a:bodyPr>
          <a:lstStyle/>
          <a:p>
            <a:r>
              <a:rPr lang="en-US" dirty="0"/>
              <a:t>Lower energy state = more stable</a:t>
            </a:r>
          </a:p>
        </p:txBody>
      </p:sp>
      <p:sp>
        <p:nvSpPr>
          <p:cNvPr id="7" name="Content Placeholder 2"/>
          <p:cNvSpPr txBox="1">
            <a:spLocks/>
          </p:cNvSpPr>
          <p:nvPr/>
        </p:nvSpPr>
        <p:spPr>
          <a:xfrm>
            <a:off x="239467" y="3323941"/>
            <a:ext cx="2402133" cy="19417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dirty="0"/>
              <a:t>Two H atoms sharing electrons is more stable than two separate H</a:t>
            </a:r>
          </a:p>
        </p:txBody>
      </p:sp>
      <p:sp>
        <p:nvSpPr>
          <p:cNvPr id="8" name="Content Placeholder 2"/>
          <p:cNvSpPr txBox="1">
            <a:spLocks/>
          </p:cNvSpPr>
          <p:nvPr/>
        </p:nvSpPr>
        <p:spPr>
          <a:xfrm>
            <a:off x="239467" y="1750873"/>
            <a:ext cx="2876268" cy="7575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dirty="0"/>
              <a:t>Minimize energy</a:t>
            </a:r>
          </a:p>
        </p:txBody>
      </p:sp>
      <p:sp>
        <p:nvSpPr>
          <p:cNvPr id="9" name="Content Placeholder 2"/>
          <p:cNvSpPr txBox="1">
            <a:spLocks/>
          </p:cNvSpPr>
          <p:nvPr/>
        </p:nvSpPr>
        <p:spPr>
          <a:xfrm>
            <a:off x="239467" y="5484068"/>
            <a:ext cx="2402133" cy="10317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dirty="0"/>
              <a:t>Some atoms share better than others…</a:t>
            </a:r>
          </a:p>
        </p:txBody>
      </p:sp>
    </p:spTree>
    <p:extLst>
      <p:ext uri="{BB962C8B-B14F-4D97-AF65-F5344CB8AC3E}">
        <p14:creationId xmlns:p14="http://schemas.microsoft.com/office/powerpoint/2010/main" val="3933461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358770" y="555716"/>
            <a:ext cx="7666419" cy="1230069"/>
          </a:xfrm>
        </p:spPr>
        <p:txBody>
          <a:bodyPr>
            <a:normAutofit/>
          </a:bodyPr>
          <a:lstStyle/>
          <a:p>
            <a:pPr>
              <a:defRPr/>
            </a:pPr>
            <a:r>
              <a:rPr lang="en-US" sz="4400" dirty="0">
                <a:solidFill>
                  <a:schemeClr val="hlink"/>
                </a:solidFill>
                <a:effectLst>
                  <a:outerShdw blurRad="38100" dist="38100" dir="2700000" algn="tl">
                    <a:srgbClr val="000000"/>
                  </a:outerShdw>
                </a:effectLst>
                <a:latin typeface="Comic Sans MS" charset="0"/>
                <a:ea typeface="ＭＳ Ｐゴシック" charset="0"/>
                <a:cs typeface="ＭＳ Ｐゴシック" charset="0"/>
              </a:rPr>
              <a:t>2 extremes of bonding</a:t>
            </a:r>
            <a:endParaRPr lang="en-US" dirty="0">
              <a:solidFill>
                <a:schemeClr val="hlink"/>
              </a:solidFill>
              <a:effectLst>
                <a:outerShdw blurRad="38100" dist="38100" dir="2700000" algn="tl">
                  <a:srgbClr val="000000"/>
                </a:outerShdw>
              </a:effectLst>
              <a:latin typeface="Helvetica" charset="0"/>
              <a:ea typeface="ＭＳ Ｐゴシック" charset="0"/>
              <a:cs typeface="ＭＳ Ｐゴシック" charset="0"/>
            </a:endParaRPr>
          </a:p>
        </p:txBody>
      </p:sp>
      <p:sp>
        <p:nvSpPr>
          <p:cNvPr id="6147" name="Rectangle 3"/>
          <p:cNvSpPr>
            <a:spLocks noGrp="1" noChangeArrowheads="1"/>
          </p:cNvSpPr>
          <p:nvPr>
            <p:ph type="body" idx="1"/>
          </p:nvPr>
        </p:nvSpPr>
        <p:spPr>
          <a:xfrm>
            <a:off x="3267857" y="1889340"/>
            <a:ext cx="5419263" cy="4641424"/>
          </a:xfrm>
          <a:noFill/>
        </p:spPr>
        <p:txBody>
          <a:bodyPr>
            <a:normAutofit/>
          </a:bodyPr>
          <a:lstStyle/>
          <a:p>
            <a:pPr>
              <a:spcBef>
                <a:spcPts val="1200"/>
              </a:spcBef>
            </a:pPr>
            <a:r>
              <a:rPr lang="en-US" sz="3694" dirty="0">
                <a:solidFill>
                  <a:schemeClr val="hlink"/>
                </a:solidFill>
                <a:latin typeface="Helvetica" panose="020B0604020202020204" pitchFamily="34" charset="0"/>
              </a:rPr>
              <a:t>Ionic</a:t>
            </a:r>
            <a:r>
              <a:rPr lang="en-US" sz="2586" dirty="0">
                <a:latin typeface="Helvetica" panose="020B0604020202020204" pitchFamily="34" charset="0"/>
              </a:rPr>
              <a:t>: ~complete transfer of 1 or more electrons from one atom to another (bond is attraction of ions)</a:t>
            </a:r>
            <a:endParaRPr lang="en-US" sz="2586" dirty="0">
              <a:solidFill>
                <a:srgbClr val="FCFEB9"/>
              </a:solidFill>
              <a:latin typeface="Helvetica" panose="020B0604020202020204" pitchFamily="34" charset="0"/>
            </a:endParaRPr>
          </a:p>
          <a:p>
            <a:pPr>
              <a:spcBef>
                <a:spcPts val="1200"/>
              </a:spcBef>
            </a:pPr>
            <a:endParaRPr lang="en-US" sz="3694" dirty="0">
              <a:solidFill>
                <a:schemeClr val="hlink"/>
              </a:solidFill>
              <a:latin typeface="Helvetica" panose="020B0604020202020204" pitchFamily="34" charset="0"/>
            </a:endParaRPr>
          </a:p>
          <a:p>
            <a:pPr>
              <a:spcBef>
                <a:spcPts val="1200"/>
              </a:spcBef>
            </a:pPr>
            <a:r>
              <a:rPr lang="en-US" sz="3694" dirty="0">
                <a:solidFill>
                  <a:schemeClr val="hlink"/>
                </a:solidFill>
                <a:latin typeface="Helvetica" panose="020B0604020202020204" pitchFamily="34" charset="0"/>
              </a:rPr>
              <a:t>Covalent</a:t>
            </a:r>
            <a:r>
              <a:rPr lang="en-US" sz="2586" dirty="0">
                <a:latin typeface="Helvetica" panose="020B0604020202020204" pitchFamily="34" charset="0"/>
              </a:rPr>
              <a:t>: </a:t>
            </a:r>
            <a:r>
              <a:rPr lang="en-US" sz="2586" dirty="0">
                <a:solidFill>
                  <a:schemeClr val="tx2"/>
                </a:solidFill>
                <a:latin typeface="Helvetica" panose="020B0604020202020204" pitchFamily="34" charset="0"/>
              </a:rPr>
              <a:t>valence electrons shared ~equally between atoms</a:t>
            </a:r>
          </a:p>
          <a:p>
            <a:endParaRPr lang="en-US" sz="2586" dirty="0">
              <a:solidFill>
                <a:schemeClr val="tx2"/>
              </a:solidFill>
              <a:latin typeface="Helvetica" panose="020B0604020202020204" pitchFamily="34" charset="0"/>
            </a:endParaRPr>
          </a:p>
        </p:txBody>
      </p:sp>
      <p:sp>
        <p:nvSpPr>
          <p:cNvPr id="6149" name="Line 5"/>
          <p:cNvSpPr>
            <a:spLocks noChangeShapeType="1"/>
          </p:cNvSpPr>
          <p:nvPr/>
        </p:nvSpPr>
        <p:spPr bwMode="auto">
          <a:xfrm>
            <a:off x="535293" y="1593941"/>
            <a:ext cx="8282078" cy="0"/>
          </a:xfrm>
          <a:prstGeom prst="line">
            <a:avLst/>
          </a:prstGeom>
          <a:noFill/>
          <a:ln w="25400">
            <a:solidFill>
              <a:schemeClr val="hlink"/>
            </a:solidFill>
            <a:round/>
            <a:headEnd/>
            <a:tailEnd/>
          </a:ln>
          <a:effectLst/>
        </p:spPr>
        <p:txBody>
          <a:bodyPr wrap="none" anchor="ctr"/>
          <a:lstStyle/>
          <a:p>
            <a:pPr>
              <a:defRPr/>
            </a:pPr>
            <a:endParaRPr lang="en-US" sz="1662">
              <a:effectLst>
                <a:outerShdw blurRad="38100" dist="38100" dir="2700000" algn="tl">
                  <a:srgbClr val="000000">
                    <a:alpha val="43137"/>
                  </a:srgbClr>
                </a:outerShdw>
              </a:effectLst>
              <a:latin typeface="Arial" charset="0"/>
            </a:endParaRPr>
          </a:p>
        </p:txBody>
      </p:sp>
      <p:pic>
        <p:nvPicPr>
          <p:cNvPr id="2" name="Picture 1"/>
          <p:cNvPicPr>
            <a:picLocks noChangeAspect="1"/>
          </p:cNvPicPr>
          <p:nvPr/>
        </p:nvPicPr>
        <p:blipFill>
          <a:blip r:embed="rId3"/>
          <a:stretch>
            <a:fillRect/>
          </a:stretch>
        </p:blipFill>
        <p:spPr>
          <a:xfrm>
            <a:off x="655250" y="3977839"/>
            <a:ext cx="2425465" cy="1794844"/>
          </a:xfrm>
          <a:prstGeom prst="rect">
            <a:avLst/>
          </a:prstGeom>
        </p:spPr>
      </p:pic>
      <p:pic>
        <p:nvPicPr>
          <p:cNvPr id="3" name="Picture 2"/>
          <p:cNvPicPr>
            <a:picLocks noChangeAspect="1"/>
          </p:cNvPicPr>
          <p:nvPr/>
        </p:nvPicPr>
        <p:blipFill>
          <a:blip r:embed="rId4"/>
          <a:stretch>
            <a:fillRect/>
          </a:stretch>
        </p:blipFill>
        <p:spPr>
          <a:xfrm>
            <a:off x="655250" y="1889340"/>
            <a:ext cx="2425465" cy="1840300"/>
          </a:xfrm>
          <a:prstGeom prst="rect">
            <a:avLst/>
          </a:prstGeom>
        </p:spPr>
      </p:pic>
      <p:sp>
        <p:nvSpPr>
          <p:cNvPr id="5" name="Rectangle 4"/>
          <p:cNvSpPr/>
          <p:nvPr/>
        </p:nvSpPr>
        <p:spPr>
          <a:xfrm>
            <a:off x="688237" y="5978049"/>
            <a:ext cx="7998883" cy="552715"/>
          </a:xfrm>
          <a:prstGeom prst="rect">
            <a:avLst/>
          </a:prstGeom>
        </p:spPr>
        <p:txBody>
          <a:bodyPr wrap="square">
            <a:spAutoFit/>
          </a:bodyPr>
          <a:lstStyle/>
          <a:p>
            <a:pPr marL="228600" lvl="0" indent="-228600">
              <a:lnSpc>
                <a:spcPct val="90000"/>
              </a:lnSpc>
              <a:spcBef>
                <a:spcPts val="1000"/>
              </a:spcBef>
              <a:buFont typeface="Arial" panose="020B0604020202020204" pitchFamily="34" charset="0"/>
              <a:buChar char="•"/>
            </a:pPr>
            <a:r>
              <a:rPr lang="en-US" sz="3324" dirty="0">
                <a:solidFill>
                  <a:srgbClr val="F0532B"/>
                </a:solidFill>
                <a:latin typeface="Helvetica" panose="020B0604020202020204" pitchFamily="34" charset="0"/>
              </a:rPr>
              <a:t>Most bonds are somewhere in between.</a:t>
            </a:r>
            <a:endParaRPr lang="en-US" sz="2586" dirty="0">
              <a:solidFill>
                <a:srgbClr val="FAFD00"/>
              </a:solidFill>
              <a:latin typeface="Helvetica" panose="020B0604020202020204" pitchFamily="34" charset="0"/>
            </a:endParaRPr>
          </a:p>
        </p:txBody>
      </p:sp>
      <p:sp>
        <p:nvSpPr>
          <p:cNvPr id="4" name="Slide Number Placeholder 3"/>
          <p:cNvSpPr>
            <a:spLocks noGrp="1"/>
          </p:cNvSpPr>
          <p:nvPr>
            <p:ph type="sldNum" sz="quarter" idx="12"/>
          </p:nvPr>
        </p:nvSpPr>
        <p:spPr/>
        <p:txBody>
          <a:bodyPr/>
          <a:lstStyle/>
          <a:p>
            <a:fld id="{63C103D7-7FC1-4B9F-A526-BC88A3C4AA47}" type="slidenum">
              <a:rPr lang="en-US" smtClean="0"/>
              <a:pPr/>
              <a:t>10</a:t>
            </a:fld>
            <a:endParaRPr lang="en-US" dirty="0"/>
          </a:p>
        </p:txBody>
      </p:sp>
    </p:spTree>
    <p:extLst>
      <p:ext uri="{BB962C8B-B14F-4D97-AF65-F5344CB8AC3E}">
        <p14:creationId xmlns:p14="http://schemas.microsoft.com/office/powerpoint/2010/main" val="13007000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dissolve">
                                      <p:cBhvr>
                                        <p:cTn id="7" dur="500"/>
                                        <p:tgtEl>
                                          <p:spTgt spid="6147">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6147">
                                            <p:txEl>
                                              <p:pRg st="2" end="2"/>
                                            </p:txEl>
                                          </p:spTgt>
                                        </p:tgtEl>
                                        <p:attrNameLst>
                                          <p:attrName>style.visibility</p:attrName>
                                        </p:attrNameLst>
                                      </p:cBhvr>
                                      <p:to>
                                        <p:strVal val="visible"/>
                                      </p:to>
                                    </p:set>
                                    <p:animEffect transition="in" filter="dissolve">
                                      <p:cBhvr>
                                        <p:cTn id="16" dur="500"/>
                                        <p:tgtEl>
                                          <p:spTgt spid="6147">
                                            <p:txEl>
                                              <p:pRg st="2" end="2"/>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autoUpdateAnimBg="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2820455" y="2834990"/>
            <a:ext cx="5676900" cy="3916489"/>
            <a:chOff x="3161398" y="2743229"/>
            <a:chExt cx="5676900" cy="3916489"/>
          </a:xfrm>
        </p:grpSpPr>
        <p:pic>
          <p:nvPicPr>
            <p:cNvPr id="185345" name="Picture 2"/>
            <p:cNvPicPr>
              <a:picLocks noChangeAspect="1"/>
            </p:cNvPicPr>
            <p:nvPr/>
          </p:nvPicPr>
          <p:blipFill>
            <a:blip r:embed="rId3"/>
            <a:srcRect/>
            <a:stretch>
              <a:fillRect/>
            </a:stretch>
          </p:blipFill>
          <p:spPr bwMode="auto">
            <a:xfrm>
              <a:off x="3161398" y="2743229"/>
              <a:ext cx="5676900" cy="3516313"/>
            </a:xfrm>
            <a:prstGeom prst="rect">
              <a:avLst/>
            </a:prstGeom>
            <a:noFill/>
            <a:ln w="9525">
              <a:noFill/>
              <a:miter lim="800000"/>
              <a:headEnd/>
              <a:tailEnd/>
            </a:ln>
          </p:spPr>
        </p:pic>
        <p:sp>
          <p:nvSpPr>
            <p:cNvPr id="185346" name="TextBox 4"/>
            <p:cNvSpPr txBox="1">
              <a:spLocks noChangeArrowheads="1"/>
            </p:cNvSpPr>
            <p:nvPr/>
          </p:nvSpPr>
          <p:spPr bwMode="auto">
            <a:xfrm>
              <a:off x="4253813" y="6013387"/>
              <a:ext cx="3733800" cy="646331"/>
            </a:xfrm>
            <a:prstGeom prst="rect">
              <a:avLst/>
            </a:prstGeom>
            <a:noFill/>
            <a:ln w="9525">
              <a:noFill/>
              <a:miter lim="800000"/>
              <a:headEnd/>
              <a:tailEnd/>
            </a:ln>
          </p:spPr>
          <p:txBody>
            <a:bodyPr>
              <a:spAutoFit/>
            </a:bodyPr>
            <a:lstStyle/>
            <a:p>
              <a:pPr algn="ctr"/>
              <a:r>
                <a:rPr lang="en-US" dirty="0">
                  <a:ea typeface="ＭＳ Ｐゴシック" charset="-128"/>
                </a:rPr>
                <a:t>Pauling Electronegativity</a:t>
              </a:r>
            </a:p>
            <a:p>
              <a:pPr algn="ctr"/>
              <a:r>
                <a:rPr lang="en-US" dirty="0">
                  <a:ea typeface="ＭＳ Ｐゴシック" charset="-128"/>
                </a:rPr>
                <a:t> Scale</a:t>
              </a:r>
            </a:p>
          </p:txBody>
        </p:sp>
      </p:grpSp>
      <p:sp>
        <p:nvSpPr>
          <p:cNvPr id="2" name="Title 1"/>
          <p:cNvSpPr>
            <a:spLocks noGrp="1"/>
          </p:cNvSpPr>
          <p:nvPr>
            <p:ph type="title"/>
          </p:nvPr>
        </p:nvSpPr>
        <p:spPr>
          <a:xfrm>
            <a:off x="2590800" y="512762"/>
            <a:ext cx="6377940" cy="1254759"/>
          </a:xfrm>
        </p:spPr>
        <p:txBody>
          <a:bodyPr/>
          <a:lstStyle/>
          <a:p>
            <a:r>
              <a:rPr lang="en-US" sz="4400" dirty="0"/>
              <a:t>Electronegativity</a:t>
            </a:r>
          </a:p>
        </p:txBody>
      </p:sp>
      <mc:AlternateContent xmlns:mc="http://schemas.openxmlformats.org/markup-compatibility/2006" xmlns:a14="http://schemas.microsoft.com/office/drawing/2010/main">
        <mc:Choice Requires="a14">
          <p:sp>
            <p:nvSpPr>
              <p:cNvPr id="185347" name="Rectangle 3"/>
              <p:cNvSpPr>
                <a:spLocks noGrp="1" noChangeArrowheads="1"/>
              </p:cNvSpPr>
              <p:nvPr>
                <p:ph type="body" idx="1"/>
              </p:nvPr>
            </p:nvSpPr>
            <p:spPr>
              <a:xfrm>
                <a:off x="446966" y="1557557"/>
                <a:ext cx="8521774" cy="1270168"/>
              </a:xfrm>
            </p:spPr>
            <p:txBody>
              <a:bodyPr>
                <a:normAutofit fontScale="77500" lnSpcReduction="20000"/>
              </a:bodyPr>
              <a:lstStyle/>
              <a:p>
                <a:r>
                  <a:rPr lang="en-US" dirty="0">
                    <a:solidFill>
                      <a:srgbClr val="3300FF"/>
                    </a:solidFill>
                  </a:rPr>
                  <a:t>Electronegativity (EN) </a:t>
                </a:r>
                <a:r>
                  <a:rPr lang="en-US" dirty="0"/>
                  <a:t>= Ability of an atom to pull electrons </a:t>
                </a:r>
                <a:r>
                  <a:rPr lang="en-US" b="1" u="sng" dirty="0"/>
                  <a:t>in a bond</a:t>
                </a:r>
                <a:r>
                  <a:rPr lang="en-US" b="1" dirty="0"/>
                  <a:t> </a:t>
                </a:r>
                <a:r>
                  <a:rPr lang="en-US" dirty="0"/>
                  <a:t>toward itself</a:t>
                </a:r>
              </a:p>
              <a:p>
                <a:r>
                  <a:rPr lang="en-US" dirty="0"/>
                  <a:t>Same periodic trends as Ionization Energy (IE), Electron Affinity (EA) </a:t>
                </a:r>
              </a:p>
              <a:p>
                <a:r>
                  <a:rPr lang="en-US" dirty="0">
                    <a:solidFill>
                      <a:srgbClr val="3300FF"/>
                    </a:solidFill>
                    <a:latin typeface="Arial" charset="0"/>
                    <a:cs typeface="Arial" charset="0"/>
                  </a:rPr>
                  <a:t>Difference in EN values of bonded atoms (∆</a:t>
                </a:r>
                <a14:m>
                  <m:oMath xmlns:m="http://schemas.openxmlformats.org/officeDocument/2006/math">
                    <m:r>
                      <m:rPr>
                        <m:sty m:val="p"/>
                      </m:rPr>
                      <a:rPr lang="el-GR" i="1">
                        <a:solidFill>
                          <a:srgbClr val="3300FF"/>
                        </a:solidFill>
                        <a:latin typeface="Cambria Math" panose="02040503050406030204" pitchFamily="18" charset="0"/>
                        <a:cs typeface="Arial" charset="0"/>
                      </a:rPr>
                      <m:t>χ</m:t>
                    </m:r>
                  </m:oMath>
                </a14:m>
                <a:r>
                  <a:rPr lang="en-US" dirty="0">
                    <a:solidFill>
                      <a:srgbClr val="3300FF"/>
                    </a:solidFill>
                    <a:latin typeface="Arial" charset="0"/>
                    <a:cs typeface="Arial" charset="0"/>
                  </a:rPr>
                  <a:t>) </a:t>
                </a:r>
                <a:r>
                  <a:rPr lang="en-US" dirty="0">
                    <a:solidFill>
                      <a:schemeClr val="tx1"/>
                    </a:solidFill>
                    <a:latin typeface="Arial" charset="0"/>
                    <a:cs typeface="Arial" charset="0"/>
                  </a:rPr>
                  <a:t>predicts whether those atoms will share electrons or if one atom will hog the electron(s)</a:t>
                </a:r>
                <a:endParaRPr lang="en-US" dirty="0">
                  <a:solidFill>
                    <a:srgbClr val="0000FF"/>
                  </a:solidFill>
                  <a:latin typeface="Arial" charset="0"/>
                  <a:cs typeface="Arial" charset="0"/>
                </a:endParaRPr>
              </a:p>
              <a:p>
                <a:endParaRPr lang="en-US" dirty="0"/>
              </a:p>
            </p:txBody>
          </p:sp>
        </mc:Choice>
        <mc:Fallback xmlns="">
          <p:sp>
            <p:nvSpPr>
              <p:cNvPr id="185347" name="Rectangle 3"/>
              <p:cNvSpPr>
                <a:spLocks noGrp="1" noRot="1" noChangeAspect="1" noMove="1" noResize="1" noEditPoints="1" noAdjustHandles="1" noChangeArrowheads="1" noChangeShapeType="1" noTextEdit="1"/>
              </p:cNvSpPr>
              <p:nvPr>
                <p:ph type="body" idx="1"/>
              </p:nvPr>
            </p:nvSpPr>
            <p:spPr>
              <a:xfrm>
                <a:off x="446966" y="1557557"/>
                <a:ext cx="8521774" cy="1270168"/>
              </a:xfrm>
              <a:blipFill>
                <a:blip r:embed="rId4"/>
                <a:stretch>
                  <a:fillRect l="-358" t="-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3"/>
              <p:cNvSpPr txBox="1">
                <a:spLocks noChangeArrowheads="1"/>
              </p:cNvSpPr>
              <p:nvPr/>
            </p:nvSpPr>
            <p:spPr>
              <a:xfrm>
                <a:off x="3362466" y="2688902"/>
                <a:ext cx="4397365" cy="17896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spcAft>
                    <a:spcPts val="600"/>
                  </a:spcAft>
                  <a:buNone/>
                </a:pPr>
                <a:r>
                  <a:rPr lang="en-US" sz="1600" dirty="0">
                    <a:solidFill>
                      <a:srgbClr val="0000FF"/>
                    </a:solidFill>
                    <a:latin typeface="Arial" charset="0"/>
                    <a:cs typeface="Arial" charset="0"/>
                  </a:rPr>
                  <a:t>∆</a:t>
                </a:r>
                <a14:m>
                  <m:oMath xmlns:m="http://schemas.openxmlformats.org/officeDocument/2006/math">
                    <m:r>
                      <m:rPr>
                        <m:sty m:val="p"/>
                      </m:rPr>
                      <a:rPr lang="el-GR" sz="1600" i="1">
                        <a:solidFill>
                          <a:srgbClr val="0000FF"/>
                        </a:solidFill>
                        <a:latin typeface="Cambria Math" panose="02040503050406030204" pitchFamily="18" charset="0"/>
                        <a:cs typeface="Arial" charset="0"/>
                      </a:rPr>
                      <m:t>χ</m:t>
                    </m:r>
                  </m:oMath>
                </a14:m>
                <a:r>
                  <a:rPr lang="en-US" sz="1600" dirty="0">
                    <a:latin typeface="Bradley Hand ITC" panose="03070402050302030203" pitchFamily="66" charset="0"/>
                  </a:rPr>
                  <a:t> </a:t>
                </a:r>
                <a:r>
                  <a:rPr lang="en-US" sz="1600" dirty="0">
                    <a:solidFill>
                      <a:srgbClr val="0000FF"/>
                    </a:solidFill>
                    <a:latin typeface="Arial" charset="0"/>
                    <a:cs typeface="Arial" charset="0"/>
                  </a:rPr>
                  <a:t>= Difference in EN values of bonded atoms</a:t>
                </a:r>
              </a:p>
              <a:p>
                <a:pPr marL="0" indent="0">
                  <a:spcBef>
                    <a:spcPts val="0"/>
                  </a:spcBef>
                  <a:buNone/>
                </a:pPr>
                <a:r>
                  <a:rPr lang="en-US" sz="1600" dirty="0">
                    <a:solidFill>
                      <a:srgbClr val="0000FF"/>
                    </a:solidFill>
                    <a:latin typeface="Arial" charset="0"/>
                    <a:cs typeface="Arial" charset="0"/>
                  </a:rPr>
                  <a:t>If ∆</a:t>
                </a:r>
                <a14:m>
                  <m:oMath xmlns:m="http://schemas.openxmlformats.org/officeDocument/2006/math">
                    <m:r>
                      <m:rPr>
                        <m:sty m:val="p"/>
                      </m:rPr>
                      <a:rPr lang="el-GR" sz="1600" i="1">
                        <a:solidFill>
                          <a:srgbClr val="0000FF"/>
                        </a:solidFill>
                        <a:latin typeface="Cambria Math" panose="02040503050406030204" pitchFamily="18" charset="0"/>
                        <a:cs typeface="Arial" charset="0"/>
                      </a:rPr>
                      <m:t>χ</m:t>
                    </m:r>
                  </m:oMath>
                </a14:m>
                <a:r>
                  <a:rPr lang="en-US" sz="1600" dirty="0">
                    <a:latin typeface="Bradley Hand ITC" panose="03070402050302030203" pitchFamily="66" charset="0"/>
                  </a:rPr>
                  <a:t> </a:t>
                </a:r>
                <a:r>
                  <a:rPr lang="en-US" sz="1600" dirty="0">
                    <a:solidFill>
                      <a:srgbClr val="0000FF"/>
                    </a:solidFill>
                    <a:latin typeface="Arial" charset="0"/>
                    <a:cs typeface="Arial" charset="0"/>
                  </a:rPr>
                  <a:t>≤ 2.0, bond is probably covalent</a:t>
                </a:r>
              </a:p>
              <a:p>
                <a:pPr marL="0" indent="0">
                  <a:spcBef>
                    <a:spcPts val="0"/>
                  </a:spcBef>
                  <a:buFont typeface="Arial" panose="020B0604020202020204" pitchFamily="34" charset="0"/>
                  <a:buNone/>
                </a:pPr>
                <a:r>
                  <a:rPr lang="en-US" sz="1600" dirty="0">
                    <a:solidFill>
                      <a:srgbClr val="0000FF"/>
                    </a:solidFill>
                    <a:latin typeface="Arial" charset="0"/>
                    <a:cs typeface="Arial" charset="0"/>
                  </a:rPr>
                  <a:t>If ∆</a:t>
                </a:r>
                <a14:m>
                  <m:oMath xmlns:m="http://schemas.openxmlformats.org/officeDocument/2006/math">
                    <m:r>
                      <m:rPr>
                        <m:sty m:val="p"/>
                      </m:rPr>
                      <a:rPr lang="el-GR" sz="1600" i="1" smtClean="0">
                        <a:solidFill>
                          <a:srgbClr val="0000FF"/>
                        </a:solidFill>
                        <a:latin typeface="Cambria Math" panose="02040503050406030204" pitchFamily="18" charset="0"/>
                        <a:cs typeface="Arial" charset="0"/>
                      </a:rPr>
                      <m:t>χ</m:t>
                    </m:r>
                  </m:oMath>
                </a14:m>
                <a:r>
                  <a:rPr lang="en-US" sz="1600" dirty="0">
                    <a:latin typeface="Bradley Hand ITC" panose="03070402050302030203" pitchFamily="66" charset="0"/>
                  </a:rPr>
                  <a:t> </a:t>
                </a:r>
                <a:r>
                  <a:rPr lang="en-US" sz="1600" dirty="0">
                    <a:solidFill>
                      <a:srgbClr val="0000FF"/>
                    </a:solidFill>
                    <a:latin typeface="Arial" charset="0"/>
                    <a:cs typeface="Arial" charset="0"/>
                  </a:rPr>
                  <a:t>≥ 2.0, bond is probably ionic</a:t>
                </a:r>
              </a:p>
            </p:txBody>
          </p:sp>
        </mc:Choice>
        <mc:Fallback xmlns="">
          <p:sp>
            <p:nvSpPr>
              <p:cNvPr id="17" name="Rectangle 3"/>
              <p:cNvSpPr txBox="1">
                <a:spLocks noRot="1" noChangeAspect="1" noMove="1" noResize="1" noEditPoints="1" noAdjustHandles="1" noChangeArrowheads="1" noChangeShapeType="1" noTextEdit="1"/>
              </p:cNvSpPr>
              <p:nvPr/>
            </p:nvSpPr>
            <p:spPr>
              <a:xfrm>
                <a:off x="3362466" y="2688902"/>
                <a:ext cx="4397365" cy="1789691"/>
              </a:xfrm>
              <a:prstGeom prst="rect">
                <a:avLst/>
              </a:prstGeom>
              <a:blipFill>
                <a:blip r:embed="rId5"/>
                <a:stretch>
                  <a:fillRect l="-832" t="-3061"/>
                </a:stretch>
              </a:blipFill>
            </p:spPr>
            <p:txBody>
              <a:bodyPr/>
              <a:lstStyle/>
              <a:p>
                <a:r>
                  <a:rPr lang="en-US">
                    <a:noFill/>
                  </a:rPr>
                  <a:t> </a:t>
                </a:r>
              </a:p>
            </p:txBody>
          </p:sp>
        </mc:Fallback>
      </mc:AlternateContent>
      <p:grpSp>
        <p:nvGrpSpPr>
          <p:cNvPr id="18" name="Group 17"/>
          <p:cNvGrpSpPr/>
          <p:nvPr/>
        </p:nvGrpSpPr>
        <p:grpSpPr>
          <a:xfrm>
            <a:off x="4083503" y="5766354"/>
            <a:ext cx="4293023" cy="592214"/>
            <a:chOff x="2672209" y="5325618"/>
            <a:chExt cx="5755511" cy="809243"/>
          </a:xfrm>
        </p:grpSpPr>
        <p:sp>
          <p:nvSpPr>
            <p:cNvPr id="19" name="Isosceles Triangle 18"/>
            <p:cNvSpPr/>
            <p:nvPr/>
          </p:nvSpPr>
          <p:spPr>
            <a:xfrm rot="5400000">
              <a:off x="7865255" y="5572396"/>
              <a:ext cx="809243" cy="31568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p:cNvSpPr/>
            <p:nvPr/>
          </p:nvSpPr>
          <p:spPr>
            <a:xfrm rot="16200000">
              <a:off x="5309490" y="2980181"/>
              <a:ext cx="210313" cy="5484876"/>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p:nvGrpSpPr>
        <p:grpSpPr>
          <a:xfrm rot="16200000">
            <a:off x="7273524" y="4533269"/>
            <a:ext cx="2798218" cy="592214"/>
            <a:chOff x="2672209" y="5325618"/>
            <a:chExt cx="5755511" cy="809243"/>
          </a:xfrm>
        </p:grpSpPr>
        <p:sp>
          <p:nvSpPr>
            <p:cNvPr id="22" name="Isosceles Triangle 21"/>
            <p:cNvSpPr/>
            <p:nvPr/>
          </p:nvSpPr>
          <p:spPr>
            <a:xfrm rot="5400000">
              <a:off x="7865255" y="5572396"/>
              <a:ext cx="809243" cy="31568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p:cNvSpPr/>
            <p:nvPr/>
          </p:nvSpPr>
          <p:spPr>
            <a:xfrm rot="16200000">
              <a:off x="5309490" y="2980181"/>
              <a:ext cx="210313" cy="5484876"/>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p:cNvGrpSpPr/>
          <p:nvPr/>
        </p:nvGrpSpPr>
        <p:grpSpPr>
          <a:xfrm>
            <a:off x="446966" y="2791752"/>
            <a:ext cx="2066438" cy="2759978"/>
            <a:chOff x="634940" y="3677499"/>
            <a:chExt cx="2066438" cy="2759978"/>
          </a:xfrm>
        </p:grpSpPr>
        <p:pic>
          <p:nvPicPr>
            <p:cNvPr id="25" name="Picture 6" descr="https://upload.wikimedia.org/wikipedia/en/e/eb/Pauling_Vit_C_Book_Cover.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5021" y="3847890"/>
              <a:ext cx="1446276" cy="2352675"/>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Group 25"/>
            <p:cNvGrpSpPr>
              <a:grpSpLocks noChangeAspect="1"/>
            </p:cNvGrpSpPr>
            <p:nvPr/>
          </p:nvGrpSpPr>
          <p:grpSpPr>
            <a:xfrm>
              <a:off x="634940" y="3677499"/>
              <a:ext cx="2066438" cy="2759978"/>
              <a:chOff x="524362" y="2797466"/>
              <a:chExt cx="1733416" cy="2315187"/>
            </a:xfrm>
          </p:grpSpPr>
          <p:pic>
            <p:nvPicPr>
              <p:cNvPr id="27" name="Picture 4" descr="http://www.radfilms.com/pauling_gallery_1.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4362" y="2797466"/>
                <a:ext cx="1733416" cy="220143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https://upload.wikimedia.org/wikipedia/commons/thumb/2/27/Linus_Pauling_signature.svg/128px-Linus_Pauling_signature.svg.png"/>
              <p:cNvPicPr>
                <a:picLocks noChangeAspect="1" noChangeArrowheads="1"/>
              </p:cNvPicPr>
              <p:nvPr/>
            </p:nvPicPr>
            <p:blipFill>
              <a:blip r:embed="rId8">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62521" y="4493527"/>
                <a:ext cx="1219200" cy="619126"/>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9" name="Rectangle 28"/>
          <p:cNvSpPr/>
          <p:nvPr/>
        </p:nvSpPr>
        <p:spPr>
          <a:xfrm>
            <a:off x="341782" y="5428093"/>
            <a:ext cx="2276806" cy="1306270"/>
          </a:xfrm>
          <a:prstGeom prst="rect">
            <a:avLst/>
          </a:prstGeom>
        </p:spPr>
        <p:txBody>
          <a:bodyPr wrap="none">
            <a:normAutofit fontScale="92500" lnSpcReduction="10000"/>
          </a:bodyPr>
          <a:lstStyle/>
          <a:p>
            <a:pPr algn="ctr"/>
            <a:r>
              <a:rPr lang="en-US" b="1" u="sng" dirty="0"/>
              <a:t>Linus Pauling</a:t>
            </a:r>
          </a:p>
          <a:p>
            <a:pPr algn="ctr">
              <a:lnSpc>
                <a:spcPct val="110000"/>
              </a:lnSpc>
            </a:pPr>
            <a:r>
              <a:rPr lang="en-US" sz="1400" dirty="0">
                <a:ea typeface="ＭＳ Ｐゴシック" charset="0"/>
                <a:cs typeface="ＭＳ Ｐゴシック" charset="0"/>
              </a:rPr>
              <a:t>(1901 - 1994)</a:t>
            </a:r>
          </a:p>
          <a:p>
            <a:pPr algn="ctr"/>
            <a:r>
              <a:rPr lang="en-US" sz="1400" dirty="0"/>
              <a:t>American Chemist/Biochemist</a:t>
            </a:r>
          </a:p>
          <a:p>
            <a:pPr algn="ctr"/>
            <a:r>
              <a:rPr lang="en-US" sz="1400" dirty="0"/>
              <a:t>2 Nobel Prizes:</a:t>
            </a:r>
          </a:p>
          <a:p>
            <a:pPr algn="ctr"/>
            <a:r>
              <a:rPr lang="en-US" sz="1400" dirty="0"/>
              <a:t>Chemistry (1954)</a:t>
            </a:r>
            <a:br>
              <a:rPr lang="en-US" sz="1400" dirty="0"/>
            </a:br>
            <a:r>
              <a:rPr lang="en-US" sz="1400" dirty="0"/>
              <a:t>Peace (1962)</a:t>
            </a:r>
          </a:p>
        </p:txBody>
      </p:sp>
      <p:sp>
        <p:nvSpPr>
          <p:cNvPr id="3" name="Slide Number Placeholder 2"/>
          <p:cNvSpPr>
            <a:spLocks noGrp="1"/>
          </p:cNvSpPr>
          <p:nvPr>
            <p:ph type="sldNum" sz="quarter" idx="12"/>
          </p:nvPr>
        </p:nvSpPr>
        <p:spPr/>
        <p:txBody>
          <a:bodyPr/>
          <a:lstStyle/>
          <a:p>
            <a:fld id="{63C103D7-7FC1-4B9F-A526-BC88A3C4AA47}" type="slidenum">
              <a:rPr lang="en-US" smtClean="0"/>
              <a:pPr/>
              <a:t>11</a:t>
            </a:fld>
            <a:endParaRPr lang="en-US" dirty="0"/>
          </a:p>
        </p:txBody>
      </p:sp>
    </p:spTree>
    <p:extLst>
      <p:ext uri="{BB962C8B-B14F-4D97-AF65-F5344CB8AC3E}">
        <p14:creationId xmlns:p14="http://schemas.microsoft.com/office/powerpoint/2010/main" val="281620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5347">
                                            <p:txEl>
                                              <p:pRg st="0" end="0"/>
                                            </p:txEl>
                                          </p:spTgt>
                                        </p:tgtEl>
                                        <p:attrNameLst>
                                          <p:attrName>style.visibility</p:attrName>
                                        </p:attrNameLst>
                                      </p:cBhvr>
                                      <p:to>
                                        <p:strVal val="visible"/>
                                      </p:to>
                                    </p:set>
                                    <p:animEffect transition="in" filter="fade">
                                      <p:cBhvr>
                                        <p:cTn id="7" dur="500"/>
                                        <p:tgtEl>
                                          <p:spTgt spid="185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5347">
                                            <p:txEl>
                                              <p:pRg st="1" end="1"/>
                                            </p:txEl>
                                          </p:spTgt>
                                        </p:tgtEl>
                                        <p:attrNameLst>
                                          <p:attrName>style.visibility</p:attrName>
                                        </p:attrNameLst>
                                      </p:cBhvr>
                                      <p:to>
                                        <p:strVal val="visible"/>
                                      </p:to>
                                    </p:set>
                                    <p:animEffect transition="in" filter="fade">
                                      <p:cBhvr>
                                        <p:cTn id="12" dur="500"/>
                                        <p:tgtEl>
                                          <p:spTgt spid="185347">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5347">
                                            <p:txEl>
                                              <p:pRg st="2" end="2"/>
                                            </p:txEl>
                                          </p:spTgt>
                                        </p:tgtEl>
                                        <p:attrNameLst>
                                          <p:attrName>style.visibility</p:attrName>
                                        </p:attrNameLst>
                                      </p:cBhvr>
                                      <p:to>
                                        <p:strVal val="visible"/>
                                      </p:to>
                                    </p:set>
                                    <p:animEffect transition="in" filter="fade">
                                      <p:cBhvr>
                                        <p:cTn id="30" dur="500"/>
                                        <p:tgtEl>
                                          <p:spTgt spid="185347">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animEffect transition="in" filter="fade">
                                      <p:cBhvr>
                                        <p:cTn id="35" dur="500"/>
                                        <p:tgtEl>
                                          <p:spTgt spid="1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7">
                                            <p:txEl>
                                              <p:pRg st="2" end="2"/>
                                            </p:txEl>
                                          </p:spTgt>
                                        </p:tgtEl>
                                        <p:attrNameLst>
                                          <p:attrName>style.visibility</p:attrName>
                                        </p:attrNameLst>
                                      </p:cBhvr>
                                      <p:to>
                                        <p:strVal val="visible"/>
                                      </p:to>
                                    </p:set>
                                    <p:animEffect transition="in" filter="fade">
                                      <p:cBhvr>
                                        <p:cTn id="40" dur="500"/>
                                        <p:tgtEl>
                                          <p:spTgt spid="17">
                                            <p:txEl>
                                              <p:pRg st="2" end="2"/>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7">
                                            <p:txEl>
                                              <p:pRg st="1" end="1"/>
                                            </p:txEl>
                                          </p:spTgt>
                                        </p:tgtEl>
                                        <p:attrNameLst>
                                          <p:attrName>style.visibility</p:attrName>
                                        </p:attrNameLst>
                                      </p:cBhvr>
                                      <p:to>
                                        <p:strVal val="visible"/>
                                      </p:to>
                                    </p:set>
                                    <p:animEffect transition="in" filter="fade">
                                      <p:cBhvr>
                                        <p:cTn id="43"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2465212" y="96428"/>
            <a:ext cx="6377940" cy="1254759"/>
          </a:xfrm>
        </p:spPr>
        <p:txBody>
          <a:bodyPr/>
          <a:lstStyle/>
          <a:p>
            <a:r>
              <a:rPr lang="en-US" sz="4400" dirty="0"/>
              <a:t>Chemical Bonds</a:t>
            </a:r>
          </a:p>
        </p:txBody>
      </p:sp>
      <p:sp>
        <p:nvSpPr>
          <p:cNvPr id="5" name="Slide Number Placeholder 4"/>
          <p:cNvSpPr>
            <a:spLocks noGrp="1"/>
          </p:cNvSpPr>
          <p:nvPr>
            <p:ph type="sldNum" sz="quarter" idx="12"/>
          </p:nvPr>
        </p:nvSpPr>
        <p:spPr/>
        <p:txBody>
          <a:bodyPr/>
          <a:lstStyle/>
          <a:p>
            <a:fld id="{63C103D7-7FC1-4B9F-A526-BC88A3C4AA47}" type="slidenum">
              <a:rPr lang="en-US" smtClean="0"/>
              <a:pPr/>
              <a:t>12</a:t>
            </a:fld>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445309" y="1159136"/>
                <a:ext cx="1880643" cy="492443"/>
              </a:xfrm>
              <a:prstGeom prst="rect">
                <a:avLst/>
              </a:prstGeom>
              <a:noFill/>
            </p:spPr>
            <p:txBody>
              <a:bodyPr wrap="none">
                <a:spAutoFit/>
              </a:bodyPr>
              <a:lstStyle/>
              <a:p>
                <a:pPr lvl="0"/>
                <a:r>
                  <a:rPr lang="en-US" sz="2600" b="1" u="sng" dirty="0">
                    <a:latin typeface="+mn-lt"/>
                  </a:rPr>
                  <a:t>Ionic</a:t>
                </a:r>
                <a:r>
                  <a:rPr lang="en-US" sz="2600" b="1" dirty="0">
                    <a:latin typeface="+mn-lt"/>
                  </a:rPr>
                  <a:t> </a:t>
                </a:r>
                <a:r>
                  <a:rPr lang="en-US" dirty="0">
                    <a:solidFill>
                      <a:srgbClr val="0000FF"/>
                    </a:solidFill>
                    <a:latin typeface="Arial" charset="0"/>
                    <a:cs typeface="Arial" charset="0"/>
                  </a:rPr>
                  <a:t>∆</a:t>
                </a:r>
                <a14:m>
                  <m:oMath xmlns:m="http://schemas.openxmlformats.org/officeDocument/2006/math">
                    <m:r>
                      <m:rPr>
                        <m:sty m:val="p"/>
                      </m:rPr>
                      <a:rPr lang="el-GR" i="1">
                        <a:solidFill>
                          <a:srgbClr val="0000FF"/>
                        </a:solidFill>
                        <a:latin typeface="Cambria Math" panose="02040503050406030204" pitchFamily="18" charset="0"/>
                        <a:cs typeface="Arial" charset="0"/>
                      </a:rPr>
                      <m:t>χ</m:t>
                    </m:r>
                  </m:oMath>
                </a14:m>
                <a:r>
                  <a:rPr lang="en-US" dirty="0">
                    <a:solidFill>
                      <a:prstClr val="black"/>
                    </a:solidFill>
                    <a:latin typeface="Bradley Hand ITC" panose="03070402050302030203" pitchFamily="66" charset="0"/>
                  </a:rPr>
                  <a:t> </a:t>
                </a:r>
                <a:r>
                  <a:rPr lang="en-US" dirty="0">
                    <a:solidFill>
                      <a:srgbClr val="0000FF"/>
                    </a:solidFill>
                    <a:latin typeface="Arial" charset="0"/>
                    <a:cs typeface="Arial" charset="0"/>
                  </a:rPr>
                  <a:t>≥ 2.0</a:t>
                </a:r>
                <a:endParaRPr lang="en-US" sz="2600" b="1" u="sng" dirty="0">
                  <a:latin typeface="+mn-lt"/>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45309" y="1159136"/>
                <a:ext cx="1880643" cy="492443"/>
              </a:xfrm>
              <a:prstGeom prst="rect">
                <a:avLst/>
              </a:prstGeom>
              <a:blipFill>
                <a:blip r:embed="rId3"/>
                <a:stretch>
                  <a:fillRect l="-5825" t="-13580" r="-1942" b="-28395"/>
                </a:stretch>
              </a:blipFill>
            </p:spPr>
            <p:txBody>
              <a:bodyPr/>
              <a:lstStyle/>
              <a:p>
                <a:r>
                  <a:rPr lang="en-US">
                    <a:noFill/>
                  </a:rPr>
                  <a:t> </a:t>
                </a:r>
              </a:p>
            </p:txBody>
          </p:sp>
        </mc:Fallback>
      </mc:AlternateContent>
      <p:sp>
        <p:nvSpPr>
          <p:cNvPr id="16" name="Rectangle 5"/>
          <p:cNvSpPr txBox="1">
            <a:spLocks noChangeArrowheads="1"/>
          </p:cNvSpPr>
          <p:nvPr/>
        </p:nvSpPr>
        <p:spPr>
          <a:xfrm>
            <a:off x="269974" y="1662469"/>
            <a:ext cx="3123170" cy="1034317"/>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228600" lvl="1" indent="-182880">
              <a:spcBef>
                <a:spcPts val="1000"/>
              </a:spcBef>
            </a:pPr>
            <a:r>
              <a:rPr lang="en-US" sz="2900" dirty="0"/>
              <a:t>Transfer of electrons</a:t>
            </a:r>
          </a:p>
          <a:p>
            <a:pPr lvl="1" indent="-182880"/>
            <a:r>
              <a:rPr lang="en-US" sz="2600" dirty="0"/>
              <a:t>Bond = electrostatic attraction between ions </a:t>
            </a:r>
          </a:p>
          <a:p>
            <a:pPr indent="-182880"/>
            <a:r>
              <a:rPr lang="en-US" sz="3000" b="1" dirty="0"/>
              <a:t>Metals with Nonmetals</a:t>
            </a:r>
          </a:p>
          <a:p>
            <a:pPr lvl="1" indent="-182880"/>
            <a:endParaRPr lang="en-US" sz="2600" dirty="0"/>
          </a:p>
        </p:txBody>
      </p:sp>
      <p:grpSp>
        <p:nvGrpSpPr>
          <p:cNvPr id="2" name="Group 1"/>
          <p:cNvGrpSpPr/>
          <p:nvPr/>
        </p:nvGrpSpPr>
        <p:grpSpPr>
          <a:xfrm>
            <a:off x="445309" y="2816673"/>
            <a:ext cx="2286037" cy="3778870"/>
            <a:chOff x="445309" y="2816673"/>
            <a:chExt cx="2286037" cy="3778870"/>
          </a:xfrm>
        </p:grpSpPr>
        <p:pic>
          <p:nvPicPr>
            <p:cNvPr id="34823" name="Picture 2"/>
            <p:cNvPicPr>
              <a:picLocks noChangeAspect="1"/>
            </p:cNvPicPr>
            <p:nvPr/>
          </p:nvPicPr>
          <p:blipFill>
            <a:blip r:embed="rId4"/>
            <a:srcRect/>
            <a:stretch>
              <a:fillRect/>
            </a:stretch>
          </p:blipFill>
          <p:spPr bwMode="auto">
            <a:xfrm>
              <a:off x="445309" y="2816673"/>
              <a:ext cx="2286037" cy="3383280"/>
            </a:xfrm>
            <a:prstGeom prst="rect">
              <a:avLst/>
            </a:prstGeom>
            <a:noFill/>
            <a:ln w="9525">
              <a:noFill/>
              <a:miter lim="800000"/>
              <a:headEnd/>
              <a:tailEnd/>
            </a:ln>
          </p:spPr>
        </p:pic>
        <p:sp>
          <p:nvSpPr>
            <p:cNvPr id="13" name="TextBox 12"/>
            <p:cNvSpPr txBox="1"/>
            <p:nvPr/>
          </p:nvSpPr>
          <p:spPr>
            <a:xfrm>
              <a:off x="1288405" y="6195433"/>
              <a:ext cx="599844" cy="400110"/>
            </a:xfrm>
            <a:prstGeom prst="rect">
              <a:avLst/>
            </a:prstGeom>
            <a:noFill/>
          </p:spPr>
          <p:txBody>
            <a:bodyPr wrap="none">
              <a:spAutoFit/>
            </a:bodyPr>
            <a:lstStyle/>
            <a:p>
              <a:pPr algn="ctr">
                <a:defRPr/>
              </a:pPr>
              <a:r>
                <a:rPr lang="en-US" sz="2000" dirty="0" err="1">
                  <a:latin typeface="+mn-lt"/>
                </a:rPr>
                <a:t>KCl</a:t>
              </a:r>
              <a:endParaRPr lang="en-US" sz="2000" dirty="0">
                <a:latin typeface="+mn-lt"/>
              </a:endParaRPr>
            </a:p>
          </p:txBody>
        </p:sp>
      </p:grpSp>
      <p:grpSp>
        <p:nvGrpSpPr>
          <p:cNvPr id="6" name="Group 5"/>
          <p:cNvGrpSpPr/>
          <p:nvPr/>
        </p:nvGrpSpPr>
        <p:grpSpPr>
          <a:xfrm>
            <a:off x="6376688" y="1098382"/>
            <a:ext cx="2767312" cy="5501681"/>
            <a:chOff x="3443583" y="1102902"/>
            <a:chExt cx="2767312" cy="5501681"/>
          </a:xfrm>
        </p:grpSpPr>
        <mc:AlternateContent xmlns:mc="http://schemas.openxmlformats.org/markup-compatibility/2006" xmlns:a14="http://schemas.microsoft.com/office/drawing/2010/main">
          <mc:Choice Requires="a14">
            <p:sp>
              <p:nvSpPr>
                <p:cNvPr id="7" name="TextBox 6"/>
                <p:cNvSpPr txBox="1"/>
                <p:nvPr/>
              </p:nvSpPr>
              <p:spPr>
                <a:xfrm>
                  <a:off x="3445937" y="1102902"/>
                  <a:ext cx="2510624" cy="492443"/>
                </a:xfrm>
                <a:prstGeom prst="rect">
                  <a:avLst/>
                </a:prstGeom>
                <a:noFill/>
              </p:spPr>
              <p:txBody>
                <a:bodyPr wrap="none">
                  <a:spAutoFit/>
                </a:bodyPr>
                <a:lstStyle/>
                <a:p>
                  <a:pPr algn="ctr">
                    <a:defRPr/>
                  </a:pPr>
                  <a:r>
                    <a:rPr lang="en-US" sz="2600" b="1" u="sng" dirty="0">
                      <a:latin typeface="+mn-lt"/>
                    </a:rPr>
                    <a:t>Covalent</a:t>
                  </a:r>
                  <a:r>
                    <a:rPr lang="en-US" sz="2600" b="1" dirty="0">
                      <a:solidFill>
                        <a:prstClr val="black"/>
                      </a:solidFill>
                    </a:rPr>
                    <a:t> </a:t>
                  </a:r>
                  <a:r>
                    <a:rPr lang="en-US" dirty="0">
                      <a:solidFill>
                        <a:srgbClr val="0000FF"/>
                      </a:solidFill>
                      <a:latin typeface="Arial" charset="0"/>
                      <a:cs typeface="Arial" charset="0"/>
                    </a:rPr>
                    <a:t>∆</a:t>
                  </a:r>
                  <a14:m>
                    <m:oMath xmlns:m="http://schemas.openxmlformats.org/officeDocument/2006/math">
                      <m:r>
                        <m:rPr>
                          <m:sty m:val="p"/>
                        </m:rPr>
                        <a:rPr lang="el-GR" i="1">
                          <a:solidFill>
                            <a:srgbClr val="0000FF"/>
                          </a:solidFill>
                          <a:latin typeface="Cambria Math" panose="02040503050406030204" pitchFamily="18" charset="0"/>
                          <a:cs typeface="Arial" charset="0"/>
                        </a:rPr>
                        <m:t>χ</m:t>
                      </m:r>
                    </m:oMath>
                  </a14:m>
                  <a:r>
                    <a:rPr lang="en-US" dirty="0">
                      <a:solidFill>
                        <a:prstClr val="black"/>
                      </a:solidFill>
                      <a:latin typeface="Bradley Hand ITC" panose="03070402050302030203" pitchFamily="66" charset="0"/>
                    </a:rPr>
                    <a:t> </a:t>
                  </a:r>
                  <a:r>
                    <a:rPr lang="en-US" dirty="0">
                      <a:solidFill>
                        <a:srgbClr val="0000FF"/>
                      </a:solidFill>
                      <a:latin typeface="Arial" charset="0"/>
                      <a:cs typeface="Arial" charset="0"/>
                    </a:rPr>
                    <a:t>≤ 2.0</a:t>
                  </a:r>
                  <a:endParaRPr lang="en-US" sz="2600" b="1" u="sng" dirty="0">
                    <a:latin typeface="+mn-lt"/>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445937" y="1102902"/>
                  <a:ext cx="2510624" cy="492443"/>
                </a:xfrm>
                <a:prstGeom prst="rect">
                  <a:avLst/>
                </a:prstGeom>
                <a:blipFill>
                  <a:blip r:embed="rId5"/>
                  <a:stretch>
                    <a:fillRect l="-4126" t="-13580" r="-1699" b="-28395"/>
                  </a:stretch>
                </a:blipFill>
              </p:spPr>
              <p:txBody>
                <a:bodyPr/>
                <a:lstStyle/>
                <a:p>
                  <a:r>
                    <a:rPr lang="en-US">
                      <a:noFill/>
                    </a:rPr>
                    <a:t> </a:t>
                  </a:r>
                </a:p>
              </p:txBody>
            </p:sp>
          </mc:Fallback>
        </mc:AlternateContent>
        <p:sp>
          <p:nvSpPr>
            <p:cNvPr id="17" name="Rectangle 5"/>
            <p:cNvSpPr txBox="1">
              <a:spLocks noChangeArrowheads="1"/>
            </p:cNvSpPr>
            <p:nvPr/>
          </p:nvSpPr>
          <p:spPr>
            <a:xfrm>
              <a:off x="3443583" y="1666989"/>
              <a:ext cx="2767312" cy="1390254"/>
            </a:xfrm>
            <a:prstGeom prst="rect">
              <a:avLst/>
            </a:prstGeom>
          </p:spPr>
          <p:txBody>
            <a:bodyPr vert="horz" lIns="91440" tIns="45720" rIns="91440" bIns="45720" rtlCol="0">
              <a:normAutofit/>
            </a:bodyPr>
            <a:lstStyle>
              <a:defPPr>
                <a:defRPr lang="en-US"/>
              </a:defPPr>
              <a:lvl1pPr marL="228600" indent="-182880">
                <a:lnSpc>
                  <a:spcPct val="90000"/>
                </a:lnSpc>
                <a:spcBef>
                  <a:spcPts val="1000"/>
                </a:spcBef>
                <a:buFont typeface="Arial" panose="020B0604020202020204" pitchFamily="34" charset="0"/>
                <a:buChar char="•"/>
                <a:defRPr sz="3200"/>
              </a:lvl1pPr>
              <a:lvl2pPr marL="685800" lvl="1" indent="-182880">
                <a:lnSpc>
                  <a:spcPct val="90000"/>
                </a:lnSpc>
                <a:spcBef>
                  <a:spcPts val="500"/>
                </a:spcBef>
                <a:buFont typeface="Arial" panose="020B0604020202020204" pitchFamily="34" charset="0"/>
                <a:buChar char="•"/>
                <a:defRPr sz="3000"/>
              </a:lvl2pPr>
              <a:lvl3pPr marL="1143000" indent="-228600">
                <a:lnSpc>
                  <a:spcPct val="90000"/>
                </a:lnSpc>
                <a:spcBef>
                  <a:spcPts val="500"/>
                </a:spcBef>
                <a:buFont typeface="Arial" panose="020B0604020202020204" pitchFamily="34" charset="0"/>
                <a:buChar char="•"/>
              </a:lvl3pPr>
              <a:lvl4pPr marL="1600200" indent="-228600">
                <a:lnSpc>
                  <a:spcPct val="90000"/>
                </a:lnSpc>
                <a:spcBef>
                  <a:spcPts val="500"/>
                </a:spcBef>
                <a:buFont typeface="Arial" panose="020B0604020202020204" pitchFamily="34" charset="0"/>
                <a:buChar char="•"/>
                <a:defRPr sz="1600"/>
              </a:lvl4pPr>
              <a:lvl5pPr marL="2057400" indent="-228600">
                <a:lnSpc>
                  <a:spcPct val="90000"/>
                </a:lnSpc>
                <a:spcBef>
                  <a:spcPts val="500"/>
                </a:spcBef>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defRPr sz="1600"/>
              </a:lvl6pPr>
              <a:lvl7pPr marL="2971800" indent="-228600">
                <a:lnSpc>
                  <a:spcPct val="90000"/>
                </a:lnSpc>
                <a:spcBef>
                  <a:spcPts val="500"/>
                </a:spcBef>
                <a:buFont typeface="Arial" panose="020B0604020202020204" pitchFamily="34" charset="0"/>
                <a:buChar char="•"/>
                <a:defRPr sz="1600"/>
              </a:lvl7pPr>
              <a:lvl8pPr marL="3429000" indent="-228600">
                <a:lnSpc>
                  <a:spcPct val="90000"/>
                </a:lnSpc>
                <a:spcBef>
                  <a:spcPts val="500"/>
                </a:spcBef>
                <a:buFont typeface="Arial" panose="020B0604020202020204" pitchFamily="34" charset="0"/>
                <a:buChar char="•"/>
                <a:defRPr sz="1600"/>
              </a:lvl8pPr>
              <a:lvl9pPr marL="3886200" indent="-228600">
                <a:lnSpc>
                  <a:spcPct val="90000"/>
                </a:lnSpc>
                <a:spcBef>
                  <a:spcPts val="500"/>
                </a:spcBef>
                <a:buFont typeface="Arial" panose="020B0604020202020204" pitchFamily="34" charset="0"/>
                <a:buChar char="•"/>
                <a:defRPr sz="1600"/>
              </a:lvl9pPr>
            </a:lstStyle>
            <a:p>
              <a:r>
                <a:rPr lang="en-US" sz="1800" dirty="0"/>
                <a:t>Sharing of electrons</a:t>
              </a:r>
              <a:br>
                <a:rPr lang="en-US" sz="1800" dirty="0"/>
              </a:br>
              <a:r>
                <a:rPr lang="en-US" sz="1800" dirty="0">
                  <a:solidFill>
                    <a:schemeClr val="bg1">
                      <a:lumMod val="85000"/>
                    </a:schemeClr>
                  </a:solidFill>
                </a:rPr>
                <a:t>in molecules</a:t>
              </a:r>
            </a:p>
          </p:txBody>
        </p:sp>
        <p:grpSp>
          <p:nvGrpSpPr>
            <p:cNvPr id="3" name="Group 2"/>
            <p:cNvGrpSpPr/>
            <p:nvPr/>
          </p:nvGrpSpPr>
          <p:grpSpPr>
            <a:xfrm>
              <a:off x="3670406" y="2821193"/>
              <a:ext cx="2169411" cy="3783390"/>
              <a:chOff x="3670406" y="2821193"/>
              <a:chExt cx="2169411" cy="3783390"/>
            </a:xfrm>
          </p:grpSpPr>
          <p:pic>
            <p:nvPicPr>
              <p:cNvPr id="34825" name="Picture 12"/>
              <p:cNvPicPr>
                <a:picLocks noChangeAspect="1" noChangeArrowheads="1"/>
              </p:cNvPicPr>
              <p:nvPr/>
            </p:nvPicPr>
            <p:blipFill>
              <a:blip r:embed="rId6"/>
              <a:srcRect r="61130"/>
              <a:stretch>
                <a:fillRect/>
              </a:stretch>
            </p:blipFill>
            <p:spPr bwMode="auto">
              <a:xfrm>
                <a:off x="3670406" y="2821193"/>
                <a:ext cx="2169411" cy="3383280"/>
              </a:xfrm>
              <a:prstGeom prst="rect">
                <a:avLst/>
              </a:prstGeom>
              <a:noFill/>
              <a:ln w="9525">
                <a:noFill/>
                <a:miter lim="800000"/>
                <a:headEnd/>
                <a:tailEnd/>
              </a:ln>
            </p:spPr>
          </p:pic>
          <p:sp>
            <p:nvSpPr>
              <p:cNvPr id="19" name="TextBox 18"/>
              <p:cNvSpPr txBox="1"/>
              <p:nvPr/>
            </p:nvSpPr>
            <p:spPr>
              <a:xfrm>
                <a:off x="4487248" y="6204473"/>
                <a:ext cx="535724" cy="400110"/>
              </a:xfrm>
              <a:prstGeom prst="rect">
                <a:avLst/>
              </a:prstGeom>
              <a:noFill/>
            </p:spPr>
            <p:txBody>
              <a:bodyPr wrap="none">
                <a:spAutoFit/>
              </a:bodyPr>
              <a:lstStyle/>
              <a:p>
                <a:pPr algn="ctr">
                  <a:defRPr/>
                </a:pPr>
                <a:r>
                  <a:rPr lang="en-US" sz="2000" dirty="0">
                    <a:latin typeface="+mn-lt"/>
                  </a:rPr>
                  <a:t>Br</a:t>
                </a:r>
                <a:r>
                  <a:rPr lang="en-US" sz="2000" baseline="-25000" dirty="0">
                    <a:latin typeface="+mn-lt"/>
                  </a:rPr>
                  <a:t>2</a:t>
                </a:r>
              </a:p>
            </p:txBody>
          </p:sp>
        </p:grpSp>
      </p:grpSp>
      <p:pic>
        <p:nvPicPr>
          <p:cNvPr id="23" name="Picture 2"/>
          <p:cNvPicPr>
            <a:picLocks noChangeAspect="1"/>
          </p:cNvPicPr>
          <p:nvPr/>
        </p:nvPicPr>
        <p:blipFill>
          <a:blip r:embed="rId7"/>
          <a:srcRect/>
          <a:stretch>
            <a:fillRect/>
          </a:stretch>
        </p:blipFill>
        <p:spPr bwMode="auto">
          <a:xfrm>
            <a:off x="2882471" y="4129089"/>
            <a:ext cx="3715825" cy="2466454"/>
          </a:xfrm>
          <a:prstGeom prst="rect">
            <a:avLst/>
          </a:prstGeom>
          <a:noFill/>
          <a:ln w="9525">
            <a:noFill/>
            <a:miter lim="800000"/>
            <a:headEnd/>
            <a:tailEnd/>
          </a:ln>
        </p:spPr>
      </p:pic>
      <p:pic>
        <p:nvPicPr>
          <p:cNvPr id="25" name="Picture 3"/>
          <p:cNvPicPr>
            <a:picLocks noChangeAspect="1"/>
          </p:cNvPicPr>
          <p:nvPr/>
        </p:nvPicPr>
        <p:blipFill rotWithShape="1">
          <a:blip r:embed="rId8"/>
          <a:srcRect l="13859" t="51188" r="13596" b="6398"/>
          <a:stretch/>
        </p:blipFill>
        <p:spPr bwMode="auto">
          <a:xfrm>
            <a:off x="4740384" y="2696786"/>
            <a:ext cx="1223106" cy="1349276"/>
          </a:xfrm>
          <a:prstGeom prst="rect">
            <a:avLst/>
          </a:prstGeom>
          <a:noFill/>
          <a:ln w="9525">
            <a:noFill/>
            <a:miter lim="800000"/>
            <a:headEnd/>
            <a:tailEnd/>
          </a:ln>
        </p:spPr>
      </p:pic>
      <p:grpSp>
        <p:nvGrpSpPr>
          <p:cNvPr id="11" name="Group 10"/>
          <p:cNvGrpSpPr/>
          <p:nvPr/>
        </p:nvGrpSpPr>
        <p:grpSpPr>
          <a:xfrm>
            <a:off x="3445656" y="1132951"/>
            <a:ext cx="2537963" cy="3303752"/>
            <a:chOff x="6349909" y="1132951"/>
            <a:chExt cx="2537963" cy="3303752"/>
          </a:xfrm>
        </p:grpSpPr>
        <p:sp>
          <p:nvSpPr>
            <p:cNvPr id="9" name="TextBox 8"/>
            <p:cNvSpPr txBox="1"/>
            <p:nvPr/>
          </p:nvSpPr>
          <p:spPr>
            <a:xfrm>
              <a:off x="6349909" y="1132951"/>
              <a:ext cx="1409360" cy="492443"/>
            </a:xfrm>
            <a:prstGeom prst="rect">
              <a:avLst/>
            </a:prstGeom>
            <a:noFill/>
          </p:spPr>
          <p:txBody>
            <a:bodyPr wrap="none">
              <a:spAutoFit/>
            </a:bodyPr>
            <a:lstStyle/>
            <a:p>
              <a:pPr algn="ctr">
                <a:defRPr/>
              </a:pPr>
              <a:r>
                <a:rPr lang="en-US" sz="2600" b="1" u="sng" dirty="0">
                  <a:latin typeface="+mn-lt"/>
                </a:rPr>
                <a:t>Metallic</a:t>
              </a:r>
            </a:p>
          </p:txBody>
        </p:sp>
        <p:sp>
          <p:nvSpPr>
            <p:cNvPr id="18" name="Rectangle 5"/>
            <p:cNvSpPr txBox="1">
              <a:spLocks noChangeArrowheads="1"/>
            </p:cNvSpPr>
            <p:nvPr/>
          </p:nvSpPr>
          <p:spPr>
            <a:xfrm>
              <a:off x="6349909" y="1625394"/>
              <a:ext cx="2537963" cy="1522492"/>
            </a:xfrm>
            <a:prstGeom prst="rect">
              <a:avLst/>
            </a:prstGeom>
          </p:spPr>
          <p:txBody>
            <a:bodyPr vert="horz" lIns="91440" tIns="45720" rIns="91440" bIns="45720" rtlCol="0">
              <a:noAutofit/>
            </a:bodyPr>
            <a:lstStyle>
              <a:defPPr>
                <a:defRPr lang="en-US"/>
              </a:defPPr>
              <a:lvl1pPr marL="228600" indent="-182880">
                <a:lnSpc>
                  <a:spcPct val="90000"/>
                </a:lnSpc>
                <a:spcBef>
                  <a:spcPts val="1000"/>
                </a:spcBef>
                <a:buFont typeface="Arial" panose="020B0604020202020204" pitchFamily="34" charset="0"/>
                <a:buChar char="•"/>
                <a:defRPr sz="3200"/>
              </a:lvl1pPr>
              <a:lvl2pPr marL="685800" lvl="1" indent="-182880">
                <a:lnSpc>
                  <a:spcPct val="90000"/>
                </a:lnSpc>
                <a:spcBef>
                  <a:spcPts val="500"/>
                </a:spcBef>
                <a:buFont typeface="Arial" panose="020B0604020202020204" pitchFamily="34" charset="0"/>
                <a:buChar char="•"/>
                <a:defRPr sz="3000"/>
              </a:lvl2pPr>
              <a:lvl3pPr marL="1143000" indent="-228600">
                <a:lnSpc>
                  <a:spcPct val="90000"/>
                </a:lnSpc>
                <a:spcBef>
                  <a:spcPts val="500"/>
                </a:spcBef>
                <a:buFont typeface="Arial" panose="020B0604020202020204" pitchFamily="34" charset="0"/>
                <a:buChar char="•"/>
              </a:lvl3pPr>
              <a:lvl4pPr marL="1600200" indent="-228600">
                <a:lnSpc>
                  <a:spcPct val="90000"/>
                </a:lnSpc>
                <a:spcBef>
                  <a:spcPts val="500"/>
                </a:spcBef>
                <a:buFont typeface="Arial" panose="020B0604020202020204" pitchFamily="34" charset="0"/>
                <a:buChar char="•"/>
                <a:defRPr sz="1600"/>
              </a:lvl4pPr>
              <a:lvl5pPr marL="2057400" indent="-228600">
                <a:lnSpc>
                  <a:spcPct val="90000"/>
                </a:lnSpc>
                <a:spcBef>
                  <a:spcPts val="500"/>
                </a:spcBef>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defRPr sz="1600"/>
              </a:lvl6pPr>
              <a:lvl7pPr marL="2971800" indent="-228600">
                <a:lnSpc>
                  <a:spcPct val="90000"/>
                </a:lnSpc>
                <a:spcBef>
                  <a:spcPts val="500"/>
                </a:spcBef>
                <a:buFont typeface="Arial" panose="020B0604020202020204" pitchFamily="34" charset="0"/>
                <a:buChar char="•"/>
                <a:defRPr sz="1600"/>
              </a:lvl7pPr>
              <a:lvl8pPr marL="3429000" indent="-228600">
                <a:lnSpc>
                  <a:spcPct val="90000"/>
                </a:lnSpc>
                <a:spcBef>
                  <a:spcPts val="500"/>
                </a:spcBef>
                <a:buFont typeface="Arial" panose="020B0604020202020204" pitchFamily="34" charset="0"/>
                <a:buChar char="•"/>
                <a:defRPr sz="1600"/>
              </a:lvl8pPr>
              <a:lvl9pPr marL="3886200" indent="-228600">
                <a:lnSpc>
                  <a:spcPct val="90000"/>
                </a:lnSpc>
                <a:spcBef>
                  <a:spcPts val="500"/>
                </a:spcBef>
                <a:buFont typeface="Arial" panose="020B0604020202020204" pitchFamily="34" charset="0"/>
                <a:buChar char="•"/>
                <a:defRPr sz="1600"/>
              </a:lvl9pPr>
            </a:lstStyle>
            <a:p>
              <a:r>
                <a:rPr lang="en-US" sz="1800" b="1" dirty="0"/>
                <a:t>Metals</a:t>
              </a:r>
            </a:p>
            <a:p>
              <a:r>
                <a:rPr lang="en-US" sz="1800" dirty="0"/>
                <a:t>Metal atoms sharing a sea of electrons</a:t>
              </a:r>
            </a:p>
          </p:txBody>
        </p:sp>
        <p:grpSp>
          <p:nvGrpSpPr>
            <p:cNvPr id="4" name="Group 3"/>
            <p:cNvGrpSpPr/>
            <p:nvPr/>
          </p:nvGrpSpPr>
          <p:grpSpPr>
            <a:xfrm>
              <a:off x="6506435" y="2679821"/>
              <a:ext cx="1011382" cy="1756882"/>
              <a:chOff x="6506435" y="2679821"/>
              <a:chExt cx="1011382" cy="1756882"/>
            </a:xfrm>
          </p:grpSpPr>
          <p:pic>
            <p:nvPicPr>
              <p:cNvPr id="34824" name="Picture 3"/>
              <p:cNvPicPr>
                <a:picLocks noChangeAspect="1"/>
              </p:cNvPicPr>
              <p:nvPr/>
            </p:nvPicPr>
            <p:blipFill rotWithShape="1">
              <a:blip r:embed="rId8"/>
              <a:srcRect l="21586" r="22010" b="59224"/>
              <a:stretch/>
            </p:blipFill>
            <p:spPr bwMode="auto">
              <a:xfrm>
                <a:off x="6506435" y="2679821"/>
                <a:ext cx="1011382" cy="1379561"/>
              </a:xfrm>
              <a:prstGeom prst="rect">
                <a:avLst/>
              </a:prstGeom>
              <a:noFill/>
              <a:ln w="9525">
                <a:noFill/>
                <a:miter lim="800000"/>
                <a:headEnd/>
                <a:tailEnd/>
              </a:ln>
            </p:spPr>
          </p:pic>
          <p:sp>
            <p:nvSpPr>
              <p:cNvPr id="20" name="TextBox 19"/>
              <p:cNvSpPr txBox="1"/>
              <p:nvPr/>
            </p:nvSpPr>
            <p:spPr>
              <a:xfrm>
                <a:off x="6736318" y="4036593"/>
                <a:ext cx="527709" cy="400110"/>
              </a:xfrm>
              <a:prstGeom prst="rect">
                <a:avLst/>
              </a:prstGeom>
              <a:noFill/>
            </p:spPr>
            <p:txBody>
              <a:bodyPr wrap="none">
                <a:spAutoFit/>
              </a:bodyPr>
              <a:lstStyle/>
              <a:p>
                <a:pPr algn="ctr">
                  <a:defRPr/>
                </a:pPr>
                <a:r>
                  <a:rPr lang="en-US" sz="2000" dirty="0">
                    <a:latin typeface="+mn-lt"/>
                  </a:rPr>
                  <a:t>Cu</a:t>
                </a:r>
              </a:p>
            </p:txBody>
          </p:sp>
        </p:grpSp>
      </p:grpSp>
      <p:sp>
        <p:nvSpPr>
          <p:cNvPr id="22" name="Rectangle 21"/>
          <p:cNvSpPr/>
          <p:nvPr/>
        </p:nvSpPr>
        <p:spPr>
          <a:xfrm>
            <a:off x="6433683" y="2170342"/>
            <a:ext cx="1973340" cy="646331"/>
          </a:xfrm>
          <a:prstGeom prst="rect">
            <a:avLst/>
          </a:prstGeom>
        </p:spPr>
        <p:txBody>
          <a:bodyPr wrap="square">
            <a:spAutoFit/>
          </a:bodyPr>
          <a:lstStyle/>
          <a:p>
            <a:pPr marL="285750" lvl="0" indent="-285750">
              <a:buFont typeface="Arial" panose="020B0604020202020204" pitchFamily="34" charset="0"/>
              <a:buChar char="•"/>
            </a:pPr>
            <a:r>
              <a:rPr lang="en-US" b="1" dirty="0">
                <a:solidFill>
                  <a:prstClr val="black"/>
                </a:solidFill>
              </a:rPr>
              <a:t>2 Nonmetals </a:t>
            </a:r>
            <a:br>
              <a:rPr lang="en-US" dirty="0">
                <a:solidFill>
                  <a:prstClr val="black"/>
                </a:solidFill>
              </a:rPr>
            </a:br>
            <a:r>
              <a:rPr lang="en-US" dirty="0">
                <a:solidFill>
                  <a:prstClr val="white">
                    <a:lumMod val="65000"/>
                  </a:prstClr>
                </a:solidFill>
              </a:rPr>
              <a:t>(or metalloids)</a:t>
            </a:r>
            <a:endParaRPr lang="en-US" dirty="0">
              <a:solidFill>
                <a:prstClr val="black"/>
              </a:solidFill>
            </a:endParaRPr>
          </a:p>
        </p:txBody>
      </p:sp>
    </p:spTree>
    <p:extLst>
      <p:ext uri="{BB962C8B-B14F-4D97-AF65-F5344CB8AC3E}">
        <p14:creationId xmlns:p14="http://schemas.microsoft.com/office/powerpoint/2010/main" val="329023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animEffect transition="in" filter="fade">
                                      <p:cBhvr>
                                        <p:cTn id="7" dur="500"/>
                                        <p:tgtEl>
                                          <p:spTgt spid="1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fade">
                                      <p:cBhvr>
                                        <p:cTn id="17" dur="500"/>
                                        <p:tgtEl>
                                          <p:spTgt spid="2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Ionic Bonds</a:t>
            </a:r>
            <a:br>
              <a:rPr lang="en-US" dirty="0"/>
            </a:br>
            <a:r>
              <a:rPr lang="en-US" sz="1400" cap="none" dirty="0"/>
              <a:t>FOR THOSE ATOMS WHO DON’T LIKE TO SHARE</a:t>
            </a:r>
            <a:endParaRPr lang="en-US" sz="4400"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13</a:t>
            </a:fld>
            <a:endParaRPr lang="en-US" dirty="0"/>
          </a:p>
        </p:txBody>
      </p:sp>
      <p:sp>
        <p:nvSpPr>
          <p:cNvPr id="5" name="Rectangle 2"/>
          <p:cNvSpPr>
            <a:spLocks noChangeArrowheads="1"/>
          </p:cNvSpPr>
          <p:nvPr/>
        </p:nvSpPr>
        <p:spPr bwMode="auto">
          <a:xfrm>
            <a:off x="0" y="1523735"/>
            <a:ext cx="5715000" cy="982784"/>
          </a:xfrm>
          <a:prstGeom prst="rect">
            <a:avLst/>
          </a:prstGeom>
          <a:noFill/>
          <a:ln w="12700">
            <a:noFill/>
            <a:miter lim="800000"/>
            <a:headEnd/>
            <a:tailEnd/>
          </a:ln>
          <a:effectLst/>
        </p:spPr>
        <p:txBody>
          <a:bodyPr wrap="none" anchor="ctr"/>
          <a:lstStyle/>
          <a:p>
            <a:pPr algn="ctr">
              <a:defRPr/>
            </a:pPr>
            <a:r>
              <a:rPr lang="en-US" sz="3200" dirty="0">
                <a:solidFill>
                  <a:schemeClr val="hlink"/>
                </a:solidFill>
              </a:rPr>
              <a:t>CATION</a:t>
            </a:r>
            <a:r>
              <a:rPr lang="en-US" sz="3200" dirty="0"/>
              <a:t> + </a:t>
            </a:r>
            <a:r>
              <a:rPr lang="en-US" sz="3200" dirty="0">
                <a:solidFill>
                  <a:schemeClr val="accent2"/>
                </a:solidFill>
              </a:rPr>
              <a:t>ANION</a:t>
            </a:r>
            <a:r>
              <a:rPr lang="en-US" sz="3200" dirty="0"/>
              <a:t> ⟶ SALT</a:t>
            </a:r>
          </a:p>
          <a:p>
            <a:pPr algn="r">
              <a:defRPr/>
            </a:pPr>
            <a:r>
              <a:rPr lang="en-US" sz="2400" dirty="0">
                <a:solidFill>
                  <a:schemeClr val="hlink"/>
                </a:solidFill>
              </a:rPr>
              <a:t>metal</a:t>
            </a:r>
            <a:r>
              <a:rPr lang="en-US" sz="2400" dirty="0"/>
              <a:t> +  </a:t>
            </a:r>
            <a:r>
              <a:rPr lang="en-US" sz="2400" dirty="0">
                <a:solidFill>
                  <a:schemeClr val="accent2"/>
                </a:solidFill>
              </a:rPr>
              <a:t>nonmetal </a:t>
            </a:r>
            <a:r>
              <a:rPr lang="en-US" sz="2400" dirty="0"/>
              <a:t> ⟶  SALT       </a:t>
            </a:r>
          </a:p>
        </p:txBody>
      </p:sp>
      <p:sp>
        <p:nvSpPr>
          <p:cNvPr id="6" name="Rectangle 5"/>
          <p:cNvSpPr txBox="1">
            <a:spLocks noChangeArrowheads="1"/>
          </p:cNvSpPr>
          <p:nvPr/>
        </p:nvSpPr>
        <p:spPr>
          <a:xfrm>
            <a:off x="4572000" y="6179126"/>
            <a:ext cx="3505200" cy="3740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a:lnSpc>
                <a:spcPct val="80000"/>
              </a:lnSpc>
              <a:buFontTx/>
              <a:buNone/>
              <a:defRPr/>
            </a:pPr>
            <a:r>
              <a:rPr lang="en-US" dirty="0">
                <a:latin typeface="Arial" charset="0"/>
                <a:ea typeface="ＭＳ Ｐゴシック" charset="0"/>
                <a:cs typeface="ＭＳ Ｐゴシック" charset="0"/>
              </a:rPr>
              <a:t>Na</a:t>
            </a:r>
            <a:r>
              <a:rPr lang="en-US" baseline="30000" dirty="0">
                <a:latin typeface="Arial" charset="0"/>
                <a:ea typeface="ＭＳ Ｐゴシック" charset="0"/>
                <a:cs typeface="ＭＳ Ｐゴシック" charset="0"/>
              </a:rPr>
              <a:t>+</a:t>
            </a:r>
            <a:r>
              <a:rPr lang="en-US" dirty="0">
                <a:latin typeface="Arial" charset="0"/>
                <a:ea typeface="ＭＳ Ｐゴシック" charset="0"/>
                <a:cs typeface="ＭＳ Ｐゴシック" charset="0"/>
              </a:rPr>
              <a:t> + Cl</a:t>
            </a:r>
            <a:r>
              <a:rPr lang="en-US" baseline="30000" dirty="0">
                <a:latin typeface="Arial" charset="0"/>
                <a:ea typeface="ＭＳ Ｐゴシック" charset="0"/>
                <a:cs typeface="ＭＳ Ｐゴシック" charset="0"/>
              </a:rPr>
              <a:t>– </a:t>
            </a:r>
            <a:r>
              <a:rPr lang="en-US" dirty="0">
                <a:latin typeface="Wingdings 3" charset="0"/>
                <a:ea typeface="ＭＳ Ｐゴシック" charset="0"/>
                <a:cs typeface="ＭＳ Ｐゴシック" charset="0"/>
              </a:rPr>
              <a:t>g</a:t>
            </a:r>
            <a:r>
              <a:rPr lang="en-US" dirty="0">
                <a:latin typeface="Arial" charset="0"/>
                <a:ea typeface="ＭＳ Ｐゴシック" charset="0"/>
                <a:cs typeface="ＭＳ Ｐゴシック" charset="0"/>
              </a:rPr>
              <a:t> </a:t>
            </a:r>
            <a:r>
              <a:rPr lang="en-US" dirty="0" err="1">
                <a:latin typeface="Arial" charset="0"/>
                <a:ea typeface="ＭＳ Ｐゴシック" charset="0"/>
                <a:cs typeface="ＭＳ Ｐゴシック" charset="0"/>
              </a:rPr>
              <a:t>NaCl</a:t>
            </a:r>
            <a:endParaRPr lang="en-US" dirty="0">
              <a:solidFill>
                <a:schemeClr val="tx2"/>
              </a:solidFill>
              <a:effectLst>
                <a:outerShdw blurRad="38100" dist="38100" dir="2700000" algn="tl">
                  <a:srgbClr val="FFFFFF"/>
                </a:outerShdw>
              </a:effectLst>
              <a:latin typeface="Arial" charset="0"/>
              <a:ea typeface="ＭＳ Ｐゴシック" charset="0"/>
              <a:cs typeface="ＭＳ Ｐゴシック" charset="0"/>
            </a:endParaRPr>
          </a:p>
        </p:txBody>
      </p:sp>
      <p:pic>
        <p:nvPicPr>
          <p:cNvPr id="7" name="Picture 2" descr="FIG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8528" y="2582862"/>
            <a:ext cx="6122987" cy="35199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8" name="Object 7"/>
          <p:cNvGraphicFramePr>
            <a:graphicFrameLocks noChangeAspect="1"/>
          </p:cNvGraphicFramePr>
          <p:nvPr>
            <p:extLst>
              <p:ext uri="{D42A27DB-BD31-4B8C-83A1-F6EECF244321}">
                <p14:modId xmlns:p14="http://schemas.microsoft.com/office/powerpoint/2010/main" val="546992265"/>
              </p:ext>
            </p:extLst>
          </p:nvPr>
        </p:nvGraphicFramePr>
        <p:xfrm>
          <a:off x="675540" y="2955782"/>
          <a:ext cx="1878013" cy="1057275"/>
        </p:xfrm>
        <a:graphic>
          <a:graphicData uri="http://schemas.openxmlformats.org/presentationml/2006/ole">
            <mc:AlternateContent xmlns:mc="http://schemas.openxmlformats.org/markup-compatibility/2006">
              <mc:Choice xmlns:v="urn:schemas-microsoft-com:vml" Requires="v">
                <p:oleObj name="Equation" r:id="rId4" imgW="698500" imgH="393700" progId="Equation.3">
                  <p:embed/>
                </p:oleObj>
              </mc:Choice>
              <mc:Fallback>
                <p:oleObj name="Equation" r:id="rId4" imgW="698500" imgH="393700" progId="Equation.3">
                  <p:embed/>
                  <p:pic>
                    <p:nvPicPr>
                      <p:cNvPr id="0" name=""/>
                      <p:cNvPicPr>
                        <a:picLocks noChangeAspect="1" noChangeArrowheads="1"/>
                      </p:cNvPicPr>
                      <p:nvPr/>
                    </p:nvPicPr>
                    <p:blipFill>
                      <a:blip r:embed="rId5"/>
                      <a:srcRect/>
                      <a:stretch>
                        <a:fillRect/>
                      </a:stretch>
                    </p:blipFill>
                    <p:spPr bwMode="auto">
                      <a:xfrm>
                        <a:off x="675540" y="2955782"/>
                        <a:ext cx="1878013" cy="105727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pic>
        <p:nvPicPr>
          <p:cNvPr id="9" name="Picture 6"/>
          <p:cNvPicPr>
            <a:picLocks noChangeArrowheads="1"/>
          </p:cNvPicPr>
          <p:nvPr/>
        </p:nvPicPr>
        <p:blipFill>
          <a:blip r:embed="rId6"/>
          <a:srcRect/>
          <a:stretch>
            <a:fillRect/>
          </a:stretch>
        </p:blipFill>
        <p:spPr bwMode="auto">
          <a:xfrm>
            <a:off x="329695" y="4089400"/>
            <a:ext cx="2792413" cy="2463800"/>
          </a:xfrm>
          <a:prstGeom prst="rect">
            <a:avLst/>
          </a:prstGeom>
          <a:noFill/>
          <a:ln w="12700">
            <a:solidFill>
              <a:schemeClr val="tx1"/>
            </a:solidFill>
            <a:miter lim="800000"/>
            <a:headEnd/>
            <a:tailEnd/>
          </a:ln>
          <a:effectLst>
            <a:outerShdw blurRad="63500" dist="107763" dir="2700000" algn="ctr" rotWithShape="0">
              <a:schemeClr val="bg2">
                <a:alpha val="74998"/>
              </a:schemeClr>
            </a:outerShdw>
          </a:effectLst>
        </p:spPr>
      </p:pic>
      <p:sp>
        <p:nvSpPr>
          <p:cNvPr id="10" name="Rectangle 9"/>
          <p:cNvSpPr/>
          <p:nvPr/>
        </p:nvSpPr>
        <p:spPr>
          <a:xfrm>
            <a:off x="842828" y="6197722"/>
            <a:ext cx="1710725" cy="369332"/>
          </a:xfrm>
          <a:prstGeom prst="rect">
            <a:avLst/>
          </a:prstGeom>
        </p:spPr>
        <p:txBody>
          <a:bodyPr wrap="none">
            <a:spAutoFit/>
          </a:bodyPr>
          <a:lstStyle/>
          <a:p>
            <a:r>
              <a:rPr lang="en-US" dirty="0">
                <a:solidFill>
                  <a:schemeClr val="bg1"/>
                </a:solidFill>
              </a:rPr>
              <a:t>Crystal Lattice </a:t>
            </a:r>
          </a:p>
        </p:txBody>
      </p:sp>
    </p:spTree>
    <p:extLst>
      <p:ext uri="{BB962C8B-B14F-4D97-AF65-F5344CB8AC3E}">
        <p14:creationId xmlns:p14="http://schemas.microsoft.com/office/powerpoint/2010/main" val="16812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3">
            <a:extLst>
              <a:ext uri="{FF2B5EF4-FFF2-40B4-BE49-F238E27FC236}">
                <a16:creationId xmlns:a16="http://schemas.microsoft.com/office/drawing/2014/main" id="{16ED6E5F-6474-40DC-B361-10D1AB53EC24}"/>
              </a:ext>
            </a:extLst>
          </p:cNvPr>
          <p:cNvPicPr>
            <a:picLocks noChangeAspect="1"/>
          </p:cNvPicPr>
          <p:nvPr/>
        </p:nvPicPr>
        <p:blipFill rotWithShape="1">
          <a:blip r:embed="rId3"/>
          <a:srcRect l="13859" t="51188" r="13596" b="6398"/>
          <a:stretch/>
        </p:blipFill>
        <p:spPr bwMode="auto">
          <a:xfrm>
            <a:off x="342523" y="1970179"/>
            <a:ext cx="2255923" cy="2488633"/>
          </a:xfrm>
          <a:prstGeom prst="rect">
            <a:avLst/>
          </a:prstGeom>
          <a:noFill/>
          <a:ln w="9525">
            <a:noFill/>
            <a:miter lim="800000"/>
            <a:headEnd/>
            <a:tailEnd/>
          </a:ln>
        </p:spPr>
      </p:pic>
      <p:grpSp>
        <p:nvGrpSpPr>
          <p:cNvPr id="5" name="Group 4">
            <a:extLst>
              <a:ext uri="{FF2B5EF4-FFF2-40B4-BE49-F238E27FC236}">
                <a16:creationId xmlns:a16="http://schemas.microsoft.com/office/drawing/2014/main" id="{E20E98E5-3568-49D1-B8DF-62C4B4EA41A3}"/>
              </a:ext>
            </a:extLst>
          </p:cNvPr>
          <p:cNvGrpSpPr/>
          <p:nvPr/>
        </p:nvGrpSpPr>
        <p:grpSpPr>
          <a:xfrm>
            <a:off x="2677729" y="1986112"/>
            <a:ext cx="2792413" cy="2477654"/>
            <a:chOff x="329695" y="4089400"/>
            <a:chExt cx="2792413" cy="2477654"/>
          </a:xfrm>
        </p:grpSpPr>
        <p:pic>
          <p:nvPicPr>
            <p:cNvPr id="18" name="Picture 6">
              <a:extLst>
                <a:ext uri="{FF2B5EF4-FFF2-40B4-BE49-F238E27FC236}">
                  <a16:creationId xmlns:a16="http://schemas.microsoft.com/office/drawing/2014/main" id="{5117ADA3-37C3-425D-8672-2770F7E6F032}"/>
                </a:ext>
              </a:extLst>
            </p:cNvPr>
            <p:cNvPicPr>
              <a:picLocks noChangeArrowheads="1"/>
            </p:cNvPicPr>
            <p:nvPr/>
          </p:nvPicPr>
          <p:blipFill>
            <a:blip r:embed="rId4"/>
            <a:srcRect/>
            <a:stretch>
              <a:fillRect/>
            </a:stretch>
          </p:blipFill>
          <p:spPr bwMode="auto">
            <a:xfrm>
              <a:off x="329695" y="4089400"/>
              <a:ext cx="2792413" cy="2463800"/>
            </a:xfrm>
            <a:prstGeom prst="rect">
              <a:avLst/>
            </a:prstGeom>
            <a:noFill/>
            <a:ln w="12700">
              <a:solidFill>
                <a:schemeClr val="tx1"/>
              </a:solidFill>
              <a:miter lim="800000"/>
              <a:headEnd/>
              <a:tailEnd/>
            </a:ln>
            <a:effectLst>
              <a:outerShdw blurRad="63500" dist="107763" dir="2700000" algn="ctr" rotWithShape="0">
                <a:schemeClr val="bg2">
                  <a:alpha val="74998"/>
                </a:schemeClr>
              </a:outerShdw>
            </a:effectLst>
          </p:spPr>
        </p:pic>
        <p:sp>
          <p:nvSpPr>
            <p:cNvPr id="19" name="Rectangle 18">
              <a:extLst>
                <a:ext uri="{FF2B5EF4-FFF2-40B4-BE49-F238E27FC236}">
                  <a16:creationId xmlns:a16="http://schemas.microsoft.com/office/drawing/2014/main" id="{EE32CC02-438D-4178-8CF5-1F8738980A0C}"/>
                </a:ext>
              </a:extLst>
            </p:cNvPr>
            <p:cNvSpPr/>
            <p:nvPr/>
          </p:nvSpPr>
          <p:spPr>
            <a:xfrm>
              <a:off x="842828" y="6197722"/>
              <a:ext cx="1710725" cy="369332"/>
            </a:xfrm>
            <a:prstGeom prst="rect">
              <a:avLst/>
            </a:prstGeom>
          </p:spPr>
          <p:txBody>
            <a:bodyPr wrap="none">
              <a:spAutoFit/>
            </a:bodyPr>
            <a:lstStyle/>
            <a:p>
              <a:r>
                <a:rPr lang="en-US" dirty="0">
                  <a:solidFill>
                    <a:schemeClr val="bg1"/>
                  </a:solidFill>
                </a:rPr>
                <a:t>Crystal Lattice </a:t>
              </a:r>
            </a:p>
          </p:txBody>
        </p:sp>
      </p:grpSp>
      <p:sp>
        <p:nvSpPr>
          <p:cNvPr id="2" name="Title 1"/>
          <p:cNvSpPr>
            <a:spLocks noGrp="1"/>
          </p:cNvSpPr>
          <p:nvPr>
            <p:ph type="title"/>
          </p:nvPr>
        </p:nvSpPr>
        <p:spPr/>
        <p:txBody>
          <a:bodyPr/>
          <a:lstStyle/>
          <a:p>
            <a:r>
              <a:rPr lang="en-US" dirty="0"/>
              <a:t>Lattice Energy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890680" y="1781542"/>
                <a:ext cx="3028467" cy="2820896"/>
              </a:xfrm>
            </p:spPr>
            <p:txBody>
              <a:bodyPr>
                <a:normAutofit fontScale="92500"/>
              </a:bodyPr>
              <a:lstStyle/>
              <a:p>
                <a:r>
                  <a:rPr lang="en-US" dirty="0"/>
                  <a:t>Crystal Lattice = ordered, 3D array of particles</a:t>
                </a:r>
              </a:p>
              <a:p>
                <a:r>
                  <a:rPr lang="en-US" dirty="0"/>
                  <a:t>Lattice energy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energy required to break apart the lattice (separate the ions) </a:t>
                </a:r>
                <a:r>
                  <a:rPr lang="en-US" dirty="0">
                    <a:sym typeface="Wingdings" panose="05000000000000000000" pitchFamily="2" charset="2"/>
                  </a:rPr>
                  <a:t> A measure of how deep the energy well is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890680" y="1781542"/>
                <a:ext cx="3028467" cy="2820896"/>
              </a:xfrm>
              <a:blipFill>
                <a:blip r:embed="rId6"/>
                <a:stretch>
                  <a:fillRect l="-1811" t="-1944" r="-161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63C103D7-7FC1-4B9F-A526-BC88A3C4AA47}" type="slidenum">
              <a:rPr lang="en-US" smtClean="0"/>
              <a:pPr/>
              <a:t>14</a:t>
            </a:fld>
            <a:endParaRPr lang="en-US" dirty="0"/>
          </a:p>
        </p:txBody>
      </p:sp>
      <p:pic>
        <p:nvPicPr>
          <p:cNvPr id="7" name="Picture 4" descr="08_T02"/>
          <p:cNvPicPr>
            <a:picLocks noChangeAspect="1" noChangeArrowheads="1"/>
          </p:cNvPicPr>
          <p:nvPr/>
        </p:nvPicPr>
        <p:blipFill>
          <a:blip r:embed="rId7"/>
          <a:srcRect t="10510" b="4504"/>
          <a:stretch>
            <a:fillRect/>
          </a:stretch>
        </p:blipFill>
        <p:spPr>
          <a:xfrm>
            <a:off x="257671" y="1463851"/>
            <a:ext cx="5451585" cy="3130427"/>
          </a:xfrm>
          <a:prstGeom prst="rect">
            <a:avLst/>
          </a:prstGeom>
        </p:spPr>
      </p:pic>
      <p:sp>
        <p:nvSpPr>
          <p:cNvPr id="8" name="Content Placeholder 2"/>
          <p:cNvSpPr txBox="1">
            <a:spLocks/>
          </p:cNvSpPr>
          <p:nvPr/>
        </p:nvSpPr>
        <p:spPr>
          <a:xfrm>
            <a:off x="257671" y="4849605"/>
            <a:ext cx="8291969" cy="165504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n-US" dirty="0"/>
              <a:t>What is the trend in lattice energy going down a group?</a:t>
            </a:r>
          </a:p>
          <a:p>
            <a:pPr lvl="1"/>
            <a:r>
              <a:rPr lang="en-US" dirty="0"/>
              <a:t>Decreases due to increasing ionic radius (greater </a:t>
            </a:r>
            <a:r>
              <a:rPr lang="en-US" i="1" dirty="0"/>
              <a:t>d</a:t>
            </a:r>
            <a:r>
              <a:rPr lang="en-US" dirty="0"/>
              <a:t>)</a:t>
            </a:r>
          </a:p>
          <a:p>
            <a:pPr lvl="1"/>
            <a:endParaRPr lang="en-US" dirty="0"/>
          </a:p>
          <a:p>
            <a:r>
              <a:rPr lang="en-US" dirty="0"/>
              <a:t>Why the difference between Group 1 and Group 2?</a:t>
            </a:r>
          </a:p>
          <a:p>
            <a:pPr lvl="1"/>
            <a:r>
              <a:rPr lang="en-US" dirty="0"/>
              <a:t>More charge (</a:t>
            </a:r>
            <a:r>
              <a:rPr lang="en-US" i="1" dirty="0"/>
              <a:t>Q</a:t>
            </a:r>
            <a:r>
              <a:rPr lang="en-US" dirty="0"/>
              <a:t>) = more attraction</a:t>
            </a:r>
          </a:p>
        </p:txBody>
      </p:sp>
      <p:graphicFrame>
        <p:nvGraphicFramePr>
          <p:cNvPr id="9" name="Object 8"/>
          <p:cNvGraphicFramePr>
            <a:graphicFrameLocks noChangeAspect="1"/>
          </p:cNvGraphicFramePr>
          <p:nvPr>
            <p:extLst>
              <p:ext uri="{D42A27DB-BD31-4B8C-83A1-F6EECF244321}">
                <p14:modId xmlns:p14="http://schemas.microsoft.com/office/powerpoint/2010/main" val="1794426685"/>
              </p:ext>
            </p:extLst>
          </p:nvPr>
        </p:nvGraphicFramePr>
        <p:xfrm>
          <a:off x="6816942" y="5148490"/>
          <a:ext cx="1878013" cy="1057275"/>
        </p:xfrm>
        <a:graphic>
          <a:graphicData uri="http://schemas.openxmlformats.org/presentationml/2006/ole">
            <mc:AlternateContent xmlns:mc="http://schemas.openxmlformats.org/markup-compatibility/2006">
              <mc:Choice xmlns:v="urn:schemas-microsoft-com:vml" Requires="v">
                <p:oleObj name="Equation" r:id="rId8" imgW="698500" imgH="393700" progId="Equation.3">
                  <p:embed/>
                </p:oleObj>
              </mc:Choice>
              <mc:Fallback>
                <p:oleObj name="Equation" r:id="rId8" imgW="698500" imgH="393700" progId="Equation.3">
                  <p:embed/>
                  <p:pic>
                    <p:nvPicPr>
                      <p:cNvPr id="0" name=""/>
                      <p:cNvPicPr>
                        <a:picLocks noChangeAspect="1" noChangeArrowheads="1"/>
                      </p:cNvPicPr>
                      <p:nvPr/>
                    </p:nvPicPr>
                    <p:blipFill>
                      <a:blip r:embed="rId9"/>
                      <a:srcRect/>
                      <a:stretch>
                        <a:fillRect/>
                      </a:stretch>
                    </p:blipFill>
                    <p:spPr bwMode="auto">
                      <a:xfrm>
                        <a:off x="6816942" y="5148490"/>
                        <a:ext cx="1878013" cy="1057275"/>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0" name="Rectangle 9"/>
          <p:cNvSpPr/>
          <p:nvPr/>
        </p:nvSpPr>
        <p:spPr>
          <a:xfrm>
            <a:off x="263240" y="2852960"/>
            <a:ext cx="1828800" cy="182880"/>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 name="Rectangle 11"/>
          <p:cNvSpPr/>
          <p:nvPr/>
        </p:nvSpPr>
        <p:spPr>
          <a:xfrm>
            <a:off x="257671" y="2247805"/>
            <a:ext cx="1828800" cy="182880"/>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3" name="Rectangle 12"/>
          <p:cNvSpPr/>
          <p:nvPr/>
        </p:nvSpPr>
        <p:spPr>
          <a:xfrm>
            <a:off x="257671" y="3679339"/>
            <a:ext cx="1828800" cy="182880"/>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 name="Rectangle 13"/>
          <p:cNvSpPr/>
          <p:nvPr/>
        </p:nvSpPr>
        <p:spPr>
          <a:xfrm>
            <a:off x="257671" y="4085044"/>
            <a:ext cx="1828800" cy="182880"/>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5" name="Rectangle 14"/>
          <p:cNvSpPr/>
          <p:nvPr/>
        </p:nvSpPr>
        <p:spPr>
          <a:xfrm>
            <a:off x="3019461" y="2023360"/>
            <a:ext cx="1828800" cy="201168"/>
          </a:xfrm>
          <a:prstGeom prst="rect">
            <a:avLst/>
          </a:prstGeom>
          <a:noFill/>
          <a:ln>
            <a:solidFill>
              <a:srgbClr val="0000FF"/>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6" name="Rectangle 15"/>
          <p:cNvSpPr/>
          <p:nvPr/>
        </p:nvSpPr>
        <p:spPr>
          <a:xfrm>
            <a:off x="3019461" y="2238383"/>
            <a:ext cx="1828800" cy="201168"/>
          </a:xfrm>
          <a:prstGeom prst="rect">
            <a:avLst/>
          </a:prstGeom>
          <a:noFill/>
          <a:ln>
            <a:solidFill>
              <a:srgbClr val="0000FF"/>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44064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500"/>
                                        <p:tgtEl>
                                          <p:spTgt spid="8">
                                            <p:txEl>
                                              <p:pRg st="0" end="0"/>
                                            </p:txEl>
                                          </p:spTgt>
                                        </p:tgtEl>
                                      </p:cBhvr>
                                    </p:animEffect>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1500"/>
                            </p:stCondLst>
                            <p:childTnLst>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20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500"/>
                                        <p:tgtEl>
                                          <p:spTgt spid="9"/>
                                        </p:tgtEl>
                                      </p:cBhvr>
                                    </p:animEffect>
                                  </p:childTnLst>
                                </p:cTn>
                              </p:par>
                            </p:childTnLst>
                          </p:cTn>
                        </p:par>
                        <p:par>
                          <p:cTn id="45" fill="hold">
                            <p:stCondLst>
                              <p:cond delay="500"/>
                            </p:stCondLst>
                            <p:childTnLst>
                              <p:par>
                                <p:cTn id="46" presetID="10" presetClass="entr" presetSubtype="0" fill="hold" nodeType="afterEffect">
                                  <p:stCondLst>
                                    <p:cond delay="0"/>
                                  </p:stCondLst>
                                  <p:childTnLst>
                                    <p:set>
                                      <p:cBhvr>
                                        <p:cTn id="47" dur="1" fill="hold">
                                          <p:stCondLst>
                                            <p:cond delay="0"/>
                                          </p:stCondLst>
                                        </p:cTn>
                                        <p:tgtEl>
                                          <p:spTgt spid="8">
                                            <p:txEl>
                                              <p:pRg st="1" end="1"/>
                                            </p:txEl>
                                          </p:spTgt>
                                        </p:tgtEl>
                                        <p:attrNameLst>
                                          <p:attrName>style.visibility</p:attrName>
                                        </p:attrNameLst>
                                      </p:cBhvr>
                                      <p:to>
                                        <p:strVal val="visible"/>
                                      </p:to>
                                    </p:set>
                                    <p:animEffect transition="in" filter="fade">
                                      <p:cBhvr>
                                        <p:cTn id="48" dur="500"/>
                                        <p:tgtEl>
                                          <p:spTgt spid="8">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8">
                                            <p:txEl>
                                              <p:pRg st="3" end="3"/>
                                            </p:txEl>
                                          </p:spTgt>
                                        </p:tgtEl>
                                        <p:attrNameLst>
                                          <p:attrName>style.visibility</p:attrName>
                                        </p:attrNameLst>
                                      </p:cBhvr>
                                      <p:to>
                                        <p:strVal val="visible"/>
                                      </p:to>
                                    </p:set>
                                    <p:animEffect transition="in" filter="fade">
                                      <p:cBhvr>
                                        <p:cTn id="53" dur="500"/>
                                        <p:tgtEl>
                                          <p:spTgt spid="8">
                                            <p:txEl>
                                              <p:pRg st="3" end="3"/>
                                            </p:txEl>
                                          </p:spTgt>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par>
                          <p:cTn id="58" fill="hold">
                            <p:stCondLst>
                              <p:cond delay="1000"/>
                            </p:stCondLst>
                            <p:childTnLst>
                              <p:par>
                                <p:cTn id="59" presetID="10" presetClass="entr" presetSubtype="0"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8">
                                            <p:txEl>
                                              <p:pRg st="4" end="4"/>
                                            </p:txEl>
                                          </p:spTgt>
                                        </p:tgtEl>
                                        <p:attrNameLst>
                                          <p:attrName>style.visibility</p:attrName>
                                        </p:attrNameLst>
                                      </p:cBhvr>
                                      <p:to>
                                        <p:strVal val="visible"/>
                                      </p:to>
                                    </p:set>
                                    <p:animEffect transition="in" filter="fade">
                                      <p:cBhvr>
                                        <p:cTn id="66"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3" grpId="0" animBg="1"/>
      <p:bldP spid="14" grpId="0" animBg="1"/>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274321" y="4041189"/>
            <a:ext cx="1938302" cy="400162"/>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81922" name="Rectangle 1027"/>
          <p:cNvSpPr>
            <a:spLocks noGrp="1" noChangeArrowheads="1"/>
          </p:cNvSpPr>
          <p:nvPr>
            <p:ph type="body" idx="1"/>
          </p:nvPr>
        </p:nvSpPr>
        <p:spPr>
          <a:xfrm>
            <a:off x="505114" y="1756736"/>
            <a:ext cx="8416817" cy="4523751"/>
          </a:xfrm>
        </p:spPr>
        <p:txBody>
          <a:bodyPr>
            <a:normAutofit/>
          </a:bodyPr>
          <a:lstStyle/>
          <a:p>
            <a:pPr marL="0" indent="0">
              <a:buNone/>
              <a:defRPr/>
            </a:pPr>
            <a:r>
              <a:rPr lang="en-US" sz="2800" dirty="0">
                <a:solidFill>
                  <a:srgbClr val="000000"/>
                </a:solidFill>
              </a:rPr>
              <a:t>Which will have the greatest lattice energy?</a:t>
            </a:r>
            <a:br>
              <a:rPr lang="en-US" sz="2800" dirty="0">
                <a:solidFill>
                  <a:srgbClr val="000000"/>
                </a:solidFill>
              </a:rPr>
            </a:br>
            <a:endParaRPr lang="en-US" sz="1600" dirty="0">
              <a:solidFill>
                <a:srgbClr val="800000"/>
              </a:solidFill>
              <a:latin typeface="Arial" charset="0"/>
              <a:ea typeface="ＭＳ Ｐゴシック" charset="0"/>
              <a:cs typeface="ＭＳ Ｐゴシック" charset="0"/>
            </a:endParaRPr>
          </a:p>
          <a:p>
            <a:pPr marL="533400" indent="-533400">
              <a:buFontTx/>
              <a:buAutoNum type="alphaUcPeriod"/>
            </a:pPr>
            <a:r>
              <a:rPr lang="en-US" sz="2800" dirty="0" err="1"/>
              <a:t>KBr</a:t>
            </a:r>
            <a:endParaRPr lang="en-US" sz="2800" dirty="0"/>
          </a:p>
          <a:p>
            <a:pPr marL="533400" indent="-533400">
              <a:buFontTx/>
              <a:buAutoNum type="alphaUcPeriod"/>
            </a:pPr>
            <a:r>
              <a:rPr lang="en-US" sz="2800" dirty="0" err="1"/>
              <a:t>NaCl</a:t>
            </a:r>
            <a:endParaRPr lang="en-US" sz="2800" dirty="0"/>
          </a:p>
          <a:p>
            <a:pPr marL="533400" indent="-533400">
              <a:buFontTx/>
              <a:buAutoNum type="alphaUcPeriod"/>
            </a:pPr>
            <a:r>
              <a:rPr lang="en-US" sz="2800" dirty="0" err="1"/>
              <a:t>LiF</a:t>
            </a:r>
            <a:endParaRPr lang="en-US" sz="2800" dirty="0"/>
          </a:p>
          <a:p>
            <a:pPr marL="533400" indent="-533400">
              <a:buFontTx/>
              <a:buAutoNum type="alphaUcPeriod"/>
            </a:pPr>
            <a:r>
              <a:rPr lang="en-US" sz="2800" dirty="0" err="1"/>
              <a:t>MgO</a:t>
            </a:r>
            <a:endParaRPr lang="en-US" sz="2800" dirty="0"/>
          </a:p>
          <a:p>
            <a:pPr marL="533400" indent="-533400">
              <a:buFontTx/>
              <a:buAutoNum type="alphaUcPeriod"/>
            </a:pPr>
            <a:r>
              <a:rPr lang="en-US" sz="2800" dirty="0" err="1"/>
              <a:t>SrO</a:t>
            </a:r>
            <a:endParaRPr lang="en-US" sz="2800" dirty="0"/>
          </a:p>
          <a:p>
            <a:pPr marL="966788" lvl="1" indent="-509588">
              <a:buFontTx/>
              <a:buAutoNum type="alphaUcPeriod"/>
              <a:defRPr/>
            </a:pPr>
            <a:endParaRPr lang="en-US" sz="2800" dirty="0">
              <a:solidFill>
                <a:srgbClr val="000000"/>
              </a:solidFill>
            </a:endParaRPr>
          </a:p>
          <a:p>
            <a:pPr marL="966788" lvl="1" indent="-509588">
              <a:buFontTx/>
              <a:buAutoNum type="alphaUcPeriod"/>
              <a:defRPr/>
            </a:pPr>
            <a:endParaRPr lang="en-US" sz="2800" baseline="30000" dirty="0">
              <a:solidFill>
                <a:srgbClr val="000000"/>
              </a:solidFill>
            </a:endParaRPr>
          </a:p>
          <a:p>
            <a:pPr marL="762000" lvl="1" indent="-304800">
              <a:buFontTx/>
              <a:buAutoNum type="alphaUcPeriod"/>
              <a:defRPr/>
            </a:pPr>
            <a:endParaRPr lang="en-US" sz="2800" baseline="30000" dirty="0">
              <a:solidFill>
                <a:srgbClr val="000000"/>
              </a:solidFill>
            </a:endParaRPr>
          </a:p>
        </p:txBody>
      </p:sp>
      <p:sp>
        <p:nvSpPr>
          <p:cNvPr id="88066" name="Rectangle 1026"/>
          <p:cNvSpPr>
            <a:spLocks noGrp="1" noChangeArrowheads="1"/>
          </p:cNvSpPr>
          <p:nvPr>
            <p:ph type="title"/>
          </p:nvPr>
        </p:nvSpPr>
        <p:spPr>
          <a:xfrm>
            <a:off x="2821577" y="441523"/>
            <a:ext cx="5355771" cy="1254759"/>
          </a:xfrm>
        </p:spPr>
        <p:txBody>
          <a:bodyPr/>
          <a:lstStyle/>
          <a:p>
            <a:pPr>
              <a:defRPr/>
            </a:pPr>
            <a:r>
              <a:rPr lang="en-US" cap="none" dirty="0" err="1">
                <a:latin typeface="Comic Sans MS" charset="0"/>
                <a:ea typeface="ＭＳ Ｐゴシック" charset="0"/>
                <a:cs typeface="ＭＳ Ｐゴシック" charset="0"/>
              </a:rPr>
              <a:t>i</a:t>
            </a:r>
            <a:r>
              <a:rPr lang="en-US" dirty="0" err="1">
                <a:latin typeface="Comic Sans MS" charset="0"/>
                <a:ea typeface="ＭＳ Ｐゴシック" charset="0"/>
                <a:cs typeface="ＭＳ Ｐゴシック" charset="0"/>
              </a:rPr>
              <a:t>Clicker</a:t>
            </a:r>
            <a:r>
              <a:rPr lang="en-US" dirty="0">
                <a:latin typeface="Comic Sans MS" charset="0"/>
                <a:ea typeface="ＭＳ Ｐゴシック" charset="0"/>
                <a:cs typeface="ＭＳ Ｐゴシック" charset="0"/>
              </a:rPr>
              <a:t> Quiz</a:t>
            </a:r>
          </a:p>
        </p:txBody>
      </p:sp>
      <p:sp>
        <p:nvSpPr>
          <p:cNvPr id="5" name="Slide Number Placeholder 4"/>
          <p:cNvSpPr>
            <a:spLocks noGrp="1"/>
          </p:cNvSpPr>
          <p:nvPr>
            <p:ph type="sldNum" sz="quarter" idx="12"/>
          </p:nvPr>
        </p:nvSpPr>
        <p:spPr/>
        <p:txBody>
          <a:bodyPr/>
          <a:lstStyle/>
          <a:p>
            <a:fld id="{63C103D7-7FC1-4B9F-A526-BC88A3C4AA47}" type="slidenum">
              <a:rPr lang="en-US" smtClean="0"/>
              <a:pPr/>
              <a:t>15</a:t>
            </a:fld>
            <a:endParaRPr lang="en-US" dirty="0"/>
          </a:p>
        </p:txBody>
      </p:sp>
      <p:pic>
        <p:nvPicPr>
          <p:cNvPr id="11" name="Picture 2" descr="Student iClicker Information - Canvas | Colorado State Universit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19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056" y="381001"/>
            <a:ext cx="6377940" cy="1254759"/>
          </a:xfrm>
        </p:spPr>
        <p:txBody>
          <a:bodyPr/>
          <a:lstStyle/>
          <a:p>
            <a:r>
              <a:rPr lang="en-US" dirty="0"/>
              <a:t>Covalent bonds</a:t>
            </a:r>
            <a:br>
              <a:rPr lang="en-US" dirty="0"/>
            </a:br>
            <a:r>
              <a:rPr lang="en-US" sz="1600" dirty="0"/>
              <a:t> </a:t>
            </a:r>
            <a:endParaRPr lang="en-US" dirty="0"/>
          </a:p>
        </p:txBody>
      </p:sp>
      <p:sp>
        <p:nvSpPr>
          <p:cNvPr id="3" name="Content Placeholder 2"/>
          <p:cNvSpPr>
            <a:spLocks noGrp="1"/>
          </p:cNvSpPr>
          <p:nvPr>
            <p:ph idx="1"/>
          </p:nvPr>
        </p:nvSpPr>
        <p:spPr/>
        <p:txBody>
          <a:bodyPr/>
          <a:lstStyle/>
          <a:p>
            <a:r>
              <a:rPr lang="en-US" dirty="0"/>
              <a:t>Covalent bond = e- are shared between 2 nuclei</a:t>
            </a:r>
          </a:p>
          <a:p>
            <a:pPr lvl="1"/>
            <a:r>
              <a:rPr lang="en-US" dirty="0">
                <a:solidFill>
                  <a:srgbClr val="0000FF"/>
                </a:solidFill>
              </a:rPr>
              <a:t>0 &lt; ∆χ &lt; 0.4 = nonpolar covalent</a:t>
            </a:r>
          </a:p>
          <a:p>
            <a:pPr lvl="1"/>
            <a:r>
              <a:rPr lang="en-US" dirty="0">
                <a:solidFill>
                  <a:srgbClr val="0000FF"/>
                </a:solidFill>
              </a:rPr>
              <a:t>0.4 &lt; ∆χ &lt; 2.0 = polar covalent</a:t>
            </a:r>
          </a:p>
          <a:p>
            <a:pPr lvl="1"/>
            <a:endParaRPr lang="en-US" sz="1800" dirty="0"/>
          </a:p>
          <a:p>
            <a:endParaRPr lang="en-US"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16</a:t>
            </a:fld>
            <a:endParaRPr lang="en-US" dirty="0"/>
          </a:p>
        </p:txBody>
      </p:sp>
      <p:sp>
        <p:nvSpPr>
          <p:cNvPr id="6" name="Rectangle 5"/>
          <p:cNvSpPr/>
          <p:nvPr/>
        </p:nvSpPr>
        <p:spPr>
          <a:xfrm>
            <a:off x="4645897" y="1171278"/>
            <a:ext cx="4152099" cy="338554"/>
          </a:xfrm>
          <a:prstGeom prst="rect">
            <a:avLst/>
          </a:prstGeom>
        </p:spPr>
        <p:txBody>
          <a:bodyPr wrap="none">
            <a:spAutoFit/>
          </a:bodyPr>
          <a:lstStyle/>
          <a:p>
            <a:r>
              <a:rPr lang="en-US" sz="1600" cap="all" dirty="0">
                <a:solidFill>
                  <a:prstClr val="black"/>
                </a:solidFill>
                <a:latin typeface="Comic Sans MS"/>
                <a:ea typeface="+mj-ea"/>
                <a:cs typeface="+mj-cs"/>
              </a:rPr>
              <a:t>Some Share better than others…</a:t>
            </a:r>
            <a:endParaRPr lang="en-US" dirty="0"/>
          </a:p>
        </p:txBody>
      </p:sp>
      <p:grpSp>
        <p:nvGrpSpPr>
          <p:cNvPr id="16" name="Group 15"/>
          <p:cNvGrpSpPr/>
          <p:nvPr/>
        </p:nvGrpSpPr>
        <p:grpSpPr>
          <a:xfrm>
            <a:off x="158397" y="3082936"/>
            <a:ext cx="8963025" cy="3398838"/>
            <a:chOff x="158397" y="3082936"/>
            <a:chExt cx="8963025" cy="3398838"/>
          </a:xfrm>
        </p:grpSpPr>
        <p:grpSp>
          <p:nvGrpSpPr>
            <p:cNvPr id="9" name="Group 8"/>
            <p:cNvGrpSpPr/>
            <p:nvPr/>
          </p:nvGrpSpPr>
          <p:grpSpPr>
            <a:xfrm>
              <a:off x="158397" y="3082936"/>
              <a:ext cx="8963025" cy="3398838"/>
              <a:chOff x="158397" y="3082936"/>
              <a:chExt cx="8963025" cy="3398838"/>
            </a:xfrm>
          </p:grpSpPr>
          <p:pic>
            <p:nvPicPr>
              <p:cNvPr id="7" name="Picture 8" descr="05_T14"/>
              <p:cNvPicPr>
                <a:picLocks noChangeAspect="1" noChangeArrowheads="1"/>
              </p:cNvPicPr>
              <p:nvPr/>
            </p:nvPicPr>
            <p:blipFill>
              <a:blip r:embed="rId3">
                <a:extLst>
                  <a:ext uri="{28A0092B-C50C-407E-A947-70E740481C1C}">
                    <a14:useLocalDpi xmlns:a14="http://schemas.microsoft.com/office/drawing/2010/main" val="0"/>
                  </a:ext>
                </a:extLst>
              </a:blip>
              <a:srcRect t="8408" b="11328"/>
              <a:stretch>
                <a:fillRect/>
              </a:stretch>
            </p:blipFill>
            <p:spPr bwMode="auto">
              <a:xfrm>
                <a:off x="158397" y="3082936"/>
                <a:ext cx="8963025" cy="33988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TextBox 7"/>
              <p:cNvSpPr txBox="1"/>
              <p:nvPr/>
            </p:nvSpPr>
            <p:spPr>
              <a:xfrm>
                <a:off x="5525896" y="3268283"/>
                <a:ext cx="473622" cy="274320"/>
              </a:xfrm>
              <a:prstGeom prst="rect">
                <a:avLst/>
              </a:prstGeom>
              <a:solidFill>
                <a:srgbClr val="FCC9B2"/>
              </a:solidFill>
            </p:spPr>
            <p:txBody>
              <a:bodyPr wrap="square" rtlCol="0" anchor="ctr">
                <a:spAutoFit/>
              </a:bodyPr>
              <a:lstStyle/>
              <a:p>
                <a:r>
                  <a:rPr lang="en-US" dirty="0">
                    <a:latin typeface="Times New Roman" panose="02020603050405020304" pitchFamily="18" charset="0"/>
                    <a:cs typeface="Times New Roman" panose="02020603050405020304" pitchFamily="18" charset="0"/>
                  </a:rPr>
                  <a:t>2.0</a:t>
                </a:r>
              </a:p>
            </p:txBody>
          </p:sp>
        </p:grpSp>
        <mc:AlternateContent xmlns:mc="http://schemas.openxmlformats.org/markup-compatibility/2006" xmlns:a14="http://schemas.microsoft.com/office/drawing/2010/main">
          <mc:Choice Requires="a14">
            <p:sp>
              <p:nvSpPr>
                <p:cNvPr id="11" name="Rectangle 10"/>
                <p:cNvSpPr/>
                <p:nvPr/>
              </p:nvSpPr>
              <p:spPr>
                <a:xfrm>
                  <a:off x="2082800" y="3244238"/>
                  <a:ext cx="497252" cy="369332"/>
                </a:xfrm>
                <a:prstGeom prst="rect">
                  <a:avLst/>
                </a:prstGeom>
              </p:spPr>
              <p:txBody>
                <a:bodyPr wrap="none">
                  <a:spAutoFit/>
                </a:bodyPr>
                <a:lstStyle/>
                <a:p>
                  <a:r>
                    <a:rPr lang="en-US" dirty="0">
                      <a:solidFill>
                        <a:srgbClr val="0000FF"/>
                      </a:solidFill>
                      <a:latin typeface="Arial" charset="0"/>
                      <a:cs typeface="Arial" charset="0"/>
                    </a:rPr>
                    <a:t>∆</a:t>
                  </a:r>
                  <a14:m>
                    <m:oMath xmlns:m="http://schemas.openxmlformats.org/officeDocument/2006/math">
                      <m:r>
                        <m:rPr>
                          <m:sty m:val="p"/>
                        </m:rPr>
                        <a:rPr lang="el-GR" i="1">
                          <a:solidFill>
                            <a:srgbClr val="0000FF"/>
                          </a:solidFill>
                          <a:latin typeface="Cambria Math" panose="02040503050406030204" pitchFamily="18" charset="0"/>
                          <a:cs typeface="Arial" charset="0"/>
                        </a:rPr>
                        <m:t>χ</m:t>
                      </m:r>
                    </m:oMath>
                  </a14:m>
                  <a:r>
                    <a:rPr lang="en-US" dirty="0">
                      <a:latin typeface="Bradley Hand ITC" panose="03070402050302030203" pitchFamily="66" charset="0"/>
                    </a:rPr>
                    <a:t> </a:t>
                  </a:r>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2082800" y="3244238"/>
                  <a:ext cx="497252" cy="369332"/>
                </a:xfrm>
                <a:prstGeom prst="rect">
                  <a:avLst/>
                </a:prstGeom>
                <a:blipFill rotWithShape="0">
                  <a:blip r:embed="rId4"/>
                  <a:stretch>
                    <a:fillRect l="-11111" t="-14754" b="-18033"/>
                  </a:stretch>
                </a:blipFill>
              </p:spPr>
              <p:txBody>
                <a:bodyPr/>
                <a:lstStyle/>
                <a:p>
                  <a:r>
                    <a:rPr lang="en-US">
                      <a:noFill/>
                    </a:rPr>
                    <a:t> </a:t>
                  </a:r>
                </a:p>
              </p:txBody>
            </p:sp>
          </mc:Fallback>
        </mc:AlternateContent>
      </p:grpSp>
      <p:pic>
        <p:nvPicPr>
          <p:cNvPr id="14" name="Picture 8" descr="05_T14"/>
          <p:cNvPicPr>
            <a:picLocks noChangeAspect="1" noChangeArrowheads="1"/>
          </p:cNvPicPr>
          <p:nvPr/>
        </p:nvPicPr>
        <p:blipFill rotWithShape="1">
          <a:blip r:embed="rId3">
            <a:extLst>
              <a:ext uri="{28A0092B-C50C-407E-A947-70E740481C1C}">
                <a14:useLocalDpi xmlns:a14="http://schemas.microsoft.com/office/drawing/2010/main" val="0"/>
              </a:ext>
            </a:extLst>
          </a:blip>
          <a:srcRect l="17944" t="56101" r="60267" b="14575"/>
          <a:stretch/>
        </p:blipFill>
        <p:spPr bwMode="auto">
          <a:xfrm>
            <a:off x="1772355" y="5114069"/>
            <a:ext cx="1952979" cy="1241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Rectangle 9"/>
          <p:cNvSpPr/>
          <p:nvPr/>
        </p:nvSpPr>
        <p:spPr>
          <a:xfrm>
            <a:off x="4664121" y="2712599"/>
            <a:ext cx="1787669" cy="369332"/>
          </a:xfrm>
          <a:prstGeom prst="rect">
            <a:avLst/>
          </a:prstGeom>
        </p:spPr>
        <p:txBody>
          <a:bodyPr wrap="none">
            <a:spAutoFit/>
          </a:bodyPr>
          <a:lstStyle/>
          <a:p>
            <a:r>
              <a:rPr lang="en-US" dirty="0">
                <a:solidFill>
                  <a:schemeClr val="accent1"/>
                </a:solidFill>
              </a:rPr>
              <a:t>Not strict rules!</a:t>
            </a:r>
          </a:p>
        </p:txBody>
      </p:sp>
    </p:spTree>
    <p:extLst>
      <p:ext uri="{BB962C8B-B14F-4D97-AF65-F5344CB8AC3E}">
        <p14:creationId xmlns:p14="http://schemas.microsoft.com/office/powerpoint/2010/main" val="5832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F36914-D2BD-A158-0A14-C98DFC2CA10A}"/>
              </a:ext>
            </a:extLst>
          </p:cNvPr>
          <p:cNvPicPr>
            <a:picLocks noChangeAspect="1"/>
          </p:cNvPicPr>
          <p:nvPr/>
        </p:nvPicPr>
        <p:blipFill>
          <a:blip r:embed="rId2"/>
          <a:srcRect/>
          <a:stretch>
            <a:fillRect/>
          </a:stretch>
        </p:blipFill>
        <p:spPr bwMode="auto">
          <a:xfrm>
            <a:off x="502538" y="15876"/>
            <a:ext cx="3174196" cy="2106937"/>
          </a:xfrm>
          <a:prstGeom prst="rect">
            <a:avLst/>
          </a:prstGeom>
          <a:noFill/>
          <a:ln w="9525">
            <a:noFill/>
            <a:miter lim="800000"/>
            <a:headEnd/>
            <a:tailEnd/>
          </a:ln>
        </p:spPr>
      </p:pic>
      <p:sp>
        <p:nvSpPr>
          <p:cNvPr id="8193" name="Rectangle 2"/>
          <p:cNvSpPr>
            <a:spLocks noGrp="1" noChangeArrowheads="1"/>
          </p:cNvSpPr>
          <p:nvPr>
            <p:ph type="title"/>
          </p:nvPr>
        </p:nvSpPr>
        <p:spPr>
          <a:xfrm>
            <a:off x="2411880" y="345441"/>
            <a:ext cx="6377940" cy="1254759"/>
          </a:xfrm>
        </p:spPr>
        <p:txBody>
          <a:bodyPr>
            <a:normAutofit/>
          </a:bodyPr>
          <a:lstStyle/>
          <a:p>
            <a:pPr eaLnBrk="1" hangingPunct="1"/>
            <a:r>
              <a:rPr lang="en-US" dirty="0">
                <a:solidFill>
                  <a:srgbClr val="000000"/>
                </a:solidFill>
                <a:ea typeface="ＭＳ Ｐゴシック" charset="0"/>
              </a:rPr>
              <a:t>Polar bonds</a:t>
            </a:r>
          </a:p>
        </p:txBody>
      </p:sp>
      <p:sp>
        <p:nvSpPr>
          <p:cNvPr id="96259" name="Rectangle 3"/>
          <p:cNvSpPr>
            <a:spLocks noGrp="1" noChangeArrowheads="1"/>
          </p:cNvSpPr>
          <p:nvPr>
            <p:ph idx="1"/>
          </p:nvPr>
        </p:nvSpPr>
        <p:spPr>
          <a:xfrm>
            <a:off x="4229100" y="1600200"/>
            <a:ext cx="4831080" cy="4525963"/>
          </a:xfrm>
        </p:spPr>
        <p:txBody>
          <a:bodyPr>
            <a:normAutofit/>
          </a:bodyPr>
          <a:lstStyle/>
          <a:p>
            <a:pPr eaLnBrk="1" hangingPunct="1">
              <a:defRPr/>
            </a:pPr>
            <a:r>
              <a:rPr lang="en-US" sz="2800" dirty="0">
                <a:ea typeface="ＭＳ Ｐゴシック" charset="0"/>
              </a:rPr>
              <a:t>Electrons are not equally shared in </a:t>
            </a:r>
            <a:r>
              <a:rPr lang="en-US" sz="2800" dirty="0" err="1">
                <a:ea typeface="ＭＳ Ｐゴシック" charset="0"/>
              </a:rPr>
              <a:t>HCl</a:t>
            </a:r>
            <a:r>
              <a:rPr lang="en-US" sz="2800" dirty="0">
                <a:ea typeface="ＭＳ Ｐゴシック" charset="0"/>
              </a:rPr>
              <a:t> </a:t>
            </a:r>
          </a:p>
          <a:p>
            <a:pPr>
              <a:defRPr/>
            </a:pPr>
            <a:r>
              <a:rPr lang="en-US" sz="2800" dirty="0">
                <a:ea typeface="ＭＳ Ｐゴシック" charset="0"/>
              </a:rPr>
              <a:t>HCl bond has a + end    and a – end. It is </a:t>
            </a:r>
            <a:r>
              <a:rPr lang="en-US" sz="2800" u="sng" dirty="0">
                <a:solidFill>
                  <a:schemeClr val="hlink"/>
                </a:solidFill>
                <a:ea typeface="ＭＳ Ｐゴシック" charset="0"/>
              </a:rPr>
              <a:t>POLAR</a:t>
            </a:r>
            <a:endParaRPr lang="en-US" sz="2800" u="sng" dirty="0">
              <a:ea typeface="ＭＳ Ｐゴシック" charset="0"/>
            </a:endParaRPr>
          </a:p>
          <a:p>
            <a:pPr>
              <a:defRPr/>
            </a:pPr>
            <a:r>
              <a:rPr lang="en-US" sz="2800" dirty="0">
                <a:ea typeface="ＭＳ Ｐゴシック" charset="0"/>
              </a:rPr>
              <a:t>HCl bond </a:t>
            </a:r>
            <a:r>
              <a:rPr lang="en-US" sz="2800" dirty="0">
                <a:solidFill>
                  <a:schemeClr val="hlink"/>
                </a:solidFill>
                <a:ea typeface="ＭＳ Ｐゴシック" charset="0"/>
              </a:rPr>
              <a:t>has a </a:t>
            </a:r>
            <a:r>
              <a:rPr lang="en-US" sz="2800" u="sng" dirty="0">
                <a:solidFill>
                  <a:schemeClr val="hlink"/>
                </a:solidFill>
                <a:ea typeface="ＭＳ Ｐゴシック" charset="0"/>
              </a:rPr>
              <a:t>bond dipole </a:t>
            </a:r>
            <a:r>
              <a:rPr lang="en-US" sz="2800" dirty="0">
                <a:solidFill>
                  <a:schemeClr val="hlink"/>
                </a:solidFill>
                <a:ea typeface="ＭＳ Ｐゴシック" charset="0"/>
              </a:rPr>
              <a:t>&amp; a </a:t>
            </a:r>
            <a:r>
              <a:rPr lang="en-US" sz="2800" u="sng" dirty="0">
                <a:solidFill>
                  <a:schemeClr val="hlink"/>
                </a:solidFill>
                <a:ea typeface="ＭＳ Ｐゴシック" charset="0"/>
              </a:rPr>
              <a:t>dipole moment</a:t>
            </a:r>
            <a:endParaRPr lang="en-US" sz="2800" dirty="0">
              <a:ea typeface="ＭＳ Ｐゴシック" charset="0"/>
            </a:endParaRPr>
          </a:p>
        </p:txBody>
      </p:sp>
      <p:sp>
        <p:nvSpPr>
          <p:cNvPr id="96260" name="Text Box 4"/>
          <p:cNvSpPr txBox="1">
            <a:spLocks noChangeArrowheads="1"/>
          </p:cNvSpPr>
          <p:nvPr/>
        </p:nvSpPr>
        <p:spPr bwMode="auto">
          <a:xfrm>
            <a:off x="4528070" y="4611469"/>
            <a:ext cx="2618644" cy="646331"/>
          </a:xfrm>
          <a:prstGeom prst="rect">
            <a:avLst/>
          </a:prstGeom>
          <a:noFill/>
          <a:ln w="12700">
            <a:noFill/>
            <a:miter lim="800000"/>
            <a:headEnd/>
            <a:tailEnd/>
          </a:ln>
          <a:effectLst>
            <a:outerShdw blurRad="63500" dist="17961" dir="2700000" algn="ctr" rotWithShape="0">
              <a:schemeClr val="bg2">
                <a:alpha val="74998"/>
              </a:schemeClr>
            </a:outerShdw>
          </a:effectLst>
        </p:spPr>
        <p:txBody>
          <a:bodyPr wrap="square">
            <a:spAutoFit/>
          </a:bodyPr>
          <a:lstStyle/>
          <a:p>
            <a:pPr>
              <a:defRPr/>
            </a:pPr>
            <a:r>
              <a:rPr lang="en-US" dirty="0">
                <a:latin typeface="Gill Sans"/>
                <a:ea typeface="+mn-ea"/>
                <a:cs typeface="Gill Sans"/>
              </a:rPr>
              <a:t>Cl has a greater share of bonding e- than H.</a:t>
            </a:r>
          </a:p>
        </p:txBody>
      </p:sp>
      <p:pic>
        <p:nvPicPr>
          <p:cNvPr id="9626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9229" y="4489026"/>
            <a:ext cx="1544638" cy="1676400"/>
          </a:xfrm>
          <a:prstGeom prst="rect">
            <a:avLst/>
          </a:prstGeom>
          <a:solidFill>
            <a:srgbClr val="FDE3BA"/>
          </a:solidFill>
          <a:ln>
            <a:noFill/>
          </a:ln>
          <a:effectLst>
            <a:outerShdw blurRad="63500" dist="38099" dir="2700000" algn="ctr" rotWithShape="0">
              <a:srgbClr val="000000">
                <a:alpha val="74997"/>
              </a:srgbClr>
            </a:outerShdw>
          </a:effectLst>
          <a:extLst>
            <a:ext uri="{91240B29-F687-4f45-9708-019B960494DF}">
              <a14:hiddenLine xmlns="" xmlns:a14="http://schemas.microsoft.com/office/drawing/2010/main" w="9525">
                <a:solidFill>
                  <a:srgbClr val="000000"/>
                </a:solidFill>
                <a:miter lim="800000"/>
                <a:headEnd/>
                <a:tailEnd/>
              </a14:hiddenLine>
            </a:ext>
          </a:extLst>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t="6575" b="26164"/>
          <a:stretch/>
        </p:blipFill>
        <p:spPr bwMode="auto">
          <a:xfrm>
            <a:off x="246742" y="1686906"/>
            <a:ext cx="3757866" cy="4699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63C103D7-7FC1-4B9F-A526-BC88A3C4AA47}" type="slidenum">
              <a:rPr lang="en-US" smtClean="0"/>
              <a:pPr/>
              <a:t>17</a:t>
            </a:fld>
            <a:endParaRPr lang="en-US" dirty="0"/>
          </a:p>
        </p:txBody>
      </p:sp>
    </p:spTree>
    <p:extLst>
      <p:ext uri="{BB962C8B-B14F-4D97-AF65-F5344CB8AC3E}">
        <p14:creationId xmlns:p14="http://schemas.microsoft.com/office/powerpoint/2010/main" val="34700633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6260"/>
                                        </p:tgtEl>
                                        <p:attrNameLst>
                                          <p:attrName>style.visibility</p:attrName>
                                        </p:attrNameLst>
                                      </p:cBhvr>
                                      <p:to>
                                        <p:strVal val="visible"/>
                                      </p:to>
                                    </p:set>
                                    <p:animEffect transition="in" filter="fade">
                                      <p:cBhvr>
                                        <p:cTn id="7" dur="500"/>
                                        <p:tgtEl>
                                          <p:spTgt spid="962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Effect transition="in" filter="fade">
                                      <p:cBhvr>
                                        <p:cTn id="12" dur="500"/>
                                        <p:tgtEl>
                                          <p:spTgt spid="962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6259">
                                            <p:txEl>
                                              <p:pRg st="2" end="2"/>
                                            </p:txEl>
                                          </p:spTgt>
                                        </p:tgtEl>
                                        <p:attrNameLst>
                                          <p:attrName>style.visibility</p:attrName>
                                        </p:attrNameLst>
                                      </p:cBhvr>
                                      <p:to>
                                        <p:strVal val="visible"/>
                                      </p:to>
                                    </p:set>
                                    <p:animEffect transition="in" filter="fade">
                                      <p:cBhvr>
                                        <p:cTn id="17" dur="500"/>
                                        <p:tgtEl>
                                          <p:spTgt spid="96259">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96263"/>
                                        </p:tgtEl>
                                        <p:attrNameLst>
                                          <p:attrName>style.visibility</p:attrName>
                                        </p:attrNameLst>
                                      </p:cBhvr>
                                      <p:to>
                                        <p:strVal val="visible"/>
                                      </p:to>
                                    </p:set>
                                    <p:animEffect transition="in" filter="fade">
                                      <p:cBhvr>
                                        <p:cTn id="21" dur="500"/>
                                        <p:tgtEl>
                                          <p:spTgt spid="96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Dipole Moment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2533" y="1332090"/>
                <a:ext cx="8477956" cy="2871430"/>
              </a:xfrm>
            </p:spPr>
            <p:txBody>
              <a:bodyPr>
                <a:normAutofit fontScale="92500" lnSpcReduction="10000"/>
              </a:bodyPr>
              <a:lstStyle/>
              <a:p>
                <a:r>
                  <a:rPr lang="en-US" dirty="0">
                    <a:solidFill>
                      <a:srgbClr val="0000FF"/>
                    </a:solidFill>
                    <a:latin typeface="Arial" charset="0"/>
                    <a:cs typeface="Arial" charset="0"/>
                  </a:rPr>
                  <a:t>Bond Dipole:</a:t>
                </a:r>
              </a:p>
              <a:p>
                <a:pPr lvl="1"/>
                <a:r>
                  <a:rPr lang="en-US" u="sng" dirty="0">
                    <a:latin typeface="Arial" charset="0"/>
                    <a:cs typeface="Arial" charset="0"/>
                  </a:rPr>
                  <a:t>Separation of electrical charge </a:t>
                </a:r>
                <a:r>
                  <a:rPr lang="en-US" dirty="0">
                    <a:latin typeface="Arial" charset="0"/>
                    <a:cs typeface="Arial" charset="0"/>
                  </a:rPr>
                  <a:t>created when atoms with different EN form a covalent bond (Degree of polarity depends on </a:t>
                </a:r>
                <a:r>
                  <a:rPr lang="en-US" dirty="0">
                    <a:solidFill>
                      <a:srgbClr val="0000FF"/>
                    </a:solidFill>
                    <a:latin typeface="Arial" charset="0"/>
                    <a:cs typeface="Arial" charset="0"/>
                  </a:rPr>
                  <a:t>∆</a:t>
                </a:r>
                <a14:m>
                  <m:oMath xmlns:m="http://schemas.openxmlformats.org/officeDocument/2006/math">
                    <m:r>
                      <m:rPr>
                        <m:sty m:val="p"/>
                      </m:rPr>
                      <a:rPr lang="el-GR" i="1">
                        <a:solidFill>
                          <a:srgbClr val="0000FF"/>
                        </a:solidFill>
                        <a:latin typeface="Cambria Math" panose="02040503050406030204" pitchFamily="18" charset="0"/>
                        <a:cs typeface="Arial" charset="0"/>
                      </a:rPr>
                      <m:t>χ</m:t>
                    </m:r>
                  </m:oMath>
                </a14:m>
                <a:r>
                  <a:rPr lang="en-US" dirty="0">
                    <a:latin typeface="Arial" charset="0"/>
                    <a:cs typeface="Arial" charset="0"/>
                  </a:rPr>
                  <a:t>)</a:t>
                </a:r>
              </a:p>
              <a:p>
                <a:pPr lvl="0" fontAlgn="base">
                  <a:spcAft>
                    <a:spcPct val="0"/>
                  </a:spcAft>
                  <a:buClr>
                    <a:srgbClr val="335359"/>
                  </a:buClr>
                </a:pPr>
                <a:r>
                  <a:rPr lang="en-US" dirty="0">
                    <a:solidFill>
                      <a:srgbClr val="0000FF"/>
                    </a:solidFill>
                    <a:latin typeface="Arial" charset="0"/>
                    <a:cs typeface="Arial" charset="0"/>
                  </a:rPr>
                  <a:t>Dipole Moment (</a:t>
                </a:r>
                <a:r>
                  <a:rPr lang="en-US" dirty="0">
                    <a:solidFill>
                      <a:srgbClr val="0000FF"/>
                    </a:solidFill>
                    <a:latin typeface="Arial" charset="0"/>
                    <a:cs typeface="Arial" charset="0"/>
                    <a:sym typeface="Symbol" pitchFamily="18" charset="2"/>
                  </a:rPr>
                  <a:t></a:t>
                </a:r>
                <a:r>
                  <a:rPr lang="en-US" dirty="0">
                    <a:solidFill>
                      <a:srgbClr val="0000FF"/>
                    </a:solidFill>
                    <a:latin typeface="Arial" charset="0"/>
                    <a:cs typeface="Arial" charset="0"/>
                  </a:rPr>
                  <a:t>):  </a:t>
                </a:r>
              </a:p>
              <a:p>
                <a:pPr lvl="1" fontAlgn="base">
                  <a:spcAft>
                    <a:spcPct val="0"/>
                  </a:spcAft>
                  <a:buClr>
                    <a:srgbClr val="335359"/>
                  </a:buClr>
                </a:pPr>
                <a:r>
                  <a:rPr lang="en-US" dirty="0">
                    <a:latin typeface="Arial" charset="0"/>
                    <a:cs typeface="Arial" charset="0"/>
                  </a:rPr>
                  <a:t>Quantifies the extent of charge separation</a:t>
                </a:r>
              </a:p>
              <a:p>
                <a:pPr lvl="2" fontAlgn="base">
                  <a:spcAft>
                    <a:spcPct val="0"/>
                  </a:spcAft>
                  <a:buClr>
                    <a:srgbClr val="335359"/>
                  </a:buClr>
                </a:pPr>
                <a:r>
                  <a:rPr lang="en-US" sz="1600" dirty="0">
                    <a:solidFill>
                      <a:schemeClr val="bg1">
                        <a:lumMod val="65000"/>
                      </a:schemeClr>
                    </a:solidFill>
                    <a:latin typeface="Arial" charset="0"/>
                    <a:cs typeface="Arial" charset="0"/>
                  </a:rPr>
                  <a:t>Units = </a:t>
                </a:r>
                <a:r>
                  <a:rPr lang="en-US" sz="1600" dirty="0" err="1">
                    <a:solidFill>
                      <a:schemeClr val="bg1">
                        <a:lumMod val="65000"/>
                      </a:schemeClr>
                    </a:solidFill>
                    <a:latin typeface="Arial" charset="0"/>
                    <a:cs typeface="Arial" charset="0"/>
                  </a:rPr>
                  <a:t>debyes</a:t>
                </a:r>
                <a:r>
                  <a:rPr lang="en-US" sz="1600" dirty="0">
                    <a:solidFill>
                      <a:schemeClr val="bg1">
                        <a:lumMod val="65000"/>
                      </a:schemeClr>
                    </a:solidFill>
                    <a:latin typeface="Arial" charset="0"/>
                    <a:cs typeface="Arial" charset="0"/>
                  </a:rPr>
                  <a:t> (D); 1 D = 3.34 × 10</a:t>
                </a:r>
                <a:r>
                  <a:rPr lang="en-US" sz="1600" baseline="30000" dirty="0">
                    <a:solidFill>
                      <a:schemeClr val="bg1">
                        <a:lumMod val="65000"/>
                      </a:schemeClr>
                    </a:solidFill>
                    <a:latin typeface="Arial" charset="0"/>
                    <a:cs typeface="Arial" charset="0"/>
                  </a:rPr>
                  <a:t>-30</a:t>
                </a:r>
                <a:r>
                  <a:rPr lang="en-US" sz="1600" dirty="0">
                    <a:solidFill>
                      <a:schemeClr val="bg1">
                        <a:lumMod val="65000"/>
                      </a:schemeClr>
                    </a:solidFill>
                    <a:latin typeface="Arial" charset="0"/>
                    <a:cs typeface="Arial" charset="0"/>
                  </a:rPr>
                  <a:t> </a:t>
                </a:r>
                <a:r>
                  <a:rPr lang="en-US" sz="1600" dirty="0" err="1">
                    <a:solidFill>
                      <a:schemeClr val="bg1">
                        <a:lumMod val="65000"/>
                      </a:schemeClr>
                    </a:solidFill>
                    <a:latin typeface="Arial" charset="0"/>
                    <a:cs typeface="Arial" charset="0"/>
                  </a:rPr>
                  <a:t>coul·m</a:t>
                </a:r>
                <a:r>
                  <a:rPr lang="en-US" sz="1600" dirty="0">
                    <a:solidFill>
                      <a:schemeClr val="bg1">
                        <a:lumMod val="65000"/>
                      </a:schemeClr>
                    </a:solidFill>
                    <a:latin typeface="Arial" charset="0"/>
                    <a:cs typeface="Arial" charset="0"/>
                  </a:rPr>
                  <a:t> </a:t>
                </a:r>
              </a:p>
              <a:p>
                <a:pPr lvl="1"/>
                <a:r>
                  <a:rPr lang="en-US" dirty="0">
                    <a:latin typeface="Arial" charset="0"/>
                    <a:cs typeface="Arial" charset="0"/>
                  </a:rPr>
                  <a:t>Determined by measuring the degree to which the molecule aligns with an applied electric field</a:t>
                </a:r>
              </a:p>
              <a:p>
                <a:pPr lvl="2"/>
                <a:r>
                  <a:rPr lang="en-US" dirty="0">
                    <a:latin typeface="Arial" charset="0"/>
                    <a:cs typeface="Arial" charset="0"/>
                  </a:rPr>
                  <a:t>Direction of dipole indicated by arrow pointing from + to – ends of the molecule. May write partial negative (</a:t>
                </a:r>
                <a:r>
                  <a:rPr lang="el-GR" dirty="0">
                    <a:latin typeface="Arial" charset="0"/>
                    <a:cs typeface="Arial" charset="0"/>
                  </a:rPr>
                  <a:t>δ</a:t>
                </a:r>
                <a:r>
                  <a:rPr lang="en-US" sz="1600" dirty="0">
                    <a:latin typeface="Arial" charset="0"/>
                    <a:cs typeface="Arial" charset="0"/>
                  </a:rPr>
                  <a:t>–</a:t>
                </a:r>
                <a:r>
                  <a:rPr lang="en-US" dirty="0">
                    <a:latin typeface="Arial" charset="0"/>
                    <a:cs typeface="Arial" charset="0"/>
                  </a:rPr>
                  <a:t>) and partial positive charges (</a:t>
                </a:r>
                <a:r>
                  <a:rPr lang="el-GR" dirty="0">
                    <a:latin typeface="Arial" charset="0"/>
                    <a:cs typeface="Arial" charset="0"/>
                  </a:rPr>
                  <a:t>δ</a:t>
                </a:r>
                <a:r>
                  <a:rPr lang="en-US" dirty="0">
                    <a:latin typeface="Arial" charset="0"/>
                    <a:cs typeface="Arial" charset="0"/>
                  </a:rPr>
                  <a:t>+)</a:t>
                </a:r>
              </a:p>
              <a:p>
                <a:pPr lvl="1"/>
                <a:endParaRPr lang="en-US" dirty="0">
                  <a:latin typeface="Arial" charset="0"/>
                  <a:cs typeface="Arial" charset="0"/>
                </a:endParaRPr>
              </a:p>
              <a:p>
                <a:pPr lvl="1"/>
                <a:endParaRPr lang="en-US" dirty="0">
                  <a:latin typeface="Arial" charset="0"/>
                  <a:cs typeface="Arial" charset="0"/>
                </a:endParaRPr>
              </a:p>
              <a:p>
                <a:pPr lvl="1" fontAlgn="base">
                  <a:spcAft>
                    <a:spcPct val="0"/>
                  </a:spcAft>
                  <a:buClr>
                    <a:srgbClr val="335359"/>
                  </a:buClr>
                </a:pPr>
                <a:endParaRPr lang="en-US" dirty="0">
                  <a:solidFill>
                    <a:schemeClr val="bg1">
                      <a:lumMod val="65000"/>
                    </a:schemeClr>
                  </a:solidFill>
                  <a:latin typeface="Arial" charset="0"/>
                  <a:cs typeface="Arial" charset="0"/>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2533" y="1332090"/>
                <a:ext cx="8477956" cy="2871430"/>
              </a:xfrm>
              <a:blipFill rotWithShape="0">
                <a:blip r:embed="rId2"/>
                <a:stretch>
                  <a:fillRect l="-647" t="-3185" r="-129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63C103D7-7FC1-4B9F-A526-BC88A3C4AA47}" type="slidenum">
              <a:rPr lang="en-US" smtClean="0"/>
              <a:pPr/>
              <a:t>18</a:t>
            </a:fld>
            <a:endParaRPr lang="en-US" dirty="0"/>
          </a:p>
        </p:txBody>
      </p:sp>
      <p:pic>
        <p:nvPicPr>
          <p:cNvPr id="5" name="Picture 6"/>
          <p:cNvPicPr>
            <a:picLocks noChangeAspect="1" noChangeArrowheads="1"/>
          </p:cNvPicPr>
          <p:nvPr/>
        </p:nvPicPr>
        <p:blipFill>
          <a:blip r:embed="rId3"/>
          <a:srcRect t="13202" r="-217"/>
          <a:stretch>
            <a:fillRect/>
          </a:stretch>
        </p:blipFill>
        <p:spPr>
          <a:xfrm>
            <a:off x="1045140" y="4081033"/>
            <a:ext cx="4515380" cy="2557093"/>
          </a:xfrm>
          <a:prstGeom prst="rect">
            <a:avLst/>
          </a:prstGeom>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2895" y="4582623"/>
            <a:ext cx="1544638" cy="1676400"/>
          </a:xfrm>
          <a:prstGeom prst="rect">
            <a:avLst/>
          </a:prstGeom>
          <a:solidFill>
            <a:srgbClr val="FDE3BA"/>
          </a:solidFill>
          <a:ln>
            <a:noFill/>
          </a:ln>
          <a:effectLst>
            <a:outerShdw blurRad="63500" dist="38099" dir="2700000" algn="ctr" rotWithShape="0">
              <a:srgbClr val="000000">
                <a:alpha val="74997"/>
              </a:srgbClr>
            </a:outerShdw>
          </a:effectLst>
          <a:extLs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335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2720622" y="2979744"/>
            <a:ext cx="4952644" cy="3376101"/>
            <a:chOff x="3161398" y="2743229"/>
            <a:chExt cx="5676900" cy="3916489"/>
          </a:xfrm>
        </p:grpSpPr>
        <p:pic>
          <p:nvPicPr>
            <p:cNvPr id="9" name="Picture 2"/>
            <p:cNvPicPr>
              <a:picLocks noChangeAspect="1"/>
            </p:cNvPicPr>
            <p:nvPr/>
          </p:nvPicPr>
          <p:blipFill>
            <a:blip r:embed="rId3"/>
            <a:srcRect/>
            <a:stretch>
              <a:fillRect/>
            </a:stretch>
          </p:blipFill>
          <p:spPr bwMode="auto">
            <a:xfrm>
              <a:off x="3161398" y="2743229"/>
              <a:ext cx="5676900" cy="3516313"/>
            </a:xfrm>
            <a:prstGeom prst="rect">
              <a:avLst/>
            </a:prstGeom>
            <a:noFill/>
            <a:ln w="9525">
              <a:noFill/>
              <a:miter lim="800000"/>
              <a:headEnd/>
              <a:tailEnd/>
            </a:ln>
          </p:spPr>
        </p:pic>
        <p:sp>
          <p:nvSpPr>
            <p:cNvPr id="10" name="TextBox 4"/>
            <p:cNvSpPr txBox="1">
              <a:spLocks noChangeArrowheads="1"/>
            </p:cNvSpPr>
            <p:nvPr/>
          </p:nvSpPr>
          <p:spPr bwMode="auto">
            <a:xfrm>
              <a:off x="4253813" y="6013387"/>
              <a:ext cx="3733800" cy="646331"/>
            </a:xfrm>
            <a:prstGeom prst="rect">
              <a:avLst/>
            </a:prstGeom>
            <a:noFill/>
            <a:ln w="9525">
              <a:noFill/>
              <a:miter lim="800000"/>
              <a:headEnd/>
              <a:tailEnd/>
            </a:ln>
          </p:spPr>
          <p:txBody>
            <a:bodyPr>
              <a:spAutoFit/>
            </a:bodyPr>
            <a:lstStyle/>
            <a:p>
              <a:pPr algn="ctr"/>
              <a:r>
                <a:rPr lang="en-US" dirty="0">
                  <a:ea typeface="ＭＳ Ｐゴシック" charset="-128"/>
                </a:rPr>
                <a:t>Pauling Electronegativity</a:t>
              </a:r>
            </a:p>
            <a:p>
              <a:pPr algn="ctr"/>
              <a:r>
                <a:rPr lang="en-US" dirty="0">
                  <a:ea typeface="ＭＳ Ｐゴシック" charset="-128"/>
                </a:rPr>
                <a:t> Scale</a:t>
              </a:r>
            </a:p>
          </p:txBody>
        </p:sp>
      </p:grpSp>
      <p:sp>
        <p:nvSpPr>
          <p:cNvPr id="2" name="Title 1"/>
          <p:cNvSpPr>
            <a:spLocks noGrp="1"/>
          </p:cNvSpPr>
          <p:nvPr>
            <p:ph type="title"/>
          </p:nvPr>
        </p:nvSpPr>
        <p:spPr>
          <a:xfrm>
            <a:off x="2171700" y="629356"/>
            <a:ext cx="6377940" cy="1254759"/>
          </a:xfrm>
        </p:spPr>
        <p:txBody>
          <a:bodyPr/>
          <a:lstStyle/>
          <a:p>
            <a:r>
              <a:rPr lang="en-US" cap="none" dirty="0" err="1"/>
              <a:t>i</a:t>
            </a:r>
            <a:r>
              <a:rPr lang="en-US" dirty="0" err="1"/>
              <a:t>Clicker</a:t>
            </a:r>
            <a:r>
              <a:rPr lang="en-US" dirty="0"/>
              <a:t> Quiz</a:t>
            </a:r>
          </a:p>
        </p:txBody>
      </p:sp>
      <p:sp>
        <p:nvSpPr>
          <p:cNvPr id="14" name="Rectangle 13"/>
          <p:cNvSpPr/>
          <p:nvPr/>
        </p:nvSpPr>
        <p:spPr bwMode="auto">
          <a:xfrm>
            <a:off x="4719956" y="2726004"/>
            <a:ext cx="702833" cy="400162"/>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5" name="Rectangle 14"/>
          <p:cNvSpPr/>
          <p:nvPr/>
        </p:nvSpPr>
        <p:spPr bwMode="auto">
          <a:xfrm>
            <a:off x="3711467" y="3126166"/>
            <a:ext cx="702833" cy="400162"/>
          </a:xfrm>
          <a:prstGeom prst="rect">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5585" name="Rectangle 3"/>
          <p:cNvSpPr>
            <a:spLocks noGrp="1" noChangeArrowheads="1"/>
          </p:cNvSpPr>
          <p:nvPr>
            <p:ph type="body" idx="1"/>
          </p:nvPr>
        </p:nvSpPr>
        <p:spPr>
          <a:xfrm>
            <a:off x="594360" y="1884115"/>
            <a:ext cx="7955280" cy="4188379"/>
          </a:xfrm>
        </p:spPr>
        <p:txBody>
          <a:bodyPr/>
          <a:lstStyle/>
          <a:p>
            <a:r>
              <a:rPr lang="en-US" dirty="0"/>
              <a:t>  Which of the following bonds in each pair are more polar? </a:t>
            </a:r>
          </a:p>
          <a:p>
            <a:pPr marL="0" indent="0" algn="ctr">
              <a:buNone/>
            </a:pPr>
            <a:r>
              <a:rPr lang="en-US" dirty="0"/>
              <a:t>A or B	</a:t>
            </a:r>
          </a:p>
          <a:p>
            <a:pPr marL="0" indent="0" algn="ctr">
              <a:buNone/>
            </a:pPr>
            <a:r>
              <a:rPr lang="en-US" dirty="0"/>
              <a:t>C–S or C–O</a:t>
            </a:r>
          </a:p>
          <a:p>
            <a:pPr marL="0" indent="0" algn="ctr">
              <a:buNone/>
            </a:pPr>
            <a:r>
              <a:rPr lang="en-US" dirty="0"/>
              <a:t>N–H or C–H</a:t>
            </a:r>
          </a:p>
          <a:p>
            <a:pPr marL="0" indent="0" algn="ctr">
              <a:buNone/>
            </a:pPr>
            <a:r>
              <a:rPr lang="en-US" dirty="0"/>
              <a:t>Cl–Cl or O=O</a:t>
            </a:r>
          </a:p>
        </p:txBody>
      </p:sp>
      <p:sp>
        <p:nvSpPr>
          <p:cNvPr id="3" name="Slide Number Placeholder 2"/>
          <p:cNvSpPr>
            <a:spLocks noGrp="1"/>
          </p:cNvSpPr>
          <p:nvPr>
            <p:ph type="sldNum" sz="quarter" idx="12"/>
          </p:nvPr>
        </p:nvSpPr>
        <p:spPr/>
        <p:txBody>
          <a:bodyPr/>
          <a:lstStyle/>
          <a:p>
            <a:fld id="{63C103D7-7FC1-4B9F-A526-BC88A3C4AA47}" type="slidenum">
              <a:rPr lang="en-US" smtClean="0"/>
              <a:pPr/>
              <a:t>19</a:t>
            </a:fld>
            <a:endParaRPr lang="en-US" dirty="0"/>
          </a:p>
        </p:txBody>
      </p:sp>
      <p:pic>
        <p:nvPicPr>
          <p:cNvPr id="16" name="Picture 2" descr="Student iClicker Information - Canvas | Colorado State University"/>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0284" r="78997" b="11252"/>
          <a:stretch/>
        </p:blipFill>
        <p:spPr bwMode="auto">
          <a:xfrm>
            <a:off x="185095" y="114496"/>
            <a:ext cx="715651" cy="802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905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95585">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558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955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5878" y="400758"/>
            <a:ext cx="6377940" cy="1254759"/>
          </a:xfrm>
        </p:spPr>
        <p:txBody>
          <a:bodyPr/>
          <a:lstStyle/>
          <a:p>
            <a:r>
              <a:rPr lang="en-US" dirty="0"/>
              <a:t>Polar Molecules</a:t>
            </a:r>
          </a:p>
        </p:txBody>
      </p:sp>
      <p:sp>
        <p:nvSpPr>
          <p:cNvPr id="3" name="Content Placeholder 2"/>
          <p:cNvSpPr>
            <a:spLocks noGrp="1"/>
          </p:cNvSpPr>
          <p:nvPr>
            <p:ph idx="1"/>
          </p:nvPr>
        </p:nvSpPr>
        <p:spPr>
          <a:xfrm>
            <a:off x="341523" y="1413164"/>
            <a:ext cx="8593157" cy="4679445"/>
          </a:xfrm>
        </p:spPr>
        <p:txBody>
          <a:bodyPr/>
          <a:lstStyle/>
          <a:p>
            <a:r>
              <a:rPr lang="en-US" dirty="0">
                <a:solidFill>
                  <a:srgbClr val="0000FF"/>
                </a:solidFill>
                <a:latin typeface="Arial" charset="0"/>
                <a:cs typeface="Arial" charset="0"/>
              </a:rPr>
              <a:t>Polar Molecule:</a:t>
            </a:r>
          </a:p>
          <a:p>
            <a:pPr lvl="1"/>
            <a:r>
              <a:rPr lang="en-US" dirty="0">
                <a:latin typeface="Arial" charset="0"/>
                <a:cs typeface="Arial" charset="0"/>
              </a:rPr>
              <a:t>Whole molecule has a net dipole moment (not just 1 bond)</a:t>
            </a:r>
          </a:p>
          <a:p>
            <a:r>
              <a:rPr lang="en-US" dirty="0">
                <a:solidFill>
                  <a:srgbClr val="0000FF"/>
                </a:solidFill>
                <a:latin typeface="Arial" charset="0"/>
                <a:cs typeface="Arial" charset="0"/>
              </a:rPr>
              <a:t>Requirement for Polar Molecule: </a:t>
            </a:r>
            <a:r>
              <a:rPr lang="en-US" sz="2000" i="1" dirty="0">
                <a:latin typeface="Arial" charset="0"/>
                <a:cs typeface="Arial" charset="0"/>
              </a:rPr>
              <a:t>asymmetric distribution of charge</a:t>
            </a:r>
          </a:p>
          <a:p>
            <a:pPr lvl="1"/>
            <a:r>
              <a:rPr lang="en-US" dirty="0"/>
              <a:t>More negative charge exists over some part of the molecule than another part. Examples:</a:t>
            </a:r>
          </a:p>
          <a:p>
            <a:pPr marL="914400" lvl="1" indent="-457200">
              <a:buFont typeface="+mj-lt"/>
              <a:buAutoNum type="arabicParenR"/>
            </a:pPr>
            <a:r>
              <a:rPr lang="en-US" dirty="0">
                <a:solidFill>
                  <a:schemeClr val="bg1">
                    <a:lumMod val="65000"/>
                  </a:schemeClr>
                </a:solidFill>
                <a:latin typeface="Arial" charset="0"/>
                <a:cs typeface="Arial" charset="0"/>
              </a:rPr>
              <a:t>Molecule has at least 1 polar bond &amp; dipoles don’t cancel</a:t>
            </a:r>
          </a:p>
          <a:p>
            <a:pPr marL="914400" lvl="1" indent="-457200">
              <a:buFont typeface="+mj-lt"/>
              <a:buAutoNum type="arabicParenR"/>
            </a:pPr>
            <a:r>
              <a:rPr lang="en-US" dirty="0">
                <a:solidFill>
                  <a:schemeClr val="bg1">
                    <a:lumMod val="65000"/>
                  </a:schemeClr>
                </a:solidFill>
                <a:latin typeface="Arial" charset="0"/>
                <a:cs typeface="Arial" charset="0"/>
              </a:rPr>
              <a:t>Lone pairs &amp; polar bonds distributed asymmetrically in a molecule</a:t>
            </a:r>
          </a:p>
          <a:p>
            <a:pPr marL="914400" lvl="1" indent="-457200">
              <a:buFont typeface="+mj-lt"/>
              <a:buAutoNum type="arabicParenR"/>
            </a:pPr>
            <a:endParaRPr lang="en-US" dirty="0">
              <a:solidFill>
                <a:schemeClr val="bg1">
                  <a:lumMod val="65000"/>
                </a:schemeClr>
              </a:solidFill>
              <a:latin typeface="Arial" charset="0"/>
              <a:cs typeface="Arial" charset="0"/>
            </a:endParaRPr>
          </a:p>
          <a:p>
            <a:endParaRPr lang="en-US" dirty="0"/>
          </a:p>
          <a:p>
            <a:endParaRPr lang="en-US" dirty="0"/>
          </a:p>
        </p:txBody>
      </p:sp>
      <p:sp>
        <p:nvSpPr>
          <p:cNvPr id="4" name="Slide Number Placeholder 3"/>
          <p:cNvSpPr>
            <a:spLocks noGrp="1"/>
          </p:cNvSpPr>
          <p:nvPr>
            <p:ph type="sldNum" sz="quarter" idx="12"/>
          </p:nvPr>
        </p:nvSpPr>
        <p:spPr/>
        <p:txBody>
          <a:bodyPr/>
          <a:lstStyle/>
          <a:p>
            <a:fld id="{63C103D7-7FC1-4B9F-A526-BC88A3C4AA47}" type="slidenum">
              <a:rPr lang="en-US" smtClean="0"/>
              <a:pPr/>
              <a:t>20</a:t>
            </a:fld>
            <a:endParaRPr lang="en-US" dirty="0"/>
          </a:p>
        </p:txBody>
      </p:sp>
      <p:pic>
        <p:nvPicPr>
          <p:cNvPr id="5" name="Picture 2"/>
          <p:cNvPicPr>
            <a:picLocks noChangeAspect="1"/>
          </p:cNvPicPr>
          <p:nvPr/>
        </p:nvPicPr>
        <p:blipFill>
          <a:blip r:embed="rId3"/>
          <a:srcRect/>
          <a:stretch>
            <a:fillRect/>
          </a:stretch>
        </p:blipFill>
        <p:spPr bwMode="auto">
          <a:xfrm>
            <a:off x="1730612" y="3861937"/>
            <a:ext cx="4692650" cy="982662"/>
          </a:xfrm>
          <a:prstGeom prst="rect">
            <a:avLst/>
          </a:prstGeom>
          <a:noFill/>
          <a:ln w="9525">
            <a:noFill/>
            <a:miter lim="800000"/>
            <a:headEnd/>
            <a:tailEnd/>
          </a:ln>
        </p:spPr>
      </p:pic>
      <p:pic>
        <p:nvPicPr>
          <p:cNvPr id="6" name="Picture 8"/>
          <p:cNvPicPr>
            <a:picLocks noChangeAspect="1" noChangeArrowheads="1"/>
          </p:cNvPicPr>
          <p:nvPr/>
        </p:nvPicPr>
        <p:blipFill>
          <a:blip r:embed="rId4"/>
          <a:srcRect/>
          <a:stretch>
            <a:fillRect/>
          </a:stretch>
        </p:blipFill>
        <p:spPr bwMode="auto">
          <a:xfrm>
            <a:off x="2558711" y="5293264"/>
            <a:ext cx="2728432" cy="1038373"/>
          </a:xfrm>
          <a:prstGeom prst="rect">
            <a:avLst/>
          </a:prstGeom>
          <a:noFill/>
          <a:ln w="9525">
            <a:noFill/>
            <a:miter lim="800000"/>
            <a:headEnd/>
            <a:tailEnd/>
          </a:ln>
        </p:spPr>
      </p:pic>
      <p:pic>
        <p:nvPicPr>
          <p:cNvPr id="7" name="Picture 7"/>
          <p:cNvPicPr>
            <a:picLocks noChangeAspect="1" noChangeArrowheads="1"/>
          </p:cNvPicPr>
          <p:nvPr/>
        </p:nvPicPr>
        <p:blipFill>
          <a:blip r:embed="rId5"/>
          <a:srcRect/>
          <a:stretch>
            <a:fillRect/>
          </a:stretch>
        </p:blipFill>
        <p:spPr bwMode="auto">
          <a:xfrm>
            <a:off x="5691613" y="4968773"/>
            <a:ext cx="2681111" cy="1687356"/>
          </a:xfrm>
          <a:prstGeom prst="rect">
            <a:avLst/>
          </a:prstGeom>
          <a:noFill/>
          <a:ln w="9525">
            <a:noFill/>
            <a:miter lim="800000"/>
            <a:headEnd/>
            <a:tailEnd/>
          </a:ln>
        </p:spPr>
      </p:pic>
      <p:sp>
        <p:nvSpPr>
          <p:cNvPr id="8" name="Rectangle 7"/>
          <p:cNvSpPr/>
          <p:nvPr/>
        </p:nvSpPr>
        <p:spPr>
          <a:xfrm>
            <a:off x="6423262" y="4140898"/>
            <a:ext cx="1435008" cy="369332"/>
          </a:xfrm>
          <a:prstGeom prst="rect">
            <a:avLst/>
          </a:prstGeom>
        </p:spPr>
        <p:txBody>
          <a:bodyPr wrap="none">
            <a:spAutoFit/>
          </a:bodyPr>
          <a:lstStyle/>
          <a:p>
            <a:r>
              <a:rPr lang="en-US" dirty="0">
                <a:solidFill>
                  <a:srgbClr val="0000FF"/>
                </a:solidFill>
                <a:latin typeface="Arial" charset="0"/>
                <a:cs typeface="Arial" charset="0"/>
              </a:rPr>
              <a:t>H</a:t>
            </a:r>
            <a:r>
              <a:rPr lang="en-US" baseline="-25000" dirty="0">
                <a:solidFill>
                  <a:srgbClr val="0000FF"/>
                </a:solidFill>
                <a:latin typeface="Arial" charset="0"/>
                <a:cs typeface="Arial" charset="0"/>
              </a:rPr>
              <a:t>2</a:t>
            </a:r>
            <a:r>
              <a:rPr lang="en-US" dirty="0">
                <a:solidFill>
                  <a:srgbClr val="0000FF"/>
                </a:solidFill>
                <a:latin typeface="Arial" charset="0"/>
                <a:cs typeface="Arial" charset="0"/>
              </a:rPr>
              <a:t>O = polar</a:t>
            </a:r>
            <a:endParaRPr lang="en-US" dirty="0"/>
          </a:p>
        </p:txBody>
      </p:sp>
      <p:sp>
        <p:nvSpPr>
          <p:cNvPr id="9" name="Rectangle 8"/>
          <p:cNvSpPr/>
          <p:nvPr/>
        </p:nvSpPr>
        <p:spPr>
          <a:xfrm>
            <a:off x="738982" y="5627784"/>
            <a:ext cx="1819729" cy="369332"/>
          </a:xfrm>
          <a:prstGeom prst="rect">
            <a:avLst/>
          </a:prstGeom>
        </p:spPr>
        <p:txBody>
          <a:bodyPr wrap="none">
            <a:spAutoFit/>
          </a:bodyPr>
          <a:lstStyle/>
          <a:p>
            <a:r>
              <a:rPr lang="en-US" dirty="0">
                <a:solidFill>
                  <a:srgbClr val="0000FF"/>
                </a:solidFill>
                <a:latin typeface="Arial" charset="0"/>
                <a:cs typeface="Arial" charset="0"/>
              </a:rPr>
              <a:t>CO</a:t>
            </a:r>
            <a:r>
              <a:rPr lang="en-US" baseline="-25000" dirty="0">
                <a:solidFill>
                  <a:srgbClr val="0000FF"/>
                </a:solidFill>
                <a:latin typeface="Arial" charset="0"/>
                <a:cs typeface="Arial" charset="0"/>
              </a:rPr>
              <a:t>2</a:t>
            </a:r>
            <a:r>
              <a:rPr lang="en-US" dirty="0">
                <a:solidFill>
                  <a:srgbClr val="0000FF"/>
                </a:solidFill>
                <a:latin typeface="Arial" charset="0"/>
                <a:cs typeface="Arial" charset="0"/>
              </a:rPr>
              <a:t> = nonpolar</a:t>
            </a:r>
            <a:endParaRPr lang="en-US" dirty="0"/>
          </a:p>
        </p:txBody>
      </p:sp>
    </p:spTree>
    <p:extLst>
      <p:ext uri="{BB962C8B-B14F-4D97-AF65-F5344CB8AC3E}">
        <p14:creationId xmlns:p14="http://schemas.microsoft.com/office/powerpoint/2010/main" val="692868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a:defRPr/>
            </a:pPr>
            <a:endParaRPr lang="en-US"/>
          </a:p>
        </p:txBody>
      </p:sp>
      <p:sp>
        <p:nvSpPr>
          <p:cNvPr id="73730" name="Slide Number Placeholder 5"/>
          <p:cNvSpPr>
            <a:spLocks noGrp="1"/>
          </p:cNvSpPr>
          <p:nvPr>
            <p:ph type="sldNum" sz="quarter" idx="12"/>
          </p:nvPr>
        </p:nvSpPr>
        <p:spPr>
          <a:xfrm>
            <a:off x="8286750" y="6564313"/>
            <a:ext cx="658813" cy="312737"/>
          </a:xfrm>
          <a:noFill/>
          <a:ln>
            <a:miter lim="800000"/>
            <a:headEnd/>
            <a:tailEnd/>
          </a:ln>
        </p:spPr>
        <p:txBody>
          <a:bodyPr/>
          <a:lstStyle/>
          <a:p>
            <a:r>
              <a:rPr lang="en-US" sz="1800" b="0">
                <a:solidFill>
                  <a:srgbClr val="F6B000"/>
                </a:solidFill>
                <a:latin typeface="Calibri" pitchFamily="34" charset="0"/>
                <a:ea typeface="ＭＳ Ｐゴシック" charset="-128"/>
              </a:rPr>
              <a:t>9 -</a:t>
            </a:r>
            <a:fld id="{56F05056-393D-42FA-B942-3ECA71E9663F}" type="slidenum">
              <a:rPr lang="en-US" sz="1800" b="0" smtClean="0">
                <a:solidFill>
                  <a:srgbClr val="F6B000"/>
                </a:solidFill>
                <a:latin typeface="Calibri" pitchFamily="34" charset="0"/>
                <a:ea typeface="ＭＳ Ｐゴシック" charset="-128"/>
              </a:rPr>
              <a:pPr/>
              <a:t>21</a:t>
            </a:fld>
            <a:endParaRPr lang="en-US" sz="1800" b="0">
              <a:solidFill>
                <a:srgbClr val="F6B000"/>
              </a:solidFill>
              <a:latin typeface="Calibri" pitchFamily="34" charset="0"/>
              <a:ea typeface="ＭＳ Ｐゴシック" charset="-128"/>
            </a:endParaRPr>
          </a:p>
        </p:txBody>
      </p:sp>
      <p:pic>
        <p:nvPicPr>
          <p:cNvPr id="73731" name="Picture 1"/>
          <p:cNvPicPr>
            <a:picLocks noChangeAspect="1"/>
          </p:cNvPicPr>
          <p:nvPr/>
        </p:nvPicPr>
        <p:blipFill>
          <a:blip r:embed="rId2"/>
          <a:srcRect/>
          <a:stretch>
            <a:fillRect/>
          </a:stretch>
        </p:blipFill>
        <p:spPr bwMode="auto">
          <a:xfrm>
            <a:off x="0" y="25400"/>
            <a:ext cx="9144000" cy="6792913"/>
          </a:xfrm>
          <a:prstGeom prst="rect">
            <a:avLst/>
          </a:prstGeom>
          <a:noFill/>
          <a:ln w="9525">
            <a:noFill/>
            <a:miter lim="800000"/>
            <a:headEnd/>
            <a:tailEnd/>
          </a:ln>
        </p:spPr>
      </p:pic>
      <p:sp>
        <p:nvSpPr>
          <p:cNvPr id="73732" name="Slide Number Placeholder 3"/>
          <p:cNvSpPr txBox="1">
            <a:spLocks/>
          </p:cNvSpPr>
          <p:nvPr/>
        </p:nvSpPr>
        <p:spPr bwMode="auto">
          <a:xfrm>
            <a:off x="8534400" y="6543675"/>
            <a:ext cx="457200" cy="314325"/>
          </a:xfrm>
          <a:prstGeom prst="rect">
            <a:avLst/>
          </a:prstGeom>
          <a:noFill/>
          <a:ln w="9525">
            <a:noFill/>
            <a:miter lim="800000"/>
            <a:headEnd/>
            <a:tailEnd/>
          </a:ln>
        </p:spPr>
        <p:txBody>
          <a:bodyPr/>
          <a:lstStyle/>
          <a:p>
            <a:fld id="{51142932-1EF9-4598-9CB1-1B5C427343EB}" type="slidenum">
              <a:rPr lang="en-US">
                <a:solidFill>
                  <a:srgbClr val="FFCC66"/>
                </a:solidFill>
                <a:latin typeface="Calibri" pitchFamily="34" charset="0"/>
                <a:ea typeface="ＭＳ Ｐゴシック" charset="-128"/>
              </a:rPr>
              <a:pPr/>
              <a:t>21</a:t>
            </a:fld>
            <a:endParaRPr lang="en-US">
              <a:solidFill>
                <a:srgbClr val="FFCC66"/>
              </a:solidFill>
              <a:latin typeface="Calibri" pitchFamily="34" charset="0"/>
              <a:ea typeface="ＭＳ Ｐゴシック" charset="-128"/>
            </a:endParaRPr>
          </a:p>
        </p:txBody>
      </p:sp>
    </p:spTree>
    <p:extLst>
      <p:ext uri="{BB962C8B-B14F-4D97-AF65-F5344CB8AC3E}">
        <p14:creationId xmlns:p14="http://schemas.microsoft.com/office/powerpoint/2010/main" val="1056447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681" name="Picture 6"/>
          <p:cNvPicPr>
            <a:picLocks noChangeAspect="1" noChangeArrowheads="1"/>
          </p:cNvPicPr>
          <p:nvPr/>
        </p:nvPicPr>
        <p:blipFill rotWithShape="1">
          <a:blip r:embed="rId3"/>
          <a:srcRect l="9544" b="937"/>
          <a:stretch/>
        </p:blipFill>
        <p:spPr bwMode="auto">
          <a:xfrm>
            <a:off x="988695" y="1929359"/>
            <a:ext cx="7011785" cy="2815197"/>
          </a:xfrm>
          <a:prstGeom prst="rect">
            <a:avLst/>
          </a:prstGeom>
          <a:noFill/>
          <a:ln w="9525">
            <a:noFill/>
            <a:miter lim="800000"/>
            <a:headEnd/>
            <a:tailEnd/>
          </a:ln>
        </p:spPr>
      </p:pic>
      <p:sp>
        <p:nvSpPr>
          <p:cNvPr id="3" name="Title 2"/>
          <p:cNvSpPr>
            <a:spLocks noGrp="1"/>
          </p:cNvSpPr>
          <p:nvPr>
            <p:ph type="title"/>
          </p:nvPr>
        </p:nvSpPr>
        <p:spPr>
          <a:xfrm>
            <a:off x="2992582" y="437264"/>
            <a:ext cx="5761810" cy="1254759"/>
          </a:xfrm>
        </p:spPr>
        <p:txBody>
          <a:bodyPr/>
          <a:lstStyle/>
          <a:p>
            <a:r>
              <a:rPr lang="en-US" dirty="0"/>
              <a:t>Vibration Modes</a:t>
            </a:r>
          </a:p>
        </p:txBody>
      </p:sp>
      <p:pic>
        <p:nvPicPr>
          <p:cNvPr id="8" name="Picture 8"/>
          <p:cNvPicPr>
            <a:picLocks noChangeAspect="1" noChangeArrowheads="1"/>
          </p:cNvPicPr>
          <p:nvPr/>
        </p:nvPicPr>
        <p:blipFill>
          <a:blip r:embed="rId4"/>
          <a:srcRect/>
          <a:stretch>
            <a:fillRect/>
          </a:stretch>
        </p:blipFill>
        <p:spPr bwMode="auto">
          <a:xfrm>
            <a:off x="2695993" y="725338"/>
            <a:ext cx="1986844" cy="756142"/>
          </a:xfrm>
          <a:prstGeom prst="rect">
            <a:avLst/>
          </a:prstGeom>
          <a:noFill/>
          <a:ln w="9525">
            <a:noFill/>
            <a:miter lim="800000"/>
            <a:headEnd/>
            <a:tailEnd/>
          </a:ln>
        </p:spPr>
      </p:pic>
      <p:sp>
        <p:nvSpPr>
          <p:cNvPr id="7" name="Content Placeholder 2"/>
          <p:cNvSpPr>
            <a:spLocks noGrp="1"/>
          </p:cNvSpPr>
          <p:nvPr>
            <p:ph idx="1"/>
          </p:nvPr>
        </p:nvSpPr>
        <p:spPr>
          <a:xfrm>
            <a:off x="358148" y="4981893"/>
            <a:ext cx="8436751" cy="1580544"/>
          </a:xfrm>
        </p:spPr>
        <p:txBody>
          <a:bodyPr>
            <a:normAutofit/>
          </a:bodyPr>
          <a:lstStyle/>
          <a:p>
            <a:r>
              <a:rPr lang="en-US" dirty="0"/>
              <a:t>Absorption of energy by </a:t>
            </a:r>
            <a:r>
              <a:rPr lang="en-US" i="1" dirty="0"/>
              <a:t>MOLECULES</a:t>
            </a:r>
            <a:r>
              <a:rPr lang="en-US" dirty="0"/>
              <a:t>:</a:t>
            </a:r>
          </a:p>
          <a:p>
            <a:pPr lvl="1"/>
            <a:r>
              <a:rPr lang="en-US" dirty="0"/>
              <a:t>Absorb </a:t>
            </a:r>
            <a:r>
              <a:rPr lang="en-US" u="sng" dirty="0"/>
              <a:t>infrared radiation</a:t>
            </a:r>
            <a:r>
              <a:rPr lang="en-US" dirty="0"/>
              <a:t> if frequency matches frequency of vibration of IR active modes (‘excites’ them) </a:t>
            </a:r>
          </a:p>
          <a:p>
            <a:pPr lvl="1"/>
            <a:r>
              <a:rPr lang="en-US" dirty="0">
                <a:sym typeface="Wingdings" panose="05000000000000000000" pitchFamily="2" charset="2"/>
              </a:rPr>
              <a:t> </a:t>
            </a:r>
            <a:r>
              <a:rPr lang="en-US" dirty="0"/>
              <a:t>Basis of </a:t>
            </a:r>
            <a:r>
              <a:rPr lang="ja-JP" altLang="en-US" dirty="0"/>
              <a:t>“</a:t>
            </a:r>
            <a:r>
              <a:rPr lang="en-US" dirty="0"/>
              <a:t>greenhouse effect</a:t>
            </a:r>
            <a:r>
              <a:rPr lang="ja-JP" altLang="en-US" dirty="0"/>
              <a:t>”</a:t>
            </a:r>
            <a:endParaRPr lang="en-US" altLang="ja-JP" dirty="0"/>
          </a:p>
          <a:p>
            <a:pPr lvl="1"/>
            <a:endParaRPr lang="en-US" altLang="ja-JP" dirty="0"/>
          </a:p>
        </p:txBody>
      </p:sp>
      <p:sp>
        <p:nvSpPr>
          <p:cNvPr id="2" name="Slide Number Placeholder 1"/>
          <p:cNvSpPr>
            <a:spLocks noGrp="1"/>
          </p:cNvSpPr>
          <p:nvPr>
            <p:ph type="sldNum" sz="quarter" idx="12"/>
          </p:nvPr>
        </p:nvSpPr>
        <p:spPr/>
        <p:txBody>
          <a:bodyPr/>
          <a:lstStyle/>
          <a:p>
            <a:fld id="{63C103D7-7FC1-4B9F-A526-BC88A3C4AA47}" type="slidenum">
              <a:rPr lang="en-US" smtClean="0"/>
              <a:pPr/>
              <a:t>22</a:t>
            </a:fld>
            <a:endParaRPr lang="en-US" dirty="0"/>
          </a:p>
        </p:txBody>
      </p:sp>
    </p:spTree>
    <p:extLst>
      <p:ext uri="{BB962C8B-B14F-4D97-AF65-F5344CB8AC3E}">
        <p14:creationId xmlns:p14="http://schemas.microsoft.com/office/powerpoint/2010/main" val="338077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681"/>
                                        </p:tgtEl>
                                        <p:attrNameLst>
                                          <p:attrName>style.visibility</p:attrName>
                                        </p:attrNameLst>
                                      </p:cBhvr>
                                      <p:to>
                                        <p:strVal val="visible"/>
                                      </p:to>
                                    </p:set>
                                    <p:animEffect transition="in" filter="fade">
                                      <p:cBhvr>
                                        <p:cTn id="12" dur="500"/>
                                        <p:tgtEl>
                                          <p:spTgt spid="1996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500"/>
                                        <p:tgtEl>
                                          <p:spTgt spid="7">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500"/>
                                        <p:tgtEl>
                                          <p:spTgt spid="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28800" y="507846"/>
            <a:ext cx="7059507" cy="1254759"/>
          </a:xfrm>
        </p:spPr>
        <p:txBody>
          <a:bodyPr/>
          <a:lstStyle/>
          <a:p>
            <a:r>
              <a:rPr lang="en-US" sz="2800" dirty="0"/>
              <a:t>Your Microwave:</a:t>
            </a:r>
            <a:br>
              <a:rPr lang="en-US" sz="2800" dirty="0"/>
            </a:br>
            <a:r>
              <a:rPr lang="en-US" dirty="0"/>
              <a:t>How does it work?</a:t>
            </a:r>
          </a:p>
        </p:txBody>
      </p:sp>
      <p:sp>
        <p:nvSpPr>
          <p:cNvPr id="200705" name="Content Placeholder 2"/>
          <p:cNvSpPr>
            <a:spLocks noGrp="1"/>
          </p:cNvSpPr>
          <p:nvPr>
            <p:ph idx="1"/>
          </p:nvPr>
        </p:nvSpPr>
        <p:spPr>
          <a:xfrm>
            <a:off x="272832" y="1889450"/>
            <a:ext cx="8615475" cy="1967345"/>
          </a:xfrm>
        </p:spPr>
        <p:txBody>
          <a:bodyPr>
            <a:normAutofit fontScale="92500" lnSpcReduction="10000"/>
          </a:bodyPr>
          <a:lstStyle/>
          <a:p>
            <a:pPr marL="0" indent="0" algn="ctr">
              <a:buNone/>
            </a:pPr>
            <a:r>
              <a:rPr lang="en-US" dirty="0"/>
              <a:t>Polar Molecules!</a:t>
            </a:r>
          </a:p>
          <a:p>
            <a:r>
              <a:rPr lang="en-US" dirty="0"/>
              <a:t>Molecules with a dipole moment (H</a:t>
            </a:r>
            <a:r>
              <a:rPr lang="en-US" baseline="-25000" dirty="0"/>
              <a:t>2</a:t>
            </a:r>
            <a:r>
              <a:rPr lang="en-US" dirty="0"/>
              <a:t>O) rotate as they align themselves with the oscillating electric field of </a:t>
            </a:r>
            <a:r>
              <a:rPr lang="en-US" u="sng" dirty="0"/>
              <a:t>microwave light</a:t>
            </a:r>
          </a:p>
          <a:p>
            <a:r>
              <a:rPr lang="en-US" altLang="ja-JP" dirty="0"/>
              <a:t>Rotating molecules hit other molecules, sending them into motion </a:t>
            </a:r>
          </a:p>
          <a:p>
            <a:r>
              <a:rPr lang="en-US" altLang="ja-JP" dirty="0"/>
              <a:t>Absorbed microwave energy is thus converted to kinetic energy of the molecules </a:t>
            </a:r>
            <a:r>
              <a:rPr lang="en-US" altLang="ja-JP" dirty="0">
                <a:sym typeface="Wingdings" panose="05000000000000000000" pitchFamily="2" charset="2"/>
              </a:rPr>
              <a:t> HEAT!</a:t>
            </a:r>
            <a:endParaRPr lang="en-US" dirty="0"/>
          </a:p>
          <a:p>
            <a:pPr lvl="1"/>
            <a:endParaRPr lang="en-US" dirty="0"/>
          </a:p>
        </p:txBody>
      </p:sp>
      <p:pic>
        <p:nvPicPr>
          <p:cNvPr id="16386" name="Picture 2" descr="http://d3gqasl9vmjfd8.cloudfront.net/cf132252-b13a-42d7-83b7-05b07cec352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9090" y="3983640"/>
            <a:ext cx="3685790" cy="276434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63C103D7-7FC1-4B9F-A526-BC88A3C4AA47}" type="slidenum">
              <a:rPr lang="en-US" smtClean="0"/>
              <a:pPr/>
              <a:t>23</a:t>
            </a:fld>
            <a:endParaRPr lang="en-US" dirty="0"/>
          </a:p>
        </p:txBody>
      </p:sp>
    </p:spTree>
    <p:extLst>
      <p:ext uri="{BB962C8B-B14F-4D97-AF65-F5344CB8AC3E}">
        <p14:creationId xmlns:p14="http://schemas.microsoft.com/office/powerpoint/2010/main" val="399881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705">
                                            <p:txEl>
                                              <p:pRg st="0" end="0"/>
                                            </p:txEl>
                                          </p:spTgt>
                                        </p:tgtEl>
                                        <p:attrNameLst>
                                          <p:attrName>style.visibility</p:attrName>
                                        </p:attrNameLst>
                                      </p:cBhvr>
                                      <p:to>
                                        <p:strVal val="visible"/>
                                      </p:to>
                                    </p:set>
                                    <p:animEffect transition="in" filter="fade">
                                      <p:cBhvr>
                                        <p:cTn id="7" dur="500"/>
                                        <p:tgtEl>
                                          <p:spTgt spid="20070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0705">
                                            <p:txEl>
                                              <p:pRg st="1" end="1"/>
                                            </p:txEl>
                                          </p:spTgt>
                                        </p:tgtEl>
                                        <p:attrNameLst>
                                          <p:attrName>style.visibility</p:attrName>
                                        </p:attrNameLst>
                                      </p:cBhvr>
                                      <p:to>
                                        <p:strVal val="visible"/>
                                      </p:to>
                                    </p:set>
                                    <p:animEffect transition="in" filter="fade">
                                      <p:cBhvr>
                                        <p:cTn id="11" dur="500"/>
                                        <p:tgtEl>
                                          <p:spTgt spid="20070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0705">
                                            <p:txEl>
                                              <p:pRg st="2" end="2"/>
                                            </p:txEl>
                                          </p:spTgt>
                                        </p:tgtEl>
                                        <p:attrNameLst>
                                          <p:attrName>style.visibility</p:attrName>
                                        </p:attrNameLst>
                                      </p:cBhvr>
                                      <p:to>
                                        <p:strVal val="visible"/>
                                      </p:to>
                                    </p:set>
                                    <p:animEffect transition="in" filter="fade">
                                      <p:cBhvr>
                                        <p:cTn id="16" dur="500"/>
                                        <p:tgtEl>
                                          <p:spTgt spid="20070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0705">
                                            <p:txEl>
                                              <p:pRg st="3" end="3"/>
                                            </p:txEl>
                                          </p:spTgt>
                                        </p:tgtEl>
                                        <p:attrNameLst>
                                          <p:attrName>style.visibility</p:attrName>
                                        </p:attrNameLst>
                                      </p:cBhvr>
                                      <p:to>
                                        <p:strVal val="visible"/>
                                      </p:to>
                                    </p:set>
                                    <p:animEffect transition="in" filter="fade">
                                      <p:cBhvr>
                                        <p:cTn id="21" dur="500"/>
                                        <p:tgtEl>
                                          <p:spTgt spid="20070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hem105">
      <a:majorFont>
        <a:latin typeface="Comic Sans MS"/>
        <a:ea typeface=""/>
        <a:cs typeface=""/>
      </a:majorFont>
      <a:minorFont>
        <a:latin typeface="Arial"/>
        <a:ea typeface=""/>
        <a:cs typeface=""/>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Rounded MT Bol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00"/>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Chem105">
      <a:majorFont>
        <a:latin typeface="Comic Sans MS"/>
        <a:ea typeface=""/>
        <a:cs typeface=""/>
      </a:majorFont>
      <a:minorFont>
        <a:latin typeface="Arial"/>
        <a:ea typeface=""/>
        <a:cs typeface=""/>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29251</TotalTime>
  <Words>2091</Words>
  <Application>Microsoft Office PowerPoint</Application>
  <PresentationFormat>On-screen Show (4:3)</PresentationFormat>
  <Paragraphs>263</Paragraphs>
  <Slides>23</Slides>
  <Notes>18</Notes>
  <HiddenSlides>0</HiddenSlides>
  <MMClips>0</MMClips>
  <ScaleCrop>false</ScaleCrop>
  <HeadingPairs>
    <vt:vector size="8" baseType="variant">
      <vt:variant>
        <vt:lpstr>Fonts Used</vt:lpstr>
      </vt:variant>
      <vt:variant>
        <vt:i4>14</vt:i4>
      </vt:variant>
      <vt:variant>
        <vt:lpstr>Theme</vt:lpstr>
      </vt:variant>
      <vt:variant>
        <vt:i4>3</vt:i4>
      </vt:variant>
      <vt:variant>
        <vt:lpstr>Embedded OLE Servers</vt:lpstr>
      </vt:variant>
      <vt:variant>
        <vt:i4>1</vt:i4>
      </vt:variant>
      <vt:variant>
        <vt:lpstr>Slide Titles</vt:lpstr>
      </vt:variant>
      <vt:variant>
        <vt:i4>23</vt:i4>
      </vt:variant>
    </vt:vector>
  </HeadingPairs>
  <TitlesOfParts>
    <vt:vector size="41" baseType="lpstr">
      <vt:lpstr>ＭＳ Ｐゴシック</vt:lpstr>
      <vt:lpstr>Arial</vt:lpstr>
      <vt:lpstr>Arial Black</vt:lpstr>
      <vt:lpstr>Arial Rounded MT Bold</vt:lpstr>
      <vt:lpstr>Bradley Hand ITC</vt:lpstr>
      <vt:lpstr>Calibri</vt:lpstr>
      <vt:lpstr>Cambria Math</vt:lpstr>
      <vt:lpstr>Comic Sans MS</vt:lpstr>
      <vt:lpstr>Gill Sans</vt:lpstr>
      <vt:lpstr>Helvetica</vt:lpstr>
      <vt:lpstr>Times</vt:lpstr>
      <vt:lpstr>Times New Roman</vt:lpstr>
      <vt:lpstr>Wingdings</vt:lpstr>
      <vt:lpstr>Wingdings 3</vt:lpstr>
      <vt:lpstr>1_Vapor Trail</vt:lpstr>
      <vt:lpstr>1_Default Design</vt:lpstr>
      <vt:lpstr>2_Vapor Trail</vt:lpstr>
      <vt:lpstr>Equation</vt:lpstr>
      <vt:lpstr>CHEM 105 Sections 31-49</vt:lpstr>
      <vt:lpstr>Lecture 12: 4.1, 4.2, 4.6, 4.9, 5.3 </vt:lpstr>
      <vt:lpstr>Chemistry</vt:lpstr>
      <vt:lpstr>Structure</vt:lpstr>
      <vt:lpstr>Bonding</vt:lpstr>
      <vt:lpstr>Energy  as two H Atoms Come Together</vt:lpstr>
      <vt:lpstr>iClicker Quiz</vt:lpstr>
      <vt:lpstr>iClicker Quiz</vt:lpstr>
      <vt:lpstr>Energy  as two H Atoms Come Together</vt:lpstr>
      <vt:lpstr>2 extremes of bonding</vt:lpstr>
      <vt:lpstr>Electronegativity</vt:lpstr>
      <vt:lpstr>Chemical Bonds</vt:lpstr>
      <vt:lpstr>Ionic Bonds FOR THOSE ATOMS WHO DON’T LIKE TO SHARE</vt:lpstr>
      <vt:lpstr>Lattice Energy</vt:lpstr>
      <vt:lpstr>iClicker Quiz</vt:lpstr>
      <vt:lpstr>Covalent bonds  </vt:lpstr>
      <vt:lpstr>Polar bonds</vt:lpstr>
      <vt:lpstr>Dipole Moment</vt:lpstr>
      <vt:lpstr>iClicker Quiz</vt:lpstr>
      <vt:lpstr>Polar Molecules</vt:lpstr>
      <vt:lpstr>PowerPoint Presentation</vt:lpstr>
      <vt:lpstr>Vibration Modes</vt:lpstr>
      <vt:lpstr>Your Microwave: How does it work?</vt:lpstr>
    </vt:vector>
  </TitlesOfParts>
  <Company>Brigham Young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 105 Sections 1-20</dc:title>
  <dc:creator>sjl59</dc:creator>
  <cp:lastModifiedBy>Stacey Smith</cp:lastModifiedBy>
  <cp:revision>1723</cp:revision>
  <dcterms:created xsi:type="dcterms:W3CDTF">2013-12-07T22:53:23Z</dcterms:created>
  <dcterms:modified xsi:type="dcterms:W3CDTF">2024-10-02T21:18:26Z</dcterms:modified>
</cp:coreProperties>
</file>