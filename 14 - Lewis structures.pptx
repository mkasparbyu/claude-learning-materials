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7" r:id="rId1"/>
    <p:sldMasterId id="2147484046" r:id="rId2"/>
    <p:sldMasterId id="2147484061" r:id="rId3"/>
  </p:sldMasterIdLst>
  <p:notesMasterIdLst>
    <p:notesMasterId r:id="rId26"/>
  </p:notesMasterIdLst>
  <p:handoutMasterIdLst>
    <p:handoutMasterId r:id="rId27"/>
  </p:handoutMasterIdLst>
  <p:sldIdLst>
    <p:sldId id="1204" r:id="rId4"/>
    <p:sldId id="954" r:id="rId5"/>
    <p:sldId id="1180" r:id="rId6"/>
    <p:sldId id="1181" r:id="rId7"/>
    <p:sldId id="1182" r:id="rId8"/>
    <p:sldId id="1183" r:id="rId9"/>
    <p:sldId id="1184" r:id="rId10"/>
    <p:sldId id="1185" r:id="rId11"/>
    <p:sldId id="1186" r:id="rId12"/>
    <p:sldId id="1199" r:id="rId13"/>
    <p:sldId id="1117" r:id="rId14"/>
    <p:sldId id="1118" r:id="rId15"/>
    <p:sldId id="1011" r:id="rId16"/>
    <p:sldId id="1092" r:id="rId17"/>
    <p:sldId id="1103" r:id="rId18"/>
    <p:sldId id="1078" r:id="rId19"/>
    <p:sldId id="1203" r:id="rId20"/>
    <p:sldId id="1202" r:id="rId21"/>
    <p:sldId id="1198" r:id="rId22"/>
    <p:sldId id="1135" r:id="rId23"/>
    <p:sldId id="1136" r:id="rId24"/>
    <p:sldId id="1149" r:id="rId25"/>
  </p:sldIdLst>
  <p:sldSz cx="9144000" cy="6858000" type="screen4x3"/>
  <p:notesSz cx="7026275" cy="9312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smith" initials="sjs" lastIdx="1" clrIdx="0">
    <p:extLst>
      <p:ext uri="{19B8F6BF-5375-455C-9EA6-DF929625EA0E}">
        <p15:presenceInfo xmlns:p15="http://schemas.microsoft.com/office/powerpoint/2012/main" userId="ssmit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D95F30"/>
    <a:srgbClr val="3300FF"/>
    <a:srgbClr val="CC00CC"/>
    <a:srgbClr val="69ACE2"/>
    <a:srgbClr val="FE801A"/>
    <a:srgbClr val="808080"/>
    <a:srgbClr val="0000FF"/>
    <a:srgbClr val="FCC9B2"/>
    <a:srgbClr val="008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717" autoAdjust="0"/>
    <p:restoredTop sz="78112" autoAdjust="0"/>
  </p:normalViewPr>
  <p:slideViewPr>
    <p:cSldViewPr snapToGrid="0">
      <p:cViewPr varScale="1">
        <p:scale>
          <a:sx n="83" d="100"/>
          <a:sy n="83" d="100"/>
        </p:scale>
        <p:origin x="130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commentAuthors" Target="commentAuthor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45356" cy="467522"/>
          </a:xfrm>
          <a:prstGeom prst="rect">
            <a:avLst/>
          </a:prstGeom>
        </p:spPr>
        <p:txBody>
          <a:bodyPr vert="horz" lIns="91614" tIns="45807" rIns="91614" bIns="45807" rtlCol="0"/>
          <a:lstStyle>
            <a:lvl1pPr algn="l">
              <a:defRPr sz="1200"/>
            </a:lvl1pPr>
          </a:lstStyle>
          <a:p>
            <a:endParaRPr lang="en-US"/>
          </a:p>
        </p:txBody>
      </p:sp>
      <p:sp>
        <p:nvSpPr>
          <p:cNvPr id="3" name="Date Placeholder 2"/>
          <p:cNvSpPr>
            <a:spLocks noGrp="1"/>
          </p:cNvSpPr>
          <p:nvPr>
            <p:ph type="dt" sz="quarter" idx="1"/>
          </p:nvPr>
        </p:nvSpPr>
        <p:spPr>
          <a:xfrm>
            <a:off x="3979329" y="1"/>
            <a:ext cx="3045356" cy="467522"/>
          </a:xfrm>
          <a:prstGeom prst="rect">
            <a:avLst/>
          </a:prstGeom>
        </p:spPr>
        <p:txBody>
          <a:bodyPr vert="horz" lIns="91614" tIns="45807" rIns="91614" bIns="45807" rtlCol="0"/>
          <a:lstStyle>
            <a:lvl1pPr algn="r">
              <a:defRPr sz="1200"/>
            </a:lvl1pPr>
          </a:lstStyle>
          <a:p>
            <a:fld id="{0958EC4B-F298-4D75-8A74-414E6ACC7730}" type="datetimeFigureOut">
              <a:rPr lang="en-US" smtClean="0"/>
              <a:t>10/7/2024</a:t>
            </a:fld>
            <a:endParaRPr lang="en-US"/>
          </a:p>
        </p:txBody>
      </p:sp>
      <p:sp>
        <p:nvSpPr>
          <p:cNvPr id="4" name="Footer Placeholder 3"/>
          <p:cNvSpPr>
            <a:spLocks noGrp="1"/>
          </p:cNvSpPr>
          <p:nvPr>
            <p:ph type="ftr" sz="quarter" idx="2"/>
          </p:nvPr>
        </p:nvSpPr>
        <p:spPr>
          <a:xfrm>
            <a:off x="0" y="8844753"/>
            <a:ext cx="3045356" cy="467522"/>
          </a:xfrm>
          <a:prstGeom prst="rect">
            <a:avLst/>
          </a:prstGeom>
        </p:spPr>
        <p:txBody>
          <a:bodyPr vert="horz" lIns="91614" tIns="45807" rIns="91614" bIns="45807" rtlCol="0" anchor="b"/>
          <a:lstStyle>
            <a:lvl1pPr algn="l">
              <a:defRPr sz="1200"/>
            </a:lvl1pPr>
          </a:lstStyle>
          <a:p>
            <a:endParaRPr lang="en-US"/>
          </a:p>
        </p:txBody>
      </p:sp>
      <p:sp>
        <p:nvSpPr>
          <p:cNvPr id="5" name="Slide Number Placeholder 4"/>
          <p:cNvSpPr>
            <a:spLocks noGrp="1"/>
          </p:cNvSpPr>
          <p:nvPr>
            <p:ph type="sldNum" sz="quarter" idx="3"/>
          </p:nvPr>
        </p:nvSpPr>
        <p:spPr>
          <a:xfrm>
            <a:off x="3979329" y="8844753"/>
            <a:ext cx="3045356" cy="467522"/>
          </a:xfrm>
          <a:prstGeom prst="rect">
            <a:avLst/>
          </a:prstGeom>
        </p:spPr>
        <p:txBody>
          <a:bodyPr vert="horz" lIns="91614" tIns="45807" rIns="91614" bIns="45807" rtlCol="0" anchor="b"/>
          <a:lstStyle>
            <a:lvl1pPr algn="r">
              <a:defRPr sz="1200"/>
            </a:lvl1pPr>
          </a:lstStyle>
          <a:p>
            <a:fld id="{BD2E1675-63A8-4410-8183-9415527853AC}" type="slidenum">
              <a:rPr lang="en-US" smtClean="0"/>
              <a:t>‹#›</a:t>
            </a:fld>
            <a:endParaRPr lang="en-US"/>
          </a:p>
        </p:txBody>
      </p:sp>
    </p:spTree>
    <p:extLst>
      <p:ext uri="{BB962C8B-B14F-4D97-AF65-F5344CB8AC3E}">
        <p14:creationId xmlns:p14="http://schemas.microsoft.com/office/powerpoint/2010/main" val="25421604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4719" cy="467231"/>
          </a:xfrm>
          <a:prstGeom prst="rect">
            <a:avLst/>
          </a:prstGeom>
        </p:spPr>
        <p:txBody>
          <a:bodyPr vert="horz" lIns="93354" tIns="46678" rIns="93354" bIns="46678" rtlCol="0"/>
          <a:lstStyle>
            <a:lvl1pPr algn="l">
              <a:defRPr sz="1200"/>
            </a:lvl1pPr>
          </a:lstStyle>
          <a:p>
            <a:endParaRPr lang="en-US"/>
          </a:p>
        </p:txBody>
      </p:sp>
      <p:sp>
        <p:nvSpPr>
          <p:cNvPr id="3" name="Date Placeholder 2"/>
          <p:cNvSpPr>
            <a:spLocks noGrp="1"/>
          </p:cNvSpPr>
          <p:nvPr>
            <p:ph type="dt" idx="1"/>
          </p:nvPr>
        </p:nvSpPr>
        <p:spPr>
          <a:xfrm>
            <a:off x="3979930" y="0"/>
            <a:ext cx="3044719" cy="467231"/>
          </a:xfrm>
          <a:prstGeom prst="rect">
            <a:avLst/>
          </a:prstGeom>
        </p:spPr>
        <p:txBody>
          <a:bodyPr vert="horz" lIns="93354" tIns="46678" rIns="93354" bIns="46678" rtlCol="0"/>
          <a:lstStyle>
            <a:lvl1pPr algn="r">
              <a:defRPr sz="1200"/>
            </a:lvl1pPr>
          </a:lstStyle>
          <a:p>
            <a:fld id="{F99C5FB8-2BC1-48CF-8C14-FD37E4AB200A}" type="datetimeFigureOut">
              <a:rPr lang="en-US" smtClean="0"/>
              <a:t>10/7/2024</a:t>
            </a:fld>
            <a:endParaRPr lang="en-US"/>
          </a:p>
        </p:txBody>
      </p:sp>
      <p:sp>
        <p:nvSpPr>
          <p:cNvPr id="4" name="Slide Image Placeholder 3"/>
          <p:cNvSpPr>
            <a:spLocks noGrp="1" noRot="1" noChangeAspect="1"/>
          </p:cNvSpPr>
          <p:nvPr>
            <p:ph type="sldImg" idx="2"/>
          </p:nvPr>
        </p:nvSpPr>
        <p:spPr>
          <a:xfrm>
            <a:off x="1417638" y="1163638"/>
            <a:ext cx="4191000" cy="3143250"/>
          </a:xfrm>
          <a:prstGeom prst="rect">
            <a:avLst/>
          </a:prstGeom>
          <a:noFill/>
          <a:ln w="12700">
            <a:solidFill>
              <a:prstClr val="black"/>
            </a:solidFill>
          </a:ln>
        </p:spPr>
        <p:txBody>
          <a:bodyPr vert="horz" lIns="93354" tIns="46678" rIns="93354" bIns="46678" rtlCol="0" anchor="ctr"/>
          <a:lstStyle/>
          <a:p>
            <a:endParaRPr lang="en-US"/>
          </a:p>
        </p:txBody>
      </p:sp>
      <p:sp>
        <p:nvSpPr>
          <p:cNvPr id="5" name="Notes Placeholder 4"/>
          <p:cNvSpPr>
            <a:spLocks noGrp="1"/>
          </p:cNvSpPr>
          <p:nvPr>
            <p:ph type="body" sz="quarter" idx="3"/>
          </p:nvPr>
        </p:nvSpPr>
        <p:spPr>
          <a:xfrm>
            <a:off x="702628" y="4481532"/>
            <a:ext cx="5621020" cy="3666709"/>
          </a:xfrm>
          <a:prstGeom prst="rect">
            <a:avLst/>
          </a:prstGeom>
        </p:spPr>
        <p:txBody>
          <a:bodyPr vert="horz" lIns="93354" tIns="46678" rIns="93354" bIns="4667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5046"/>
            <a:ext cx="3044719" cy="467230"/>
          </a:xfrm>
          <a:prstGeom prst="rect">
            <a:avLst/>
          </a:prstGeom>
        </p:spPr>
        <p:txBody>
          <a:bodyPr vert="horz" lIns="93354" tIns="46678" rIns="93354" bIns="46678" rtlCol="0" anchor="b"/>
          <a:lstStyle>
            <a:lvl1pPr algn="l">
              <a:defRPr sz="1200"/>
            </a:lvl1pPr>
          </a:lstStyle>
          <a:p>
            <a:endParaRPr lang="en-US"/>
          </a:p>
        </p:txBody>
      </p:sp>
      <p:sp>
        <p:nvSpPr>
          <p:cNvPr id="7" name="Slide Number Placeholder 6"/>
          <p:cNvSpPr>
            <a:spLocks noGrp="1"/>
          </p:cNvSpPr>
          <p:nvPr>
            <p:ph type="sldNum" sz="quarter" idx="5"/>
          </p:nvPr>
        </p:nvSpPr>
        <p:spPr>
          <a:xfrm>
            <a:off x="3979930" y="8845046"/>
            <a:ext cx="3044719" cy="467230"/>
          </a:xfrm>
          <a:prstGeom prst="rect">
            <a:avLst/>
          </a:prstGeom>
        </p:spPr>
        <p:txBody>
          <a:bodyPr vert="horz" lIns="93354" tIns="46678" rIns="93354" bIns="46678" rtlCol="0" anchor="b"/>
          <a:lstStyle>
            <a:lvl1pPr algn="r">
              <a:defRPr sz="1200"/>
            </a:lvl1pPr>
          </a:lstStyle>
          <a:p>
            <a:fld id="{D445C113-44B0-414C-863A-2726420E4BC4}" type="slidenum">
              <a:rPr lang="en-US" smtClean="0"/>
              <a:t>‹#›</a:t>
            </a:fld>
            <a:endParaRPr lang="en-US"/>
          </a:p>
        </p:txBody>
      </p:sp>
    </p:spTree>
    <p:extLst>
      <p:ext uri="{BB962C8B-B14F-4D97-AF65-F5344CB8AC3E}">
        <p14:creationId xmlns:p14="http://schemas.microsoft.com/office/powerpoint/2010/main" val="331395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en.wikipedia.org/wiki/Acrylic_fiber" TargetMode="External"/><Relationship Id="rId7" Type="http://schemas.openxmlformats.org/officeDocument/2006/relationships/hyperlink" Target="https://en.wikipedia.org/wiki/Acrylate"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en.wikipedia.org/wiki/Acrylonitrile" TargetMode="External"/><Relationship Id="rId5" Type="http://schemas.openxmlformats.org/officeDocument/2006/relationships/hyperlink" Target="https://en.wikipedia.org/wiki/Styrene" TargetMode="External"/><Relationship Id="rId4" Type="http://schemas.openxmlformats.org/officeDocument/2006/relationships/hyperlink" Target="https://en.wikipedia.org/wiki/Orlon"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00000"/>
                </a:solidFill>
                <a:effectLst/>
                <a:latin typeface="Source Sans Pro" panose="020B0604020202020204" pitchFamily="34" charset="0"/>
              </a:rPr>
              <a:t>“When you are being hammered on the anvil of adversity, when your soul is being refined with severe lessons that perhaps can be learned no other way, don’t cut and run,” he told BYU students. “Don’t jump ship. Don’t shake your fist at your bishop or your mission president or God. Please stay with the only help and strength that can aid you in that painful time. </a:t>
            </a:r>
          </a:p>
          <a:p>
            <a:pPr algn="l"/>
            <a:r>
              <a:rPr lang="en-US" b="0" i="0" dirty="0">
                <a:solidFill>
                  <a:srgbClr val="000000"/>
                </a:solidFill>
                <a:effectLst/>
                <a:latin typeface="Source Sans Pro" panose="020B0604020202020204" pitchFamily="34" charset="0"/>
              </a:rPr>
              <a:t>“When you stumble in the race of life, don’t crawl away from the very Physician who is unfailingly there to treat your injuries, lift you to your feet and help you finish the course.”</a:t>
            </a:r>
          </a:p>
          <a:p>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3183071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a:noFill/>
          <a:ln/>
        </p:spPr>
        <p:txBody>
          <a:bodyPr/>
          <a:lstStyle/>
          <a:p>
            <a:r>
              <a:rPr lang="en-US" dirty="0"/>
              <a:t>Learning Objectives:</a:t>
            </a:r>
          </a:p>
          <a:p>
            <a:pPr marL="525119" indent="-525119">
              <a:buAutoNum type="arabicPeriod"/>
            </a:pPr>
            <a:r>
              <a:rPr lang="en-US" dirty="0"/>
              <a:t>Draw Lewis Dot Structures for simple ionic and molecular compounds</a:t>
            </a:r>
          </a:p>
          <a:p>
            <a:pPr marL="525119" indent="-525119">
              <a:buAutoNum type="arabicPeriod"/>
            </a:pPr>
            <a:r>
              <a:rPr lang="en-US" dirty="0"/>
              <a:t>Calculate bond order </a:t>
            </a:r>
          </a:p>
          <a:p>
            <a:pPr marL="525119" indent="-525119">
              <a:buAutoNum type="arabicPeriod"/>
            </a:pPr>
            <a:r>
              <a:rPr lang="en-US" dirty="0"/>
              <a:t>Relate bond order, bond strength, and bond length</a:t>
            </a:r>
          </a:p>
          <a:p>
            <a:pPr marL="525119" indent="-525119">
              <a:buAutoNum type="arabicPeriod"/>
            </a:pPr>
            <a:r>
              <a:rPr lang="en-US" dirty="0"/>
              <a:t>Draw Resonance structures </a:t>
            </a:r>
          </a:p>
          <a:p>
            <a:pPr marL="525119" indent="-525119">
              <a:buAutoNum type="arabicPeriod"/>
            </a:pPr>
            <a:r>
              <a:rPr lang="en-US" dirty="0"/>
              <a:t>Assign formal charges &amp; choose best resonance structures</a:t>
            </a:r>
          </a:p>
          <a:p>
            <a:pPr marL="525119" indent="-525119">
              <a:buAutoNum type="arabicPeriod"/>
            </a:pPr>
            <a:r>
              <a:rPr lang="en-US" dirty="0"/>
              <a:t>Understand limitations</a:t>
            </a:r>
            <a:r>
              <a:rPr lang="en-US" baseline="0" dirty="0"/>
              <a:t> of Lewis dot structures &amp; exceptions to the octet rule</a:t>
            </a:r>
            <a:endParaRPr lang="en-US" dirty="0"/>
          </a:p>
          <a:p>
            <a:pPr marL="525119" indent="-525119">
              <a:buAutoNum type="arabicPeriod"/>
            </a:pPr>
            <a:endParaRPr lang="en-US" dirty="0"/>
          </a:p>
          <a:p>
            <a:pPr marL="525119" indent="-525119">
              <a:buAutoNum type="arabicPeriod"/>
            </a:pPr>
            <a:endParaRPr lang="en-US" dirty="0"/>
          </a:p>
          <a:p>
            <a:pPr marL="525119" indent="-525119">
              <a:buFont typeface="+mj-lt"/>
              <a:buAutoNum type="arabicPeriod"/>
            </a:pPr>
            <a:endParaRPr lang="en-US" dirty="0"/>
          </a:p>
          <a:p>
            <a:pPr eaLnBrk="1" hangingPunct="1"/>
            <a:endParaRPr lang="en-US" dirty="0">
              <a:latin typeface="Times" pitchFamily="-96" charset="0"/>
            </a:endParaRPr>
          </a:p>
        </p:txBody>
      </p:sp>
    </p:spTree>
    <p:extLst>
      <p:ext uri="{BB962C8B-B14F-4D97-AF65-F5344CB8AC3E}">
        <p14:creationId xmlns:p14="http://schemas.microsoft.com/office/powerpoint/2010/main" val="2816092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How can we know this (without Google)?</a:t>
            </a:r>
          </a:p>
          <a:p>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3</a:t>
            </a:fld>
            <a:endParaRPr lang="en-US"/>
          </a:p>
        </p:txBody>
      </p:sp>
    </p:spTree>
    <p:extLst>
      <p:ext uri="{BB962C8B-B14F-4D97-AF65-F5344CB8AC3E}">
        <p14:creationId xmlns:p14="http://schemas.microsoft.com/office/powerpoint/2010/main" val="1678519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Rot="1" noChangeAspect="1" noChangeArrowheads="1" noTextEdit="1"/>
          </p:cNvSpPr>
          <p:nvPr>
            <p:ph type="sldImg"/>
          </p:nvPr>
        </p:nvSpPr>
        <p:spPr>
          <a:ln/>
        </p:spPr>
      </p:sp>
      <p:sp>
        <p:nvSpPr>
          <p:cNvPr id="24578" name="Rectangle 3"/>
          <p:cNvSpPr>
            <a:spLocks noGrp="1" noChangeArrowheads="1"/>
          </p:cNvSpPr>
          <p:nvPr>
            <p:ph type="body" idx="1"/>
          </p:nvPr>
        </p:nvSpPr>
        <p:spPr>
          <a:noFill/>
          <a:ln w="9525"/>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ea typeface="ＭＳ Ｐゴシック" charset="0"/>
                <a:cs typeface="ＭＳ Ｐゴシック" charset="0"/>
              </a:rPr>
              <a:t>Now, Lewis predated quantum mechanics &amp; the idea that electrons move</a:t>
            </a:r>
            <a:r>
              <a:rPr lang="en-US" baseline="0" dirty="0">
                <a:ea typeface="ＭＳ Ｐゴシック" charset="0"/>
                <a:cs typeface="ＭＳ Ｐゴシック" charset="0"/>
              </a:rPr>
              <a:t> as</a:t>
            </a:r>
            <a:r>
              <a:rPr lang="en-US" dirty="0">
                <a:ea typeface="ＭＳ Ｐゴシック" charset="0"/>
                <a:cs typeface="ＭＳ Ｐゴシック" charset="0"/>
              </a:rPr>
              <a:t> standing waves, so he still thought of</a:t>
            </a:r>
            <a:r>
              <a:rPr lang="en-US" baseline="0" dirty="0">
                <a:ea typeface="ＭＳ Ｐゴシック" charset="0"/>
                <a:cs typeface="ＭＳ Ｐゴシック" charset="0"/>
              </a:rPr>
              <a:t> electrons as baseballs.</a:t>
            </a:r>
          </a:p>
          <a:p>
            <a:r>
              <a:rPr lang="en-US" baseline="0" dirty="0">
                <a:ea typeface="ＭＳ Ｐゴシック" charset="0"/>
                <a:cs typeface="ＭＳ Ｐゴシック" charset="0"/>
              </a:rPr>
              <a:t>Or dots, as the case may be</a:t>
            </a:r>
          </a:p>
          <a:p>
            <a:endParaRPr lang="en-US" baseline="0" dirty="0">
              <a:ea typeface="ＭＳ Ｐゴシック" charset="0"/>
              <a:cs typeface="ＭＳ Ｐゴシック" charset="0"/>
            </a:endParaRPr>
          </a:p>
          <a:p>
            <a:r>
              <a:rPr lang="en-US" dirty="0">
                <a:ea typeface="ＭＳ Ｐゴシック" charset="0"/>
                <a:cs typeface="ＭＳ Ｐゴシック" charset="0"/>
              </a:rPr>
              <a:t>"A detective with his murder mystery, a chemist seeking the structure of a new compound, use little of the formal and logical modes of reasoning. Through a series of intuitions, surmises, fancies, they stumble upon the right explanation, and have a knack of seizing it when it once comes within reach." ~ Gilbert N. Lewis</a:t>
            </a:r>
          </a:p>
        </p:txBody>
      </p:sp>
    </p:spTree>
    <p:extLst>
      <p:ext uri="{BB962C8B-B14F-4D97-AF65-F5344CB8AC3E}">
        <p14:creationId xmlns:p14="http://schemas.microsoft.com/office/powerpoint/2010/main" val="972950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Hhmmm</a:t>
            </a:r>
            <a:r>
              <a:rPr lang="en-US" dirty="0"/>
              <a:t>… notice a pattern here?</a:t>
            </a:r>
          </a:p>
          <a:p>
            <a:r>
              <a:rPr lang="en-US" dirty="0"/>
              <a:t>As we talked</a:t>
            </a:r>
            <a:r>
              <a:rPr lang="en-US" baseline="0" dirty="0"/>
              <a:t> about previously, atoms tend to gain or lose e- until they have 8 valence electrons – or the same electron configuration as the nearest noble gas (filled s and p subshells)</a:t>
            </a:r>
          </a:p>
          <a:p>
            <a:r>
              <a:rPr lang="en-US" baseline="0" dirty="0"/>
              <a:t>GN Lewis’s grand idea was that if ions tend to do this, why not atoms in covalent bonds?</a:t>
            </a:r>
          </a:p>
          <a:p>
            <a:r>
              <a:rPr lang="en-US" baseline="0" dirty="0"/>
              <a:t>His idea is now known as the octet rule</a:t>
            </a:r>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6</a:t>
            </a:fld>
            <a:endParaRPr lang="en-US"/>
          </a:p>
        </p:txBody>
      </p:sp>
    </p:spTree>
    <p:extLst>
      <p:ext uri="{BB962C8B-B14F-4D97-AF65-F5344CB8AC3E}">
        <p14:creationId xmlns:p14="http://schemas.microsoft.com/office/powerpoint/2010/main" val="3299883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Atoms</a:t>
            </a:r>
            <a:r>
              <a:rPr lang="en-US" baseline="0" dirty="0"/>
              <a:t> in compounds (really main group compounds and is most accurate for organic compounds) tend to…</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Write the Lewis symbol for magnesium fluoride.</a:t>
            </a:r>
          </a:p>
          <a:p>
            <a:r>
              <a:rPr lang="en-US" dirty="0"/>
              <a:t>First,</a:t>
            </a:r>
            <a:r>
              <a:rPr lang="en-US" baseline="0" dirty="0"/>
              <a:t> is this an ionic compound or a covalently bonded compound? Does it involve 2 nonmetals (covalent bonds), 2 metals (metallic bonds), or 1 metal + 1 nonmetal (ionic bonds?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Write the Lewis symbol for methane, CH</a:t>
            </a:r>
            <a:r>
              <a:rPr lang="en-US" baseline="-25000" dirty="0"/>
              <a:t>4</a:t>
            </a:r>
            <a:r>
              <a:rPr lang="en-US" dirty="0"/>
              <a:t>.</a:t>
            </a:r>
          </a:p>
          <a:p>
            <a:r>
              <a:rPr lang="en-US" baseline="0" dirty="0"/>
              <a:t>Is this an ionic compound or a covalently bonded compound? </a:t>
            </a:r>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7</a:t>
            </a:fld>
            <a:endParaRPr lang="en-US"/>
          </a:p>
        </p:txBody>
      </p:sp>
    </p:spTree>
    <p:extLst>
      <p:ext uri="{BB962C8B-B14F-4D97-AF65-F5344CB8AC3E}">
        <p14:creationId xmlns:p14="http://schemas.microsoft.com/office/powerpoint/2010/main" val="3447124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3544">
              <a:defRPr/>
            </a:pPr>
            <a:r>
              <a:rPr lang="en-US" dirty="0">
                <a:solidFill>
                  <a:prstClr val="white">
                    <a:lumMod val="65000"/>
                  </a:prstClr>
                </a:solidFill>
                <a:ea typeface="ＭＳ Ｐゴシック" charset="0"/>
                <a:sym typeface="Wingdings" panose="05000000000000000000" pitchFamily="2" charset="2"/>
              </a:rPr>
              <a:t>Given a chemical formula, we can use this rule to predict which atoms are bonded &amp; how many e- they share</a:t>
            </a:r>
          </a:p>
          <a:p>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8</a:t>
            </a:fld>
            <a:endParaRPr lang="en-US"/>
          </a:p>
        </p:txBody>
      </p:sp>
    </p:spTree>
    <p:extLst>
      <p:ext uri="{BB962C8B-B14F-4D97-AF65-F5344CB8AC3E}">
        <p14:creationId xmlns:p14="http://schemas.microsoft.com/office/powerpoint/2010/main" val="1351564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3544">
              <a:defRPr/>
            </a:pPr>
            <a:r>
              <a:rPr lang="en-US" dirty="0">
                <a:solidFill>
                  <a:prstClr val="white">
                    <a:lumMod val="65000"/>
                  </a:prstClr>
                </a:solidFill>
                <a:ea typeface="ＭＳ Ｐゴシック" charset="0"/>
                <a:sym typeface="Wingdings" panose="05000000000000000000" pitchFamily="2" charset="2"/>
              </a:rPr>
              <a:t>Given a chemical formula, we can use this rule to predict which atoms are bonded &amp; how many e- they share</a:t>
            </a:r>
          </a:p>
          <a:p>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9</a:t>
            </a:fld>
            <a:endParaRPr lang="en-US"/>
          </a:p>
        </p:txBody>
      </p:sp>
    </p:spTree>
    <p:extLst>
      <p:ext uri="{BB962C8B-B14F-4D97-AF65-F5344CB8AC3E}">
        <p14:creationId xmlns:p14="http://schemas.microsoft.com/office/powerpoint/2010/main" val="256469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Yep, that’s my mom! Mrs. Lewis!</a:t>
            </a:r>
          </a:p>
          <a:p>
            <a:r>
              <a:rPr lang="en-US" dirty="0"/>
              <a:t>0:15</a:t>
            </a:r>
          </a:p>
        </p:txBody>
      </p:sp>
      <p:sp>
        <p:nvSpPr>
          <p:cNvPr id="4" name="Slide Number Placeholder 3"/>
          <p:cNvSpPr>
            <a:spLocks noGrp="1"/>
          </p:cNvSpPr>
          <p:nvPr>
            <p:ph type="sldNum" sz="quarter" idx="10"/>
          </p:nvPr>
        </p:nvSpPr>
        <p:spPr/>
        <p:txBody>
          <a:bodyPr/>
          <a:lstStyle/>
          <a:p>
            <a:fld id="{D445C113-44B0-414C-863A-2726420E4BC4}" type="slidenum">
              <a:rPr lang="en-US" smtClean="0"/>
              <a:t>10</a:t>
            </a:fld>
            <a:endParaRPr lang="en-US"/>
          </a:p>
        </p:txBody>
      </p:sp>
    </p:spTree>
    <p:extLst>
      <p:ext uri="{BB962C8B-B14F-4D97-AF65-F5344CB8AC3E}">
        <p14:creationId xmlns:p14="http://schemas.microsoft.com/office/powerpoint/2010/main" val="4277820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by 0:25-0:28</a:t>
            </a:r>
          </a:p>
        </p:txBody>
      </p:sp>
      <p:sp>
        <p:nvSpPr>
          <p:cNvPr id="4" name="Slide Number Placeholder 3"/>
          <p:cNvSpPr>
            <a:spLocks noGrp="1"/>
          </p:cNvSpPr>
          <p:nvPr>
            <p:ph type="sldNum" sz="quarter" idx="10"/>
          </p:nvPr>
        </p:nvSpPr>
        <p:spPr/>
        <p:txBody>
          <a:bodyPr/>
          <a:lstStyle/>
          <a:p>
            <a:fld id="{D445C113-44B0-414C-863A-2726420E4BC4}" type="slidenum">
              <a:rPr lang="en-US" smtClean="0"/>
              <a:t>11</a:t>
            </a:fld>
            <a:endParaRPr lang="en-US"/>
          </a:p>
        </p:txBody>
      </p:sp>
    </p:spTree>
    <p:extLst>
      <p:ext uri="{BB962C8B-B14F-4D97-AF65-F5344CB8AC3E}">
        <p14:creationId xmlns:p14="http://schemas.microsoft.com/office/powerpoint/2010/main" val="2034689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Rot="1" noChangeAspect="1" noChangeArrowheads="1" noTextEdit="1"/>
          </p:cNvSpPr>
          <p:nvPr>
            <p:ph type="sldImg"/>
          </p:nvPr>
        </p:nvSpPr>
        <p:spPr>
          <a:ln/>
        </p:spPr>
      </p:sp>
      <p:sp>
        <p:nvSpPr>
          <p:cNvPr id="8294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dirty="0">
                <a:latin typeface="Arial" charset="0"/>
                <a:ea typeface="ＭＳ Ｐゴシック" charset="0"/>
                <a:cs typeface="ＭＳ Ｐゴシック" charset="0"/>
              </a:rPr>
              <a:t>Finish by 0:25</a:t>
            </a:r>
          </a:p>
        </p:txBody>
      </p:sp>
    </p:spTree>
    <p:extLst>
      <p:ext uri="{BB962C8B-B14F-4D97-AF65-F5344CB8AC3E}">
        <p14:creationId xmlns:p14="http://schemas.microsoft.com/office/powerpoint/2010/main" val="1157353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Homopolymers</a:t>
            </a:r>
            <a:r>
              <a:rPr lang="en-US" dirty="0"/>
              <a:t> of </a:t>
            </a:r>
            <a:r>
              <a:rPr lang="en-US" dirty="0" err="1"/>
              <a:t>polyacrylonitrile</a:t>
            </a:r>
            <a:r>
              <a:rPr lang="en-US" dirty="0"/>
              <a:t> have been used as fibers in hot gas filtration systems, outdoor awnings, sails for yachts, and fiber-reinforced concrete. Copolymers containing </a:t>
            </a:r>
            <a:r>
              <a:rPr lang="en-US" dirty="0" err="1"/>
              <a:t>polyacrylonitrile</a:t>
            </a:r>
            <a:r>
              <a:rPr lang="en-US" dirty="0"/>
              <a:t> are often used as fibers to make knitted clothing like socks and sweaters, as well as outdoor products like tents and similar items. </a:t>
            </a:r>
            <a:r>
              <a:rPr lang="en-US" b="1" dirty="0"/>
              <a:t>If the label of a piece of clothing says </a:t>
            </a:r>
            <a:r>
              <a:rPr lang="en-US" b="1" dirty="0">
                <a:hlinkClick r:id="rId3" tooltip="Acrylic fiber"/>
              </a:rPr>
              <a:t>"acrylic"</a:t>
            </a:r>
            <a:r>
              <a:rPr lang="en-US" b="1" dirty="0"/>
              <a:t>, then it is made out of some copolymer of </a:t>
            </a:r>
            <a:r>
              <a:rPr lang="en-US" b="1" dirty="0" err="1"/>
              <a:t>polyacrylonitrile</a:t>
            </a:r>
            <a:r>
              <a:rPr lang="en-US" dirty="0"/>
              <a:t>. It was made into spun fiber at DuPont in 1942 and marketed under the name of </a:t>
            </a:r>
            <a:r>
              <a:rPr lang="en-US" dirty="0" err="1">
                <a:hlinkClick r:id="rId4" tooltip="Orlon"/>
              </a:rPr>
              <a:t>Orlon</a:t>
            </a:r>
            <a:r>
              <a:rPr lang="en-US" dirty="0"/>
              <a:t>. Acrylonitrile is commonly employed as a </a:t>
            </a:r>
            <a:r>
              <a:rPr lang="en-US" dirty="0" err="1"/>
              <a:t>comonomer</a:t>
            </a:r>
            <a:r>
              <a:rPr lang="en-US" dirty="0"/>
              <a:t> with </a:t>
            </a:r>
            <a:r>
              <a:rPr lang="en-US" dirty="0">
                <a:hlinkClick r:id="rId5" tooltip="Styrene"/>
              </a:rPr>
              <a:t>styrene</a:t>
            </a:r>
            <a:r>
              <a:rPr lang="en-US" dirty="0"/>
              <a:t>, e.g. </a:t>
            </a:r>
            <a:r>
              <a:rPr lang="en-US" dirty="0">
                <a:hlinkClick r:id="rId6" tooltip="Acrylonitrile"/>
              </a:rPr>
              <a:t>acrylonitrile</a:t>
            </a:r>
            <a:r>
              <a:rPr lang="en-US" dirty="0"/>
              <a:t>, </a:t>
            </a:r>
            <a:r>
              <a:rPr lang="en-US" dirty="0">
                <a:hlinkClick r:id="rId5" tooltip="Styrene"/>
              </a:rPr>
              <a:t>styrene</a:t>
            </a:r>
            <a:r>
              <a:rPr lang="en-US" dirty="0"/>
              <a:t> and </a:t>
            </a:r>
            <a:r>
              <a:rPr lang="en-US" dirty="0">
                <a:hlinkClick r:id="rId7" tooltip="Acrylate"/>
              </a:rPr>
              <a:t>acrylate</a:t>
            </a:r>
            <a:r>
              <a:rPr lang="en-US" dirty="0"/>
              <a:t> plastics.</a:t>
            </a:r>
          </a:p>
          <a:p>
            <a:endParaRPr lang="en-US" dirty="0"/>
          </a:p>
          <a:p>
            <a:r>
              <a:rPr lang="en-US" dirty="0"/>
              <a:t>Acrylonitrile is highly flammable and toxic. It undergoes explosive polymerization. The burning material releases fumes of hydrogen cyanide and oxides of nitrogen. It is classified as a Class 2B carcinogen (possibly carcinogenic) by the International Agency for Research on Cancer (IARC),[7] and workers exposed to high levels of airborne acrylonitrile are diagnosed more frequently with lung cancer than the rest of the population.[8] It evaporates quickly at room temperature (20 °C) to reach dangerous concentrations; skin irritation, respiratory irritation, and eye irritation are the immediate effects of this </a:t>
            </a:r>
            <a:r>
              <a:rPr lang="en-US" dirty="0" err="1"/>
              <a:t>exposur</a:t>
            </a:r>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13</a:t>
            </a:fld>
            <a:endParaRPr lang="en-US"/>
          </a:p>
        </p:txBody>
      </p:sp>
    </p:spTree>
    <p:extLst>
      <p:ext uri="{BB962C8B-B14F-4D97-AF65-F5344CB8AC3E}">
        <p14:creationId xmlns:p14="http://schemas.microsoft.com/office/powerpoint/2010/main" val="2708880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Rot="1" noChangeAspect="1" noChangeArrowheads="1" noTextEdit="1"/>
          </p:cNvSpPr>
          <p:nvPr>
            <p:ph type="sldImg"/>
          </p:nvPr>
        </p:nvSpPr>
        <p:spPr>
          <a:ln/>
        </p:spPr>
      </p:sp>
      <p:sp>
        <p:nvSpPr>
          <p:cNvPr id="8294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dirty="0"/>
              <a:t>C</a:t>
            </a:r>
          </a:p>
          <a:p>
            <a:pPr defTabSz="466772">
              <a:defRPr/>
            </a:pPr>
            <a:r>
              <a:rPr lang="en-US" dirty="0"/>
              <a:t>3Mg</a:t>
            </a:r>
            <a:r>
              <a:rPr lang="en-US" baseline="30000" dirty="0"/>
              <a:t>2+</a:t>
            </a:r>
            <a:r>
              <a:rPr lang="en-US" dirty="0"/>
              <a:t> + 2P</a:t>
            </a:r>
            <a:r>
              <a:rPr lang="en-US" baseline="30000" dirty="0"/>
              <a:t>3–</a:t>
            </a:r>
            <a:r>
              <a:rPr lang="en-US" dirty="0"/>
              <a:t> ⟶ Mg</a:t>
            </a:r>
            <a:r>
              <a:rPr lang="en-US" baseline="-25000" dirty="0"/>
              <a:t>3</a:t>
            </a:r>
            <a:r>
              <a:rPr lang="en-US" dirty="0"/>
              <a:t>P</a:t>
            </a:r>
            <a:r>
              <a:rPr lang="en-US" baseline="-25000" dirty="0"/>
              <a:t>2</a:t>
            </a:r>
            <a:endParaRPr lang="en-US" dirty="0"/>
          </a:p>
          <a:p>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042846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Bond length is inversely</a:t>
            </a:r>
            <a:r>
              <a:rPr lang="en-US" baseline="0" dirty="0"/>
              <a:t> proportional to bond strength </a:t>
            </a:r>
          </a:p>
          <a:p>
            <a:r>
              <a:rPr lang="en-US" baseline="0" dirty="0"/>
              <a:t>Highest bond energy = shortest bond distance</a:t>
            </a:r>
          </a:p>
          <a:p>
            <a:r>
              <a:rPr lang="en-US" baseline="0" dirty="0"/>
              <a:t>Smallest bond energy = longest bond distance</a:t>
            </a:r>
          </a:p>
          <a:p>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16</a:t>
            </a:fld>
            <a:endParaRPr lang="en-US"/>
          </a:p>
        </p:txBody>
      </p:sp>
    </p:spTree>
    <p:extLst>
      <p:ext uri="{BB962C8B-B14F-4D97-AF65-F5344CB8AC3E}">
        <p14:creationId xmlns:p14="http://schemas.microsoft.com/office/powerpoint/2010/main" val="27531983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by 0:35</a:t>
            </a:r>
          </a:p>
        </p:txBody>
      </p:sp>
      <p:sp>
        <p:nvSpPr>
          <p:cNvPr id="4" name="Slide Number Placeholder 3"/>
          <p:cNvSpPr>
            <a:spLocks noGrp="1"/>
          </p:cNvSpPr>
          <p:nvPr>
            <p:ph type="sldNum" sz="quarter" idx="10"/>
          </p:nvPr>
        </p:nvSpPr>
        <p:spPr/>
        <p:txBody>
          <a:bodyPr/>
          <a:lstStyle/>
          <a:p>
            <a:fld id="{D445C113-44B0-414C-863A-2726420E4BC4}" type="slidenum">
              <a:rPr lang="en-US" smtClean="0"/>
              <a:t>17</a:t>
            </a:fld>
            <a:endParaRPr lang="en-US"/>
          </a:p>
        </p:txBody>
      </p:sp>
    </p:spTree>
    <p:extLst>
      <p:ext uri="{BB962C8B-B14F-4D97-AF65-F5344CB8AC3E}">
        <p14:creationId xmlns:p14="http://schemas.microsoft.com/office/powerpoint/2010/main" val="12408827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B9F7AA-F34F-5643-9979-A1C609D4CF0E}" type="slidenum">
              <a:rPr lang="en-US"/>
              <a:pPr/>
              <a:t>21</a:t>
            </a:fld>
            <a:endParaRPr lang="en-US"/>
          </a:p>
        </p:txBody>
      </p:sp>
      <p:sp>
        <p:nvSpPr>
          <p:cNvPr id="15769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769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prstTxWarp prst="textNoShape">
              <a:avLst/>
            </a:prstTxWarp>
          </a:bodyPr>
          <a:lstStyle/>
          <a:p>
            <a:r>
              <a:rPr lang="en-US" dirty="0"/>
              <a:t>Example CO2</a:t>
            </a:r>
          </a:p>
        </p:txBody>
      </p:sp>
    </p:spTree>
    <p:extLst>
      <p:ext uri="{BB962C8B-B14F-4D97-AF65-F5344CB8AC3E}">
        <p14:creationId xmlns:p14="http://schemas.microsoft.com/office/powerpoint/2010/main" val="21163297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Rot="1" noChangeAspect="1" noChangeArrowheads="1" noTextEdit="1"/>
          </p:cNvSpPr>
          <p:nvPr>
            <p:ph type="sldImg"/>
          </p:nvPr>
        </p:nvSpPr>
        <p:spPr>
          <a:ln/>
        </p:spPr>
      </p:sp>
      <p:sp>
        <p:nvSpPr>
          <p:cNvPr id="8294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12024959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a:prstGeom prst="rect">
            <a:avLst/>
          </a:prstGeom>
        </p:spPr>
        <p:txBody>
          <a:bodyPr/>
          <a:lstStyle/>
          <a:p>
            <a:fld id="{55E31A38-63A6-4C79-B2DB-DC9699C06701}" type="datetime1">
              <a:rPr lang="en-US" smtClean="0">
                <a:solidFill>
                  <a:prstClr val="white"/>
                </a:solidFill>
              </a:rPr>
              <a:t>10/7/2024</a:t>
            </a:fld>
            <a:endParaRPr lang="en-US">
              <a:solidFill>
                <a:prstClr val="white"/>
              </a:solidFill>
            </a:endParaRPr>
          </a:p>
        </p:txBody>
      </p:sp>
      <p:sp>
        <p:nvSpPr>
          <p:cNvPr id="5" name="Footer Placeholder 4"/>
          <p:cNvSpPr>
            <a:spLocks noGrp="1"/>
          </p:cNvSpPr>
          <p:nvPr>
            <p:ph type="ftr" sz="quarter" idx="11"/>
          </p:nvPr>
        </p:nvSpPr>
        <p:spPr>
          <a:xfrm>
            <a:off x="914400" y="4323846"/>
            <a:ext cx="4880610"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0"/>
            <a:ext cx="2171700" cy="365125"/>
          </a:xfrm>
        </p:spPr>
        <p:txBody>
          <a:bodyPr/>
          <a:lstStyle>
            <a:lvl1pPr algn="l">
              <a:defRPr b="1">
                <a:solidFill>
                  <a:schemeClr val="bg1"/>
                </a:solidFill>
              </a:defRPr>
            </a:lvl1pPr>
          </a:lstStyle>
          <a:p>
            <a:fld id="{63C103D7-7FC1-4B9F-A526-BC88A3C4AA47}" type="slidenum">
              <a:rPr lang="en-US" smtClean="0"/>
              <a:pPr/>
              <a:t>‹#›</a:t>
            </a:fld>
            <a:endParaRPr lang="en-US" dirty="0"/>
          </a:p>
        </p:txBody>
      </p:sp>
    </p:spTree>
    <p:extLst>
      <p:ext uri="{BB962C8B-B14F-4D97-AF65-F5344CB8AC3E}">
        <p14:creationId xmlns:p14="http://schemas.microsoft.com/office/powerpoint/2010/main" val="2568021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71700" y="381001"/>
            <a:ext cx="6377940" cy="1254759"/>
          </a:xfrm>
        </p:spPr>
        <p:txBody>
          <a:bodyPr>
            <a:noAutofit/>
          </a:bodyPr>
          <a:lstStyle>
            <a:lvl1pPr>
              <a:defRPr sz="4800"/>
            </a:lvl1pPr>
          </a:lstStyle>
          <a:p>
            <a:r>
              <a:rPr lang="en-US" dirty="0"/>
              <a:t>Click to edit Master title style</a:t>
            </a:r>
          </a:p>
        </p:txBody>
      </p:sp>
      <p:sp>
        <p:nvSpPr>
          <p:cNvPr id="3" name="Content Placeholder 2"/>
          <p:cNvSpPr>
            <a:spLocks noGrp="1"/>
          </p:cNvSpPr>
          <p:nvPr>
            <p:ph idx="1"/>
          </p:nvPr>
        </p:nvSpPr>
        <p:spPr>
          <a:xfrm>
            <a:off x="594360" y="1635760"/>
            <a:ext cx="7955280" cy="4720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12230" y="6356351"/>
            <a:ext cx="2137410" cy="365125"/>
          </a:xfrm>
          <a:prstGeom prst="rect">
            <a:avLst/>
          </a:prstGeom>
        </p:spPr>
        <p:txBody>
          <a:bodyPr/>
          <a:lstStyle/>
          <a:p>
            <a:fld id="{141208F2-554C-4E64-8DE1-6A97CF7150A3}" type="datetime1">
              <a:rPr lang="en-US" smtClean="0">
                <a:solidFill>
                  <a:prstClr val="white"/>
                </a:solidFill>
              </a:rPr>
              <a:t>10/7/2024</a:t>
            </a:fld>
            <a:endParaRPr lang="en-US">
              <a:solidFill>
                <a:prstClr val="white"/>
              </a:solidFill>
            </a:endParaRPr>
          </a:p>
        </p:txBody>
      </p:sp>
      <p:sp>
        <p:nvSpPr>
          <p:cNvPr id="5" name="Footer Placeholder 4"/>
          <p:cNvSpPr>
            <a:spLocks noGrp="1"/>
          </p:cNvSpPr>
          <p:nvPr>
            <p:ph type="ftr" sz="quarter" idx="11"/>
          </p:nvPr>
        </p:nvSpPr>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15876"/>
            <a:ext cx="1977390" cy="365125"/>
          </a:xfrm>
        </p:spPr>
        <p:txBody>
          <a:bodyPr lIns="91440"/>
          <a:lstStyle>
            <a:lvl1pPr algn="l">
              <a:defRPr b="1">
                <a:solidFill>
                  <a:schemeClr val="bg1"/>
                </a:solidFill>
              </a:defRPr>
            </a:lvl1pPr>
          </a:lstStyle>
          <a:p>
            <a:fld id="{63C103D7-7FC1-4B9F-A526-BC88A3C4AA47}" type="slidenum">
              <a:rPr lang="en-US" smtClean="0"/>
              <a:pPr/>
              <a:t>‹#›</a:t>
            </a:fld>
            <a:endParaRPr lang="en-US" dirty="0"/>
          </a:p>
        </p:txBody>
      </p:sp>
    </p:spTree>
    <p:extLst>
      <p:ext uri="{BB962C8B-B14F-4D97-AF65-F5344CB8AC3E}">
        <p14:creationId xmlns:p14="http://schemas.microsoft.com/office/powerpoint/2010/main" val="2896537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a:prstGeom prst="rect">
            <a:avLst/>
          </a:prstGeom>
        </p:spPr>
        <p:txBody>
          <a:bodyPr/>
          <a:lstStyle>
            <a:lvl1pPr algn="r">
              <a:defRPr/>
            </a:lvl1pPr>
          </a:lstStyle>
          <a:p>
            <a:fld id="{E2CCEF81-D633-4954-A808-8B610A2466AE}" type="datetime1">
              <a:rPr lang="en-US" smtClean="0">
                <a:solidFill>
                  <a:prstClr val="white"/>
                </a:solidFill>
              </a:rPr>
              <a:t>10/7/2024</a:t>
            </a:fld>
            <a:endParaRPr lang="en-US">
              <a:solidFill>
                <a:prstClr val="white"/>
              </a:solidFill>
            </a:endParaRPr>
          </a:p>
        </p:txBody>
      </p:sp>
      <p:sp>
        <p:nvSpPr>
          <p:cNvPr id="5" name="Footer Placeholder 4"/>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7882466" y="381001"/>
            <a:ext cx="667173"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1947296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DBE1B07D-695B-434A-8934-02F4D5F41A16}" type="datetime1">
              <a:rPr lang="en-US" smtClean="0">
                <a:solidFill>
                  <a:prstClr val="white"/>
                </a:solidFill>
              </a:rPr>
              <a:t>10/7/2024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3902684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412230" y="6356351"/>
            <a:ext cx="2137410" cy="365125"/>
          </a:xfrm>
          <a:prstGeom prst="rect">
            <a:avLst/>
          </a:prstGeom>
        </p:spPr>
        <p:txBody>
          <a:bodyPr/>
          <a:lstStyle/>
          <a:p>
            <a:fld id="{F793AA86-8E10-48A9-9549-90D70997A87F}" type="datetime1">
              <a:rPr lang="en-US" smtClean="0">
                <a:solidFill>
                  <a:prstClr val="white"/>
                </a:solidFill>
              </a:rPr>
              <a:t>10/7/2024</a:t>
            </a:fld>
            <a:endParaRPr lang="en-US">
              <a:solidFill>
                <a:prstClr val="white"/>
              </a:solidFill>
            </a:endParaRPr>
          </a:p>
        </p:txBody>
      </p:sp>
      <p:sp>
        <p:nvSpPr>
          <p:cNvPr id="8" name="Footer Placeholder 7"/>
          <p:cNvSpPr>
            <a:spLocks noGrp="1"/>
          </p:cNvSpPr>
          <p:nvPr>
            <p:ph type="ftr" sz="quarter" idx="11"/>
          </p:nvPr>
        </p:nvSpPr>
        <p:spPr/>
        <p:txBody>
          <a:bodyPr/>
          <a:lstStyle/>
          <a:p>
            <a:endParaRPr lang="en-US">
              <a:solidFill>
                <a:prstClr val="white">
                  <a:tint val="75000"/>
                </a:prstClr>
              </a:solidFill>
            </a:endParaRPr>
          </a:p>
        </p:txBody>
      </p:sp>
      <p:sp>
        <p:nvSpPr>
          <p:cNvPr id="9" name="Slide Number Placeholder 8"/>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2489401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ED43023C-2605-498A-BB5C-6973C3D34B55}" type="datetime1">
              <a:rPr lang="en-US" smtClean="0">
                <a:solidFill>
                  <a:prstClr val="white"/>
                </a:solidFill>
              </a:rPr>
              <a:t>10/7/2024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1527424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12230" y="6356351"/>
            <a:ext cx="2137410" cy="365125"/>
          </a:xfrm>
          <a:prstGeom prst="rect">
            <a:avLst/>
          </a:prstGeom>
        </p:spPr>
        <p:txBody>
          <a:bodyPr/>
          <a:lstStyle/>
          <a:p>
            <a:fld id="{80A874CE-8ADE-4F08-BA32-A47E938FF806}" type="datetime1">
              <a:rPr lang="en-US" smtClean="0">
                <a:solidFill>
                  <a:prstClr val="white"/>
                </a:solidFill>
              </a:rPr>
              <a:t>10/7/2024</a:t>
            </a:fld>
            <a:endParaRPr lang="en-US">
              <a:solidFill>
                <a:prstClr val="white"/>
              </a:solidFill>
            </a:endParaRPr>
          </a:p>
        </p:txBody>
      </p:sp>
      <p:sp>
        <p:nvSpPr>
          <p:cNvPr id="3" name="Footer Placeholder 2"/>
          <p:cNvSpPr>
            <a:spLocks noGrp="1"/>
          </p:cNvSpPr>
          <p:nvPr>
            <p:ph type="ftr" sz="quarter" idx="11"/>
          </p:nvPr>
        </p:nvSpPr>
        <p:spPr/>
        <p:txBody>
          <a:bodyPr/>
          <a:lstStyle/>
          <a:p>
            <a:endParaRPr lang="en-US">
              <a:solidFill>
                <a:prstClr val="white">
                  <a:tint val="75000"/>
                </a:prstClr>
              </a:solidFill>
            </a:endParaRPr>
          </a:p>
        </p:txBody>
      </p:sp>
      <p:sp>
        <p:nvSpPr>
          <p:cNvPr id="4" name="Slide Number Placeholder 3"/>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2021339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D355827B-98D1-43EC-90DC-30C64781540E}" type="datetime1">
              <a:rPr lang="en-US" smtClean="0">
                <a:solidFill>
                  <a:prstClr val="white"/>
                </a:solidFill>
              </a:rPr>
              <a:t>10/7/2024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7882"/>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3343191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46D88B2F-3C07-4791-A119-F9B4686F8AF8}" type="datetime1">
              <a:rPr lang="en-US" smtClean="0">
                <a:solidFill>
                  <a:prstClr val="white"/>
                </a:solidFill>
              </a:rPr>
              <a:t>10/7/2024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4128058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4A1B8437-B231-41EB-805D-A9674C385507}" type="datetime1">
              <a:rPr lang="en-US" smtClean="0">
                <a:solidFill>
                  <a:prstClr val="white"/>
                </a:solidFill>
              </a:rPr>
              <a:t>10/7/2024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957251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a:prstGeom prst="rect">
            <a:avLst/>
          </a:prstGeom>
        </p:spPr>
        <p:txBody>
          <a:bodyPr/>
          <a:lstStyle>
            <a:lvl1pPr algn="r">
              <a:defRPr/>
            </a:lvl1pPr>
          </a:lstStyle>
          <a:p>
            <a:fld id="{73F8B0A2-E3F2-4A64-872D-A1D43FA81340}" type="datetime1">
              <a:rPr lang="en-US" smtClean="0">
                <a:solidFill>
                  <a:prstClr val="white"/>
                </a:solidFill>
              </a:rPr>
              <a:t>10/7/2024</a:t>
            </a:fld>
            <a:endParaRPr lang="en-US">
              <a:solidFill>
                <a:prstClr val="white"/>
              </a:solidFill>
            </a:endParaRPr>
          </a:p>
        </p:txBody>
      </p:sp>
      <p:sp>
        <p:nvSpPr>
          <p:cNvPr id="6" name="Footer Placeholder 5"/>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3758373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a:prstGeom prst="rect">
            <a:avLst/>
          </a:prstGeom>
        </p:spPr>
        <p:txBody>
          <a:bodyPr/>
          <a:lstStyle>
            <a:lvl1pPr algn="r">
              <a:defRPr/>
            </a:lvl1pPr>
          </a:lstStyle>
          <a:p>
            <a:fld id="{7622088F-5910-498C-8BB2-C204CBCA1FBB}" type="datetime1">
              <a:rPr lang="en-US" smtClean="0">
                <a:solidFill>
                  <a:prstClr val="white"/>
                </a:solidFill>
              </a:rPr>
              <a:t>10/7/2024</a:t>
            </a:fld>
            <a:endParaRPr lang="en-US">
              <a:solidFill>
                <a:prstClr val="white"/>
              </a:solidFill>
            </a:endParaRPr>
          </a:p>
        </p:txBody>
      </p:sp>
      <p:sp>
        <p:nvSpPr>
          <p:cNvPr id="6" name="Footer Placeholder 5"/>
          <p:cNvSpPr>
            <a:spLocks noGrp="1"/>
          </p:cNvSpPr>
          <p:nvPr>
            <p:ph type="ftr" sz="quarter" idx="11"/>
          </p:nvPr>
        </p:nvSpPr>
        <p:spPr>
          <a:xfrm>
            <a:off x="594360" y="379438"/>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8000" dirty="0">
                <a:solidFill>
                  <a:prstClr val="white"/>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8000" dirty="0">
                <a:solidFill>
                  <a:prstClr val="white"/>
                </a:solidFill>
                <a:effectLst/>
              </a:rPr>
              <a:t>”</a:t>
            </a:r>
          </a:p>
        </p:txBody>
      </p:sp>
    </p:spTree>
    <p:extLst>
      <p:ext uri="{BB962C8B-B14F-4D97-AF65-F5344CB8AC3E}">
        <p14:creationId xmlns:p14="http://schemas.microsoft.com/office/powerpoint/2010/main" val="1876986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a:prstGeom prst="rect">
            <a:avLst/>
          </a:prstGeom>
        </p:spPr>
        <p:txBody>
          <a:bodyPr/>
          <a:lstStyle>
            <a:lvl1pPr algn="r">
              <a:defRPr/>
            </a:lvl1pPr>
          </a:lstStyle>
          <a:p>
            <a:fld id="{EA383E0D-45A8-458F-B198-10A5D34532CC}" type="datetime1">
              <a:rPr lang="en-US" smtClean="0">
                <a:solidFill>
                  <a:prstClr val="white"/>
                </a:solidFill>
              </a:rPr>
              <a:t>10/7/2024</a:t>
            </a:fld>
            <a:endParaRPr lang="en-US">
              <a:solidFill>
                <a:prstClr val="white"/>
              </a:solidFill>
            </a:endParaRPr>
          </a:p>
        </p:txBody>
      </p:sp>
      <p:sp>
        <p:nvSpPr>
          <p:cNvPr id="6" name="Footer Placeholder 5"/>
          <p:cNvSpPr>
            <a:spLocks noGrp="1"/>
          </p:cNvSpPr>
          <p:nvPr>
            <p:ph type="ftr" sz="quarter" idx="11"/>
          </p:nvPr>
        </p:nvSpPr>
        <p:spPr>
          <a:xfrm>
            <a:off x="594360" y="378884"/>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36795391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DE86E460-01DA-4FB9-8DAD-C67E26EBBF9F}" type="datetime1">
              <a:rPr lang="en-US" smtClean="0">
                <a:solidFill>
                  <a:prstClr val="white"/>
                </a:solidFill>
              </a:rPr>
              <a:t>10/7/2024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667748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C264484A-F7E6-401B-BD66-1C7B5E919472}" type="datetime1">
              <a:rPr lang="en-US" smtClean="0">
                <a:solidFill>
                  <a:prstClr val="white"/>
                </a:solidFill>
              </a:rPr>
              <a:t>10/7/2024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3284"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4787874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12230" y="6356351"/>
            <a:ext cx="2137410" cy="365125"/>
          </a:xfrm>
          <a:prstGeom prst="rect">
            <a:avLst/>
          </a:prstGeom>
        </p:spPr>
        <p:txBody>
          <a:bodyPr/>
          <a:lstStyle/>
          <a:p>
            <a:fld id="{B9B6C93D-ACC8-4246-9BB1-311B64E8E954}" type="datetime1">
              <a:rPr lang="en-US" smtClean="0">
                <a:solidFill>
                  <a:prstClr val="white"/>
                </a:solidFill>
              </a:rPr>
              <a:t>10/7/2024</a:t>
            </a:fld>
            <a:endParaRPr lang="en-US">
              <a:solidFill>
                <a:prstClr val="white"/>
              </a:solidFill>
            </a:endParaRPr>
          </a:p>
        </p:txBody>
      </p:sp>
      <p:sp>
        <p:nvSpPr>
          <p:cNvPr id="5" name="Footer Placeholder 4"/>
          <p:cNvSpPr>
            <a:spLocks noGrp="1"/>
          </p:cNvSpPr>
          <p:nvPr>
            <p:ph type="ftr" sz="quarter" idx="11"/>
          </p:nvPr>
        </p:nvSpPr>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108"/>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9814227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a:prstGeom prst="rect">
            <a:avLst/>
          </a:prstGeom>
        </p:spPr>
        <p:txBody>
          <a:bodyPr/>
          <a:lstStyle>
            <a:lvl1pPr algn="r">
              <a:defRPr/>
            </a:lvl1pPr>
          </a:lstStyle>
          <a:p>
            <a:fld id="{B7DB9BED-120A-4C43-9CC6-9605C6FEDF3A}" type="datetime1">
              <a:rPr lang="en-US" smtClean="0">
                <a:solidFill>
                  <a:prstClr val="white"/>
                </a:solidFill>
              </a:rPr>
              <a:t>10/7/2024</a:t>
            </a:fld>
            <a:endParaRPr lang="en-US">
              <a:solidFill>
                <a:prstClr val="white"/>
              </a:solidFill>
            </a:endParaRPr>
          </a:p>
        </p:txBody>
      </p:sp>
      <p:sp>
        <p:nvSpPr>
          <p:cNvPr id="5" name="Footer Placeholder 4"/>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37194236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lipArt Placeholder 2"/>
          <p:cNvSpPr>
            <a:spLocks noGrp="1"/>
          </p:cNvSpPr>
          <p:nvPr>
            <p:ph type="clipArt" sz="half" idx="1"/>
          </p:nvPr>
        </p:nvSpPr>
        <p:spPr>
          <a:xfrm>
            <a:off x="685800" y="1981200"/>
            <a:ext cx="3810000" cy="4114800"/>
          </a:xfrm>
        </p:spPr>
        <p:txBody>
          <a:bodyPr/>
          <a:lstStyle/>
          <a:p>
            <a:pPr lvl="0"/>
            <a:endParaRPr lang="en-US" noProof="0"/>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xfrm>
            <a:off x="457200" y="6356350"/>
            <a:ext cx="2133600" cy="365125"/>
          </a:xfrm>
          <a:prstGeom prst="rect">
            <a:avLst/>
          </a:prstGeom>
          <a:ln/>
        </p:spPr>
        <p:txBody>
          <a:bodyPr/>
          <a:lstStyle>
            <a:lvl1pPr>
              <a:defRPr/>
            </a:lvl1pPr>
          </a:lstStyle>
          <a:p>
            <a:pPr>
              <a:defRPr/>
            </a:pPr>
            <a:fld id="{BD09F49D-7D64-4E18-A59E-B367D7498087}" type="datetime1">
              <a:rPr lang="en-US" smtClean="0"/>
              <a:t>10/7/2024</a:t>
            </a:fld>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pPr>
              <a:defRPr/>
            </a:pPr>
            <a:fld id="{582DC2F3-420B-174D-855B-5F9B79DF9807}" type="slidenum">
              <a:rPr lang="en-US"/>
              <a:pPr>
                <a:defRPr/>
              </a:pPr>
              <a:t>‹#›</a:t>
            </a:fld>
            <a:endParaRPr lang="en-US"/>
          </a:p>
        </p:txBody>
      </p:sp>
    </p:spTree>
    <p:extLst>
      <p:ext uri="{BB962C8B-B14F-4D97-AF65-F5344CB8AC3E}">
        <p14:creationId xmlns:p14="http://schemas.microsoft.com/office/powerpoint/2010/main" val="831051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7_Title Slide">
    <p:bg>
      <p:bgPr>
        <a:solidFill>
          <a:srgbClr val="F7D300"/>
        </a:solidFill>
        <a:effectLst/>
      </p:bgPr>
    </p:bg>
    <p:spTree>
      <p:nvGrpSpPr>
        <p:cNvPr id="1" name=""/>
        <p:cNvGrpSpPr/>
        <p:nvPr/>
      </p:nvGrpSpPr>
      <p:grpSpPr>
        <a:xfrm>
          <a:off x="0" y="0"/>
          <a:ext cx="0" cy="0"/>
          <a:chOff x="0" y="0"/>
          <a:chExt cx="0" cy="0"/>
        </a:xfrm>
      </p:grpSpPr>
      <p:pic>
        <p:nvPicPr>
          <p:cNvPr id="5" name="Picture 4"/>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577840"/>
          </a:xfrm>
          <a:prstGeom prst="rect">
            <a:avLst/>
          </a:prstGeom>
        </p:spPr>
      </p:pic>
      <p:sp>
        <p:nvSpPr>
          <p:cNvPr id="130" name="Rectangle 199"/>
          <p:cNvSpPr>
            <a:spLocks noChangeArrowheads="1"/>
          </p:cNvSpPr>
          <p:nvPr userDrawn="1"/>
        </p:nvSpPr>
        <p:spPr bwMode="auto">
          <a:xfrm>
            <a:off x="0" y="4343400"/>
            <a:ext cx="9144000" cy="2514600"/>
          </a:xfrm>
          <a:prstGeom prst="rect">
            <a:avLst/>
          </a:prstGeom>
          <a:solidFill>
            <a:srgbClr val="335359"/>
          </a:solidFill>
          <a:ln>
            <a:no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7" name="Subtitle 2"/>
          <p:cNvSpPr>
            <a:spLocks noGrp="1"/>
          </p:cNvSpPr>
          <p:nvPr>
            <p:ph type="subTitle" idx="1"/>
          </p:nvPr>
        </p:nvSpPr>
        <p:spPr>
          <a:xfrm>
            <a:off x="762000" y="5486400"/>
            <a:ext cx="6400800" cy="1295400"/>
          </a:xfrm>
        </p:spPr>
        <p:txBody>
          <a:bodyPr/>
          <a:lstStyle>
            <a:lvl1pPr marL="0" indent="0" algn="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 name="Title 1"/>
          <p:cNvSpPr>
            <a:spLocks noGrp="1"/>
          </p:cNvSpPr>
          <p:nvPr>
            <p:ph type="title"/>
          </p:nvPr>
        </p:nvSpPr>
        <p:spPr>
          <a:xfrm>
            <a:off x="5743202" y="4419600"/>
            <a:ext cx="1419598" cy="1066800"/>
          </a:xfrm>
          <a:effectLst/>
        </p:spPr>
        <p:txBody>
          <a:bodyPr lIns="0" tIns="0" rIns="0" bIns="0"/>
          <a:lstStyle>
            <a:lvl1pPr algn="r">
              <a:defRPr sz="6600">
                <a:solidFill>
                  <a:srgbClr val="F7D300"/>
                </a:solidFill>
              </a:defRPr>
            </a:lvl1pPr>
          </a:lstStyle>
          <a:p>
            <a:r>
              <a:rPr lang="en-US" dirty="0"/>
              <a:t>Click to edit Master title style</a:t>
            </a:r>
          </a:p>
        </p:txBody>
      </p:sp>
      <p:sp>
        <p:nvSpPr>
          <p:cNvPr id="3" name="TextBox 2"/>
          <p:cNvSpPr txBox="1"/>
          <p:nvPr userDrawn="1"/>
        </p:nvSpPr>
        <p:spPr>
          <a:xfrm>
            <a:off x="1447800" y="4599057"/>
            <a:ext cx="4743681" cy="707886"/>
          </a:xfrm>
          <a:prstGeom prst="rect">
            <a:avLst/>
          </a:prstGeom>
          <a:noFill/>
          <a:ln>
            <a:noFill/>
          </a:ln>
          <a:effectLst/>
          <a:scene3d>
            <a:camera prst="orthographicFront">
              <a:rot lat="0" lon="0" rev="0"/>
            </a:camera>
            <a:lightRig rig="balanced" dir="t">
              <a:rot lat="0" lon="0" rev="8700000"/>
            </a:lightRig>
          </a:scene3d>
          <a:sp3d>
            <a:bevelT w="190500" h="38100"/>
          </a:sp3d>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91440" rIns="91440" bIns="91440" numCol="1" anchor="ctr" anchorCtr="0" compatLnSpc="1">
            <a:prstTxWarp prst="textNoShape">
              <a:avLst/>
            </a:prstTxWarp>
          </a:bodyPr>
          <a:lstStyle>
            <a:lvl1pPr eaLnBrk="0" hangingPunct="0">
              <a:defRPr sz="4000" b="1">
                <a:solidFill>
                  <a:srgbClr val="F7D300"/>
                </a:solidFill>
                <a:latin typeface="Arial" pitchFamily="34" charset="0"/>
                <a:ea typeface="+mj-ea"/>
                <a:cs typeface="Arial" pitchFamily="34" charset="0"/>
              </a:defRPr>
            </a:lvl1pPr>
            <a:lvl2pPr eaLnBrk="0" hangingPunct="0">
              <a:defRPr sz="4000" b="1">
                <a:solidFill>
                  <a:schemeClr val="bg1"/>
                </a:solidFill>
              </a:defRPr>
            </a:lvl2pPr>
            <a:lvl3pPr eaLnBrk="0" hangingPunct="0">
              <a:defRPr sz="4000" b="1">
                <a:solidFill>
                  <a:schemeClr val="bg1"/>
                </a:solidFill>
              </a:defRPr>
            </a:lvl3pPr>
            <a:lvl4pPr eaLnBrk="0" hangingPunct="0">
              <a:defRPr sz="4000" b="1">
                <a:solidFill>
                  <a:schemeClr val="bg1"/>
                </a:solidFill>
              </a:defRPr>
            </a:lvl4pPr>
            <a:lvl5pPr eaLnBrk="0" hangingPunct="0">
              <a:defRPr sz="4000" b="1">
                <a:solidFill>
                  <a:schemeClr val="bg1"/>
                </a:solidFill>
              </a:defRPr>
            </a:lvl5pPr>
            <a:lvl6pPr marL="457200" fontAlgn="base">
              <a:spcBef>
                <a:spcPct val="0"/>
              </a:spcBef>
              <a:spcAft>
                <a:spcPct val="0"/>
              </a:spcAft>
              <a:defRPr sz="4000">
                <a:latin typeface="Arial Rounded MT Bold" pitchFamily="34" charset="0"/>
              </a:defRPr>
            </a:lvl6pPr>
            <a:lvl7pPr marL="914400" fontAlgn="base">
              <a:spcBef>
                <a:spcPct val="0"/>
              </a:spcBef>
              <a:spcAft>
                <a:spcPct val="0"/>
              </a:spcAft>
              <a:defRPr sz="4000">
                <a:latin typeface="Arial Rounded MT Bold" pitchFamily="34" charset="0"/>
              </a:defRPr>
            </a:lvl7pPr>
            <a:lvl8pPr marL="1371600" fontAlgn="base">
              <a:spcBef>
                <a:spcPct val="0"/>
              </a:spcBef>
              <a:spcAft>
                <a:spcPct val="0"/>
              </a:spcAft>
              <a:defRPr sz="4000">
                <a:latin typeface="Arial Rounded MT Bold" pitchFamily="34" charset="0"/>
              </a:defRPr>
            </a:lvl8pPr>
            <a:lvl9pPr marL="1828800" fontAlgn="base">
              <a:spcBef>
                <a:spcPct val="0"/>
              </a:spcBef>
              <a:spcAft>
                <a:spcPct val="0"/>
              </a:spcAft>
              <a:defRPr sz="4000">
                <a:latin typeface="Arial Rounded MT Bold" pitchFamily="34" charset="0"/>
              </a:defRPr>
            </a:lvl9pPr>
          </a:lstStyle>
          <a:p>
            <a:pPr algn="r" fontAlgn="base">
              <a:spcBef>
                <a:spcPct val="0"/>
              </a:spcBef>
              <a:spcAft>
                <a:spcPct val="0"/>
              </a:spcAft>
            </a:pPr>
            <a:r>
              <a:rPr lang="en-US" sz="6600" dirty="0"/>
              <a:t>Chapter</a:t>
            </a:r>
          </a:p>
        </p:txBody>
      </p:sp>
      <p:grpSp>
        <p:nvGrpSpPr>
          <p:cNvPr id="3208" name="Group 3207"/>
          <p:cNvGrpSpPr/>
          <p:nvPr userDrawn="1"/>
        </p:nvGrpSpPr>
        <p:grpSpPr>
          <a:xfrm>
            <a:off x="2157788" y="990600"/>
            <a:ext cx="6994525" cy="3590926"/>
            <a:chOff x="147638" y="1658938"/>
            <a:chExt cx="6994525" cy="3590925"/>
          </a:xfrm>
          <a:effectLst>
            <a:outerShdw blurRad="50800" dist="38100" dir="2700000" algn="tl" rotWithShape="0">
              <a:prstClr val="black">
                <a:alpha val="40000"/>
              </a:prstClr>
            </a:outerShdw>
          </a:effectLst>
        </p:grpSpPr>
        <p:sp>
          <p:nvSpPr>
            <p:cNvPr id="3153" name="Freeform 107"/>
            <p:cNvSpPr>
              <a:spLocks/>
            </p:cNvSpPr>
            <p:nvPr userDrawn="1"/>
          </p:nvSpPr>
          <p:spPr bwMode="auto">
            <a:xfrm>
              <a:off x="1204913" y="1658938"/>
              <a:ext cx="1289050" cy="1108075"/>
            </a:xfrm>
            <a:custGeom>
              <a:avLst/>
              <a:gdLst>
                <a:gd name="T0" fmla="*/ 174 w 812"/>
                <a:gd name="T1" fmla="*/ 0 h 698"/>
                <a:gd name="T2" fmla="*/ 0 w 812"/>
                <a:gd name="T3" fmla="*/ 362 h 698"/>
                <a:gd name="T4" fmla="*/ 228 w 812"/>
                <a:gd name="T5" fmla="*/ 698 h 698"/>
                <a:gd name="T6" fmla="*/ 636 w 812"/>
                <a:gd name="T7" fmla="*/ 668 h 698"/>
                <a:gd name="T8" fmla="*/ 812 w 812"/>
                <a:gd name="T9" fmla="*/ 300 h 698"/>
                <a:gd name="T10" fmla="*/ 608 w 812"/>
                <a:gd name="T11" fmla="*/ 0 h 698"/>
              </a:gdLst>
              <a:ahLst/>
              <a:cxnLst>
                <a:cxn ang="0">
                  <a:pos x="T0" y="T1"/>
                </a:cxn>
                <a:cxn ang="0">
                  <a:pos x="T2" y="T3"/>
                </a:cxn>
                <a:cxn ang="0">
                  <a:pos x="T4" y="T5"/>
                </a:cxn>
                <a:cxn ang="0">
                  <a:pos x="T6" y="T7"/>
                </a:cxn>
                <a:cxn ang="0">
                  <a:pos x="T8" y="T9"/>
                </a:cxn>
                <a:cxn ang="0">
                  <a:pos x="T10" y="T11"/>
                </a:cxn>
              </a:cxnLst>
              <a:rect l="0" t="0" r="r" b="b"/>
              <a:pathLst>
                <a:path w="812" h="698">
                  <a:moveTo>
                    <a:pt x="174" y="0"/>
                  </a:moveTo>
                  <a:lnTo>
                    <a:pt x="0" y="362"/>
                  </a:lnTo>
                  <a:lnTo>
                    <a:pt x="228" y="698"/>
                  </a:lnTo>
                  <a:lnTo>
                    <a:pt x="636" y="668"/>
                  </a:lnTo>
                  <a:lnTo>
                    <a:pt x="812" y="300"/>
                  </a:lnTo>
                  <a:lnTo>
                    <a:pt x="608" y="0"/>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4" name="Freeform 108"/>
            <p:cNvSpPr>
              <a:spLocks/>
            </p:cNvSpPr>
            <p:nvPr userDrawn="1"/>
          </p:nvSpPr>
          <p:spPr bwMode="auto">
            <a:xfrm>
              <a:off x="195263" y="1658938"/>
              <a:ext cx="1285875" cy="622300"/>
            </a:xfrm>
            <a:custGeom>
              <a:avLst/>
              <a:gdLst>
                <a:gd name="T0" fmla="*/ 26 w 810"/>
                <a:gd name="T1" fmla="*/ 0 h 392"/>
                <a:gd name="T2" fmla="*/ 0 w 810"/>
                <a:gd name="T3" fmla="*/ 54 h 392"/>
                <a:gd name="T4" fmla="*/ 228 w 810"/>
                <a:gd name="T5" fmla="*/ 392 h 392"/>
                <a:gd name="T6" fmla="*/ 636 w 810"/>
                <a:gd name="T7" fmla="*/ 362 h 392"/>
                <a:gd name="T8" fmla="*/ 810 w 810"/>
                <a:gd name="T9" fmla="*/ 0 h 392"/>
              </a:gdLst>
              <a:ahLst/>
              <a:cxnLst>
                <a:cxn ang="0">
                  <a:pos x="T0" y="T1"/>
                </a:cxn>
                <a:cxn ang="0">
                  <a:pos x="T2" y="T3"/>
                </a:cxn>
                <a:cxn ang="0">
                  <a:pos x="T4" y="T5"/>
                </a:cxn>
                <a:cxn ang="0">
                  <a:pos x="T6" y="T7"/>
                </a:cxn>
                <a:cxn ang="0">
                  <a:pos x="T8" y="T9"/>
                </a:cxn>
              </a:cxnLst>
              <a:rect l="0" t="0" r="r" b="b"/>
              <a:pathLst>
                <a:path w="810" h="392">
                  <a:moveTo>
                    <a:pt x="26" y="0"/>
                  </a:moveTo>
                  <a:lnTo>
                    <a:pt x="0" y="54"/>
                  </a:lnTo>
                  <a:lnTo>
                    <a:pt x="228" y="392"/>
                  </a:lnTo>
                  <a:lnTo>
                    <a:pt x="636" y="362"/>
                  </a:lnTo>
                  <a:lnTo>
                    <a:pt x="810" y="0"/>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5" name="Freeform 109"/>
            <p:cNvSpPr>
              <a:spLocks/>
            </p:cNvSpPr>
            <p:nvPr userDrawn="1"/>
          </p:nvSpPr>
          <p:spPr bwMode="auto">
            <a:xfrm>
              <a:off x="2214563" y="2087563"/>
              <a:ext cx="1289050" cy="1165225"/>
            </a:xfrm>
            <a:custGeom>
              <a:avLst/>
              <a:gdLst>
                <a:gd name="T0" fmla="*/ 176 w 812"/>
                <a:gd name="T1" fmla="*/ 30 h 734"/>
                <a:gd name="T2" fmla="*/ 0 w 812"/>
                <a:gd name="T3" fmla="*/ 398 h 734"/>
                <a:gd name="T4" fmla="*/ 230 w 812"/>
                <a:gd name="T5" fmla="*/ 734 h 734"/>
                <a:gd name="T6" fmla="*/ 636 w 812"/>
                <a:gd name="T7" fmla="*/ 704 h 734"/>
                <a:gd name="T8" fmla="*/ 812 w 812"/>
                <a:gd name="T9" fmla="*/ 338 h 734"/>
                <a:gd name="T10" fmla="*/ 584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8"/>
                  </a:lnTo>
                  <a:lnTo>
                    <a:pt x="230" y="734"/>
                  </a:lnTo>
                  <a:lnTo>
                    <a:pt x="636" y="704"/>
                  </a:lnTo>
                  <a:lnTo>
                    <a:pt x="812" y="338"/>
                  </a:lnTo>
                  <a:lnTo>
                    <a:pt x="584" y="0"/>
                  </a:lnTo>
                  <a:lnTo>
                    <a:pt x="176" y="30"/>
                  </a:lnTo>
                  <a:close/>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6" name="Freeform 110"/>
            <p:cNvSpPr>
              <a:spLocks/>
            </p:cNvSpPr>
            <p:nvPr userDrawn="1"/>
          </p:nvSpPr>
          <p:spPr bwMode="auto">
            <a:xfrm>
              <a:off x="3224213" y="2576513"/>
              <a:ext cx="1289050" cy="1165225"/>
            </a:xfrm>
            <a:custGeom>
              <a:avLst/>
              <a:gdLst>
                <a:gd name="T0" fmla="*/ 176 w 812"/>
                <a:gd name="T1" fmla="*/ 30 h 734"/>
                <a:gd name="T2" fmla="*/ 0 w 812"/>
                <a:gd name="T3" fmla="*/ 396 h 734"/>
                <a:gd name="T4" fmla="*/ 230 w 812"/>
                <a:gd name="T5" fmla="*/ 734 h 734"/>
                <a:gd name="T6" fmla="*/ 636 w 812"/>
                <a:gd name="T7" fmla="*/ 704 h 734"/>
                <a:gd name="T8" fmla="*/ 812 w 812"/>
                <a:gd name="T9" fmla="*/ 336 h 734"/>
                <a:gd name="T10" fmla="*/ 584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6"/>
                  </a:lnTo>
                  <a:lnTo>
                    <a:pt x="230" y="734"/>
                  </a:lnTo>
                  <a:lnTo>
                    <a:pt x="636" y="704"/>
                  </a:lnTo>
                  <a:lnTo>
                    <a:pt x="812" y="336"/>
                  </a:lnTo>
                  <a:lnTo>
                    <a:pt x="584" y="0"/>
                  </a:lnTo>
                  <a:lnTo>
                    <a:pt x="176" y="30"/>
                  </a:lnTo>
                  <a:close/>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7" name="Freeform 111"/>
            <p:cNvSpPr>
              <a:spLocks/>
            </p:cNvSpPr>
            <p:nvPr userDrawn="1"/>
          </p:nvSpPr>
          <p:spPr bwMode="auto">
            <a:xfrm>
              <a:off x="4233863" y="3062288"/>
              <a:ext cx="1289050" cy="1165225"/>
            </a:xfrm>
            <a:custGeom>
              <a:avLst/>
              <a:gdLst>
                <a:gd name="T0" fmla="*/ 176 w 812"/>
                <a:gd name="T1" fmla="*/ 30 h 734"/>
                <a:gd name="T2" fmla="*/ 0 w 812"/>
                <a:gd name="T3" fmla="*/ 398 h 734"/>
                <a:gd name="T4" fmla="*/ 230 w 812"/>
                <a:gd name="T5" fmla="*/ 734 h 734"/>
                <a:gd name="T6" fmla="*/ 636 w 812"/>
                <a:gd name="T7" fmla="*/ 704 h 734"/>
                <a:gd name="T8" fmla="*/ 812 w 812"/>
                <a:gd name="T9" fmla="*/ 336 h 734"/>
                <a:gd name="T10" fmla="*/ 584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8"/>
                  </a:lnTo>
                  <a:lnTo>
                    <a:pt x="230" y="734"/>
                  </a:lnTo>
                  <a:lnTo>
                    <a:pt x="636" y="704"/>
                  </a:lnTo>
                  <a:lnTo>
                    <a:pt x="812" y="336"/>
                  </a:lnTo>
                  <a:lnTo>
                    <a:pt x="584" y="0"/>
                  </a:lnTo>
                  <a:lnTo>
                    <a:pt x="176" y="30"/>
                  </a:lnTo>
                  <a:close/>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8" name="Freeform 112"/>
            <p:cNvSpPr>
              <a:spLocks/>
            </p:cNvSpPr>
            <p:nvPr userDrawn="1"/>
          </p:nvSpPr>
          <p:spPr bwMode="auto">
            <a:xfrm>
              <a:off x="5243513" y="3548063"/>
              <a:ext cx="1289050" cy="1168400"/>
            </a:xfrm>
            <a:custGeom>
              <a:avLst/>
              <a:gdLst>
                <a:gd name="T0" fmla="*/ 176 w 812"/>
                <a:gd name="T1" fmla="*/ 30 h 736"/>
                <a:gd name="T2" fmla="*/ 0 w 812"/>
                <a:gd name="T3" fmla="*/ 398 h 736"/>
                <a:gd name="T4" fmla="*/ 230 w 812"/>
                <a:gd name="T5" fmla="*/ 736 h 736"/>
                <a:gd name="T6" fmla="*/ 636 w 812"/>
                <a:gd name="T7" fmla="*/ 704 h 736"/>
                <a:gd name="T8" fmla="*/ 812 w 812"/>
                <a:gd name="T9" fmla="*/ 338 h 736"/>
                <a:gd name="T10" fmla="*/ 584 w 812"/>
                <a:gd name="T11" fmla="*/ 0 h 736"/>
                <a:gd name="T12" fmla="*/ 176 w 812"/>
                <a:gd name="T13" fmla="*/ 30 h 736"/>
              </a:gdLst>
              <a:ahLst/>
              <a:cxnLst>
                <a:cxn ang="0">
                  <a:pos x="T0" y="T1"/>
                </a:cxn>
                <a:cxn ang="0">
                  <a:pos x="T2" y="T3"/>
                </a:cxn>
                <a:cxn ang="0">
                  <a:pos x="T4" y="T5"/>
                </a:cxn>
                <a:cxn ang="0">
                  <a:pos x="T6" y="T7"/>
                </a:cxn>
                <a:cxn ang="0">
                  <a:pos x="T8" y="T9"/>
                </a:cxn>
                <a:cxn ang="0">
                  <a:pos x="T10" y="T11"/>
                </a:cxn>
                <a:cxn ang="0">
                  <a:pos x="T12" y="T13"/>
                </a:cxn>
              </a:cxnLst>
              <a:rect l="0" t="0" r="r" b="b"/>
              <a:pathLst>
                <a:path w="812" h="736">
                  <a:moveTo>
                    <a:pt x="176" y="30"/>
                  </a:moveTo>
                  <a:lnTo>
                    <a:pt x="0" y="398"/>
                  </a:lnTo>
                  <a:lnTo>
                    <a:pt x="230" y="736"/>
                  </a:lnTo>
                  <a:lnTo>
                    <a:pt x="636" y="704"/>
                  </a:lnTo>
                  <a:lnTo>
                    <a:pt x="812" y="338"/>
                  </a:lnTo>
                  <a:lnTo>
                    <a:pt x="584" y="0"/>
                  </a:lnTo>
                  <a:lnTo>
                    <a:pt x="176" y="30"/>
                  </a:lnTo>
                  <a:close/>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9" name="Freeform 113"/>
            <p:cNvSpPr>
              <a:spLocks/>
            </p:cNvSpPr>
            <p:nvPr userDrawn="1"/>
          </p:nvSpPr>
          <p:spPr bwMode="auto">
            <a:xfrm>
              <a:off x="6253163" y="4040188"/>
              <a:ext cx="876300" cy="1162050"/>
            </a:xfrm>
            <a:custGeom>
              <a:avLst/>
              <a:gdLst>
                <a:gd name="T0" fmla="*/ 552 w 552"/>
                <a:gd name="T1" fmla="*/ 0 h 732"/>
                <a:gd name="T2" fmla="*/ 176 w 552"/>
                <a:gd name="T3" fmla="*/ 28 h 732"/>
                <a:gd name="T4" fmla="*/ 0 w 552"/>
                <a:gd name="T5" fmla="*/ 394 h 732"/>
                <a:gd name="T6" fmla="*/ 230 w 552"/>
                <a:gd name="T7" fmla="*/ 732 h 732"/>
                <a:gd name="T8" fmla="*/ 552 w 552"/>
                <a:gd name="T9" fmla="*/ 708 h 732"/>
              </a:gdLst>
              <a:ahLst/>
              <a:cxnLst>
                <a:cxn ang="0">
                  <a:pos x="T0" y="T1"/>
                </a:cxn>
                <a:cxn ang="0">
                  <a:pos x="T2" y="T3"/>
                </a:cxn>
                <a:cxn ang="0">
                  <a:pos x="T4" y="T5"/>
                </a:cxn>
                <a:cxn ang="0">
                  <a:pos x="T6" y="T7"/>
                </a:cxn>
                <a:cxn ang="0">
                  <a:pos x="T8" y="T9"/>
                </a:cxn>
              </a:cxnLst>
              <a:rect l="0" t="0" r="r" b="b"/>
              <a:pathLst>
                <a:path w="552" h="732">
                  <a:moveTo>
                    <a:pt x="552" y="0"/>
                  </a:moveTo>
                  <a:lnTo>
                    <a:pt x="176" y="28"/>
                  </a:lnTo>
                  <a:lnTo>
                    <a:pt x="0" y="394"/>
                  </a:lnTo>
                  <a:lnTo>
                    <a:pt x="230" y="732"/>
                  </a:lnTo>
                  <a:lnTo>
                    <a:pt x="552" y="708"/>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0" name="Freeform 114"/>
            <p:cNvSpPr>
              <a:spLocks/>
            </p:cNvSpPr>
            <p:nvPr userDrawn="1"/>
          </p:nvSpPr>
          <p:spPr bwMode="auto">
            <a:xfrm>
              <a:off x="3141663" y="1658938"/>
              <a:ext cx="1289050" cy="965200"/>
            </a:xfrm>
            <a:custGeom>
              <a:avLst/>
              <a:gdLst>
                <a:gd name="T0" fmla="*/ 130 w 812"/>
                <a:gd name="T1" fmla="*/ 0 h 608"/>
                <a:gd name="T2" fmla="*/ 0 w 812"/>
                <a:gd name="T3" fmla="*/ 270 h 608"/>
                <a:gd name="T4" fmla="*/ 228 w 812"/>
                <a:gd name="T5" fmla="*/ 608 h 608"/>
                <a:gd name="T6" fmla="*/ 636 w 812"/>
                <a:gd name="T7" fmla="*/ 578 h 608"/>
                <a:gd name="T8" fmla="*/ 812 w 812"/>
                <a:gd name="T9" fmla="*/ 210 h 608"/>
                <a:gd name="T10" fmla="*/ 670 w 812"/>
                <a:gd name="T11" fmla="*/ 0 h 608"/>
              </a:gdLst>
              <a:ahLst/>
              <a:cxnLst>
                <a:cxn ang="0">
                  <a:pos x="T0" y="T1"/>
                </a:cxn>
                <a:cxn ang="0">
                  <a:pos x="T2" y="T3"/>
                </a:cxn>
                <a:cxn ang="0">
                  <a:pos x="T4" y="T5"/>
                </a:cxn>
                <a:cxn ang="0">
                  <a:pos x="T6" y="T7"/>
                </a:cxn>
                <a:cxn ang="0">
                  <a:pos x="T8" y="T9"/>
                </a:cxn>
                <a:cxn ang="0">
                  <a:pos x="T10" y="T11"/>
                </a:cxn>
              </a:cxnLst>
              <a:rect l="0" t="0" r="r" b="b"/>
              <a:pathLst>
                <a:path w="812" h="608">
                  <a:moveTo>
                    <a:pt x="130" y="0"/>
                  </a:moveTo>
                  <a:lnTo>
                    <a:pt x="0" y="270"/>
                  </a:lnTo>
                  <a:lnTo>
                    <a:pt x="228" y="608"/>
                  </a:lnTo>
                  <a:lnTo>
                    <a:pt x="636" y="578"/>
                  </a:lnTo>
                  <a:lnTo>
                    <a:pt x="812" y="210"/>
                  </a:lnTo>
                  <a:lnTo>
                    <a:pt x="670" y="0"/>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1" name="Freeform 115"/>
            <p:cNvSpPr>
              <a:spLocks/>
            </p:cNvSpPr>
            <p:nvPr userDrawn="1"/>
          </p:nvSpPr>
          <p:spPr bwMode="auto">
            <a:xfrm>
              <a:off x="4151313" y="1944688"/>
              <a:ext cx="1289050" cy="1165225"/>
            </a:xfrm>
            <a:custGeom>
              <a:avLst/>
              <a:gdLst>
                <a:gd name="T0" fmla="*/ 176 w 812"/>
                <a:gd name="T1" fmla="*/ 30 h 734"/>
                <a:gd name="T2" fmla="*/ 0 w 812"/>
                <a:gd name="T3" fmla="*/ 398 h 734"/>
                <a:gd name="T4" fmla="*/ 228 w 812"/>
                <a:gd name="T5" fmla="*/ 734 h 734"/>
                <a:gd name="T6" fmla="*/ 636 w 812"/>
                <a:gd name="T7" fmla="*/ 704 h 734"/>
                <a:gd name="T8" fmla="*/ 812 w 812"/>
                <a:gd name="T9" fmla="*/ 336 h 734"/>
                <a:gd name="T10" fmla="*/ 582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8"/>
                  </a:lnTo>
                  <a:lnTo>
                    <a:pt x="228" y="734"/>
                  </a:lnTo>
                  <a:lnTo>
                    <a:pt x="636" y="704"/>
                  </a:lnTo>
                  <a:lnTo>
                    <a:pt x="812" y="336"/>
                  </a:lnTo>
                  <a:lnTo>
                    <a:pt x="582" y="0"/>
                  </a:lnTo>
                  <a:lnTo>
                    <a:pt x="176" y="30"/>
                  </a:lnTo>
                  <a:close/>
                </a:path>
              </a:pathLst>
            </a:custGeom>
            <a:noFill/>
            <a:ln w="16">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2" name="Freeform 116"/>
            <p:cNvSpPr>
              <a:spLocks/>
            </p:cNvSpPr>
            <p:nvPr userDrawn="1"/>
          </p:nvSpPr>
          <p:spPr bwMode="auto">
            <a:xfrm>
              <a:off x="5160963" y="2430463"/>
              <a:ext cx="1289050" cy="1165225"/>
            </a:xfrm>
            <a:custGeom>
              <a:avLst/>
              <a:gdLst>
                <a:gd name="T0" fmla="*/ 176 w 812"/>
                <a:gd name="T1" fmla="*/ 30 h 734"/>
                <a:gd name="T2" fmla="*/ 0 w 812"/>
                <a:gd name="T3" fmla="*/ 398 h 734"/>
                <a:gd name="T4" fmla="*/ 228 w 812"/>
                <a:gd name="T5" fmla="*/ 734 h 734"/>
                <a:gd name="T6" fmla="*/ 636 w 812"/>
                <a:gd name="T7" fmla="*/ 704 h 734"/>
                <a:gd name="T8" fmla="*/ 812 w 812"/>
                <a:gd name="T9" fmla="*/ 338 h 734"/>
                <a:gd name="T10" fmla="*/ 582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8"/>
                  </a:lnTo>
                  <a:lnTo>
                    <a:pt x="228" y="734"/>
                  </a:lnTo>
                  <a:lnTo>
                    <a:pt x="636" y="704"/>
                  </a:lnTo>
                  <a:lnTo>
                    <a:pt x="812" y="338"/>
                  </a:lnTo>
                  <a:lnTo>
                    <a:pt x="582" y="0"/>
                  </a:lnTo>
                  <a:lnTo>
                    <a:pt x="176" y="30"/>
                  </a:lnTo>
                  <a:close/>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3" name="Freeform 117"/>
            <p:cNvSpPr>
              <a:spLocks/>
            </p:cNvSpPr>
            <p:nvPr userDrawn="1"/>
          </p:nvSpPr>
          <p:spPr bwMode="auto">
            <a:xfrm>
              <a:off x="6170613" y="2919413"/>
              <a:ext cx="958850" cy="1165225"/>
            </a:xfrm>
            <a:custGeom>
              <a:avLst/>
              <a:gdLst>
                <a:gd name="T0" fmla="*/ 604 w 604"/>
                <a:gd name="T1" fmla="*/ 30 h 734"/>
                <a:gd name="T2" fmla="*/ 582 w 604"/>
                <a:gd name="T3" fmla="*/ 0 h 734"/>
                <a:gd name="T4" fmla="*/ 176 w 604"/>
                <a:gd name="T5" fmla="*/ 30 h 734"/>
                <a:gd name="T6" fmla="*/ 0 w 604"/>
                <a:gd name="T7" fmla="*/ 396 h 734"/>
                <a:gd name="T8" fmla="*/ 228 w 604"/>
                <a:gd name="T9" fmla="*/ 734 h 734"/>
                <a:gd name="T10" fmla="*/ 604 w 604"/>
                <a:gd name="T11" fmla="*/ 706 h 734"/>
              </a:gdLst>
              <a:ahLst/>
              <a:cxnLst>
                <a:cxn ang="0">
                  <a:pos x="T0" y="T1"/>
                </a:cxn>
                <a:cxn ang="0">
                  <a:pos x="T2" y="T3"/>
                </a:cxn>
                <a:cxn ang="0">
                  <a:pos x="T4" y="T5"/>
                </a:cxn>
                <a:cxn ang="0">
                  <a:pos x="T6" y="T7"/>
                </a:cxn>
                <a:cxn ang="0">
                  <a:pos x="T8" y="T9"/>
                </a:cxn>
                <a:cxn ang="0">
                  <a:pos x="T10" y="T11"/>
                </a:cxn>
              </a:cxnLst>
              <a:rect l="0" t="0" r="r" b="b"/>
              <a:pathLst>
                <a:path w="604" h="734">
                  <a:moveTo>
                    <a:pt x="604" y="30"/>
                  </a:moveTo>
                  <a:lnTo>
                    <a:pt x="582" y="0"/>
                  </a:lnTo>
                  <a:lnTo>
                    <a:pt x="176" y="30"/>
                  </a:lnTo>
                  <a:lnTo>
                    <a:pt x="0" y="396"/>
                  </a:lnTo>
                  <a:lnTo>
                    <a:pt x="228" y="734"/>
                  </a:lnTo>
                  <a:lnTo>
                    <a:pt x="604" y="706"/>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4" name="Freeform 118"/>
            <p:cNvSpPr>
              <a:spLocks/>
            </p:cNvSpPr>
            <p:nvPr userDrawn="1"/>
          </p:nvSpPr>
          <p:spPr bwMode="auto">
            <a:xfrm>
              <a:off x="4205288" y="1658938"/>
              <a:ext cx="1009650" cy="333375"/>
            </a:xfrm>
            <a:custGeom>
              <a:avLst/>
              <a:gdLst>
                <a:gd name="T0" fmla="*/ 0 w 636"/>
                <a:gd name="T1" fmla="*/ 0 h 210"/>
                <a:gd name="T2" fmla="*/ 142 w 636"/>
                <a:gd name="T3" fmla="*/ 210 h 210"/>
                <a:gd name="T4" fmla="*/ 548 w 636"/>
                <a:gd name="T5" fmla="*/ 180 h 210"/>
                <a:gd name="T6" fmla="*/ 636 w 636"/>
                <a:gd name="T7" fmla="*/ 0 h 210"/>
              </a:gdLst>
              <a:ahLst/>
              <a:cxnLst>
                <a:cxn ang="0">
                  <a:pos x="T0" y="T1"/>
                </a:cxn>
                <a:cxn ang="0">
                  <a:pos x="T2" y="T3"/>
                </a:cxn>
                <a:cxn ang="0">
                  <a:pos x="T4" y="T5"/>
                </a:cxn>
                <a:cxn ang="0">
                  <a:pos x="T6" y="T7"/>
                </a:cxn>
              </a:cxnLst>
              <a:rect l="0" t="0" r="r" b="b"/>
              <a:pathLst>
                <a:path w="636" h="210">
                  <a:moveTo>
                    <a:pt x="0" y="0"/>
                  </a:moveTo>
                  <a:lnTo>
                    <a:pt x="142" y="210"/>
                  </a:lnTo>
                  <a:lnTo>
                    <a:pt x="548" y="180"/>
                  </a:lnTo>
                  <a:lnTo>
                    <a:pt x="636" y="0"/>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5" name="Freeform 119"/>
            <p:cNvSpPr>
              <a:spLocks/>
            </p:cNvSpPr>
            <p:nvPr userDrawn="1"/>
          </p:nvSpPr>
          <p:spPr bwMode="auto">
            <a:xfrm>
              <a:off x="5075238" y="1658938"/>
              <a:ext cx="1292225" cy="819150"/>
            </a:xfrm>
            <a:custGeom>
              <a:avLst/>
              <a:gdLst>
                <a:gd name="T0" fmla="*/ 88 w 814"/>
                <a:gd name="T1" fmla="*/ 0 h 516"/>
                <a:gd name="T2" fmla="*/ 0 w 814"/>
                <a:gd name="T3" fmla="*/ 180 h 516"/>
                <a:gd name="T4" fmla="*/ 230 w 814"/>
                <a:gd name="T5" fmla="*/ 516 h 516"/>
                <a:gd name="T6" fmla="*/ 636 w 814"/>
                <a:gd name="T7" fmla="*/ 486 h 516"/>
                <a:gd name="T8" fmla="*/ 814 w 814"/>
                <a:gd name="T9" fmla="*/ 120 h 516"/>
                <a:gd name="T10" fmla="*/ 732 w 814"/>
                <a:gd name="T11" fmla="*/ 0 h 516"/>
              </a:gdLst>
              <a:ahLst/>
              <a:cxnLst>
                <a:cxn ang="0">
                  <a:pos x="T0" y="T1"/>
                </a:cxn>
                <a:cxn ang="0">
                  <a:pos x="T2" y="T3"/>
                </a:cxn>
                <a:cxn ang="0">
                  <a:pos x="T4" y="T5"/>
                </a:cxn>
                <a:cxn ang="0">
                  <a:pos x="T6" y="T7"/>
                </a:cxn>
                <a:cxn ang="0">
                  <a:pos x="T8" y="T9"/>
                </a:cxn>
                <a:cxn ang="0">
                  <a:pos x="T10" y="T11"/>
                </a:cxn>
              </a:cxnLst>
              <a:rect l="0" t="0" r="r" b="b"/>
              <a:pathLst>
                <a:path w="814" h="516">
                  <a:moveTo>
                    <a:pt x="88" y="0"/>
                  </a:moveTo>
                  <a:lnTo>
                    <a:pt x="0" y="180"/>
                  </a:lnTo>
                  <a:lnTo>
                    <a:pt x="230" y="516"/>
                  </a:lnTo>
                  <a:lnTo>
                    <a:pt x="636" y="486"/>
                  </a:lnTo>
                  <a:lnTo>
                    <a:pt x="814" y="120"/>
                  </a:lnTo>
                  <a:lnTo>
                    <a:pt x="732" y="0"/>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6" name="Freeform 120"/>
            <p:cNvSpPr>
              <a:spLocks/>
            </p:cNvSpPr>
            <p:nvPr userDrawn="1"/>
          </p:nvSpPr>
          <p:spPr bwMode="auto">
            <a:xfrm>
              <a:off x="6084888" y="1798638"/>
              <a:ext cx="1044575" cy="1168400"/>
            </a:xfrm>
            <a:custGeom>
              <a:avLst/>
              <a:gdLst>
                <a:gd name="T0" fmla="*/ 658 w 658"/>
                <a:gd name="T1" fmla="*/ 108 h 736"/>
                <a:gd name="T2" fmla="*/ 584 w 658"/>
                <a:gd name="T3" fmla="*/ 0 h 736"/>
                <a:gd name="T4" fmla="*/ 178 w 658"/>
                <a:gd name="T5" fmla="*/ 32 h 736"/>
                <a:gd name="T6" fmla="*/ 0 w 658"/>
                <a:gd name="T7" fmla="*/ 398 h 736"/>
                <a:gd name="T8" fmla="*/ 230 w 658"/>
                <a:gd name="T9" fmla="*/ 736 h 736"/>
                <a:gd name="T10" fmla="*/ 636 w 658"/>
                <a:gd name="T11" fmla="*/ 706 h 736"/>
                <a:gd name="T12" fmla="*/ 658 w 658"/>
                <a:gd name="T13" fmla="*/ 662 h 736"/>
              </a:gdLst>
              <a:ahLst/>
              <a:cxnLst>
                <a:cxn ang="0">
                  <a:pos x="T0" y="T1"/>
                </a:cxn>
                <a:cxn ang="0">
                  <a:pos x="T2" y="T3"/>
                </a:cxn>
                <a:cxn ang="0">
                  <a:pos x="T4" y="T5"/>
                </a:cxn>
                <a:cxn ang="0">
                  <a:pos x="T6" y="T7"/>
                </a:cxn>
                <a:cxn ang="0">
                  <a:pos x="T8" y="T9"/>
                </a:cxn>
                <a:cxn ang="0">
                  <a:pos x="T10" y="T11"/>
                </a:cxn>
                <a:cxn ang="0">
                  <a:pos x="T12" y="T13"/>
                </a:cxn>
              </a:cxnLst>
              <a:rect l="0" t="0" r="r" b="b"/>
              <a:pathLst>
                <a:path w="658" h="736">
                  <a:moveTo>
                    <a:pt x="658" y="108"/>
                  </a:moveTo>
                  <a:lnTo>
                    <a:pt x="584" y="0"/>
                  </a:lnTo>
                  <a:lnTo>
                    <a:pt x="178" y="32"/>
                  </a:lnTo>
                  <a:lnTo>
                    <a:pt x="0" y="398"/>
                  </a:lnTo>
                  <a:lnTo>
                    <a:pt x="230" y="736"/>
                  </a:lnTo>
                  <a:lnTo>
                    <a:pt x="636" y="706"/>
                  </a:lnTo>
                  <a:lnTo>
                    <a:pt x="658" y="662"/>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7" name="Freeform 121"/>
            <p:cNvSpPr>
              <a:spLocks/>
            </p:cNvSpPr>
            <p:nvPr userDrawn="1"/>
          </p:nvSpPr>
          <p:spPr bwMode="auto">
            <a:xfrm>
              <a:off x="7094538" y="2849563"/>
              <a:ext cx="34925" cy="117475"/>
            </a:xfrm>
            <a:custGeom>
              <a:avLst/>
              <a:gdLst>
                <a:gd name="T0" fmla="*/ 22 w 22"/>
                <a:gd name="T1" fmla="*/ 74 h 74"/>
                <a:gd name="T2" fmla="*/ 22 w 22"/>
                <a:gd name="T3" fmla="*/ 0 h 74"/>
                <a:gd name="T4" fmla="*/ 0 w 22"/>
                <a:gd name="T5" fmla="*/ 44 h 74"/>
                <a:gd name="T6" fmla="*/ 22 w 22"/>
                <a:gd name="T7" fmla="*/ 74 h 74"/>
              </a:gdLst>
              <a:ahLst/>
              <a:cxnLst>
                <a:cxn ang="0">
                  <a:pos x="T0" y="T1"/>
                </a:cxn>
                <a:cxn ang="0">
                  <a:pos x="T2" y="T3"/>
                </a:cxn>
                <a:cxn ang="0">
                  <a:pos x="T4" y="T5"/>
                </a:cxn>
                <a:cxn ang="0">
                  <a:pos x="T6" y="T7"/>
                </a:cxn>
              </a:cxnLst>
              <a:rect l="0" t="0" r="r" b="b"/>
              <a:pathLst>
                <a:path w="22" h="74">
                  <a:moveTo>
                    <a:pt x="22" y="74"/>
                  </a:moveTo>
                  <a:lnTo>
                    <a:pt x="22" y="0"/>
                  </a:lnTo>
                  <a:lnTo>
                    <a:pt x="0" y="44"/>
                  </a:lnTo>
                  <a:lnTo>
                    <a:pt x="22" y="74"/>
                  </a:lnTo>
                  <a:close/>
                </a:path>
              </a:pathLst>
            </a:custGeom>
            <a:noFill/>
            <a:ln w="16">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6" name="Freeform 122"/>
            <p:cNvSpPr>
              <a:spLocks/>
            </p:cNvSpPr>
            <p:nvPr userDrawn="1"/>
          </p:nvSpPr>
          <p:spPr bwMode="auto">
            <a:xfrm>
              <a:off x="6237288" y="1658938"/>
              <a:ext cx="844550" cy="190500"/>
            </a:xfrm>
            <a:custGeom>
              <a:avLst/>
              <a:gdLst>
                <a:gd name="T0" fmla="*/ 0 w 532"/>
                <a:gd name="T1" fmla="*/ 0 h 120"/>
                <a:gd name="T2" fmla="*/ 82 w 532"/>
                <a:gd name="T3" fmla="*/ 120 h 120"/>
                <a:gd name="T4" fmla="*/ 488 w 532"/>
                <a:gd name="T5" fmla="*/ 88 h 120"/>
                <a:gd name="T6" fmla="*/ 532 w 532"/>
                <a:gd name="T7" fmla="*/ 0 h 120"/>
              </a:gdLst>
              <a:ahLst/>
              <a:cxnLst>
                <a:cxn ang="0">
                  <a:pos x="T0" y="T1"/>
                </a:cxn>
                <a:cxn ang="0">
                  <a:pos x="T2" y="T3"/>
                </a:cxn>
                <a:cxn ang="0">
                  <a:pos x="T4" y="T5"/>
                </a:cxn>
                <a:cxn ang="0">
                  <a:pos x="T6" y="T7"/>
                </a:cxn>
              </a:cxnLst>
              <a:rect l="0" t="0" r="r" b="b"/>
              <a:pathLst>
                <a:path w="532" h="120">
                  <a:moveTo>
                    <a:pt x="0" y="0"/>
                  </a:moveTo>
                  <a:lnTo>
                    <a:pt x="82" y="120"/>
                  </a:lnTo>
                  <a:lnTo>
                    <a:pt x="488" y="88"/>
                  </a:lnTo>
                  <a:lnTo>
                    <a:pt x="532" y="0"/>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7" name="Freeform 123"/>
            <p:cNvSpPr>
              <a:spLocks/>
            </p:cNvSpPr>
            <p:nvPr userDrawn="1"/>
          </p:nvSpPr>
          <p:spPr bwMode="auto">
            <a:xfrm>
              <a:off x="7011988" y="1658938"/>
              <a:ext cx="117475" cy="311150"/>
            </a:xfrm>
            <a:custGeom>
              <a:avLst/>
              <a:gdLst>
                <a:gd name="T0" fmla="*/ 44 w 74"/>
                <a:gd name="T1" fmla="*/ 0 h 196"/>
                <a:gd name="T2" fmla="*/ 0 w 74"/>
                <a:gd name="T3" fmla="*/ 88 h 196"/>
                <a:gd name="T4" fmla="*/ 74 w 74"/>
                <a:gd name="T5" fmla="*/ 196 h 196"/>
              </a:gdLst>
              <a:ahLst/>
              <a:cxnLst>
                <a:cxn ang="0">
                  <a:pos x="T0" y="T1"/>
                </a:cxn>
                <a:cxn ang="0">
                  <a:pos x="T2" y="T3"/>
                </a:cxn>
                <a:cxn ang="0">
                  <a:pos x="T4" y="T5"/>
                </a:cxn>
              </a:cxnLst>
              <a:rect l="0" t="0" r="r" b="b"/>
              <a:pathLst>
                <a:path w="74" h="196">
                  <a:moveTo>
                    <a:pt x="44" y="0"/>
                  </a:moveTo>
                  <a:lnTo>
                    <a:pt x="0" y="88"/>
                  </a:lnTo>
                  <a:lnTo>
                    <a:pt x="74" y="196"/>
                  </a:lnTo>
                </a:path>
              </a:pathLst>
            </a:custGeom>
            <a:noFill/>
            <a:ln w="16">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8" name="Freeform 124"/>
            <p:cNvSpPr>
              <a:spLocks/>
            </p:cNvSpPr>
            <p:nvPr userDrawn="1"/>
          </p:nvSpPr>
          <p:spPr bwMode="auto">
            <a:xfrm>
              <a:off x="3459163" y="2576513"/>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8"/>
                  </a:lnTo>
                  <a:lnTo>
                    <a:pt x="6" y="12"/>
                  </a:lnTo>
                  <a:lnTo>
                    <a:pt x="2" y="16"/>
                  </a:lnTo>
                  <a:lnTo>
                    <a:pt x="2" y="16"/>
                  </a:lnTo>
                  <a:lnTo>
                    <a:pt x="0" y="22"/>
                  </a:lnTo>
                  <a:lnTo>
                    <a:pt x="0" y="28"/>
                  </a:lnTo>
                  <a:lnTo>
                    <a:pt x="0"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9" name="Freeform 125"/>
            <p:cNvSpPr>
              <a:spLocks/>
            </p:cNvSpPr>
            <p:nvPr userDrawn="1"/>
          </p:nvSpPr>
          <p:spPr bwMode="auto">
            <a:xfrm>
              <a:off x="3094038" y="20431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0" name="Freeform 126"/>
            <p:cNvSpPr>
              <a:spLocks/>
            </p:cNvSpPr>
            <p:nvPr userDrawn="1"/>
          </p:nvSpPr>
          <p:spPr bwMode="auto">
            <a:xfrm>
              <a:off x="2449513" y="209073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0"/>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1" name="Freeform 127"/>
            <p:cNvSpPr>
              <a:spLocks/>
            </p:cNvSpPr>
            <p:nvPr userDrawn="1"/>
          </p:nvSpPr>
          <p:spPr bwMode="auto">
            <a:xfrm>
              <a:off x="2166938" y="26717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4 w 58"/>
                <a:gd name="T15" fmla="*/ 18 h 60"/>
                <a:gd name="T16" fmla="*/ 4 w 58"/>
                <a:gd name="T17" fmla="*/ 18 h 60"/>
                <a:gd name="T18" fmla="*/ 2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40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8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4" y="18"/>
                  </a:lnTo>
                  <a:lnTo>
                    <a:pt x="4" y="18"/>
                  </a:lnTo>
                  <a:lnTo>
                    <a:pt x="2" y="22"/>
                  </a:lnTo>
                  <a:lnTo>
                    <a:pt x="0" y="28"/>
                  </a:lnTo>
                  <a:lnTo>
                    <a:pt x="2" y="40"/>
                  </a:lnTo>
                  <a:lnTo>
                    <a:pt x="8" y="50"/>
                  </a:lnTo>
                  <a:lnTo>
                    <a:pt x="12" y="54"/>
                  </a:lnTo>
                  <a:lnTo>
                    <a:pt x="16" y="56"/>
                  </a:lnTo>
                  <a:lnTo>
                    <a:pt x="16" y="56"/>
                  </a:lnTo>
                  <a:lnTo>
                    <a:pt x="22" y="58"/>
                  </a:lnTo>
                  <a:lnTo>
                    <a:pt x="28" y="60"/>
                  </a:lnTo>
                  <a:lnTo>
                    <a:pt x="40" y="58"/>
                  </a:lnTo>
                  <a:lnTo>
                    <a:pt x="48" y="52"/>
                  </a:lnTo>
                  <a:lnTo>
                    <a:pt x="52" y="48"/>
                  </a:lnTo>
                  <a:lnTo>
                    <a:pt x="56" y="42"/>
                  </a:lnTo>
                  <a:lnTo>
                    <a:pt x="56" y="42"/>
                  </a:lnTo>
                  <a:lnTo>
                    <a:pt x="58" y="38"/>
                  </a:lnTo>
                  <a:lnTo>
                    <a:pt x="58" y="32"/>
                  </a:lnTo>
                  <a:lnTo>
                    <a:pt x="58"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2" name="Freeform 128"/>
            <p:cNvSpPr>
              <a:spLocks/>
            </p:cNvSpPr>
            <p:nvPr userDrawn="1"/>
          </p:nvSpPr>
          <p:spPr bwMode="auto">
            <a:xfrm>
              <a:off x="2532063" y="32083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6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2"/>
                  </a:lnTo>
                  <a:lnTo>
                    <a:pt x="2" y="16"/>
                  </a:lnTo>
                  <a:lnTo>
                    <a:pt x="2" y="16"/>
                  </a:lnTo>
                  <a:lnTo>
                    <a:pt x="0" y="22"/>
                  </a:lnTo>
                  <a:lnTo>
                    <a:pt x="0" y="28"/>
                  </a:lnTo>
                  <a:lnTo>
                    <a:pt x="2" y="38"/>
                  </a:lnTo>
                  <a:lnTo>
                    <a:pt x="6" y="48"/>
                  </a:lnTo>
                  <a:lnTo>
                    <a:pt x="12"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3" name="Freeform 129"/>
            <p:cNvSpPr>
              <a:spLocks/>
            </p:cNvSpPr>
            <p:nvPr userDrawn="1"/>
          </p:nvSpPr>
          <p:spPr bwMode="auto">
            <a:xfrm>
              <a:off x="1522413" y="2719388"/>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4 h 60"/>
                <a:gd name="T20" fmla="*/ 0 w 58"/>
                <a:gd name="T21" fmla="*/ 28 h 60"/>
                <a:gd name="T22" fmla="*/ 2 w 58"/>
                <a:gd name="T23" fmla="*/ 40 h 60"/>
                <a:gd name="T24" fmla="*/ 6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2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4"/>
                  </a:lnTo>
                  <a:lnTo>
                    <a:pt x="0" y="28"/>
                  </a:lnTo>
                  <a:lnTo>
                    <a:pt x="2" y="40"/>
                  </a:lnTo>
                  <a:lnTo>
                    <a:pt x="6" y="50"/>
                  </a:lnTo>
                  <a:lnTo>
                    <a:pt x="12"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2"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4" name="Freeform 130"/>
            <p:cNvSpPr>
              <a:spLocks/>
            </p:cNvSpPr>
            <p:nvPr userDrawn="1"/>
          </p:nvSpPr>
          <p:spPr bwMode="auto">
            <a:xfrm>
              <a:off x="1157288" y="218598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8 h 58"/>
                <a:gd name="T12" fmla="*/ 6 w 58"/>
                <a:gd name="T13" fmla="*/ 12 h 58"/>
                <a:gd name="T14" fmla="*/ 4 w 58"/>
                <a:gd name="T15" fmla="*/ 16 h 58"/>
                <a:gd name="T16" fmla="*/ 4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8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8"/>
                  </a:lnTo>
                  <a:lnTo>
                    <a:pt x="6" y="12"/>
                  </a:lnTo>
                  <a:lnTo>
                    <a:pt x="4" y="16"/>
                  </a:lnTo>
                  <a:lnTo>
                    <a:pt x="4" y="16"/>
                  </a:lnTo>
                  <a:lnTo>
                    <a:pt x="0" y="22"/>
                  </a:lnTo>
                  <a:lnTo>
                    <a:pt x="0" y="28"/>
                  </a:lnTo>
                  <a:lnTo>
                    <a:pt x="2" y="38"/>
                  </a:lnTo>
                  <a:lnTo>
                    <a:pt x="8" y="48"/>
                  </a:lnTo>
                  <a:lnTo>
                    <a:pt x="12" y="52"/>
                  </a:lnTo>
                  <a:lnTo>
                    <a:pt x="16" y="56"/>
                  </a:lnTo>
                  <a:lnTo>
                    <a:pt x="16" y="56"/>
                  </a:lnTo>
                  <a:lnTo>
                    <a:pt x="22" y="58"/>
                  </a:lnTo>
                  <a:lnTo>
                    <a:pt x="28" y="58"/>
                  </a:lnTo>
                  <a:lnTo>
                    <a:pt x="40" y="58"/>
                  </a:lnTo>
                  <a:lnTo>
                    <a:pt x="48" y="52"/>
                  </a:lnTo>
                  <a:lnTo>
                    <a:pt x="52" y="48"/>
                  </a:lnTo>
                  <a:lnTo>
                    <a:pt x="56" y="42"/>
                  </a:lnTo>
                  <a:lnTo>
                    <a:pt x="56" y="42"/>
                  </a:lnTo>
                  <a:lnTo>
                    <a:pt x="58" y="36"/>
                  </a:lnTo>
                  <a:lnTo>
                    <a:pt x="58"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5" name="Freeform 131"/>
            <p:cNvSpPr>
              <a:spLocks/>
            </p:cNvSpPr>
            <p:nvPr userDrawn="1"/>
          </p:nvSpPr>
          <p:spPr bwMode="auto">
            <a:xfrm>
              <a:off x="512763" y="22336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48"/>
                  </a:lnTo>
                  <a:lnTo>
                    <a:pt x="12"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6" name="Freeform 132"/>
            <p:cNvSpPr>
              <a:spLocks/>
            </p:cNvSpPr>
            <p:nvPr userDrawn="1"/>
          </p:nvSpPr>
          <p:spPr bwMode="auto">
            <a:xfrm>
              <a:off x="147638" y="17002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6"/>
                  </a:lnTo>
                  <a:lnTo>
                    <a:pt x="16" y="56"/>
                  </a:lnTo>
                  <a:lnTo>
                    <a:pt x="22" y="58"/>
                  </a:lnTo>
                  <a:lnTo>
                    <a:pt x="28" y="58"/>
                  </a:lnTo>
                  <a:lnTo>
                    <a:pt x="40"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7" name="Freeform 133"/>
            <p:cNvSpPr>
              <a:spLocks/>
            </p:cNvSpPr>
            <p:nvPr userDrawn="1"/>
          </p:nvSpPr>
          <p:spPr bwMode="auto">
            <a:xfrm>
              <a:off x="3176588" y="3160713"/>
              <a:ext cx="92075" cy="92075"/>
            </a:xfrm>
            <a:custGeom>
              <a:avLst/>
              <a:gdLst>
                <a:gd name="T0" fmla="*/ 42 w 58"/>
                <a:gd name="T1" fmla="*/ 2 h 58"/>
                <a:gd name="T2" fmla="*/ 42 w 58"/>
                <a:gd name="T3" fmla="*/ 2 h 58"/>
                <a:gd name="T4" fmla="*/ 36 w 58"/>
                <a:gd name="T5" fmla="*/ 0 h 58"/>
                <a:gd name="T6" fmla="*/ 32 w 58"/>
                <a:gd name="T7" fmla="*/ 0 h 58"/>
                <a:gd name="T8" fmla="*/ 20 w 58"/>
                <a:gd name="T9" fmla="*/ 0 h 58"/>
                <a:gd name="T10" fmla="*/ 10 w 58"/>
                <a:gd name="T11" fmla="*/ 6 h 58"/>
                <a:gd name="T12" fmla="*/ 6 w 58"/>
                <a:gd name="T13" fmla="*/ 10 h 58"/>
                <a:gd name="T14" fmla="*/ 4 w 58"/>
                <a:gd name="T15" fmla="*/ 16 h 58"/>
                <a:gd name="T16" fmla="*/ 4 w 58"/>
                <a:gd name="T17" fmla="*/ 16 h 58"/>
                <a:gd name="T18" fmla="*/ 2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2" y="0"/>
                  </a:lnTo>
                  <a:lnTo>
                    <a:pt x="20" y="0"/>
                  </a:lnTo>
                  <a:lnTo>
                    <a:pt x="10" y="6"/>
                  </a:lnTo>
                  <a:lnTo>
                    <a:pt x="6" y="10"/>
                  </a:lnTo>
                  <a:lnTo>
                    <a:pt x="4" y="16"/>
                  </a:lnTo>
                  <a:lnTo>
                    <a:pt x="4" y="16"/>
                  </a:lnTo>
                  <a:lnTo>
                    <a:pt x="2" y="22"/>
                  </a:lnTo>
                  <a:lnTo>
                    <a:pt x="0" y="28"/>
                  </a:lnTo>
                  <a:lnTo>
                    <a:pt x="2" y="38"/>
                  </a:lnTo>
                  <a:lnTo>
                    <a:pt x="8" y="48"/>
                  </a:lnTo>
                  <a:lnTo>
                    <a:pt x="12" y="52"/>
                  </a:lnTo>
                  <a:lnTo>
                    <a:pt x="16" y="56"/>
                  </a:lnTo>
                  <a:lnTo>
                    <a:pt x="16" y="56"/>
                  </a:lnTo>
                  <a:lnTo>
                    <a:pt x="22" y="58"/>
                  </a:lnTo>
                  <a:lnTo>
                    <a:pt x="28" y="58"/>
                  </a:lnTo>
                  <a:lnTo>
                    <a:pt x="40"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8" name="Freeform 134"/>
            <p:cNvSpPr>
              <a:spLocks/>
            </p:cNvSpPr>
            <p:nvPr userDrawn="1"/>
          </p:nvSpPr>
          <p:spPr bwMode="auto">
            <a:xfrm>
              <a:off x="4468813" y="3062288"/>
              <a:ext cx="92075" cy="95250"/>
            </a:xfrm>
            <a:custGeom>
              <a:avLst/>
              <a:gdLst>
                <a:gd name="T0" fmla="*/ 42 w 58"/>
                <a:gd name="T1" fmla="*/ 4 h 60"/>
                <a:gd name="T2" fmla="*/ 42 w 58"/>
                <a:gd name="T3" fmla="*/ 4 h 60"/>
                <a:gd name="T4" fmla="*/ 36 w 58"/>
                <a:gd name="T5" fmla="*/ 2 h 60"/>
                <a:gd name="T6" fmla="*/ 30 w 58"/>
                <a:gd name="T7" fmla="*/ 0 h 60"/>
                <a:gd name="T8" fmla="*/ 18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0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18" y="2"/>
                  </a:lnTo>
                  <a:lnTo>
                    <a:pt x="10" y="8"/>
                  </a:lnTo>
                  <a:lnTo>
                    <a:pt x="6" y="12"/>
                  </a:lnTo>
                  <a:lnTo>
                    <a:pt x="2" y="18"/>
                  </a:lnTo>
                  <a:lnTo>
                    <a:pt x="2" y="18"/>
                  </a:lnTo>
                  <a:lnTo>
                    <a:pt x="0" y="22"/>
                  </a:lnTo>
                  <a:lnTo>
                    <a:pt x="0" y="28"/>
                  </a:lnTo>
                  <a:lnTo>
                    <a:pt x="0"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9" name="Freeform 135"/>
            <p:cNvSpPr>
              <a:spLocks/>
            </p:cNvSpPr>
            <p:nvPr userDrawn="1"/>
          </p:nvSpPr>
          <p:spPr bwMode="auto">
            <a:xfrm>
              <a:off x="4103688" y="252888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2"/>
                  </a:lnTo>
                  <a:lnTo>
                    <a:pt x="52" y="48"/>
                  </a:lnTo>
                  <a:lnTo>
                    <a:pt x="56" y="42"/>
                  </a:lnTo>
                  <a:lnTo>
                    <a:pt x="56" y="42"/>
                  </a:lnTo>
                  <a:lnTo>
                    <a:pt x="58" y="36"/>
                  </a:lnTo>
                  <a:lnTo>
                    <a:pt x="58" y="30"/>
                  </a:lnTo>
                  <a:lnTo>
                    <a:pt x="56"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0" name="Freeform 136"/>
            <p:cNvSpPr>
              <a:spLocks/>
            </p:cNvSpPr>
            <p:nvPr userDrawn="1"/>
          </p:nvSpPr>
          <p:spPr bwMode="auto">
            <a:xfrm>
              <a:off x="3459163" y="2576513"/>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8"/>
                  </a:lnTo>
                  <a:lnTo>
                    <a:pt x="6" y="12"/>
                  </a:lnTo>
                  <a:lnTo>
                    <a:pt x="2" y="16"/>
                  </a:lnTo>
                  <a:lnTo>
                    <a:pt x="2" y="16"/>
                  </a:lnTo>
                  <a:lnTo>
                    <a:pt x="0" y="22"/>
                  </a:lnTo>
                  <a:lnTo>
                    <a:pt x="0" y="28"/>
                  </a:lnTo>
                  <a:lnTo>
                    <a:pt x="0"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1" name="Freeform 137"/>
            <p:cNvSpPr>
              <a:spLocks/>
            </p:cNvSpPr>
            <p:nvPr userDrawn="1"/>
          </p:nvSpPr>
          <p:spPr bwMode="auto">
            <a:xfrm>
              <a:off x="3176588" y="3160713"/>
              <a:ext cx="92075" cy="92075"/>
            </a:xfrm>
            <a:custGeom>
              <a:avLst/>
              <a:gdLst>
                <a:gd name="T0" fmla="*/ 42 w 58"/>
                <a:gd name="T1" fmla="*/ 2 h 58"/>
                <a:gd name="T2" fmla="*/ 42 w 58"/>
                <a:gd name="T3" fmla="*/ 2 h 58"/>
                <a:gd name="T4" fmla="*/ 36 w 58"/>
                <a:gd name="T5" fmla="*/ 0 h 58"/>
                <a:gd name="T6" fmla="*/ 32 w 58"/>
                <a:gd name="T7" fmla="*/ 0 h 58"/>
                <a:gd name="T8" fmla="*/ 20 w 58"/>
                <a:gd name="T9" fmla="*/ 0 h 58"/>
                <a:gd name="T10" fmla="*/ 10 w 58"/>
                <a:gd name="T11" fmla="*/ 6 h 58"/>
                <a:gd name="T12" fmla="*/ 6 w 58"/>
                <a:gd name="T13" fmla="*/ 10 h 58"/>
                <a:gd name="T14" fmla="*/ 4 w 58"/>
                <a:gd name="T15" fmla="*/ 16 h 58"/>
                <a:gd name="T16" fmla="*/ 4 w 58"/>
                <a:gd name="T17" fmla="*/ 16 h 58"/>
                <a:gd name="T18" fmla="*/ 2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2" y="0"/>
                  </a:lnTo>
                  <a:lnTo>
                    <a:pt x="20" y="0"/>
                  </a:lnTo>
                  <a:lnTo>
                    <a:pt x="10" y="6"/>
                  </a:lnTo>
                  <a:lnTo>
                    <a:pt x="6" y="10"/>
                  </a:lnTo>
                  <a:lnTo>
                    <a:pt x="4" y="16"/>
                  </a:lnTo>
                  <a:lnTo>
                    <a:pt x="4" y="16"/>
                  </a:lnTo>
                  <a:lnTo>
                    <a:pt x="2" y="22"/>
                  </a:lnTo>
                  <a:lnTo>
                    <a:pt x="0" y="28"/>
                  </a:lnTo>
                  <a:lnTo>
                    <a:pt x="2" y="38"/>
                  </a:lnTo>
                  <a:lnTo>
                    <a:pt x="8" y="48"/>
                  </a:lnTo>
                  <a:lnTo>
                    <a:pt x="12" y="52"/>
                  </a:lnTo>
                  <a:lnTo>
                    <a:pt x="16" y="56"/>
                  </a:lnTo>
                  <a:lnTo>
                    <a:pt x="16" y="56"/>
                  </a:lnTo>
                  <a:lnTo>
                    <a:pt x="22" y="58"/>
                  </a:lnTo>
                  <a:lnTo>
                    <a:pt x="28" y="58"/>
                  </a:lnTo>
                  <a:lnTo>
                    <a:pt x="40"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2" name="Freeform 138"/>
            <p:cNvSpPr>
              <a:spLocks/>
            </p:cNvSpPr>
            <p:nvPr userDrawn="1"/>
          </p:nvSpPr>
          <p:spPr bwMode="auto">
            <a:xfrm>
              <a:off x="3541713" y="36941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50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2 h 58"/>
                <a:gd name="T50" fmla="*/ 56 w 58"/>
                <a:gd name="T51" fmla="*/ 20 h 58"/>
                <a:gd name="T52" fmla="*/ 52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50"/>
                  </a:lnTo>
                  <a:lnTo>
                    <a:pt x="12" y="52"/>
                  </a:lnTo>
                  <a:lnTo>
                    <a:pt x="16" y="56"/>
                  </a:lnTo>
                  <a:lnTo>
                    <a:pt x="16" y="56"/>
                  </a:lnTo>
                  <a:lnTo>
                    <a:pt x="22" y="58"/>
                  </a:lnTo>
                  <a:lnTo>
                    <a:pt x="28" y="58"/>
                  </a:lnTo>
                  <a:lnTo>
                    <a:pt x="38" y="58"/>
                  </a:lnTo>
                  <a:lnTo>
                    <a:pt x="48" y="52"/>
                  </a:lnTo>
                  <a:lnTo>
                    <a:pt x="52" y="48"/>
                  </a:lnTo>
                  <a:lnTo>
                    <a:pt x="56" y="42"/>
                  </a:lnTo>
                  <a:lnTo>
                    <a:pt x="56" y="42"/>
                  </a:lnTo>
                  <a:lnTo>
                    <a:pt x="58" y="36"/>
                  </a:lnTo>
                  <a:lnTo>
                    <a:pt x="58" y="32"/>
                  </a:lnTo>
                  <a:lnTo>
                    <a:pt x="56" y="20"/>
                  </a:lnTo>
                  <a:lnTo>
                    <a:pt x="52"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3" name="Freeform 139"/>
            <p:cNvSpPr>
              <a:spLocks/>
            </p:cNvSpPr>
            <p:nvPr userDrawn="1"/>
          </p:nvSpPr>
          <p:spPr bwMode="auto">
            <a:xfrm>
              <a:off x="4186238" y="3646488"/>
              <a:ext cx="92075" cy="92075"/>
            </a:xfrm>
            <a:custGeom>
              <a:avLst/>
              <a:gdLst>
                <a:gd name="T0" fmla="*/ 42 w 58"/>
                <a:gd name="T1" fmla="*/ 2 h 58"/>
                <a:gd name="T2" fmla="*/ 42 w 58"/>
                <a:gd name="T3" fmla="*/ 2 h 58"/>
                <a:gd name="T4" fmla="*/ 36 w 58"/>
                <a:gd name="T5" fmla="*/ 0 h 58"/>
                <a:gd name="T6" fmla="*/ 32 w 58"/>
                <a:gd name="T7" fmla="*/ 0 h 58"/>
                <a:gd name="T8" fmla="*/ 20 w 58"/>
                <a:gd name="T9" fmla="*/ 2 h 58"/>
                <a:gd name="T10" fmla="*/ 10 w 58"/>
                <a:gd name="T11" fmla="*/ 8 h 58"/>
                <a:gd name="T12" fmla="*/ 6 w 58"/>
                <a:gd name="T13" fmla="*/ 12 h 58"/>
                <a:gd name="T14" fmla="*/ 4 w 58"/>
                <a:gd name="T15" fmla="*/ 16 h 58"/>
                <a:gd name="T16" fmla="*/ 4 w 58"/>
                <a:gd name="T17" fmla="*/ 16 h 58"/>
                <a:gd name="T18" fmla="*/ 2 w 58"/>
                <a:gd name="T19" fmla="*/ 22 h 58"/>
                <a:gd name="T20" fmla="*/ 0 w 58"/>
                <a:gd name="T21" fmla="*/ 28 h 58"/>
                <a:gd name="T22" fmla="*/ 2 w 58"/>
                <a:gd name="T23" fmla="*/ 40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8 h 58"/>
                <a:gd name="T38" fmla="*/ 50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8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2" y="0"/>
                  </a:lnTo>
                  <a:lnTo>
                    <a:pt x="20" y="2"/>
                  </a:lnTo>
                  <a:lnTo>
                    <a:pt x="10" y="8"/>
                  </a:lnTo>
                  <a:lnTo>
                    <a:pt x="6" y="12"/>
                  </a:lnTo>
                  <a:lnTo>
                    <a:pt x="4" y="16"/>
                  </a:lnTo>
                  <a:lnTo>
                    <a:pt x="4" y="16"/>
                  </a:lnTo>
                  <a:lnTo>
                    <a:pt x="2" y="22"/>
                  </a:lnTo>
                  <a:lnTo>
                    <a:pt x="0" y="28"/>
                  </a:lnTo>
                  <a:lnTo>
                    <a:pt x="2" y="40"/>
                  </a:lnTo>
                  <a:lnTo>
                    <a:pt x="8" y="48"/>
                  </a:lnTo>
                  <a:lnTo>
                    <a:pt x="12" y="52"/>
                  </a:lnTo>
                  <a:lnTo>
                    <a:pt x="16" y="56"/>
                  </a:lnTo>
                  <a:lnTo>
                    <a:pt x="16" y="56"/>
                  </a:lnTo>
                  <a:lnTo>
                    <a:pt x="22" y="58"/>
                  </a:lnTo>
                  <a:lnTo>
                    <a:pt x="28" y="58"/>
                  </a:lnTo>
                  <a:lnTo>
                    <a:pt x="40" y="58"/>
                  </a:lnTo>
                  <a:lnTo>
                    <a:pt x="50" y="52"/>
                  </a:lnTo>
                  <a:lnTo>
                    <a:pt x="52" y="48"/>
                  </a:lnTo>
                  <a:lnTo>
                    <a:pt x="56" y="42"/>
                  </a:lnTo>
                  <a:lnTo>
                    <a:pt x="56" y="42"/>
                  </a:lnTo>
                  <a:lnTo>
                    <a:pt x="58" y="36"/>
                  </a:lnTo>
                  <a:lnTo>
                    <a:pt x="58"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4" name="Freeform 140"/>
            <p:cNvSpPr>
              <a:spLocks/>
            </p:cNvSpPr>
            <p:nvPr userDrawn="1"/>
          </p:nvSpPr>
          <p:spPr bwMode="auto">
            <a:xfrm>
              <a:off x="5478463" y="35512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5" name="Freeform 141"/>
            <p:cNvSpPr>
              <a:spLocks/>
            </p:cNvSpPr>
            <p:nvPr userDrawn="1"/>
          </p:nvSpPr>
          <p:spPr bwMode="auto">
            <a:xfrm>
              <a:off x="5113338" y="30146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2"/>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6" name="Freeform 142"/>
            <p:cNvSpPr>
              <a:spLocks/>
            </p:cNvSpPr>
            <p:nvPr userDrawn="1"/>
          </p:nvSpPr>
          <p:spPr bwMode="auto">
            <a:xfrm>
              <a:off x="4468813" y="3062288"/>
              <a:ext cx="92075" cy="95250"/>
            </a:xfrm>
            <a:custGeom>
              <a:avLst/>
              <a:gdLst>
                <a:gd name="T0" fmla="*/ 42 w 58"/>
                <a:gd name="T1" fmla="*/ 4 h 60"/>
                <a:gd name="T2" fmla="*/ 42 w 58"/>
                <a:gd name="T3" fmla="*/ 4 h 60"/>
                <a:gd name="T4" fmla="*/ 36 w 58"/>
                <a:gd name="T5" fmla="*/ 2 h 60"/>
                <a:gd name="T6" fmla="*/ 30 w 58"/>
                <a:gd name="T7" fmla="*/ 0 h 60"/>
                <a:gd name="T8" fmla="*/ 18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0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18" y="2"/>
                  </a:lnTo>
                  <a:lnTo>
                    <a:pt x="10" y="8"/>
                  </a:lnTo>
                  <a:lnTo>
                    <a:pt x="6" y="12"/>
                  </a:lnTo>
                  <a:lnTo>
                    <a:pt x="2" y="18"/>
                  </a:lnTo>
                  <a:lnTo>
                    <a:pt x="2" y="18"/>
                  </a:lnTo>
                  <a:lnTo>
                    <a:pt x="0" y="22"/>
                  </a:lnTo>
                  <a:lnTo>
                    <a:pt x="0" y="28"/>
                  </a:lnTo>
                  <a:lnTo>
                    <a:pt x="0"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7" name="Freeform 143"/>
            <p:cNvSpPr>
              <a:spLocks/>
            </p:cNvSpPr>
            <p:nvPr userDrawn="1"/>
          </p:nvSpPr>
          <p:spPr bwMode="auto">
            <a:xfrm>
              <a:off x="4186238" y="3646488"/>
              <a:ext cx="92075" cy="92075"/>
            </a:xfrm>
            <a:custGeom>
              <a:avLst/>
              <a:gdLst>
                <a:gd name="T0" fmla="*/ 42 w 58"/>
                <a:gd name="T1" fmla="*/ 2 h 58"/>
                <a:gd name="T2" fmla="*/ 42 w 58"/>
                <a:gd name="T3" fmla="*/ 2 h 58"/>
                <a:gd name="T4" fmla="*/ 36 w 58"/>
                <a:gd name="T5" fmla="*/ 0 h 58"/>
                <a:gd name="T6" fmla="*/ 32 w 58"/>
                <a:gd name="T7" fmla="*/ 0 h 58"/>
                <a:gd name="T8" fmla="*/ 20 w 58"/>
                <a:gd name="T9" fmla="*/ 2 h 58"/>
                <a:gd name="T10" fmla="*/ 10 w 58"/>
                <a:gd name="T11" fmla="*/ 8 h 58"/>
                <a:gd name="T12" fmla="*/ 6 w 58"/>
                <a:gd name="T13" fmla="*/ 12 h 58"/>
                <a:gd name="T14" fmla="*/ 4 w 58"/>
                <a:gd name="T15" fmla="*/ 16 h 58"/>
                <a:gd name="T16" fmla="*/ 4 w 58"/>
                <a:gd name="T17" fmla="*/ 16 h 58"/>
                <a:gd name="T18" fmla="*/ 2 w 58"/>
                <a:gd name="T19" fmla="*/ 22 h 58"/>
                <a:gd name="T20" fmla="*/ 0 w 58"/>
                <a:gd name="T21" fmla="*/ 28 h 58"/>
                <a:gd name="T22" fmla="*/ 2 w 58"/>
                <a:gd name="T23" fmla="*/ 40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8 h 58"/>
                <a:gd name="T38" fmla="*/ 50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8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2" y="0"/>
                  </a:lnTo>
                  <a:lnTo>
                    <a:pt x="20" y="2"/>
                  </a:lnTo>
                  <a:lnTo>
                    <a:pt x="10" y="8"/>
                  </a:lnTo>
                  <a:lnTo>
                    <a:pt x="6" y="12"/>
                  </a:lnTo>
                  <a:lnTo>
                    <a:pt x="4" y="16"/>
                  </a:lnTo>
                  <a:lnTo>
                    <a:pt x="4" y="16"/>
                  </a:lnTo>
                  <a:lnTo>
                    <a:pt x="2" y="22"/>
                  </a:lnTo>
                  <a:lnTo>
                    <a:pt x="0" y="28"/>
                  </a:lnTo>
                  <a:lnTo>
                    <a:pt x="2" y="40"/>
                  </a:lnTo>
                  <a:lnTo>
                    <a:pt x="8" y="48"/>
                  </a:lnTo>
                  <a:lnTo>
                    <a:pt x="12" y="52"/>
                  </a:lnTo>
                  <a:lnTo>
                    <a:pt x="16" y="56"/>
                  </a:lnTo>
                  <a:lnTo>
                    <a:pt x="16" y="56"/>
                  </a:lnTo>
                  <a:lnTo>
                    <a:pt x="22" y="58"/>
                  </a:lnTo>
                  <a:lnTo>
                    <a:pt x="28" y="58"/>
                  </a:lnTo>
                  <a:lnTo>
                    <a:pt x="40" y="58"/>
                  </a:lnTo>
                  <a:lnTo>
                    <a:pt x="50" y="52"/>
                  </a:lnTo>
                  <a:lnTo>
                    <a:pt x="52" y="48"/>
                  </a:lnTo>
                  <a:lnTo>
                    <a:pt x="56" y="42"/>
                  </a:lnTo>
                  <a:lnTo>
                    <a:pt x="56" y="42"/>
                  </a:lnTo>
                  <a:lnTo>
                    <a:pt x="58" y="36"/>
                  </a:lnTo>
                  <a:lnTo>
                    <a:pt x="58"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8" name="Freeform 144"/>
            <p:cNvSpPr>
              <a:spLocks/>
            </p:cNvSpPr>
            <p:nvPr userDrawn="1"/>
          </p:nvSpPr>
          <p:spPr bwMode="auto">
            <a:xfrm>
              <a:off x="4551363" y="4179888"/>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4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4 h 60"/>
                <a:gd name="T44" fmla="*/ 56 w 58"/>
                <a:gd name="T45" fmla="*/ 44 h 60"/>
                <a:gd name="T46" fmla="*/ 58 w 58"/>
                <a:gd name="T47" fmla="*/ 38 h 60"/>
                <a:gd name="T48" fmla="*/ 58 w 58"/>
                <a:gd name="T49" fmla="*/ 32 h 60"/>
                <a:gd name="T50" fmla="*/ 56 w 58"/>
                <a:gd name="T51" fmla="*/ 20 h 60"/>
                <a:gd name="T52" fmla="*/ 52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4"/>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4"/>
                  </a:lnTo>
                  <a:lnTo>
                    <a:pt x="56" y="44"/>
                  </a:lnTo>
                  <a:lnTo>
                    <a:pt x="58" y="38"/>
                  </a:lnTo>
                  <a:lnTo>
                    <a:pt x="58" y="32"/>
                  </a:lnTo>
                  <a:lnTo>
                    <a:pt x="56" y="20"/>
                  </a:lnTo>
                  <a:lnTo>
                    <a:pt x="52"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9" name="Freeform 145"/>
            <p:cNvSpPr>
              <a:spLocks/>
            </p:cNvSpPr>
            <p:nvPr userDrawn="1"/>
          </p:nvSpPr>
          <p:spPr bwMode="auto">
            <a:xfrm>
              <a:off x="5195888" y="4132263"/>
              <a:ext cx="95250" cy="95250"/>
            </a:xfrm>
            <a:custGeom>
              <a:avLst/>
              <a:gdLst>
                <a:gd name="T0" fmla="*/ 42 w 60"/>
                <a:gd name="T1" fmla="*/ 4 h 60"/>
                <a:gd name="T2" fmla="*/ 42 w 60"/>
                <a:gd name="T3" fmla="*/ 4 h 60"/>
                <a:gd name="T4" fmla="*/ 36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6 w 60"/>
                <a:gd name="T29" fmla="*/ 56 h 60"/>
                <a:gd name="T30" fmla="*/ 16 w 60"/>
                <a:gd name="T31" fmla="*/ 56 h 60"/>
                <a:gd name="T32" fmla="*/ 22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2 w 60"/>
                <a:gd name="T57" fmla="*/ 4 h 60"/>
                <a:gd name="T58" fmla="*/ 42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2" y="4"/>
                  </a:moveTo>
                  <a:lnTo>
                    <a:pt x="42" y="4"/>
                  </a:lnTo>
                  <a:lnTo>
                    <a:pt x="36" y="2"/>
                  </a:lnTo>
                  <a:lnTo>
                    <a:pt x="32" y="0"/>
                  </a:lnTo>
                  <a:lnTo>
                    <a:pt x="20" y="2"/>
                  </a:lnTo>
                  <a:lnTo>
                    <a:pt x="10" y="8"/>
                  </a:lnTo>
                  <a:lnTo>
                    <a:pt x="6" y="12"/>
                  </a:lnTo>
                  <a:lnTo>
                    <a:pt x="4" y="18"/>
                  </a:lnTo>
                  <a:lnTo>
                    <a:pt x="4" y="18"/>
                  </a:lnTo>
                  <a:lnTo>
                    <a:pt x="2" y="22"/>
                  </a:lnTo>
                  <a:lnTo>
                    <a:pt x="0" y="28"/>
                  </a:lnTo>
                  <a:lnTo>
                    <a:pt x="2" y="40"/>
                  </a:lnTo>
                  <a:lnTo>
                    <a:pt x="8" y="50"/>
                  </a:lnTo>
                  <a:lnTo>
                    <a:pt x="12" y="54"/>
                  </a:lnTo>
                  <a:lnTo>
                    <a:pt x="16" y="56"/>
                  </a:lnTo>
                  <a:lnTo>
                    <a:pt x="16" y="56"/>
                  </a:lnTo>
                  <a:lnTo>
                    <a:pt x="22"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0" name="Freeform 146"/>
            <p:cNvSpPr>
              <a:spLocks/>
            </p:cNvSpPr>
            <p:nvPr userDrawn="1"/>
          </p:nvSpPr>
          <p:spPr bwMode="auto">
            <a:xfrm>
              <a:off x="6488113" y="40370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1" name="Freeform 147"/>
            <p:cNvSpPr>
              <a:spLocks/>
            </p:cNvSpPr>
            <p:nvPr userDrawn="1"/>
          </p:nvSpPr>
          <p:spPr bwMode="auto">
            <a:xfrm>
              <a:off x="6122988" y="35036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2" name="Freeform 148"/>
            <p:cNvSpPr>
              <a:spLocks/>
            </p:cNvSpPr>
            <p:nvPr userDrawn="1"/>
          </p:nvSpPr>
          <p:spPr bwMode="auto">
            <a:xfrm>
              <a:off x="5478463" y="35512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3" name="Freeform 149"/>
            <p:cNvSpPr>
              <a:spLocks/>
            </p:cNvSpPr>
            <p:nvPr userDrawn="1"/>
          </p:nvSpPr>
          <p:spPr bwMode="auto">
            <a:xfrm>
              <a:off x="5195888" y="4132263"/>
              <a:ext cx="95250" cy="95250"/>
            </a:xfrm>
            <a:custGeom>
              <a:avLst/>
              <a:gdLst>
                <a:gd name="T0" fmla="*/ 42 w 60"/>
                <a:gd name="T1" fmla="*/ 4 h 60"/>
                <a:gd name="T2" fmla="*/ 42 w 60"/>
                <a:gd name="T3" fmla="*/ 4 h 60"/>
                <a:gd name="T4" fmla="*/ 36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6 w 60"/>
                <a:gd name="T29" fmla="*/ 56 h 60"/>
                <a:gd name="T30" fmla="*/ 16 w 60"/>
                <a:gd name="T31" fmla="*/ 56 h 60"/>
                <a:gd name="T32" fmla="*/ 22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2 w 60"/>
                <a:gd name="T57" fmla="*/ 4 h 60"/>
                <a:gd name="T58" fmla="*/ 42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2" y="4"/>
                  </a:moveTo>
                  <a:lnTo>
                    <a:pt x="42" y="4"/>
                  </a:lnTo>
                  <a:lnTo>
                    <a:pt x="36" y="2"/>
                  </a:lnTo>
                  <a:lnTo>
                    <a:pt x="32" y="0"/>
                  </a:lnTo>
                  <a:lnTo>
                    <a:pt x="20" y="2"/>
                  </a:lnTo>
                  <a:lnTo>
                    <a:pt x="10" y="8"/>
                  </a:lnTo>
                  <a:lnTo>
                    <a:pt x="6" y="12"/>
                  </a:lnTo>
                  <a:lnTo>
                    <a:pt x="4" y="18"/>
                  </a:lnTo>
                  <a:lnTo>
                    <a:pt x="4" y="18"/>
                  </a:lnTo>
                  <a:lnTo>
                    <a:pt x="2" y="22"/>
                  </a:lnTo>
                  <a:lnTo>
                    <a:pt x="0" y="28"/>
                  </a:lnTo>
                  <a:lnTo>
                    <a:pt x="2" y="40"/>
                  </a:lnTo>
                  <a:lnTo>
                    <a:pt x="8" y="50"/>
                  </a:lnTo>
                  <a:lnTo>
                    <a:pt x="12" y="54"/>
                  </a:lnTo>
                  <a:lnTo>
                    <a:pt x="16" y="56"/>
                  </a:lnTo>
                  <a:lnTo>
                    <a:pt x="16" y="56"/>
                  </a:lnTo>
                  <a:lnTo>
                    <a:pt x="22"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4" name="Freeform 150"/>
            <p:cNvSpPr>
              <a:spLocks/>
            </p:cNvSpPr>
            <p:nvPr userDrawn="1"/>
          </p:nvSpPr>
          <p:spPr bwMode="auto">
            <a:xfrm>
              <a:off x="5561013" y="46688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2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2"/>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2"/>
                  </a:lnTo>
                  <a:lnTo>
                    <a:pt x="52" y="46"/>
                  </a:lnTo>
                  <a:lnTo>
                    <a:pt x="56" y="42"/>
                  </a:lnTo>
                  <a:lnTo>
                    <a:pt x="56" y="42"/>
                  </a:lnTo>
                  <a:lnTo>
                    <a:pt x="58" y="36"/>
                  </a:lnTo>
                  <a:lnTo>
                    <a:pt x="58" y="30"/>
                  </a:lnTo>
                  <a:lnTo>
                    <a:pt x="56" y="20"/>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5" name="Freeform 151"/>
            <p:cNvSpPr>
              <a:spLocks/>
            </p:cNvSpPr>
            <p:nvPr userDrawn="1"/>
          </p:nvSpPr>
          <p:spPr bwMode="auto">
            <a:xfrm>
              <a:off x="6205538" y="4621213"/>
              <a:ext cx="95250" cy="92075"/>
            </a:xfrm>
            <a:custGeom>
              <a:avLst/>
              <a:gdLst>
                <a:gd name="T0" fmla="*/ 42 w 60"/>
                <a:gd name="T1" fmla="*/ 2 h 58"/>
                <a:gd name="T2" fmla="*/ 42 w 60"/>
                <a:gd name="T3" fmla="*/ 2 h 58"/>
                <a:gd name="T4" fmla="*/ 36 w 60"/>
                <a:gd name="T5" fmla="*/ 0 h 58"/>
                <a:gd name="T6" fmla="*/ 32 w 60"/>
                <a:gd name="T7" fmla="*/ 0 h 58"/>
                <a:gd name="T8" fmla="*/ 20 w 60"/>
                <a:gd name="T9" fmla="*/ 2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6 w 60"/>
                <a:gd name="T29" fmla="*/ 56 h 58"/>
                <a:gd name="T30" fmla="*/ 16 w 60"/>
                <a:gd name="T31" fmla="*/ 56 h 58"/>
                <a:gd name="T32" fmla="*/ 22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6" y="0"/>
                  </a:lnTo>
                  <a:lnTo>
                    <a:pt x="32" y="0"/>
                  </a:lnTo>
                  <a:lnTo>
                    <a:pt x="20" y="2"/>
                  </a:lnTo>
                  <a:lnTo>
                    <a:pt x="10" y="6"/>
                  </a:lnTo>
                  <a:lnTo>
                    <a:pt x="6" y="10"/>
                  </a:lnTo>
                  <a:lnTo>
                    <a:pt x="4" y="16"/>
                  </a:lnTo>
                  <a:lnTo>
                    <a:pt x="4" y="16"/>
                  </a:lnTo>
                  <a:lnTo>
                    <a:pt x="2" y="22"/>
                  </a:lnTo>
                  <a:lnTo>
                    <a:pt x="0" y="28"/>
                  </a:lnTo>
                  <a:lnTo>
                    <a:pt x="2" y="38"/>
                  </a:lnTo>
                  <a:lnTo>
                    <a:pt x="8" y="48"/>
                  </a:lnTo>
                  <a:lnTo>
                    <a:pt x="12" y="52"/>
                  </a:lnTo>
                  <a:lnTo>
                    <a:pt x="16" y="56"/>
                  </a:lnTo>
                  <a:lnTo>
                    <a:pt x="16" y="56"/>
                  </a:lnTo>
                  <a:lnTo>
                    <a:pt x="22" y="58"/>
                  </a:lnTo>
                  <a:lnTo>
                    <a:pt x="28" y="58"/>
                  </a:lnTo>
                  <a:lnTo>
                    <a:pt x="40" y="56"/>
                  </a:lnTo>
                  <a:lnTo>
                    <a:pt x="50" y="50"/>
                  </a:lnTo>
                  <a:lnTo>
                    <a:pt x="54" y="46"/>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6" name="Freeform 152"/>
            <p:cNvSpPr>
              <a:spLocks/>
            </p:cNvSpPr>
            <p:nvPr userDrawn="1"/>
          </p:nvSpPr>
          <p:spPr bwMode="auto">
            <a:xfrm>
              <a:off x="6488113" y="40370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7" name="Freeform 153"/>
            <p:cNvSpPr>
              <a:spLocks/>
            </p:cNvSpPr>
            <p:nvPr userDrawn="1"/>
          </p:nvSpPr>
          <p:spPr bwMode="auto">
            <a:xfrm>
              <a:off x="6205538" y="4621213"/>
              <a:ext cx="95250" cy="92075"/>
            </a:xfrm>
            <a:custGeom>
              <a:avLst/>
              <a:gdLst>
                <a:gd name="T0" fmla="*/ 42 w 60"/>
                <a:gd name="T1" fmla="*/ 2 h 58"/>
                <a:gd name="T2" fmla="*/ 42 w 60"/>
                <a:gd name="T3" fmla="*/ 2 h 58"/>
                <a:gd name="T4" fmla="*/ 36 w 60"/>
                <a:gd name="T5" fmla="*/ 0 h 58"/>
                <a:gd name="T6" fmla="*/ 32 w 60"/>
                <a:gd name="T7" fmla="*/ 0 h 58"/>
                <a:gd name="T8" fmla="*/ 20 w 60"/>
                <a:gd name="T9" fmla="*/ 2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6 w 60"/>
                <a:gd name="T29" fmla="*/ 56 h 58"/>
                <a:gd name="T30" fmla="*/ 16 w 60"/>
                <a:gd name="T31" fmla="*/ 56 h 58"/>
                <a:gd name="T32" fmla="*/ 22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6" y="0"/>
                  </a:lnTo>
                  <a:lnTo>
                    <a:pt x="32" y="0"/>
                  </a:lnTo>
                  <a:lnTo>
                    <a:pt x="20" y="2"/>
                  </a:lnTo>
                  <a:lnTo>
                    <a:pt x="10" y="6"/>
                  </a:lnTo>
                  <a:lnTo>
                    <a:pt x="6" y="10"/>
                  </a:lnTo>
                  <a:lnTo>
                    <a:pt x="4" y="16"/>
                  </a:lnTo>
                  <a:lnTo>
                    <a:pt x="4" y="16"/>
                  </a:lnTo>
                  <a:lnTo>
                    <a:pt x="2" y="22"/>
                  </a:lnTo>
                  <a:lnTo>
                    <a:pt x="0" y="28"/>
                  </a:lnTo>
                  <a:lnTo>
                    <a:pt x="2" y="38"/>
                  </a:lnTo>
                  <a:lnTo>
                    <a:pt x="8" y="48"/>
                  </a:lnTo>
                  <a:lnTo>
                    <a:pt x="12" y="52"/>
                  </a:lnTo>
                  <a:lnTo>
                    <a:pt x="16" y="56"/>
                  </a:lnTo>
                  <a:lnTo>
                    <a:pt x="16" y="56"/>
                  </a:lnTo>
                  <a:lnTo>
                    <a:pt x="22" y="58"/>
                  </a:lnTo>
                  <a:lnTo>
                    <a:pt x="28" y="58"/>
                  </a:lnTo>
                  <a:lnTo>
                    <a:pt x="40" y="56"/>
                  </a:lnTo>
                  <a:lnTo>
                    <a:pt x="50" y="50"/>
                  </a:lnTo>
                  <a:lnTo>
                    <a:pt x="54" y="46"/>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8" name="Freeform 154"/>
            <p:cNvSpPr>
              <a:spLocks/>
            </p:cNvSpPr>
            <p:nvPr userDrawn="1"/>
          </p:nvSpPr>
          <p:spPr bwMode="auto">
            <a:xfrm>
              <a:off x="6570663" y="515461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6 h 60"/>
                <a:gd name="T16" fmla="*/ 2 w 58"/>
                <a:gd name="T17" fmla="*/ 16 h 60"/>
                <a:gd name="T18" fmla="*/ 0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6 h 60"/>
                <a:gd name="T48" fmla="*/ 58 w 58"/>
                <a:gd name="T49" fmla="*/ 32 h 60"/>
                <a:gd name="T50" fmla="*/ 56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2"/>
                  </a:lnTo>
                  <a:lnTo>
                    <a:pt x="56" y="42"/>
                  </a:lnTo>
                  <a:lnTo>
                    <a:pt x="58" y="36"/>
                  </a:lnTo>
                  <a:lnTo>
                    <a:pt x="58" y="32"/>
                  </a:lnTo>
                  <a:lnTo>
                    <a:pt x="56"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9" name="Freeform 155"/>
            <p:cNvSpPr>
              <a:spLocks/>
            </p:cNvSpPr>
            <p:nvPr userDrawn="1"/>
          </p:nvSpPr>
          <p:spPr bwMode="auto">
            <a:xfrm>
              <a:off x="2449513" y="209073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0"/>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8" name="Freeform 156"/>
            <p:cNvSpPr>
              <a:spLocks/>
            </p:cNvSpPr>
            <p:nvPr userDrawn="1"/>
          </p:nvSpPr>
          <p:spPr bwMode="auto">
            <a:xfrm>
              <a:off x="3094038" y="20431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9" name="Freeform 157"/>
            <p:cNvSpPr>
              <a:spLocks/>
            </p:cNvSpPr>
            <p:nvPr userDrawn="1"/>
          </p:nvSpPr>
          <p:spPr bwMode="auto">
            <a:xfrm>
              <a:off x="4383088" y="1944688"/>
              <a:ext cx="95250" cy="95250"/>
            </a:xfrm>
            <a:custGeom>
              <a:avLst/>
              <a:gdLst>
                <a:gd name="T0" fmla="*/ 44 w 60"/>
                <a:gd name="T1" fmla="*/ 4 h 60"/>
                <a:gd name="T2" fmla="*/ 44 w 60"/>
                <a:gd name="T3" fmla="*/ 4 h 60"/>
                <a:gd name="T4" fmla="*/ 38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8 w 60"/>
                <a:gd name="T29" fmla="*/ 56 h 60"/>
                <a:gd name="T30" fmla="*/ 18 w 60"/>
                <a:gd name="T31" fmla="*/ 56 h 60"/>
                <a:gd name="T32" fmla="*/ 24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4 w 60"/>
                <a:gd name="T57" fmla="*/ 4 h 60"/>
                <a:gd name="T58" fmla="*/ 44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4" y="4"/>
                  </a:moveTo>
                  <a:lnTo>
                    <a:pt x="44" y="4"/>
                  </a:lnTo>
                  <a:lnTo>
                    <a:pt x="38" y="2"/>
                  </a:lnTo>
                  <a:lnTo>
                    <a:pt x="32" y="0"/>
                  </a:lnTo>
                  <a:lnTo>
                    <a:pt x="20" y="2"/>
                  </a:lnTo>
                  <a:lnTo>
                    <a:pt x="10" y="8"/>
                  </a:lnTo>
                  <a:lnTo>
                    <a:pt x="6" y="12"/>
                  </a:lnTo>
                  <a:lnTo>
                    <a:pt x="4" y="18"/>
                  </a:lnTo>
                  <a:lnTo>
                    <a:pt x="4" y="18"/>
                  </a:lnTo>
                  <a:lnTo>
                    <a:pt x="2" y="22"/>
                  </a:lnTo>
                  <a:lnTo>
                    <a:pt x="0" y="28"/>
                  </a:lnTo>
                  <a:lnTo>
                    <a:pt x="2" y="40"/>
                  </a:lnTo>
                  <a:lnTo>
                    <a:pt x="8" y="50"/>
                  </a:lnTo>
                  <a:lnTo>
                    <a:pt x="12" y="54"/>
                  </a:lnTo>
                  <a:lnTo>
                    <a:pt x="18" y="56"/>
                  </a:lnTo>
                  <a:lnTo>
                    <a:pt x="18" y="56"/>
                  </a:lnTo>
                  <a:lnTo>
                    <a:pt x="24"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4" y="4"/>
                  </a:lnTo>
                  <a:lnTo>
                    <a:pt x="44"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0" name="Freeform 158"/>
            <p:cNvSpPr>
              <a:spLocks/>
            </p:cNvSpPr>
            <p:nvPr userDrawn="1"/>
          </p:nvSpPr>
          <p:spPr bwMode="auto">
            <a:xfrm>
              <a:off x="3094038" y="20431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1" name="Freeform 159"/>
            <p:cNvSpPr>
              <a:spLocks/>
            </p:cNvSpPr>
            <p:nvPr userDrawn="1"/>
          </p:nvSpPr>
          <p:spPr bwMode="auto">
            <a:xfrm>
              <a:off x="3459163" y="2576513"/>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8"/>
                  </a:lnTo>
                  <a:lnTo>
                    <a:pt x="6" y="12"/>
                  </a:lnTo>
                  <a:lnTo>
                    <a:pt x="2" y="16"/>
                  </a:lnTo>
                  <a:lnTo>
                    <a:pt x="2" y="16"/>
                  </a:lnTo>
                  <a:lnTo>
                    <a:pt x="0" y="22"/>
                  </a:lnTo>
                  <a:lnTo>
                    <a:pt x="0" y="28"/>
                  </a:lnTo>
                  <a:lnTo>
                    <a:pt x="0"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2" name="Freeform 160"/>
            <p:cNvSpPr>
              <a:spLocks/>
            </p:cNvSpPr>
            <p:nvPr userDrawn="1"/>
          </p:nvSpPr>
          <p:spPr bwMode="auto">
            <a:xfrm>
              <a:off x="4103688" y="252888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2"/>
                  </a:lnTo>
                  <a:lnTo>
                    <a:pt x="52" y="48"/>
                  </a:lnTo>
                  <a:lnTo>
                    <a:pt x="56" y="42"/>
                  </a:lnTo>
                  <a:lnTo>
                    <a:pt x="56" y="42"/>
                  </a:lnTo>
                  <a:lnTo>
                    <a:pt x="58" y="36"/>
                  </a:lnTo>
                  <a:lnTo>
                    <a:pt x="58" y="30"/>
                  </a:lnTo>
                  <a:lnTo>
                    <a:pt x="56"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3" name="Freeform 161"/>
            <p:cNvSpPr>
              <a:spLocks/>
            </p:cNvSpPr>
            <p:nvPr userDrawn="1"/>
          </p:nvSpPr>
          <p:spPr bwMode="auto">
            <a:xfrm>
              <a:off x="5392738" y="2433638"/>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0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18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0"/>
                  </a:lnTo>
                  <a:lnTo>
                    <a:pt x="10" y="6"/>
                  </a:lnTo>
                  <a:lnTo>
                    <a:pt x="6" y="10"/>
                  </a:lnTo>
                  <a:lnTo>
                    <a:pt x="4" y="16"/>
                  </a:lnTo>
                  <a:lnTo>
                    <a:pt x="4" y="16"/>
                  </a:lnTo>
                  <a:lnTo>
                    <a:pt x="2" y="22"/>
                  </a:lnTo>
                  <a:lnTo>
                    <a:pt x="0" y="28"/>
                  </a:lnTo>
                  <a:lnTo>
                    <a:pt x="2" y="38"/>
                  </a:lnTo>
                  <a:lnTo>
                    <a:pt x="8" y="48"/>
                  </a:lnTo>
                  <a:lnTo>
                    <a:pt x="12" y="52"/>
                  </a:lnTo>
                  <a:lnTo>
                    <a:pt x="18" y="56"/>
                  </a:lnTo>
                  <a:lnTo>
                    <a:pt x="18" y="56"/>
                  </a:lnTo>
                  <a:lnTo>
                    <a:pt x="24" y="58"/>
                  </a:lnTo>
                  <a:lnTo>
                    <a:pt x="28" y="58"/>
                  </a:lnTo>
                  <a:lnTo>
                    <a:pt x="40" y="56"/>
                  </a:lnTo>
                  <a:lnTo>
                    <a:pt x="50" y="50"/>
                  </a:lnTo>
                  <a:lnTo>
                    <a:pt x="54" y="46"/>
                  </a:lnTo>
                  <a:lnTo>
                    <a:pt x="56" y="42"/>
                  </a:lnTo>
                  <a:lnTo>
                    <a:pt x="56" y="42"/>
                  </a:lnTo>
                  <a:lnTo>
                    <a:pt x="58" y="36"/>
                  </a:lnTo>
                  <a:lnTo>
                    <a:pt x="60" y="30"/>
                  </a:lnTo>
                  <a:lnTo>
                    <a:pt x="58" y="18"/>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4" name="Freeform 162"/>
            <p:cNvSpPr>
              <a:spLocks/>
            </p:cNvSpPr>
            <p:nvPr userDrawn="1"/>
          </p:nvSpPr>
          <p:spPr bwMode="auto">
            <a:xfrm>
              <a:off x="5030788" y="18970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6 h 60"/>
                <a:gd name="T16" fmla="*/ 2 w 58"/>
                <a:gd name="T17" fmla="*/ 16 h 60"/>
                <a:gd name="T18" fmla="*/ 0 w 58"/>
                <a:gd name="T19" fmla="*/ 22 h 60"/>
                <a:gd name="T20" fmla="*/ 0 w 58"/>
                <a:gd name="T21" fmla="*/ 28 h 60"/>
                <a:gd name="T22" fmla="*/ 2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6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6"/>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5" name="Freeform 163"/>
            <p:cNvSpPr>
              <a:spLocks/>
            </p:cNvSpPr>
            <p:nvPr userDrawn="1"/>
          </p:nvSpPr>
          <p:spPr bwMode="auto">
            <a:xfrm>
              <a:off x="4383088" y="1944688"/>
              <a:ext cx="95250" cy="95250"/>
            </a:xfrm>
            <a:custGeom>
              <a:avLst/>
              <a:gdLst>
                <a:gd name="T0" fmla="*/ 44 w 60"/>
                <a:gd name="T1" fmla="*/ 4 h 60"/>
                <a:gd name="T2" fmla="*/ 44 w 60"/>
                <a:gd name="T3" fmla="*/ 4 h 60"/>
                <a:gd name="T4" fmla="*/ 38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8 w 60"/>
                <a:gd name="T29" fmla="*/ 56 h 60"/>
                <a:gd name="T30" fmla="*/ 18 w 60"/>
                <a:gd name="T31" fmla="*/ 56 h 60"/>
                <a:gd name="T32" fmla="*/ 24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4 w 60"/>
                <a:gd name="T57" fmla="*/ 4 h 60"/>
                <a:gd name="T58" fmla="*/ 44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4" y="4"/>
                  </a:moveTo>
                  <a:lnTo>
                    <a:pt x="44" y="4"/>
                  </a:lnTo>
                  <a:lnTo>
                    <a:pt x="38" y="2"/>
                  </a:lnTo>
                  <a:lnTo>
                    <a:pt x="32" y="0"/>
                  </a:lnTo>
                  <a:lnTo>
                    <a:pt x="20" y="2"/>
                  </a:lnTo>
                  <a:lnTo>
                    <a:pt x="10" y="8"/>
                  </a:lnTo>
                  <a:lnTo>
                    <a:pt x="6" y="12"/>
                  </a:lnTo>
                  <a:lnTo>
                    <a:pt x="4" y="18"/>
                  </a:lnTo>
                  <a:lnTo>
                    <a:pt x="4" y="18"/>
                  </a:lnTo>
                  <a:lnTo>
                    <a:pt x="2" y="22"/>
                  </a:lnTo>
                  <a:lnTo>
                    <a:pt x="0" y="28"/>
                  </a:lnTo>
                  <a:lnTo>
                    <a:pt x="2" y="40"/>
                  </a:lnTo>
                  <a:lnTo>
                    <a:pt x="8" y="50"/>
                  </a:lnTo>
                  <a:lnTo>
                    <a:pt x="12" y="54"/>
                  </a:lnTo>
                  <a:lnTo>
                    <a:pt x="18" y="56"/>
                  </a:lnTo>
                  <a:lnTo>
                    <a:pt x="18" y="56"/>
                  </a:lnTo>
                  <a:lnTo>
                    <a:pt x="24"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4" y="4"/>
                  </a:lnTo>
                  <a:lnTo>
                    <a:pt x="44"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6" name="Freeform 164"/>
            <p:cNvSpPr>
              <a:spLocks/>
            </p:cNvSpPr>
            <p:nvPr userDrawn="1"/>
          </p:nvSpPr>
          <p:spPr bwMode="auto">
            <a:xfrm>
              <a:off x="4103688" y="252888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2"/>
                  </a:lnTo>
                  <a:lnTo>
                    <a:pt x="52" y="48"/>
                  </a:lnTo>
                  <a:lnTo>
                    <a:pt x="56" y="42"/>
                  </a:lnTo>
                  <a:lnTo>
                    <a:pt x="56" y="42"/>
                  </a:lnTo>
                  <a:lnTo>
                    <a:pt x="58" y="36"/>
                  </a:lnTo>
                  <a:lnTo>
                    <a:pt x="58" y="30"/>
                  </a:lnTo>
                  <a:lnTo>
                    <a:pt x="56"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7" name="Freeform 165"/>
            <p:cNvSpPr>
              <a:spLocks/>
            </p:cNvSpPr>
            <p:nvPr userDrawn="1"/>
          </p:nvSpPr>
          <p:spPr bwMode="auto">
            <a:xfrm>
              <a:off x="4468813" y="3062288"/>
              <a:ext cx="92075" cy="95250"/>
            </a:xfrm>
            <a:custGeom>
              <a:avLst/>
              <a:gdLst>
                <a:gd name="T0" fmla="*/ 42 w 58"/>
                <a:gd name="T1" fmla="*/ 4 h 60"/>
                <a:gd name="T2" fmla="*/ 42 w 58"/>
                <a:gd name="T3" fmla="*/ 4 h 60"/>
                <a:gd name="T4" fmla="*/ 36 w 58"/>
                <a:gd name="T5" fmla="*/ 2 h 60"/>
                <a:gd name="T6" fmla="*/ 30 w 58"/>
                <a:gd name="T7" fmla="*/ 0 h 60"/>
                <a:gd name="T8" fmla="*/ 18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0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18" y="2"/>
                  </a:lnTo>
                  <a:lnTo>
                    <a:pt x="10" y="8"/>
                  </a:lnTo>
                  <a:lnTo>
                    <a:pt x="6" y="12"/>
                  </a:lnTo>
                  <a:lnTo>
                    <a:pt x="2" y="18"/>
                  </a:lnTo>
                  <a:lnTo>
                    <a:pt x="2" y="18"/>
                  </a:lnTo>
                  <a:lnTo>
                    <a:pt x="0" y="22"/>
                  </a:lnTo>
                  <a:lnTo>
                    <a:pt x="0" y="28"/>
                  </a:lnTo>
                  <a:lnTo>
                    <a:pt x="0"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8" name="Freeform 166"/>
            <p:cNvSpPr>
              <a:spLocks/>
            </p:cNvSpPr>
            <p:nvPr userDrawn="1"/>
          </p:nvSpPr>
          <p:spPr bwMode="auto">
            <a:xfrm>
              <a:off x="5113338" y="30146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2"/>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9" name="Freeform 167"/>
            <p:cNvSpPr>
              <a:spLocks/>
            </p:cNvSpPr>
            <p:nvPr userDrawn="1"/>
          </p:nvSpPr>
          <p:spPr bwMode="auto">
            <a:xfrm>
              <a:off x="6402388" y="2919413"/>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40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8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2"/>
                  </a:lnTo>
                  <a:lnTo>
                    <a:pt x="10" y="8"/>
                  </a:lnTo>
                  <a:lnTo>
                    <a:pt x="6" y="12"/>
                  </a:lnTo>
                  <a:lnTo>
                    <a:pt x="4" y="16"/>
                  </a:lnTo>
                  <a:lnTo>
                    <a:pt x="4" y="16"/>
                  </a:lnTo>
                  <a:lnTo>
                    <a:pt x="2" y="22"/>
                  </a:lnTo>
                  <a:lnTo>
                    <a:pt x="0" y="28"/>
                  </a:lnTo>
                  <a:lnTo>
                    <a:pt x="2" y="40"/>
                  </a:lnTo>
                  <a:lnTo>
                    <a:pt x="8" y="48"/>
                  </a:lnTo>
                  <a:lnTo>
                    <a:pt x="12" y="52"/>
                  </a:lnTo>
                  <a:lnTo>
                    <a:pt x="18" y="56"/>
                  </a:lnTo>
                  <a:lnTo>
                    <a:pt x="18" y="56"/>
                  </a:lnTo>
                  <a:lnTo>
                    <a:pt x="24" y="58"/>
                  </a:lnTo>
                  <a:lnTo>
                    <a:pt x="28" y="58"/>
                  </a:lnTo>
                  <a:lnTo>
                    <a:pt x="40" y="58"/>
                  </a:lnTo>
                  <a:lnTo>
                    <a:pt x="50" y="52"/>
                  </a:lnTo>
                  <a:lnTo>
                    <a:pt x="54" y="48"/>
                  </a:lnTo>
                  <a:lnTo>
                    <a:pt x="56" y="42"/>
                  </a:lnTo>
                  <a:lnTo>
                    <a:pt x="56" y="42"/>
                  </a:lnTo>
                  <a:lnTo>
                    <a:pt x="58" y="36"/>
                  </a:lnTo>
                  <a:lnTo>
                    <a:pt x="60" y="30"/>
                  </a:lnTo>
                  <a:lnTo>
                    <a:pt x="58" y="20"/>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0" name="Freeform 168"/>
            <p:cNvSpPr>
              <a:spLocks/>
            </p:cNvSpPr>
            <p:nvPr userDrawn="1"/>
          </p:nvSpPr>
          <p:spPr bwMode="auto">
            <a:xfrm>
              <a:off x="6040438" y="23860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6 h 58"/>
                <a:gd name="T22" fmla="*/ 2 w 58"/>
                <a:gd name="T23" fmla="*/ 38 h 58"/>
                <a:gd name="T24" fmla="*/ 6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0 w 58"/>
                <a:gd name="T53" fmla="*/ 8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6"/>
                  </a:lnTo>
                  <a:lnTo>
                    <a:pt x="2" y="38"/>
                  </a:lnTo>
                  <a:lnTo>
                    <a:pt x="6"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0" y="8"/>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1" name="Freeform 169"/>
            <p:cNvSpPr>
              <a:spLocks/>
            </p:cNvSpPr>
            <p:nvPr userDrawn="1"/>
          </p:nvSpPr>
          <p:spPr bwMode="auto">
            <a:xfrm>
              <a:off x="5392738" y="2433638"/>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0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18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0"/>
                  </a:lnTo>
                  <a:lnTo>
                    <a:pt x="10" y="6"/>
                  </a:lnTo>
                  <a:lnTo>
                    <a:pt x="6" y="10"/>
                  </a:lnTo>
                  <a:lnTo>
                    <a:pt x="4" y="16"/>
                  </a:lnTo>
                  <a:lnTo>
                    <a:pt x="4" y="16"/>
                  </a:lnTo>
                  <a:lnTo>
                    <a:pt x="2" y="22"/>
                  </a:lnTo>
                  <a:lnTo>
                    <a:pt x="0" y="28"/>
                  </a:lnTo>
                  <a:lnTo>
                    <a:pt x="2" y="38"/>
                  </a:lnTo>
                  <a:lnTo>
                    <a:pt x="8" y="48"/>
                  </a:lnTo>
                  <a:lnTo>
                    <a:pt x="12" y="52"/>
                  </a:lnTo>
                  <a:lnTo>
                    <a:pt x="18" y="56"/>
                  </a:lnTo>
                  <a:lnTo>
                    <a:pt x="18" y="56"/>
                  </a:lnTo>
                  <a:lnTo>
                    <a:pt x="24" y="58"/>
                  </a:lnTo>
                  <a:lnTo>
                    <a:pt x="28" y="58"/>
                  </a:lnTo>
                  <a:lnTo>
                    <a:pt x="40" y="56"/>
                  </a:lnTo>
                  <a:lnTo>
                    <a:pt x="50" y="50"/>
                  </a:lnTo>
                  <a:lnTo>
                    <a:pt x="54" y="46"/>
                  </a:lnTo>
                  <a:lnTo>
                    <a:pt x="56" y="42"/>
                  </a:lnTo>
                  <a:lnTo>
                    <a:pt x="56" y="42"/>
                  </a:lnTo>
                  <a:lnTo>
                    <a:pt x="58" y="36"/>
                  </a:lnTo>
                  <a:lnTo>
                    <a:pt x="60" y="30"/>
                  </a:lnTo>
                  <a:lnTo>
                    <a:pt x="58" y="18"/>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2" name="Freeform 170"/>
            <p:cNvSpPr>
              <a:spLocks/>
            </p:cNvSpPr>
            <p:nvPr userDrawn="1"/>
          </p:nvSpPr>
          <p:spPr bwMode="auto">
            <a:xfrm>
              <a:off x="5113338" y="30146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2"/>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3" name="Freeform 171"/>
            <p:cNvSpPr>
              <a:spLocks/>
            </p:cNvSpPr>
            <p:nvPr userDrawn="1"/>
          </p:nvSpPr>
          <p:spPr bwMode="auto">
            <a:xfrm>
              <a:off x="5478463" y="35512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4" name="Freeform 172"/>
            <p:cNvSpPr>
              <a:spLocks/>
            </p:cNvSpPr>
            <p:nvPr userDrawn="1"/>
          </p:nvSpPr>
          <p:spPr bwMode="auto">
            <a:xfrm>
              <a:off x="6122988" y="35036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5" name="Freeform 173"/>
            <p:cNvSpPr>
              <a:spLocks/>
            </p:cNvSpPr>
            <p:nvPr userDrawn="1"/>
          </p:nvSpPr>
          <p:spPr bwMode="auto">
            <a:xfrm>
              <a:off x="7129463" y="2884488"/>
              <a:ext cx="12700" cy="66675"/>
            </a:xfrm>
            <a:custGeom>
              <a:avLst/>
              <a:gdLst>
                <a:gd name="T0" fmla="*/ 0 w 8"/>
                <a:gd name="T1" fmla="*/ 0 h 42"/>
                <a:gd name="T2" fmla="*/ 0 w 8"/>
                <a:gd name="T3" fmla="*/ 42 h 42"/>
                <a:gd name="T4" fmla="*/ 0 w 8"/>
                <a:gd name="T5" fmla="*/ 42 h 42"/>
                <a:gd name="T6" fmla="*/ 6 w 8"/>
                <a:gd name="T7" fmla="*/ 34 h 42"/>
                <a:gd name="T8" fmla="*/ 6 w 8"/>
                <a:gd name="T9" fmla="*/ 34 h 42"/>
                <a:gd name="T10" fmla="*/ 8 w 8"/>
                <a:gd name="T11" fmla="*/ 26 h 42"/>
                <a:gd name="T12" fmla="*/ 8 w 8"/>
                <a:gd name="T13" fmla="*/ 16 h 42"/>
                <a:gd name="T14" fmla="*/ 6 w 8"/>
                <a:gd name="T15" fmla="*/ 8 h 42"/>
                <a:gd name="T16" fmla="*/ 0 w 8"/>
                <a:gd name="T17" fmla="*/ 0 h 42"/>
                <a:gd name="T18" fmla="*/ 0 w 8"/>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42">
                  <a:moveTo>
                    <a:pt x="0" y="0"/>
                  </a:moveTo>
                  <a:lnTo>
                    <a:pt x="0" y="42"/>
                  </a:lnTo>
                  <a:lnTo>
                    <a:pt x="0" y="42"/>
                  </a:lnTo>
                  <a:lnTo>
                    <a:pt x="6" y="34"/>
                  </a:lnTo>
                  <a:lnTo>
                    <a:pt x="6" y="34"/>
                  </a:lnTo>
                  <a:lnTo>
                    <a:pt x="8" y="26"/>
                  </a:lnTo>
                  <a:lnTo>
                    <a:pt x="8" y="16"/>
                  </a:lnTo>
                  <a:lnTo>
                    <a:pt x="6" y="8"/>
                  </a:lnTo>
                  <a:lnTo>
                    <a:pt x="0" y="0"/>
                  </a:lnTo>
                  <a:lnTo>
                    <a:pt x="0" y="0"/>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6" name="Freeform 174"/>
            <p:cNvSpPr>
              <a:spLocks/>
            </p:cNvSpPr>
            <p:nvPr userDrawn="1"/>
          </p:nvSpPr>
          <p:spPr bwMode="auto">
            <a:xfrm>
              <a:off x="7050088" y="2871788"/>
              <a:ext cx="79375" cy="92075"/>
            </a:xfrm>
            <a:custGeom>
              <a:avLst/>
              <a:gdLst>
                <a:gd name="T0" fmla="*/ 42 w 50"/>
                <a:gd name="T1" fmla="*/ 2 h 58"/>
                <a:gd name="T2" fmla="*/ 42 w 50"/>
                <a:gd name="T3" fmla="*/ 2 h 58"/>
                <a:gd name="T4" fmla="*/ 36 w 50"/>
                <a:gd name="T5" fmla="*/ 0 h 58"/>
                <a:gd name="T6" fmla="*/ 30 w 50"/>
                <a:gd name="T7" fmla="*/ 0 h 58"/>
                <a:gd name="T8" fmla="*/ 20 w 50"/>
                <a:gd name="T9" fmla="*/ 2 h 58"/>
                <a:gd name="T10" fmla="*/ 10 w 50"/>
                <a:gd name="T11" fmla="*/ 8 h 58"/>
                <a:gd name="T12" fmla="*/ 6 w 50"/>
                <a:gd name="T13" fmla="*/ 12 h 58"/>
                <a:gd name="T14" fmla="*/ 2 w 50"/>
                <a:gd name="T15" fmla="*/ 16 h 58"/>
                <a:gd name="T16" fmla="*/ 2 w 50"/>
                <a:gd name="T17" fmla="*/ 16 h 58"/>
                <a:gd name="T18" fmla="*/ 0 w 50"/>
                <a:gd name="T19" fmla="*/ 22 h 58"/>
                <a:gd name="T20" fmla="*/ 0 w 50"/>
                <a:gd name="T21" fmla="*/ 28 h 58"/>
                <a:gd name="T22" fmla="*/ 2 w 50"/>
                <a:gd name="T23" fmla="*/ 38 h 58"/>
                <a:gd name="T24" fmla="*/ 6 w 50"/>
                <a:gd name="T25" fmla="*/ 48 h 58"/>
                <a:gd name="T26" fmla="*/ 12 w 50"/>
                <a:gd name="T27" fmla="*/ 52 h 58"/>
                <a:gd name="T28" fmla="*/ 16 w 50"/>
                <a:gd name="T29" fmla="*/ 56 h 58"/>
                <a:gd name="T30" fmla="*/ 16 w 50"/>
                <a:gd name="T31" fmla="*/ 56 h 58"/>
                <a:gd name="T32" fmla="*/ 26 w 50"/>
                <a:gd name="T33" fmla="*/ 58 h 58"/>
                <a:gd name="T34" fmla="*/ 34 w 50"/>
                <a:gd name="T35" fmla="*/ 58 h 58"/>
                <a:gd name="T36" fmla="*/ 42 w 50"/>
                <a:gd name="T37" fmla="*/ 54 h 58"/>
                <a:gd name="T38" fmla="*/ 50 w 50"/>
                <a:gd name="T39" fmla="*/ 50 h 58"/>
                <a:gd name="T40" fmla="*/ 50 w 50"/>
                <a:gd name="T41" fmla="*/ 8 h 58"/>
                <a:gd name="T42" fmla="*/ 50 w 50"/>
                <a:gd name="T43" fmla="*/ 8 h 58"/>
                <a:gd name="T44" fmla="*/ 42 w 50"/>
                <a:gd name="T45" fmla="*/ 2 h 58"/>
                <a:gd name="T46" fmla="*/ 42 w 50"/>
                <a:gd name="T4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6" y="48"/>
                  </a:lnTo>
                  <a:lnTo>
                    <a:pt x="12" y="52"/>
                  </a:lnTo>
                  <a:lnTo>
                    <a:pt x="16" y="56"/>
                  </a:lnTo>
                  <a:lnTo>
                    <a:pt x="16" y="56"/>
                  </a:lnTo>
                  <a:lnTo>
                    <a:pt x="26" y="58"/>
                  </a:lnTo>
                  <a:lnTo>
                    <a:pt x="34" y="58"/>
                  </a:lnTo>
                  <a:lnTo>
                    <a:pt x="42" y="54"/>
                  </a:lnTo>
                  <a:lnTo>
                    <a:pt x="50" y="50"/>
                  </a:lnTo>
                  <a:lnTo>
                    <a:pt x="50" y="8"/>
                  </a:lnTo>
                  <a:lnTo>
                    <a:pt x="50" y="8"/>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7" name="Freeform 175"/>
            <p:cNvSpPr>
              <a:spLocks/>
            </p:cNvSpPr>
            <p:nvPr userDrawn="1"/>
          </p:nvSpPr>
          <p:spPr bwMode="auto">
            <a:xfrm>
              <a:off x="6402388" y="2919413"/>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40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8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2"/>
                  </a:lnTo>
                  <a:lnTo>
                    <a:pt x="10" y="8"/>
                  </a:lnTo>
                  <a:lnTo>
                    <a:pt x="6" y="12"/>
                  </a:lnTo>
                  <a:lnTo>
                    <a:pt x="4" y="16"/>
                  </a:lnTo>
                  <a:lnTo>
                    <a:pt x="4" y="16"/>
                  </a:lnTo>
                  <a:lnTo>
                    <a:pt x="2" y="22"/>
                  </a:lnTo>
                  <a:lnTo>
                    <a:pt x="0" y="28"/>
                  </a:lnTo>
                  <a:lnTo>
                    <a:pt x="2" y="40"/>
                  </a:lnTo>
                  <a:lnTo>
                    <a:pt x="8" y="48"/>
                  </a:lnTo>
                  <a:lnTo>
                    <a:pt x="12" y="52"/>
                  </a:lnTo>
                  <a:lnTo>
                    <a:pt x="18" y="56"/>
                  </a:lnTo>
                  <a:lnTo>
                    <a:pt x="18" y="56"/>
                  </a:lnTo>
                  <a:lnTo>
                    <a:pt x="24" y="58"/>
                  </a:lnTo>
                  <a:lnTo>
                    <a:pt x="28" y="58"/>
                  </a:lnTo>
                  <a:lnTo>
                    <a:pt x="40" y="58"/>
                  </a:lnTo>
                  <a:lnTo>
                    <a:pt x="50" y="52"/>
                  </a:lnTo>
                  <a:lnTo>
                    <a:pt x="54" y="48"/>
                  </a:lnTo>
                  <a:lnTo>
                    <a:pt x="56" y="42"/>
                  </a:lnTo>
                  <a:lnTo>
                    <a:pt x="56" y="42"/>
                  </a:lnTo>
                  <a:lnTo>
                    <a:pt x="58" y="36"/>
                  </a:lnTo>
                  <a:lnTo>
                    <a:pt x="60" y="30"/>
                  </a:lnTo>
                  <a:lnTo>
                    <a:pt x="58" y="20"/>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8" name="Freeform 176"/>
            <p:cNvSpPr>
              <a:spLocks/>
            </p:cNvSpPr>
            <p:nvPr userDrawn="1"/>
          </p:nvSpPr>
          <p:spPr bwMode="auto">
            <a:xfrm>
              <a:off x="6122988" y="35036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9" name="Freeform 177"/>
            <p:cNvSpPr>
              <a:spLocks/>
            </p:cNvSpPr>
            <p:nvPr userDrawn="1"/>
          </p:nvSpPr>
          <p:spPr bwMode="auto">
            <a:xfrm>
              <a:off x="6488113" y="40370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0" name="Freeform 178"/>
            <p:cNvSpPr>
              <a:spLocks/>
            </p:cNvSpPr>
            <p:nvPr userDrawn="1"/>
          </p:nvSpPr>
          <p:spPr bwMode="auto">
            <a:xfrm>
              <a:off x="4383088" y="1944688"/>
              <a:ext cx="95250" cy="95250"/>
            </a:xfrm>
            <a:custGeom>
              <a:avLst/>
              <a:gdLst>
                <a:gd name="T0" fmla="*/ 44 w 60"/>
                <a:gd name="T1" fmla="*/ 4 h 60"/>
                <a:gd name="T2" fmla="*/ 44 w 60"/>
                <a:gd name="T3" fmla="*/ 4 h 60"/>
                <a:gd name="T4" fmla="*/ 38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8 w 60"/>
                <a:gd name="T29" fmla="*/ 56 h 60"/>
                <a:gd name="T30" fmla="*/ 18 w 60"/>
                <a:gd name="T31" fmla="*/ 56 h 60"/>
                <a:gd name="T32" fmla="*/ 24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4 w 60"/>
                <a:gd name="T57" fmla="*/ 4 h 60"/>
                <a:gd name="T58" fmla="*/ 44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4" y="4"/>
                  </a:moveTo>
                  <a:lnTo>
                    <a:pt x="44" y="4"/>
                  </a:lnTo>
                  <a:lnTo>
                    <a:pt x="38" y="2"/>
                  </a:lnTo>
                  <a:lnTo>
                    <a:pt x="32" y="0"/>
                  </a:lnTo>
                  <a:lnTo>
                    <a:pt x="20" y="2"/>
                  </a:lnTo>
                  <a:lnTo>
                    <a:pt x="10" y="8"/>
                  </a:lnTo>
                  <a:lnTo>
                    <a:pt x="6" y="12"/>
                  </a:lnTo>
                  <a:lnTo>
                    <a:pt x="4" y="18"/>
                  </a:lnTo>
                  <a:lnTo>
                    <a:pt x="4" y="18"/>
                  </a:lnTo>
                  <a:lnTo>
                    <a:pt x="2" y="22"/>
                  </a:lnTo>
                  <a:lnTo>
                    <a:pt x="0" y="28"/>
                  </a:lnTo>
                  <a:lnTo>
                    <a:pt x="2" y="40"/>
                  </a:lnTo>
                  <a:lnTo>
                    <a:pt x="8" y="50"/>
                  </a:lnTo>
                  <a:lnTo>
                    <a:pt x="12" y="54"/>
                  </a:lnTo>
                  <a:lnTo>
                    <a:pt x="18" y="56"/>
                  </a:lnTo>
                  <a:lnTo>
                    <a:pt x="18" y="56"/>
                  </a:lnTo>
                  <a:lnTo>
                    <a:pt x="24"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4" y="4"/>
                  </a:lnTo>
                  <a:lnTo>
                    <a:pt x="44"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1" name="Freeform 179"/>
            <p:cNvSpPr>
              <a:spLocks/>
            </p:cNvSpPr>
            <p:nvPr userDrawn="1"/>
          </p:nvSpPr>
          <p:spPr bwMode="auto">
            <a:xfrm>
              <a:off x="5030788" y="18970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6 h 60"/>
                <a:gd name="T16" fmla="*/ 2 w 58"/>
                <a:gd name="T17" fmla="*/ 16 h 60"/>
                <a:gd name="T18" fmla="*/ 0 w 58"/>
                <a:gd name="T19" fmla="*/ 22 h 60"/>
                <a:gd name="T20" fmla="*/ 0 w 58"/>
                <a:gd name="T21" fmla="*/ 28 h 60"/>
                <a:gd name="T22" fmla="*/ 2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6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6"/>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2" name="Freeform 180"/>
            <p:cNvSpPr>
              <a:spLocks/>
            </p:cNvSpPr>
            <p:nvPr userDrawn="1"/>
          </p:nvSpPr>
          <p:spPr bwMode="auto">
            <a:xfrm>
              <a:off x="6319838" y="1801813"/>
              <a:ext cx="95250" cy="92075"/>
            </a:xfrm>
            <a:custGeom>
              <a:avLst/>
              <a:gdLst>
                <a:gd name="T0" fmla="*/ 42 w 60"/>
                <a:gd name="T1" fmla="*/ 2 h 58"/>
                <a:gd name="T2" fmla="*/ 42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2 w 60"/>
                <a:gd name="T33" fmla="*/ 58 h 58"/>
                <a:gd name="T34" fmla="*/ 28 w 60"/>
                <a:gd name="T35" fmla="*/ 58 h 58"/>
                <a:gd name="T36" fmla="*/ 40 w 60"/>
                <a:gd name="T37" fmla="*/ 56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8" y="0"/>
                  </a:lnTo>
                  <a:lnTo>
                    <a:pt x="32" y="0"/>
                  </a:lnTo>
                  <a:lnTo>
                    <a:pt x="20" y="2"/>
                  </a:lnTo>
                  <a:lnTo>
                    <a:pt x="10" y="8"/>
                  </a:lnTo>
                  <a:lnTo>
                    <a:pt x="6" y="12"/>
                  </a:lnTo>
                  <a:lnTo>
                    <a:pt x="4" y="16"/>
                  </a:lnTo>
                  <a:lnTo>
                    <a:pt x="4" y="16"/>
                  </a:lnTo>
                  <a:lnTo>
                    <a:pt x="2" y="22"/>
                  </a:lnTo>
                  <a:lnTo>
                    <a:pt x="0" y="28"/>
                  </a:lnTo>
                  <a:lnTo>
                    <a:pt x="2" y="38"/>
                  </a:lnTo>
                  <a:lnTo>
                    <a:pt x="8" y="48"/>
                  </a:lnTo>
                  <a:lnTo>
                    <a:pt x="12" y="52"/>
                  </a:lnTo>
                  <a:lnTo>
                    <a:pt x="18" y="56"/>
                  </a:lnTo>
                  <a:lnTo>
                    <a:pt x="18" y="56"/>
                  </a:lnTo>
                  <a:lnTo>
                    <a:pt x="22" y="58"/>
                  </a:lnTo>
                  <a:lnTo>
                    <a:pt x="28" y="58"/>
                  </a:lnTo>
                  <a:lnTo>
                    <a:pt x="40" y="56"/>
                  </a:lnTo>
                  <a:lnTo>
                    <a:pt x="50" y="52"/>
                  </a:lnTo>
                  <a:lnTo>
                    <a:pt x="54" y="48"/>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3" name="Freeform 181"/>
            <p:cNvSpPr>
              <a:spLocks/>
            </p:cNvSpPr>
            <p:nvPr userDrawn="1"/>
          </p:nvSpPr>
          <p:spPr bwMode="auto">
            <a:xfrm>
              <a:off x="5030788" y="18970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6 h 60"/>
                <a:gd name="T16" fmla="*/ 2 w 58"/>
                <a:gd name="T17" fmla="*/ 16 h 60"/>
                <a:gd name="T18" fmla="*/ 0 w 58"/>
                <a:gd name="T19" fmla="*/ 22 h 60"/>
                <a:gd name="T20" fmla="*/ 0 w 58"/>
                <a:gd name="T21" fmla="*/ 28 h 60"/>
                <a:gd name="T22" fmla="*/ 2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6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6"/>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4" name="Freeform 182"/>
            <p:cNvSpPr>
              <a:spLocks/>
            </p:cNvSpPr>
            <p:nvPr userDrawn="1"/>
          </p:nvSpPr>
          <p:spPr bwMode="auto">
            <a:xfrm>
              <a:off x="5392738" y="2433638"/>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0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18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0"/>
                  </a:lnTo>
                  <a:lnTo>
                    <a:pt x="10" y="6"/>
                  </a:lnTo>
                  <a:lnTo>
                    <a:pt x="6" y="10"/>
                  </a:lnTo>
                  <a:lnTo>
                    <a:pt x="4" y="16"/>
                  </a:lnTo>
                  <a:lnTo>
                    <a:pt x="4" y="16"/>
                  </a:lnTo>
                  <a:lnTo>
                    <a:pt x="2" y="22"/>
                  </a:lnTo>
                  <a:lnTo>
                    <a:pt x="0" y="28"/>
                  </a:lnTo>
                  <a:lnTo>
                    <a:pt x="2" y="38"/>
                  </a:lnTo>
                  <a:lnTo>
                    <a:pt x="8" y="48"/>
                  </a:lnTo>
                  <a:lnTo>
                    <a:pt x="12" y="52"/>
                  </a:lnTo>
                  <a:lnTo>
                    <a:pt x="18" y="56"/>
                  </a:lnTo>
                  <a:lnTo>
                    <a:pt x="18" y="56"/>
                  </a:lnTo>
                  <a:lnTo>
                    <a:pt x="24" y="58"/>
                  </a:lnTo>
                  <a:lnTo>
                    <a:pt x="28" y="58"/>
                  </a:lnTo>
                  <a:lnTo>
                    <a:pt x="40" y="56"/>
                  </a:lnTo>
                  <a:lnTo>
                    <a:pt x="50" y="50"/>
                  </a:lnTo>
                  <a:lnTo>
                    <a:pt x="54" y="46"/>
                  </a:lnTo>
                  <a:lnTo>
                    <a:pt x="56" y="42"/>
                  </a:lnTo>
                  <a:lnTo>
                    <a:pt x="56" y="42"/>
                  </a:lnTo>
                  <a:lnTo>
                    <a:pt x="58" y="36"/>
                  </a:lnTo>
                  <a:lnTo>
                    <a:pt x="60" y="30"/>
                  </a:lnTo>
                  <a:lnTo>
                    <a:pt x="58" y="18"/>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5" name="Freeform 183"/>
            <p:cNvSpPr>
              <a:spLocks/>
            </p:cNvSpPr>
            <p:nvPr userDrawn="1"/>
          </p:nvSpPr>
          <p:spPr bwMode="auto">
            <a:xfrm>
              <a:off x="6040438" y="23860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6 h 58"/>
                <a:gd name="T22" fmla="*/ 2 w 58"/>
                <a:gd name="T23" fmla="*/ 38 h 58"/>
                <a:gd name="T24" fmla="*/ 6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0 w 58"/>
                <a:gd name="T53" fmla="*/ 8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6"/>
                  </a:lnTo>
                  <a:lnTo>
                    <a:pt x="2" y="38"/>
                  </a:lnTo>
                  <a:lnTo>
                    <a:pt x="6"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0" y="8"/>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6" name="Freeform 184"/>
            <p:cNvSpPr>
              <a:spLocks/>
            </p:cNvSpPr>
            <p:nvPr userDrawn="1"/>
          </p:nvSpPr>
          <p:spPr bwMode="auto">
            <a:xfrm>
              <a:off x="6967538" y="175418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4 w 58"/>
                <a:gd name="T43" fmla="*/ 42 h 58"/>
                <a:gd name="T44" fmla="*/ 54 w 58"/>
                <a:gd name="T45" fmla="*/ 42 h 58"/>
                <a:gd name="T46" fmla="*/ 56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6"/>
                  </a:lnTo>
                  <a:lnTo>
                    <a:pt x="6" y="12"/>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4" y="42"/>
                  </a:lnTo>
                  <a:lnTo>
                    <a:pt x="54" y="42"/>
                  </a:lnTo>
                  <a:lnTo>
                    <a:pt x="56"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7" name="Freeform 185"/>
            <p:cNvSpPr>
              <a:spLocks/>
            </p:cNvSpPr>
            <p:nvPr userDrawn="1"/>
          </p:nvSpPr>
          <p:spPr bwMode="auto">
            <a:xfrm>
              <a:off x="6319838" y="1801813"/>
              <a:ext cx="95250" cy="92075"/>
            </a:xfrm>
            <a:custGeom>
              <a:avLst/>
              <a:gdLst>
                <a:gd name="T0" fmla="*/ 42 w 60"/>
                <a:gd name="T1" fmla="*/ 2 h 58"/>
                <a:gd name="T2" fmla="*/ 42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2 w 60"/>
                <a:gd name="T33" fmla="*/ 58 h 58"/>
                <a:gd name="T34" fmla="*/ 28 w 60"/>
                <a:gd name="T35" fmla="*/ 58 h 58"/>
                <a:gd name="T36" fmla="*/ 40 w 60"/>
                <a:gd name="T37" fmla="*/ 56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8" y="0"/>
                  </a:lnTo>
                  <a:lnTo>
                    <a:pt x="32" y="0"/>
                  </a:lnTo>
                  <a:lnTo>
                    <a:pt x="20" y="2"/>
                  </a:lnTo>
                  <a:lnTo>
                    <a:pt x="10" y="8"/>
                  </a:lnTo>
                  <a:lnTo>
                    <a:pt x="6" y="12"/>
                  </a:lnTo>
                  <a:lnTo>
                    <a:pt x="4" y="16"/>
                  </a:lnTo>
                  <a:lnTo>
                    <a:pt x="4" y="16"/>
                  </a:lnTo>
                  <a:lnTo>
                    <a:pt x="2" y="22"/>
                  </a:lnTo>
                  <a:lnTo>
                    <a:pt x="0" y="28"/>
                  </a:lnTo>
                  <a:lnTo>
                    <a:pt x="2" y="38"/>
                  </a:lnTo>
                  <a:lnTo>
                    <a:pt x="8" y="48"/>
                  </a:lnTo>
                  <a:lnTo>
                    <a:pt x="12" y="52"/>
                  </a:lnTo>
                  <a:lnTo>
                    <a:pt x="18" y="56"/>
                  </a:lnTo>
                  <a:lnTo>
                    <a:pt x="18" y="56"/>
                  </a:lnTo>
                  <a:lnTo>
                    <a:pt x="22" y="58"/>
                  </a:lnTo>
                  <a:lnTo>
                    <a:pt x="28" y="58"/>
                  </a:lnTo>
                  <a:lnTo>
                    <a:pt x="40" y="56"/>
                  </a:lnTo>
                  <a:lnTo>
                    <a:pt x="50" y="52"/>
                  </a:lnTo>
                  <a:lnTo>
                    <a:pt x="54" y="48"/>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8" name="Freeform 186"/>
            <p:cNvSpPr>
              <a:spLocks/>
            </p:cNvSpPr>
            <p:nvPr userDrawn="1"/>
          </p:nvSpPr>
          <p:spPr bwMode="auto">
            <a:xfrm>
              <a:off x="6040438" y="23860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6 h 58"/>
                <a:gd name="T22" fmla="*/ 2 w 58"/>
                <a:gd name="T23" fmla="*/ 38 h 58"/>
                <a:gd name="T24" fmla="*/ 6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0 w 58"/>
                <a:gd name="T53" fmla="*/ 8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6"/>
                  </a:lnTo>
                  <a:lnTo>
                    <a:pt x="2" y="38"/>
                  </a:lnTo>
                  <a:lnTo>
                    <a:pt x="6"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0" y="8"/>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9" name="Freeform 187"/>
            <p:cNvSpPr>
              <a:spLocks/>
            </p:cNvSpPr>
            <p:nvPr userDrawn="1"/>
          </p:nvSpPr>
          <p:spPr bwMode="auto">
            <a:xfrm>
              <a:off x="6402388" y="2919413"/>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40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8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2"/>
                  </a:lnTo>
                  <a:lnTo>
                    <a:pt x="10" y="8"/>
                  </a:lnTo>
                  <a:lnTo>
                    <a:pt x="6" y="12"/>
                  </a:lnTo>
                  <a:lnTo>
                    <a:pt x="4" y="16"/>
                  </a:lnTo>
                  <a:lnTo>
                    <a:pt x="4" y="16"/>
                  </a:lnTo>
                  <a:lnTo>
                    <a:pt x="2" y="22"/>
                  </a:lnTo>
                  <a:lnTo>
                    <a:pt x="0" y="28"/>
                  </a:lnTo>
                  <a:lnTo>
                    <a:pt x="2" y="40"/>
                  </a:lnTo>
                  <a:lnTo>
                    <a:pt x="8" y="48"/>
                  </a:lnTo>
                  <a:lnTo>
                    <a:pt x="12" y="52"/>
                  </a:lnTo>
                  <a:lnTo>
                    <a:pt x="18" y="56"/>
                  </a:lnTo>
                  <a:lnTo>
                    <a:pt x="18" y="56"/>
                  </a:lnTo>
                  <a:lnTo>
                    <a:pt x="24" y="58"/>
                  </a:lnTo>
                  <a:lnTo>
                    <a:pt x="28" y="58"/>
                  </a:lnTo>
                  <a:lnTo>
                    <a:pt x="40" y="58"/>
                  </a:lnTo>
                  <a:lnTo>
                    <a:pt x="50" y="52"/>
                  </a:lnTo>
                  <a:lnTo>
                    <a:pt x="54" y="48"/>
                  </a:lnTo>
                  <a:lnTo>
                    <a:pt x="56" y="42"/>
                  </a:lnTo>
                  <a:lnTo>
                    <a:pt x="56" y="42"/>
                  </a:lnTo>
                  <a:lnTo>
                    <a:pt x="58" y="36"/>
                  </a:lnTo>
                  <a:lnTo>
                    <a:pt x="60" y="30"/>
                  </a:lnTo>
                  <a:lnTo>
                    <a:pt x="58" y="20"/>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0" name="Freeform 188"/>
            <p:cNvSpPr>
              <a:spLocks/>
            </p:cNvSpPr>
            <p:nvPr userDrawn="1"/>
          </p:nvSpPr>
          <p:spPr bwMode="auto">
            <a:xfrm>
              <a:off x="7129463" y="2884488"/>
              <a:ext cx="12700" cy="66675"/>
            </a:xfrm>
            <a:custGeom>
              <a:avLst/>
              <a:gdLst>
                <a:gd name="T0" fmla="*/ 0 w 8"/>
                <a:gd name="T1" fmla="*/ 0 h 42"/>
                <a:gd name="T2" fmla="*/ 0 w 8"/>
                <a:gd name="T3" fmla="*/ 42 h 42"/>
                <a:gd name="T4" fmla="*/ 0 w 8"/>
                <a:gd name="T5" fmla="*/ 42 h 42"/>
                <a:gd name="T6" fmla="*/ 6 w 8"/>
                <a:gd name="T7" fmla="*/ 34 h 42"/>
                <a:gd name="T8" fmla="*/ 6 w 8"/>
                <a:gd name="T9" fmla="*/ 34 h 42"/>
                <a:gd name="T10" fmla="*/ 8 w 8"/>
                <a:gd name="T11" fmla="*/ 26 h 42"/>
                <a:gd name="T12" fmla="*/ 8 w 8"/>
                <a:gd name="T13" fmla="*/ 16 h 42"/>
                <a:gd name="T14" fmla="*/ 6 w 8"/>
                <a:gd name="T15" fmla="*/ 8 h 42"/>
                <a:gd name="T16" fmla="*/ 0 w 8"/>
                <a:gd name="T17" fmla="*/ 0 h 42"/>
                <a:gd name="T18" fmla="*/ 0 w 8"/>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42">
                  <a:moveTo>
                    <a:pt x="0" y="0"/>
                  </a:moveTo>
                  <a:lnTo>
                    <a:pt x="0" y="42"/>
                  </a:lnTo>
                  <a:lnTo>
                    <a:pt x="0" y="42"/>
                  </a:lnTo>
                  <a:lnTo>
                    <a:pt x="6" y="34"/>
                  </a:lnTo>
                  <a:lnTo>
                    <a:pt x="6" y="34"/>
                  </a:lnTo>
                  <a:lnTo>
                    <a:pt x="8" y="26"/>
                  </a:lnTo>
                  <a:lnTo>
                    <a:pt x="8" y="16"/>
                  </a:lnTo>
                  <a:lnTo>
                    <a:pt x="6" y="8"/>
                  </a:lnTo>
                  <a:lnTo>
                    <a:pt x="0" y="0"/>
                  </a:lnTo>
                  <a:lnTo>
                    <a:pt x="0" y="0"/>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1" name="Freeform 189"/>
            <p:cNvSpPr>
              <a:spLocks/>
            </p:cNvSpPr>
            <p:nvPr userDrawn="1"/>
          </p:nvSpPr>
          <p:spPr bwMode="auto">
            <a:xfrm>
              <a:off x="7050088" y="2871788"/>
              <a:ext cx="79375" cy="92075"/>
            </a:xfrm>
            <a:custGeom>
              <a:avLst/>
              <a:gdLst>
                <a:gd name="T0" fmla="*/ 42 w 50"/>
                <a:gd name="T1" fmla="*/ 2 h 58"/>
                <a:gd name="T2" fmla="*/ 42 w 50"/>
                <a:gd name="T3" fmla="*/ 2 h 58"/>
                <a:gd name="T4" fmla="*/ 36 w 50"/>
                <a:gd name="T5" fmla="*/ 0 h 58"/>
                <a:gd name="T6" fmla="*/ 30 w 50"/>
                <a:gd name="T7" fmla="*/ 0 h 58"/>
                <a:gd name="T8" fmla="*/ 20 w 50"/>
                <a:gd name="T9" fmla="*/ 2 h 58"/>
                <a:gd name="T10" fmla="*/ 10 w 50"/>
                <a:gd name="T11" fmla="*/ 8 h 58"/>
                <a:gd name="T12" fmla="*/ 6 w 50"/>
                <a:gd name="T13" fmla="*/ 12 h 58"/>
                <a:gd name="T14" fmla="*/ 2 w 50"/>
                <a:gd name="T15" fmla="*/ 16 h 58"/>
                <a:gd name="T16" fmla="*/ 2 w 50"/>
                <a:gd name="T17" fmla="*/ 16 h 58"/>
                <a:gd name="T18" fmla="*/ 0 w 50"/>
                <a:gd name="T19" fmla="*/ 22 h 58"/>
                <a:gd name="T20" fmla="*/ 0 w 50"/>
                <a:gd name="T21" fmla="*/ 28 h 58"/>
                <a:gd name="T22" fmla="*/ 2 w 50"/>
                <a:gd name="T23" fmla="*/ 38 h 58"/>
                <a:gd name="T24" fmla="*/ 6 w 50"/>
                <a:gd name="T25" fmla="*/ 48 h 58"/>
                <a:gd name="T26" fmla="*/ 12 w 50"/>
                <a:gd name="T27" fmla="*/ 52 h 58"/>
                <a:gd name="T28" fmla="*/ 16 w 50"/>
                <a:gd name="T29" fmla="*/ 56 h 58"/>
                <a:gd name="T30" fmla="*/ 16 w 50"/>
                <a:gd name="T31" fmla="*/ 56 h 58"/>
                <a:gd name="T32" fmla="*/ 26 w 50"/>
                <a:gd name="T33" fmla="*/ 58 h 58"/>
                <a:gd name="T34" fmla="*/ 34 w 50"/>
                <a:gd name="T35" fmla="*/ 58 h 58"/>
                <a:gd name="T36" fmla="*/ 42 w 50"/>
                <a:gd name="T37" fmla="*/ 54 h 58"/>
                <a:gd name="T38" fmla="*/ 50 w 50"/>
                <a:gd name="T39" fmla="*/ 50 h 58"/>
                <a:gd name="T40" fmla="*/ 50 w 50"/>
                <a:gd name="T41" fmla="*/ 8 h 58"/>
                <a:gd name="T42" fmla="*/ 50 w 50"/>
                <a:gd name="T43" fmla="*/ 8 h 58"/>
                <a:gd name="T44" fmla="*/ 42 w 50"/>
                <a:gd name="T45" fmla="*/ 2 h 58"/>
                <a:gd name="T46" fmla="*/ 42 w 50"/>
                <a:gd name="T4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6" y="48"/>
                  </a:lnTo>
                  <a:lnTo>
                    <a:pt x="12" y="52"/>
                  </a:lnTo>
                  <a:lnTo>
                    <a:pt x="16" y="56"/>
                  </a:lnTo>
                  <a:lnTo>
                    <a:pt x="16" y="56"/>
                  </a:lnTo>
                  <a:lnTo>
                    <a:pt x="26" y="58"/>
                  </a:lnTo>
                  <a:lnTo>
                    <a:pt x="34" y="58"/>
                  </a:lnTo>
                  <a:lnTo>
                    <a:pt x="42" y="54"/>
                  </a:lnTo>
                  <a:lnTo>
                    <a:pt x="50" y="50"/>
                  </a:lnTo>
                  <a:lnTo>
                    <a:pt x="50" y="8"/>
                  </a:lnTo>
                  <a:lnTo>
                    <a:pt x="50" y="8"/>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2" name="Freeform 190"/>
            <p:cNvSpPr>
              <a:spLocks/>
            </p:cNvSpPr>
            <p:nvPr userDrawn="1"/>
          </p:nvSpPr>
          <p:spPr bwMode="auto">
            <a:xfrm>
              <a:off x="7129463" y="2884488"/>
              <a:ext cx="12700" cy="66675"/>
            </a:xfrm>
            <a:custGeom>
              <a:avLst/>
              <a:gdLst>
                <a:gd name="T0" fmla="*/ 0 w 8"/>
                <a:gd name="T1" fmla="*/ 0 h 42"/>
                <a:gd name="T2" fmla="*/ 0 w 8"/>
                <a:gd name="T3" fmla="*/ 42 h 42"/>
                <a:gd name="T4" fmla="*/ 0 w 8"/>
                <a:gd name="T5" fmla="*/ 42 h 42"/>
                <a:gd name="T6" fmla="*/ 6 w 8"/>
                <a:gd name="T7" fmla="*/ 34 h 42"/>
                <a:gd name="T8" fmla="*/ 6 w 8"/>
                <a:gd name="T9" fmla="*/ 34 h 42"/>
                <a:gd name="T10" fmla="*/ 8 w 8"/>
                <a:gd name="T11" fmla="*/ 26 h 42"/>
                <a:gd name="T12" fmla="*/ 8 w 8"/>
                <a:gd name="T13" fmla="*/ 16 h 42"/>
                <a:gd name="T14" fmla="*/ 6 w 8"/>
                <a:gd name="T15" fmla="*/ 8 h 42"/>
                <a:gd name="T16" fmla="*/ 0 w 8"/>
                <a:gd name="T17" fmla="*/ 0 h 42"/>
                <a:gd name="T18" fmla="*/ 0 w 8"/>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42">
                  <a:moveTo>
                    <a:pt x="0" y="0"/>
                  </a:moveTo>
                  <a:lnTo>
                    <a:pt x="0" y="42"/>
                  </a:lnTo>
                  <a:lnTo>
                    <a:pt x="0" y="42"/>
                  </a:lnTo>
                  <a:lnTo>
                    <a:pt x="6" y="34"/>
                  </a:lnTo>
                  <a:lnTo>
                    <a:pt x="6" y="34"/>
                  </a:lnTo>
                  <a:lnTo>
                    <a:pt x="8" y="26"/>
                  </a:lnTo>
                  <a:lnTo>
                    <a:pt x="8" y="16"/>
                  </a:lnTo>
                  <a:lnTo>
                    <a:pt x="6" y="8"/>
                  </a:lnTo>
                  <a:lnTo>
                    <a:pt x="0" y="0"/>
                  </a:lnTo>
                  <a:lnTo>
                    <a:pt x="0" y="0"/>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3" name="Freeform 191"/>
            <p:cNvSpPr>
              <a:spLocks/>
            </p:cNvSpPr>
            <p:nvPr userDrawn="1"/>
          </p:nvSpPr>
          <p:spPr bwMode="auto">
            <a:xfrm>
              <a:off x="7050088" y="2871788"/>
              <a:ext cx="79375" cy="92075"/>
            </a:xfrm>
            <a:custGeom>
              <a:avLst/>
              <a:gdLst>
                <a:gd name="T0" fmla="*/ 42 w 50"/>
                <a:gd name="T1" fmla="*/ 2 h 58"/>
                <a:gd name="T2" fmla="*/ 42 w 50"/>
                <a:gd name="T3" fmla="*/ 2 h 58"/>
                <a:gd name="T4" fmla="*/ 36 w 50"/>
                <a:gd name="T5" fmla="*/ 0 h 58"/>
                <a:gd name="T6" fmla="*/ 30 w 50"/>
                <a:gd name="T7" fmla="*/ 0 h 58"/>
                <a:gd name="T8" fmla="*/ 20 w 50"/>
                <a:gd name="T9" fmla="*/ 2 h 58"/>
                <a:gd name="T10" fmla="*/ 10 w 50"/>
                <a:gd name="T11" fmla="*/ 8 h 58"/>
                <a:gd name="T12" fmla="*/ 6 w 50"/>
                <a:gd name="T13" fmla="*/ 12 h 58"/>
                <a:gd name="T14" fmla="*/ 2 w 50"/>
                <a:gd name="T15" fmla="*/ 16 h 58"/>
                <a:gd name="T16" fmla="*/ 2 w 50"/>
                <a:gd name="T17" fmla="*/ 16 h 58"/>
                <a:gd name="T18" fmla="*/ 0 w 50"/>
                <a:gd name="T19" fmla="*/ 22 h 58"/>
                <a:gd name="T20" fmla="*/ 0 w 50"/>
                <a:gd name="T21" fmla="*/ 28 h 58"/>
                <a:gd name="T22" fmla="*/ 2 w 50"/>
                <a:gd name="T23" fmla="*/ 38 h 58"/>
                <a:gd name="T24" fmla="*/ 6 w 50"/>
                <a:gd name="T25" fmla="*/ 48 h 58"/>
                <a:gd name="T26" fmla="*/ 12 w 50"/>
                <a:gd name="T27" fmla="*/ 52 h 58"/>
                <a:gd name="T28" fmla="*/ 16 w 50"/>
                <a:gd name="T29" fmla="*/ 56 h 58"/>
                <a:gd name="T30" fmla="*/ 16 w 50"/>
                <a:gd name="T31" fmla="*/ 56 h 58"/>
                <a:gd name="T32" fmla="*/ 26 w 50"/>
                <a:gd name="T33" fmla="*/ 58 h 58"/>
                <a:gd name="T34" fmla="*/ 34 w 50"/>
                <a:gd name="T35" fmla="*/ 58 h 58"/>
                <a:gd name="T36" fmla="*/ 42 w 50"/>
                <a:gd name="T37" fmla="*/ 54 h 58"/>
                <a:gd name="T38" fmla="*/ 50 w 50"/>
                <a:gd name="T39" fmla="*/ 50 h 58"/>
                <a:gd name="T40" fmla="*/ 50 w 50"/>
                <a:gd name="T41" fmla="*/ 8 h 58"/>
                <a:gd name="T42" fmla="*/ 50 w 50"/>
                <a:gd name="T43" fmla="*/ 8 h 58"/>
                <a:gd name="T44" fmla="*/ 42 w 50"/>
                <a:gd name="T45" fmla="*/ 2 h 58"/>
                <a:gd name="T46" fmla="*/ 42 w 50"/>
                <a:gd name="T4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6" y="48"/>
                  </a:lnTo>
                  <a:lnTo>
                    <a:pt x="12" y="52"/>
                  </a:lnTo>
                  <a:lnTo>
                    <a:pt x="16" y="56"/>
                  </a:lnTo>
                  <a:lnTo>
                    <a:pt x="16" y="56"/>
                  </a:lnTo>
                  <a:lnTo>
                    <a:pt x="26" y="58"/>
                  </a:lnTo>
                  <a:lnTo>
                    <a:pt x="34" y="58"/>
                  </a:lnTo>
                  <a:lnTo>
                    <a:pt x="42" y="54"/>
                  </a:lnTo>
                  <a:lnTo>
                    <a:pt x="50" y="50"/>
                  </a:lnTo>
                  <a:lnTo>
                    <a:pt x="50" y="8"/>
                  </a:lnTo>
                  <a:lnTo>
                    <a:pt x="50" y="8"/>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4" name="Freeform 192"/>
            <p:cNvSpPr>
              <a:spLocks/>
            </p:cNvSpPr>
            <p:nvPr userDrawn="1"/>
          </p:nvSpPr>
          <p:spPr bwMode="auto">
            <a:xfrm>
              <a:off x="6319838" y="1801813"/>
              <a:ext cx="95250" cy="92075"/>
            </a:xfrm>
            <a:custGeom>
              <a:avLst/>
              <a:gdLst>
                <a:gd name="T0" fmla="*/ 42 w 60"/>
                <a:gd name="T1" fmla="*/ 2 h 58"/>
                <a:gd name="T2" fmla="*/ 42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2 w 60"/>
                <a:gd name="T33" fmla="*/ 58 h 58"/>
                <a:gd name="T34" fmla="*/ 28 w 60"/>
                <a:gd name="T35" fmla="*/ 58 h 58"/>
                <a:gd name="T36" fmla="*/ 40 w 60"/>
                <a:gd name="T37" fmla="*/ 56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8" y="0"/>
                  </a:lnTo>
                  <a:lnTo>
                    <a:pt x="32" y="0"/>
                  </a:lnTo>
                  <a:lnTo>
                    <a:pt x="20" y="2"/>
                  </a:lnTo>
                  <a:lnTo>
                    <a:pt x="10" y="8"/>
                  </a:lnTo>
                  <a:lnTo>
                    <a:pt x="6" y="12"/>
                  </a:lnTo>
                  <a:lnTo>
                    <a:pt x="4" y="16"/>
                  </a:lnTo>
                  <a:lnTo>
                    <a:pt x="4" y="16"/>
                  </a:lnTo>
                  <a:lnTo>
                    <a:pt x="2" y="22"/>
                  </a:lnTo>
                  <a:lnTo>
                    <a:pt x="0" y="28"/>
                  </a:lnTo>
                  <a:lnTo>
                    <a:pt x="2" y="38"/>
                  </a:lnTo>
                  <a:lnTo>
                    <a:pt x="8" y="48"/>
                  </a:lnTo>
                  <a:lnTo>
                    <a:pt x="12" y="52"/>
                  </a:lnTo>
                  <a:lnTo>
                    <a:pt x="18" y="56"/>
                  </a:lnTo>
                  <a:lnTo>
                    <a:pt x="18" y="56"/>
                  </a:lnTo>
                  <a:lnTo>
                    <a:pt x="22" y="58"/>
                  </a:lnTo>
                  <a:lnTo>
                    <a:pt x="28" y="58"/>
                  </a:lnTo>
                  <a:lnTo>
                    <a:pt x="40" y="56"/>
                  </a:lnTo>
                  <a:lnTo>
                    <a:pt x="50" y="52"/>
                  </a:lnTo>
                  <a:lnTo>
                    <a:pt x="54" y="48"/>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5" name="Freeform 193"/>
            <p:cNvSpPr>
              <a:spLocks/>
            </p:cNvSpPr>
            <p:nvPr userDrawn="1"/>
          </p:nvSpPr>
          <p:spPr bwMode="auto">
            <a:xfrm>
              <a:off x="6967538" y="175418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4 w 58"/>
                <a:gd name="T43" fmla="*/ 42 h 58"/>
                <a:gd name="T44" fmla="*/ 54 w 58"/>
                <a:gd name="T45" fmla="*/ 42 h 58"/>
                <a:gd name="T46" fmla="*/ 56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6"/>
                  </a:lnTo>
                  <a:lnTo>
                    <a:pt x="6" y="12"/>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4" y="42"/>
                  </a:lnTo>
                  <a:lnTo>
                    <a:pt x="54" y="42"/>
                  </a:lnTo>
                  <a:lnTo>
                    <a:pt x="56"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6" name="Freeform 194"/>
            <p:cNvSpPr>
              <a:spLocks/>
            </p:cNvSpPr>
            <p:nvPr userDrawn="1"/>
          </p:nvSpPr>
          <p:spPr bwMode="auto">
            <a:xfrm>
              <a:off x="6967538" y="175418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4 w 58"/>
                <a:gd name="T43" fmla="*/ 42 h 58"/>
                <a:gd name="T44" fmla="*/ 54 w 58"/>
                <a:gd name="T45" fmla="*/ 42 h 58"/>
                <a:gd name="T46" fmla="*/ 56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6"/>
                  </a:lnTo>
                  <a:lnTo>
                    <a:pt x="6" y="12"/>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4" y="42"/>
                  </a:lnTo>
                  <a:lnTo>
                    <a:pt x="54" y="42"/>
                  </a:lnTo>
                  <a:lnTo>
                    <a:pt x="56"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grpSp>
      <p:sp>
        <p:nvSpPr>
          <p:cNvPr id="109" name="Rectangle 199"/>
          <p:cNvSpPr>
            <a:spLocks noChangeArrowheads="1"/>
          </p:cNvSpPr>
          <p:nvPr userDrawn="1"/>
        </p:nvSpPr>
        <p:spPr bwMode="auto">
          <a:xfrm>
            <a:off x="0" y="0"/>
            <a:ext cx="9144000" cy="1609725"/>
          </a:xfrm>
          <a:prstGeom prst="rect">
            <a:avLst/>
          </a:prstGeom>
          <a:solidFill>
            <a:srgbClr val="335359"/>
          </a:solidFill>
          <a:ln>
            <a:no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1" name="Freeform 208"/>
          <p:cNvSpPr>
            <a:spLocks noEditPoints="1"/>
          </p:cNvSpPr>
          <p:nvPr userDrawn="1"/>
        </p:nvSpPr>
        <p:spPr bwMode="auto">
          <a:xfrm>
            <a:off x="2354227" y="1210768"/>
            <a:ext cx="147089" cy="169542"/>
          </a:xfrm>
          <a:custGeom>
            <a:avLst/>
            <a:gdLst>
              <a:gd name="T0" fmla="*/ 82 w 110"/>
              <a:gd name="T1" fmla="*/ 108 h 126"/>
              <a:gd name="T2" fmla="*/ 76 w 110"/>
              <a:gd name="T3" fmla="*/ 116 h 126"/>
              <a:gd name="T4" fmla="*/ 56 w 110"/>
              <a:gd name="T5" fmla="*/ 126 h 126"/>
              <a:gd name="T6" fmla="*/ 44 w 110"/>
              <a:gd name="T7" fmla="*/ 126 h 126"/>
              <a:gd name="T8" fmla="*/ 26 w 110"/>
              <a:gd name="T9" fmla="*/ 124 h 126"/>
              <a:gd name="T10" fmla="*/ 12 w 110"/>
              <a:gd name="T11" fmla="*/ 116 h 126"/>
              <a:gd name="T12" fmla="*/ 2 w 110"/>
              <a:gd name="T13" fmla="*/ 104 h 126"/>
              <a:gd name="T14" fmla="*/ 0 w 110"/>
              <a:gd name="T15" fmla="*/ 88 h 126"/>
              <a:gd name="T16" fmla="*/ 0 w 110"/>
              <a:gd name="T17" fmla="*/ 88 h 126"/>
              <a:gd name="T18" fmla="*/ 4 w 110"/>
              <a:gd name="T19" fmla="*/ 70 h 126"/>
              <a:gd name="T20" fmla="*/ 14 w 110"/>
              <a:gd name="T21" fmla="*/ 58 h 126"/>
              <a:gd name="T22" fmla="*/ 30 w 110"/>
              <a:gd name="T23" fmla="*/ 50 h 126"/>
              <a:gd name="T24" fmla="*/ 50 w 110"/>
              <a:gd name="T25" fmla="*/ 48 h 126"/>
              <a:gd name="T26" fmla="*/ 68 w 110"/>
              <a:gd name="T27" fmla="*/ 50 h 126"/>
              <a:gd name="T28" fmla="*/ 82 w 110"/>
              <a:gd name="T29" fmla="*/ 50 h 126"/>
              <a:gd name="T30" fmla="*/ 80 w 110"/>
              <a:gd name="T31" fmla="*/ 40 h 126"/>
              <a:gd name="T32" fmla="*/ 76 w 110"/>
              <a:gd name="T33" fmla="*/ 32 h 126"/>
              <a:gd name="T34" fmla="*/ 52 w 110"/>
              <a:gd name="T35" fmla="*/ 24 h 126"/>
              <a:gd name="T36" fmla="*/ 34 w 110"/>
              <a:gd name="T37" fmla="*/ 26 h 126"/>
              <a:gd name="T38" fmla="*/ 10 w 110"/>
              <a:gd name="T39" fmla="*/ 10 h 126"/>
              <a:gd name="T40" fmla="*/ 30 w 110"/>
              <a:gd name="T41" fmla="*/ 2 h 126"/>
              <a:gd name="T42" fmla="*/ 56 w 110"/>
              <a:gd name="T43" fmla="*/ 0 h 126"/>
              <a:gd name="T44" fmla="*/ 70 w 110"/>
              <a:gd name="T45" fmla="*/ 0 h 126"/>
              <a:gd name="T46" fmla="*/ 90 w 110"/>
              <a:gd name="T47" fmla="*/ 8 h 126"/>
              <a:gd name="T48" fmla="*/ 104 w 110"/>
              <a:gd name="T49" fmla="*/ 20 h 126"/>
              <a:gd name="T50" fmla="*/ 110 w 110"/>
              <a:gd name="T51" fmla="*/ 40 h 126"/>
              <a:gd name="T52" fmla="*/ 110 w 110"/>
              <a:gd name="T53" fmla="*/ 124 h 126"/>
              <a:gd name="T54" fmla="*/ 84 w 110"/>
              <a:gd name="T55" fmla="*/ 72 h 126"/>
              <a:gd name="T56" fmla="*/ 70 w 110"/>
              <a:gd name="T57" fmla="*/ 70 h 126"/>
              <a:gd name="T58" fmla="*/ 56 w 110"/>
              <a:gd name="T59" fmla="*/ 68 h 126"/>
              <a:gd name="T60" fmla="*/ 34 w 110"/>
              <a:gd name="T61" fmla="*/ 72 h 126"/>
              <a:gd name="T62" fmla="*/ 28 w 110"/>
              <a:gd name="T63" fmla="*/ 86 h 126"/>
              <a:gd name="T64" fmla="*/ 28 w 110"/>
              <a:gd name="T65" fmla="*/ 88 h 126"/>
              <a:gd name="T66" fmla="*/ 34 w 110"/>
              <a:gd name="T67" fmla="*/ 100 h 126"/>
              <a:gd name="T68" fmla="*/ 50 w 110"/>
              <a:gd name="T69" fmla="*/ 106 h 126"/>
              <a:gd name="T70" fmla="*/ 64 w 110"/>
              <a:gd name="T71" fmla="*/ 104 h 126"/>
              <a:gd name="T72" fmla="*/ 80 w 110"/>
              <a:gd name="T73" fmla="*/ 90 h 126"/>
              <a:gd name="T74" fmla="*/ 84 w 110"/>
              <a:gd name="T75" fmla="*/ 8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0" h="126">
                <a:moveTo>
                  <a:pt x="82" y="124"/>
                </a:moveTo>
                <a:lnTo>
                  <a:pt x="82" y="108"/>
                </a:lnTo>
                <a:lnTo>
                  <a:pt x="82" y="108"/>
                </a:lnTo>
                <a:lnTo>
                  <a:pt x="76" y="116"/>
                </a:lnTo>
                <a:lnTo>
                  <a:pt x="66" y="122"/>
                </a:lnTo>
                <a:lnTo>
                  <a:pt x="56" y="126"/>
                </a:lnTo>
                <a:lnTo>
                  <a:pt x="44" y="126"/>
                </a:lnTo>
                <a:lnTo>
                  <a:pt x="44" y="126"/>
                </a:lnTo>
                <a:lnTo>
                  <a:pt x="34" y="126"/>
                </a:lnTo>
                <a:lnTo>
                  <a:pt x="26" y="124"/>
                </a:lnTo>
                <a:lnTo>
                  <a:pt x="20" y="120"/>
                </a:lnTo>
                <a:lnTo>
                  <a:pt x="12" y="116"/>
                </a:lnTo>
                <a:lnTo>
                  <a:pt x="8" y="112"/>
                </a:lnTo>
                <a:lnTo>
                  <a:pt x="2" y="104"/>
                </a:lnTo>
                <a:lnTo>
                  <a:pt x="0" y="98"/>
                </a:lnTo>
                <a:lnTo>
                  <a:pt x="0" y="88"/>
                </a:lnTo>
                <a:lnTo>
                  <a:pt x="0" y="88"/>
                </a:lnTo>
                <a:lnTo>
                  <a:pt x="0" y="88"/>
                </a:lnTo>
                <a:lnTo>
                  <a:pt x="0" y="78"/>
                </a:lnTo>
                <a:lnTo>
                  <a:pt x="4" y="70"/>
                </a:lnTo>
                <a:lnTo>
                  <a:pt x="8" y="64"/>
                </a:lnTo>
                <a:lnTo>
                  <a:pt x="14" y="58"/>
                </a:lnTo>
                <a:lnTo>
                  <a:pt x="20" y="54"/>
                </a:lnTo>
                <a:lnTo>
                  <a:pt x="30" y="50"/>
                </a:lnTo>
                <a:lnTo>
                  <a:pt x="38" y="48"/>
                </a:lnTo>
                <a:lnTo>
                  <a:pt x="50" y="48"/>
                </a:lnTo>
                <a:lnTo>
                  <a:pt x="50" y="48"/>
                </a:lnTo>
                <a:lnTo>
                  <a:pt x="68" y="50"/>
                </a:lnTo>
                <a:lnTo>
                  <a:pt x="82" y="54"/>
                </a:lnTo>
                <a:lnTo>
                  <a:pt x="82" y="50"/>
                </a:lnTo>
                <a:lnTo>
                  <a:pt x="82" y="50"/>
                </a:lnTo>
                <a:lnTo>
                  <a:pt x="80" y="40"/>
                </a:lnTo>
                <a:lnTo>
                  <a:pt x="78" y="36"/>
                </a:lnTo>
                <a:lnTo>
                  <a:pt x="76" y="32"/>
                </a:lnTo>
                <a:lnTo>
                  <a:pt x="66" y="26"/>
                </a:lnTo>
                <a:lnTo>
                  <a:pt x="52" y="24"/>
                </a:lnTo>
                <a:lnTo>
                  <a:pt x="52" y="24"/>
                </a:lnTo>
                <a:lnTo>
                  <a:pt x="34" y="26"/>
                </a:lnTo>
                <a:lnTo>
                  <a:pt x="18" y="32"/>
                </a:lnTo>
                <a:lnTo>
                  <a:pt x="10" y="10"/>
                </a:lnTo>
                <a:lnTo>
                  <a:pt x="10" y="10"/>
                </a:lnTo>
                <a:lnTo>
                  <a:pt x="30" y="2"/>
                </a:lnTo>
                <a:lnTo>
                  <a:pt x="42" y="0"/>
                </a:lnTo>
                <a:lnTo>
                  <a:pt x="56" y="0"/>
                </a:lnTo>
                <a:lnTo>
                  <a:pt x="56" y="0"/>
                </a:lnTo>
                <a:lnTo>
                  <a:pt x="70" y="0"/>
                </a:lnTo>
                <a:lnTo>
                  <a:pt x="80" y="4"/>
                </a:lnTo>
                <a:lnTo>
                  <a:pt x="90" y="8"/>
                </a:lnTo>
                <a:lnTo>
                  <a:pt x="98" y="14"/>
                </a:lnTo>
                <a:lnTo>
                  <a:pt x="104" y="20"/>
                </a:lnTo>
                <a:lnTo>
                  <a:pt x="108" y="30"/>
                </a:lnTo>
                <a:lnTo>
                  <a:pt x="110" y="40"/>
                </a:lnTo>
                <a:lnTo>
                  <a:pt x="110" y="52"/>
                </a:lnTo>
                <a:lnTo>
                  <a:pt x="110" y="124"/>
                </a:lnTo>
                <a:lnTo>
                  <a:pt x="82" y="124"/>
                </a:lnTo>
                <a:close/>
                <a:moveTo>
                  <a:pt x="84" y="72"/>
                </a:moveTo>
                <a:lnTo>
                  <a:pt x="84" y="72"/>
                </a:lnTo>
                <a:lnTo>
                  <a:pt x="70" y="70"/>
                </a:lnTo>
                <a:lnTo>
                  <a:pt x="56" y="68"/>
                </a:lnTo>
                <a:lnTo>
                  <a:pt x="56" y="68"/>
                </a:lnTo>
                <a:lnTo>
                  <a:pt x="44" y="70"/>
                </a:lnTo>
                <a:lnTo>
                  <a:pt x="34" y="72"/>
                </a:lnTo>
                <a:lnTo>
                  <a:pt x="30" y="78"/>
                </a:lnTo>
                <a:lnTo>
                  <a:pt x="28" y="86"/>
                </a:lnTo>
                <a:lnTo>
                  <a:pt x="28" y="88"/>
                </a:lnTo>
                <a:lnTo>
                  <a:pt x="28" y="88"/>
                </a:lnTo>
                <a:lnTo>
                  <a:pt x="30" y="94"/>
                </a:lnTo>
                <a:lnTo>
                  <a:pt x="34" y="100"/>
                </a:lnTo>
                <a:lnTo>
                  <a:pt x="42" y="104"/>
                </a:lnTo>
                <a:lnTo>
                  <a:pt x="50" y="106"/>
                </a:lnTo>
                <a:lnTo>
                  <a:pt x="50" y="106"/>
                </a:lnTo>
                <a:lnTo>
                  <a:pt x="64" y="104"/>
                </a:lnTo>
                <a:lnTo>
                  <a:pt x="74" y="98"/>
                </a:lnTo>
                <a:lnTo>
                  <a:pt x="80" y="90"/>
                </a:lnTo>
                <a:lnTo>
                  <a:pt x="82" y="86"/>
                </a:lnTo>
                <a:lnTo>
                  <a:pt x="84" y="80"/>
                </a:lnTo>
                <a:lnTo>
                  <a:pt x="84" y="72"/>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2" name="Freeform 209"/>
          <p:cNvSpPr>
            <a:spLocks/>
          </p:cNvSpPr>
          <p:nvPr userDrawn="1"/>
        </p:nvSpPr>
        <p:spPr bwMode="auto">
          <a:xfrm>
            <a:off x="2565500" y="1208077"/>
            <a:ext cx="147089" cy="169542"/>
          </a:xfrm>
          <a:custGeom>
            <a:avLst/>
            <a:gdLst>
              <a:gd name="T0" fmla="*/ 0 w 110"/>
              <a:gd name="T1" fmla="*/ 4 h 126"/>
              <a:gd name="T2" fmla="*/ 28 w 110"/>
              <a:gd name="T3" fmla="*/ 4 h 126"/>
              <a:gd name="T4" fmla="*/ 28 w 110"/>
              <a:gd name="T5" fmla="*/ 22 h 126"/>
              <a:gd name="T6" fmla="*/ 28 w 110"/>
              <a:gd name="T7" fmla="*/ 22 h 126"/>
              <a:gd name="T8" fmla="*/ 34 w 110"/>
              <a:gd name="T9" fmla="*/ 14 h 126"/>
              <a:gd name="T10" fmla="*/ 42 w 110"/>
              <a:gd name="T11" fmla="*/ 8 h 126"/>
              <a:gd name="T12" fmla="*/ 52 w 110"/>
              <a:gd name="T13" fmla="*/ 2 h 126"/>
              <a:gd name="T14" fmla="*/ 66 w 110"/>
              <a:gd name="T15" fmla="*/ 0 h 126"/>
              <a:gd name="T16" fmla="*/ 66 w 110"/>
              <a:gd name="T17" fmla="*/ 0 h 126"/>
              <a:gd name="T18" fmla="*/ 76 w 110"/>
              <a:gd name="T19" fmla="*/ 2 h 126"/>
              <a:gd name="T20" fmla="*/ 84 w 110"/>
              <a:gd name="T21" fmla="*/ 4 h 126"/>
              <a:gd name="T22" fmla="*/ 92 w 110"/>
              <a:gd name="T23" fmla="*/ 8 h 126"/>
              <a:gd name="T24" fmla="*/ 98 w 110"/>
              <a:gd name="T25" fmla="*/ 14 h 126"/>
              <a:gd name="T26" fmla="*/ 102 w 110"/>
              <a:gd name="T27" fmla="*/ 20 h 126"/>
              <a:gd name="T28" fmla="*/ 106 w 110"/>
              <a:gd name="T29" fmla="*/ 28 h 126"/>
              <a:gd name="T30" fmla="*/ 108 w 110"/>
              <a:gd name="T31" fmla="*/ 38 h 126"/>
              <a:gd name="T32" fmla="*/ 110 w 110"/>
              <a:gd name="T33" fmla="*/ 48 h 126"/>
              <a:gd name="T34" fmla="*/ 110 w 110"/>
              <a:gd name="T35" fmla="*/ 126 h 126"/>
              <a:gd name="T36" fmla="*/ 82 w 110"/>
              <a:gd name="T37" fmla="*/ 126 h 126"/>
              <a:gd name="T38" fmla="*/ 82 w 110"/>
              <a:gd name="T39" fmla="*/ 56 h 126"/>
              <a:gd name="T40" fmla="*/ 82 w 110"/>
              <a:gd name="T41" fmla="*/ 56 h 126"/>
              <a:gd name="T42" fmla="*/ 80 w 110"/>
              <a:gd name="T43" fmla="*/ 44 h 126"/>
              <a:gd name="T44" fmla="*/ 74 w 110"/>
              <a:gd name="T45" fmla="*/ 34 h 126"/>
              <a:gd name="T46" fmla="*/ 66 w 110"/>
              <a:gd name="T47" fmla="*/ 28 h 126"/>
              <a:gd name="T48" fmla="*/ 56 w 110"/>
              <a:gd name="T49" fmla="*/ 26 h 126"/>
              <a:gd name="T50" fmla="*/ 56 w 110"/>
              <a:gd name="T51" fmla="*/ 26 h 126"/>
              <a:gd name="T52" fmla="*/ 44 w 110"/>
              <a:gd name="T53" fmla="*/ 28 h 126"/>
              <a:gd name="T54" fmla="*/ 36 w 110"/>
              <a:gd name="T55" fmla="*/ 34 h 126"/>
              <a:gd name="T56" fmla="*/ 30 w 110"/>
              <a:gd name="T57" fmla="*/ 44 h 126"/>
              <a:gd name="T58" fmla="*/ 28 w 110"/>
              <a:gd name="T59" fmla="*/ 56 h 126"/>
              <a:gd name="T60" fmla="*/ 28 w 110"/>
              <a:gd name="T61" fmla="*/ 126 h 126"/>
              <a:gd name="T62" fmla="*/ 0 w 110"/>
              <a:gd name="T63" fmla="*/ 126 h 126"/>
              <a:gd name="T64" fmla="*/ 0 w 110"/>
              <a:gd name="T65" fmla="*/ 4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0" h="126">
                <a:moveTo>
                  <a:pt x="0" y="4"/>
                </a:moveTo>
                <a:lnTo>
                  <a:pt x="28" y="4"/>
                </a:lnTo>
                <a:lnTo>
                  <a:pt x="28" y="22"/>
                </a:lnTo>
                <a:lnTo>
                  <a:pt x="28" y="22"/>
                </a:lnTo>
                <a:lnTo>
                  <a:pt x="34" y="14"/>
                </a:lnTo>
                <a:lnTo>
                  <a:pt x="42" y="8"/>
                </a:lnTo>
                <a:lnTo>
                  <a:pt x="52" y="2"/>
                </a:lnTo>
                <a:lnTo>
                  <a:pt x="66" y="0"/>
                </a:lnTo>
                <a:lnTo>
                  <a:pt x="66" y="0"/>
                </a:lnTo>
                <a:lnTo>
                  <a:pt x="76" y="2"/>
                </a:lnTo>
                <a:lnTo>
                  <a:pt x="84" y="4"/>
                </a:lnTo>
                <a:lnTo>
                  <a:pt x="92" y="8"/>
                </a:lnTo>
                <a:lnTo>
                  <a:pt x="98" y="14"/>
                </a:lnTo>
                <a:lnTo>
                  <a:pt x="102" y="20"/>
                </a:lnTo>
                <a:lnTo>
                  <a:pt x="106" y="28"/>
                </a:lnTo>
                <a:lnTo>
                  <a:pt x="108" y="38"/>
                </a:lnTo>
                <a:lnTo>
                  <a:pt x="110" y="48"/>
                </a:lnTo>
                <a:lnTo>
                  <a:pt x="110" y="126"/>
                </a:lnTo>
                <a:lnTo>
                  <a:pt x="82" y="126"/>
                </a:lnTo>
                <a:lnTo>
                  <a:pt x="82" y="56"/>
                </a:lnTo>
                <a:lnTo>
                  <a:pt x="82" y="56"/>
                </a:lnTo>
                <a:lnTo>
                  <a:pt x="80" y="44"/>
                </a:lnTo>
                <a:lnTo>
                  <a:pt x="74" y="34"/>
                </a:lnTo>
                <a:lnTo>
                  <a:pt x="66" y="28"/>
                </a:lnTo>
                <a:lnTo>
                  <a:pt x="56" y="26"/>
                </a:lnTo>
                <a:lnTo>
                  <a:pt x="56" y="26"/>
                </a:lnTo>
                <a:lnTo>
                  <a:pt x="44" y="28"/>
                </a:lnTo>
                <a:lnTo>
                  <a:pt x="36" y="34"/>
                </a:lnTo>
                <a:lnTo>
                  <a:pt x="30" y="44"/>
                </a:lnTo>
                <a:lnTo>
                  <a:pt x="28" y="56"/>
                </a:lnTo>
                <a:lnTo>
                  <a:pt x="28" y="126"/>
                </a:lnTo>
                <a:lnTo>
                  <a:pt x="0" y="126"/>
                </a:lnTo>
                <a:lnTo>
                  <a:pt x="0" y="4"/>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3" name="Freeform 210"/>
          <p:cNvSpPr>
            <a:spLocks noEditPoints="1"/>
          </p:cNvSpPr>
          <p:nvPr userDrawn="1"/>
        </p:nvSpPr>
        <p:spPr bwMode="auto">
          <a:xfrm>
            <a:off x="2875723" y="1210768"/>
            <a:ext cx="149763" cy="169542"/>
          </a:xfrm>
          <a:custGeom>
            <a:avLst/>
            <a:gdLst>
              <a:gd name="T0" fmla="*/ 84 w 112"/>
              <a:gd name="T1" fmla="*/ 108 h 126"/>
              <a:gd name="T2" fmla="*/ 76 w 112"/>
              <a:gd name="T3" fmla="*/ 116 h 126"/>
              <a:gd name="T4" fmla="*/ 56 w 112"/>
              <a:gd name="T5" fmla="*/ 126 h 126"/>
              <a:gd name="T6" fmla="*/ 44 w 112"/>
              <a:gd name="T7" fmla="*/ 126 h 126"/>
              <a:gd name="T8" fmla="*/ 28 w 112"/>
              <a:gd name="T9" fmla="*/ 124 h 126"/>
              <a:gd name="T10" fmla="*/ 14 w 112"/>
              <a:gd name="T11" fmla="*/ 116 h 126"/>
              <a:gd name="T12" fmla="*/ 4 w 112"/>
              <a:gd name="T13" fmla="*/ 104 h 126"/>
              <a:gd name="T14" fmla="*/ 0 w 112"/>
              <a:gd name="T15" fmla="*/ 88 h 126"/>
              <a:gd name="T16" fmla="*/ 0 w 112"/>
              <a:gd name="T17" fmla="*/ 88 h 126"/>
              <a:gd name="T18" fmla="*/ 4 w 112"/>
              <a:gd name="T19" fmla="*/ 70 h 126"/>
              <a:gd name="T20" fmla="*/ 14 w 112"/>
              <a:gd name="T21" fmla="*/ 58 h 126"/>
              <a:gd name="T22" fmla="*/ 30 w 112"/>
              <a:gd name="T23" fmla="*/ 50 h 126"/>
              <a:gd name="T24" fmla="*/ 50 w 112"/>
              <a:gd name="T25" fmla="*/ 48 h 126"/>
              <a:gd name="T26" fmla="*/ 68 w 112"/>
              <a:gd name="T27" fmla="*/ 50 h 126"/>
              <a:gd name="T28" fmla="*/ 84 w 112"/>
              <a:gd name="T29" fmla="*/ 50 h 126"/>
              <a:gd name="T30" fmla="*/ 82 w 112"/>
              <a:gd name="T31" fmla="*/ 40 h 126"/>
              <a:gd name="T32" fmla="*/ 76 w 112"/>
              <a:gd name="T33" fmla="*/ 32 h 126"/>
              <a:gd name="T34" fmla="*/ 54 w 112"/>
              <a:gd name="T35" fmla="*/ 24 h 126"/>
              <a:gd name="T36" fmla="*/ 34 w 112"/>
              <a:gd name="T37" fmla="*/ 26 h 126"/>
              <a:gd name="T38" fmla="*/ 10 w 112"/>
              <a:gd name="T39" fmla="*/ 10 h 126"/>
              <a:gd name="T40" fmla="*/ 32 w 112"/>
              <a:gd name="T41" fmla="*/ 2 h 126"/>
              <a:gd name="T42" fmla="*/ 58 w 112"/>
              <a:gd name="T43" fmla="*/ 0 h 126"/>
              <a:gd name="T44" fmla="*/ 70 w 112"/>
              <a:gd name="T45" fmla="*/ 0 h 126"/>
              <a:gd name="T46" fmla="*/ 90 w 112"/>
              <a:gd name="T47" fmla="*/ 8 h 126"/>
              <a:gd name="T48" fmla="*/ 104 w 112"/>
              <a:gd name="T49" fmla="*/ 20 h 126"/>
              <a:gd name="T50" fmla="*/ 110 w 112"/>
              <a:gd name="T51" fmla="*/ 40 h 126"/>
              <a:gd name="T52" fmla="*/ 112 w 112"/>
              <a:gd name="T53" fmla="*/ 124 h 126"/>
              <a:gd name="T54" fmla="*/ 84 w 112"/>
              <a:gd name="T55" fmla="*/ 72 h 126"/>
              <a:gd name="T56" fmla="*/ 72 w 112"/>
              <a:gd name="T57" fmla="*/ 70 h 126"/>
              <a:gd name="T58" fmla="*/ 56 w 112"/>
              <a:gd name="T59" fmla="*/ 68 h 126"/>
              <a:gd name="T60" fmla="*/ 36 w 112"/>
              <a:gd name="T61" fmla="*/ 72 h 126"/>
              <a:gd name="T62" fmla="*/ 28 w 112"/>
              <a:gd name="T63" fmla="*/ 86 h 126"/>
              <a:gd name="T64" fmla="*/ 28 w 112"/>
              <a:gd name="T65" fmla="*/ 88 h 126"/>
              <a:gd name="T66" fmla="*/ 34 w 112"/>
              <a:gd name="T67" fmla="*/ 100 h 126"/>
              <a:gd name="T68" fmla="*/ 52 w 112"/>
              <a:gd name="T69" fmla="*/ 106 h 126"/>
              <a:gd name="T70" fmla="*/ 64 w 112"/>
              <a:gd name="T71" fmla="*/ 104 h 126"/>
              <a:gd name="T72" fmla="*/ 82 w 112"/>
              <a:gd name="T73" fmla="*/ 90 h 126"/>
              <a:gd name="T74" fmla="*/ 84 w 112"/>
              <a:gd name="T75" fmla="*/ 8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2" h="126">
                <a:moveTo>
                  <a:pt x="84" y="124"/>
                </a:moveTo>
                <a:lnTo>
                  <a:pt x="84" y="108"/>
                </a:lnTo>
                <a:lnTo>
                  <a:pt x="84" y="108"/>
                </a:lnTo>
                <a:lnTo>
                  <a:pt x="76" y="116"/>
                </a:lnTo>
                <a:lnTo>
                  <a:pt x="68" y="122"/>
                </a:lnTo>
                <a:lnTo>
                  <a:pt x="56" y="126"/>
                </a:lnTo>
                <a:lnTo>
                  <a:pt x="44" y="126"/>
                </a:lnTo>
                <a:lnTo>
                  <a:pt x="44" y="126"/>
                </a:lnTo>
                <a:lnTo>
                  <a:pt x="36" y="126"/>
                </a:lnTo>
                <a:lnTo>
                  <a:pt x="28" y="124"/>
                </a:lnTo>
                <a:lnTo>
                  <a:pt x="20" y="120"/>
                </a:lnTo>
                <a:lnTo>
                  <a:pt x="14" y="116"/>
                </a:lnTo>
                <a:lnTo>
                  <a:pt x="8" y="112"/>
                </a:lnTo>
                <a:lnTo>
                  <a:pt x="4" y="104"/>
                </a:lnTo>
                <a:lnTo>
                  <a:pt x="2" y="98"/>
                </a:lnTo>
                <a:lnTo>
                  <a:pt x="0" y="88"/>
                </a:lnTo>
                <a:lnTo>
                  <a:pt x="0" y="88"/>
                </a:lnTo>
                <a:lnTo>
                  <a:pt x="0" y="88"/>
                </a:lnTo>
                <a:lnTo>
                  <a:pt x="2" y="78"/>
                </a:lnTo>
                <a:lnTo>
                  <a:pt x="4" y="70"/>
                </a:lnTo>
                <a:lnTo>
                  <a:pt x="8" y="64"/>
                </a:lnTo>
                <a:lnTo>
                  <a:pt x="14" y="58"/>
                </a:lnTo>
                <a:lnTo>
                  <a:pt x="22" y="54"/>
                </a:lnTo>
                <a:lnTo>
                  <a:pt x="30" y="50"/>
                </a:lnTo>
                <a:lnTo>
                  <a:pt x="40" y="48"/>
                </a:lnTo>
                <a:lnTo>
                  <a:pt x="50" y="48"/>
                </a:lnTo>
                <a:lnTo>
                  <a:pt x="50" y="48"/>
                </a:lnTo>
                <a:lnTo>
                  <a:pt x="68" y="50"/>
                </a:lnTo>
                <a:lnTo>
                  <a:pt x="84" y="54"/>
                </a:lnTo>
                <a:lnTo>
                  <a:pt x="84" y="50"/>
                </a:lnTo>
                <a:lnTo>
                  <a:pt x="84" y="50"/>
                </a:lnTo>
                <a:lnTo>
                  <a:pt x="82" y="40"/>
                </a:lnTo>
                <a:lnTo>
                  <a:pt x="80" y="36"/>
                </a:lnTo>
                <a:lnTo>
                  <a:pt x="76" y="32"/>
                </a:lnTo>
                <a:lnTo>
                  <a:pt x="66" y="26"/>
                </a:lnTo>
                <a:lnTo>
                  <a:pt x="54" y="24"/>
                </a:lnTo>
                <a:lnTo>
                  <a:pt x="54" y="24"/>
                </a:lnTo>
                <a:lnTo>
                  <a:pt x="34" y="26"/>
                </a:lnTo>
                <a:lnTo>
                  <a:pt x="18" y="32"/>
                </a:lnTo>
                <a:lnTo>
                  <a:pt x="10" y="10"/>
                </a:lnTo>
                <a:lnTo>
                  <a:pt x="10" y="10"/>
                </a:lnTo>
                <a:lnTo>
                  <a:pt x="32" y="2"/>
                </a:lnTo>
                <a:lnTo>
                  <a:pt x="44" y="0"/>
                </a:lnTo>
                <a:lnTo>
                  <a:pt x="58" y="0"/>
                </a:lnTo>
                <a:lnTo>
                  <a:pt x="58" y="0"/>
                </a:lnTo>
                <a:lnTo>
                  <a:pt x="70" y="0"/>
                </a:lnTo>
                <a:lnTo>
                  <a:pt x="82" y="4"/>
                </a:lnTo>
                <a:lnTo>
                  <a:pt x="90" y="8"/>
                </a:lnTo>
                <a:lnTo>
                  <a:pt x="98" y="14"/>
                </a:lnTo>
                <a:lnTo>
                  <a:pt x="104" y="20"/>
                </a:lnTo>
                <a:lnTo>
                  <a:pt x="108" y="30"/>
                </a:lnTo>
                <a:lnTo>
                  <a:pt x="110" y="40"/>
                </a:lnTo>
                <a:lnTo>
                  <a:pt x="112" y="52"/>
                </a:lnTo>
                <a:lnTo>
                  <a:pt x="112" y="124"/>
                </a:lnTo>
                <a:lnTo>
                  <a:pt x="84" y="124"/>
                </a:lnTo>
                <a:close/>
                <a:moveTo>
                  <a:pt x="84" y="72"/>
                </a:moveTo>
                <a:lnTo>
                  <a:pt x="84" y="72"/>
                </a:lnTo>
                <a:lnTo>
                  <a:pt x="72" y="70"/>
                </a:lnTo>
                <a:lnTo>
                  <a:pt x="56" y="68"/>
                </a:lnTo>
                <a:lnTo>
                  <a:pt x="56" y="68"/>
                </a:lnTo>
                <a:lnTo>
                  <a:pt x="44" y="70"/>
                </a:lnTo>
                <a:lnTo>
                  <a:pt x="36" y="72"/>
                </a:lnTo>
                <a:lnTo>
                  <a:pt x="30" y="78"/>
                </a:lnTo>
                <a:lnTo>
                  <a:pt x="28" y="86"/>
                </a:lnTo>
                <a:lnTo>
                  <a:pt x="28" y="88"/>
                </a:lnTo>
                <a:lnTo>
                  <a:pt x="28" y="88"/>
                </a:lnTo>
                <a:lnTo>
                  <a:pt x="30" y="94"/>
                </a:lnTo>
                <a:lnTo>
                  <a:pt x="34" y="100"/>
                </a:lnTo>
                <a:lnTo>
                  <a:pt x="42" y="104"/>
                </a:lnTo>
                <a:lnTo>
                  <a:pt x="52" y="106"/>
                </a:lnTo>
                <a:lnTo>
                  <a:pt x="52" y="106"/>
                </a:lnTo>
                <a:lnTo>
                  <a:pt x="64" y="104"/>
                </a:lnTo>
                <a:lnTo>
                  <a:pt x="74" y="98"/>
                </a:lnTo>
                <a:lnTo>
                  <a:pt x="82" y="90"/>
                </a:lnTo>
                <a:lnTo>
                  <a:pt x="84" y="86"/>
                </a:lnTo>
                <a:lnTo>
                  <a:pt x="84" y="80"/>
                </a:lnTo>
                <a:lnTo>
                  <a:pt x="84" y="72"/>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4" name="Freeform 211"/>
          <p:cNvSpPr>
            <a:spLocks/>
          </p:cNvSpPr>
          <p:nvPr userDrawn="1"/>
        </p:nvSpPr>
        <p:spPr bwMode="auto">
          <a:xfrm>
            <a:off x="3070950" y="1167710"/>
            <a:ext cx="101625" cy="212600"/>
          </a:xfrm>
          <a:custGeom>
            <a:avLst/>
            <a:gdLst>
              <a:gd name="T0" fmla="*/ 16 w 76"/>
              <a:gd name="T1" fmla="*/ 122 h 158"/>
              <a:gd name="T2" fmla="*/ 16 w 76"/>
              <a:gd name="T3" fmla="*/ 58 h 158"/>
              <a:gd name="T4" fmla="*/ 0 w 76"/>
              <a:gd name="T5" fmla="*/ 58 h 158"/>
              <a:gd name="T6" fmla="*/ 0 w 76"/>
              <a:gd name="T7" fmla="*/ 34 h 158"/>
              <a:gd name="T8" fmla="*/ 16 w 76"/>
              <a:gd name="T9" fmla="*/ 34 h 158"/>
              <a:gd name="T10" fmla="*/ 16 w 76"/>
              <a:gd name="T11" fmla="*/ 0 h 158"/>
              <a:gd name="T12" fmla="*/ 44 w 76"/>
              <a:gd name="T13" fmla="*/ 0 h 158"/>
              <a:gd name="T14" fmla="*/ 44 w 76"/>
              <a:gd name="T15" fmla="*/ 34 h 158"/>
              <a:gd name="T16" fmla="*/ 76 w 76"/>
              <a:gd name="T17" fmla="*/ 34 h 158"/>
              <a:gd name="T18" fmla="*/ 76 w 76"/>
              <a:gd name="T19" fmla="*/ 58 h 158"/>
              <a:gd name="T20" fmla="*/ 44 w 76"/>
              <a:gd name="T21" fmla="*/ 58 h 158"/>
              <a:gd name="T22" fmla="*/ 44 w 76"/>
              <a:gd name="T23" fmla="*/ 118 h 158"/>
              <a:gd name="T24" fmla="*/ 44 w 76"/>
              <a:gd name="T25" fmla="*/ 118 h 158"/>
              <a:gd name="T26" fmla="*/ 44 w 76"/>
              <a:gd name="T27" fmla="*/ 124 h 158"/>
              <a:gd name="T28" fmla="*/ 48 w 76"/>
              <a:gd name="T29" fmla="*/ 130 h 158"/>
              <a:gd name="T30" fmla="*/ 52 w 76"/>
              <a:gd name="T31" fmla="*/ 132 h 158"/>
              <a:gd name="T32" fmla="*/ 58 w 76"/>
              <a:gd name="T33" fmla="*/ 132 h 158"/>
              <a:gd name="T34" fmla="*/ 58 w 76"/>
              <a:gd name="T35" fmla="*/ 132 h 158"/>
              <a:gd name="T36" fmla="*/ 68 w 76"/>
              <a:gd name="T37" fmla="*/ 132 h 158"/>
              <a:gd name="T38" fmla="*/ 76 w 76"/>
              <a:gd name="T39" fmla="*/ 128 h 158"/>
              <a:gd name="T40" fmla="*/ 76 w 76"/>
              <a:gd name="T41" fmla="*/ 152 h 158"/>
              <a:gd name="T42" fmla="*/ 76 w 76"/>
              <a:gd name="T43" fmla="*/ 152 h 158"/>
              <a:gd name="T44" fmla="*/ 64 w 76"/>
              <a:gd name="T45" fmla="*/ 156 h 158"/>
              <a:gd name="T46" fmla="*/ 50 w 76"/>
              <a:gd name="T47" fmla="*/ 158 h 158"/>
              <a:gd name="T48" fmla="*/ 50 w 76"/>
              <a:gd name="T49" fmla="*/ 158 h 158"/>
              <a:gd name="T50" fmla="*/ 36 w 76"/>
              <a:gd name="T51" fmla="*/ 156 h 158"/>
              <a:gd name="T52" fmla="*/ 30 w 76"/>
              <a:gd name="T53" fmla="*/ 154 h 158"/>
              <a:gd name="T54" fmla="*/ 26 w 76"/>
              <a:gd name="T55" fmla="*/ 150 h 158"/>
              <a:gd name="T56" fmla="*/ 20 w 76"/>
              <a:gd name="T57" fmla="*/ 146 h 158"/>
              <a:gd name="T58" fmla="*/ 18 w 76"/>
              <a:gd name="T59" fmla="*/ 140 h 158"/>
              <a:gd name="T60" fmla="*/ 16 w 76"/>
              <a:gd name="T61" fmla="*/ 132 h 158"/>
              <a:gd name="T62" fmla="*/ 16 w 76"/>
              <a:gd name="T63" fmla="*/ 122 h 158"/>
              <a:gd name="T64" fmla="*/ 16 w 76"/>
              <a:gd name="T65" fmla="*/ 122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6" h="158">
                <a:moveTo>
                  <a:pt x="16" y="122"/>
                </a:moveTo>
                <a:lnTo>
                  <a:pt x="16" y="58"/>
                </a:lnTo>
                <a:lnTo>
                  <a:pt x="0" y="58"/>
                </a:lnTo>
                <a:lnTo>
                  <a:pt x="0" y="34"/>
                </a:lnTo>
                <a:lnTo>
                  <a:pt x="16" y="34"/>
                </a:lnTo>
                <a:lnTo>
                  <a:pt x="16" y="0"/>
                </a:lnTo>
                <a:lnTo>
                  <a:pt x="44" y="0"/>
                </a:lnTo>
                <a:lnTo>
                  <a:pt x="44" y="34"/>
                </a:lnTo>
                <a:lnTo>
                  <a:pt x="76" y="34"/>
                </a:lnTo>
                <a:lnTo>
                  <a:pt x="76" y="58"/>
                </a:lnTo>
                <a:lnTo>
                  <a:pt x="44" y="58"/>
                </a:lnTo>
                <a:lnTo>
                  <a:pt x="44" y="118"/>
                </a:lnTo>
                <a:lnTo>
                  <a:pt x="44" y="118"/>
                </a:lnTo>
                <a:lnTo>
                  <a:pt x="44" y="124"/>
                </a:lnTo>
                <a:lnTo>
                  <a:pt x="48" y="130"/>
                </a:lnTo>
                <a:lnTo>
                  <a:pt x="52" y="132"/>
                </a:lnTo>
                <a:lnTo>
                  <a:pt x="58" y="132"/>
                </a:lnTo>
                <a:lnTo>
                  <a:pt x="58" y="132"/>
                </a:lnTo>
                <a:lnTo>
                  <a:pt x="68" y="132"/>
                </a:lnTo>
                <a:lnTo>
                  <a:pt x="76" y="128"/>
                </a:lnTo>
                <a:lnTo>
                  <a:pt x="76" y="152"/>
                </a:lnTo>
                <a:lnTo>
                  <a:pt x="76" y="152"/>
                </a:lnTo>
                <a:lnTo>
                  <a:pt x="64" y="156"/>
                </a:lnTo>
                <a:lnTo>
                  <a:pt x="50" y="158"/>
                </a:lnTo>
                <a:lnTo>
                  <a:pt x="50" y="158"/>
                </a:lnTo>
                <a:lnTo>
                  <a:pt x="36" y="156"/>
                </a:lnTo>
                <a:lnTo>
                  <a:pt x="30" y="154"/>
                </a:lnTo>
                <a:lnTo>
                  <a:pt x="26" y="150"/>
                </a:lnTo>
                <a:lnTo>
                  <a:pt x="20" y="146"/>
                </a:lnTo>
                <a:lnTo>
                  <a:pt x="18" y="140"/>
                </a:lnTo>
                <a:lnTo>
                  <a:pt x="16" y="132"/>
                </a:lnTo>
                <a:lnTo>
                  <a:pt x="16" y="122"/>
                </a:lnTo>
                <a:lnTo>
                  <a:pt x="16" y="122"/>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5" name="Freeform 212"/>
          <p:cNvSpPr>
            <a:spLocks noEditPoints="1"/>
          </p:cNvSpPr>
          <p:nvPr userDrawn="1"/>
        </p:nvSpPr>
        <p:spPr bwMode="auto">
          <a:xfrm>
            <a:off x="3212691" y="1208077"/>
            <a:ext cx="173832" cy="172233"/>
          </a:xfrm>
          <a:custGeom>
            <a:avLst/>
            <a:gdLst>
              <a:gd name="T0" fmla="*/ 0 w 130"/>
              <a:gd name="T1" fmla="*/ 64 h 128"/>
              <a:gd name="T2" fmla="*/ 2 w 130"/>
              <a:gd name="T3" fmla="*/ 52 h 128"/>
              <a:gd name="T4" fmla="*/ 10 w 130"/>
              <a:gd name="T5" fmla="*/ 30 h 128"/>
              <a:gd name="T6" fmla="*/ 28 w 130"/>
              <a:gd name="T7" fmla="*/ 12 h 128"/>
              <a:gd name="T8" fmla="*/ 52 w 130"/>
              <a:gd name="T9" fmla="*/ 2 h 128"/>
              <a:gd name="T10" fmla="*/ 66 w 130"/>
              <a:gd name="T11" fmla="*/ 0 h 128"/>
              <a:gd name="T12" fmla="*/ 92 w 130"/>
              <a:gd name="T13" fmla="*/ 6 h 128"/>
              <a:gd name="T14" fmla="*/ 112 w 130"/>
              <a:gd name="T15" fmla="*/ 20 h 128"/>
              <a:gd name="T16" fmla="*/ 126 w 130"/>
              <a:gd name="T17" fmla="*/ 40 h 128"/>
              <a:gd name="T18" fmla="*/ 130 w 130"/>
              <a:gd name="T19" fmla="*/ 64 h 128"/>
              <a:gd name="T20" fmla="*/ 130 w 130"/>
              <a:gd name="T21" fmla="*/ 64 h 128"/>
              <a:gd name="T22" fmla="*/ 126 w 130"/>
              <a:gd name="T23" fmla="*/ 90 h 128"/>
              <a:gd name="T24" fmla="*/ 112 w 130"/>
              <a:gd name="T25" fmla="*/ 110 h 128"/>
              <a:gd name="T26" fmla="*/ 92 w 130"/>
              <a:gd name="T27" fmla="*/ 124 h 128"/>
              <a:gd name="T28" fmla="*/ 66 w 130"/>
              <a:gd name="T29" fmla="*/ 128 h 128"/>
              <a:gd name="T30" fmla="*/ 52 w 130"/>
              <a:gd name="T31" fmla="*/ 128 h 128"/>
              <a:gd name="T32" fmla="*/ 28 w 130"/>
              <a:gd name="T33" fmla="*/ 118 h 128"/>
              <a:gd name="T34" fmla="*/ 10 w 130"/>
              <a:gd name="T35" fmla="*/ 100 h 128"/>
              <a:gd name="T36" fmla="*/ 2 w 130"/>
              <a:gd name="T37" fmla="*/ 78 h 128"/>
              <a:gd name="T38" fmla="*/ 0 w 130"/>
              <a:gd name="T39" fmla="*/ 66 h 128"/>
              <a:gd name="T40" fmla="*/ 102 w 130"/>
              <a:gd name="T41" fmla="*/ 64 h 128"/>
              <a:gd name="T42" fmla="*/ 102 w 130"/>
              <a:gd name="T43" fmla="*/ 56 h 128"/>
              <a:gd name="T44" fmla="*/ 96 w 130"/>
              <a:gd name="T45" fmla="*/ 42 h 128"/>
              <a:gd name="T46" fmla="*/ 86 w 130"/>
              <a:gd name="T47" fmla="*/ 32 h 128"/>
              <a:gd name="T48" fmla="*/ 72 w 130"/>
              <a:gd name="T49" fmla="*/ 26 h 128"/>
              <a:gd name="T50" fmla="*/ 66 w 130"/>
              <a:gd name="T51" fmla="*/ 26 h 128"/>
              <a:gd name="T52" fmla="*/ 50 w 130"/>
              <a:gd name="T53" fmla="*/ 28 h 128"/>
              <a:gd name="T54" fmla="*/ 38 w 130"/>
              <a:gd name="T55" fmla="*/ 36 h 128"/>
              <a:gd name="T56" fmla="*/ 30 w 130"/>
              <a:gd name="T57" fmla="*/ 50 h 128"/>
              <a:gd name="T58" fmla="*/ 28 w 130"/>
              <a:gd name="T59" fmla="*/ 64 h 128"/>
              <a:gd name="T60" fmla="*/ 28 w 130"/>
              <a:gd name="T61" fmla="*/ 64 h 128"/>
              <a:gd name="T62" fmla="*/ 30 w 130"/>
              <a:gd name="T63" fmla="*/ 80 h 128"/>
              <a:gd name="T64" fmla="*/ 38 w 130"/>
              <a:gd name="T65" fmla="*/ 92 h 128"/>
              <a:gd name="T66" fmla="*/ 50 w 130"/>
              <a:gd name="T67" fmla="*/ 102 h 128"/>
              <a:gd name="T68" fmla="*/ 66 w 130"/>
              <a:gd name="T69" fmla="*/ 104 h 128"/>
              <a:gd name="T70" fmla="*/ 74 w 130"/>
              <a:gd name="T71" fmla="*/ 104 h 128"/>
              <a:gd name="T72" fmla="*/ 88 w 130"/>
              <a:gd name="T73" fmla="*/ 98 h 128"/>
              <a:gd name="T74" fmla="*/ 96 w 130"/>
              <a:gd name="T75" fmla="*/ 86 h 128"/>
              <a:gd name="T76" fmla="*/ 102 w 130"/>
              <a:gd name="T77" fmla="*/ 74 h 128"/>
              <a:gd name="T78" fmla="*/ 102 w 130"/>
              <a:gd name="T79"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0" h="128">
                <a:moveTo>
                  <a:pt x="0" y="66"/>
                </a:moveTo>
                <a:lnTo>
                  <a:pt x="0" y="64"/>
                </a:lnTo>
                <a:lnTo>
                  <a:pt x="0" y="64"/>
                </a:lnTo>
                <a:lnTo>
                  <a:pt x="2" y="52"/>
                </a:lnTo>
                <a:lnTo>
                  <a:pt x="4" y="40"/>
                </a:lnTo>
                <a:lnTo>
                  <a:pt x="10" y="30"/>
                </a:lnTo>
                <a:lnTo>
                  <a:pt x="18" y="20"/>
                </a:lnTo>
                <a:lnTo>
                  <a:pt x="28" y="12"/>
                </a:lnTo>
                <a:lnTo>
                  <a:pt x="40" y="6"/>
                </a:lnTo>
                <a:lnTo>
                  <a:pt x="52" y="2"/>
                </a:lnTo>
                <a:lnTo>
                  <a:pt x="66" y="0"/>
                </a:lnTo>
                <a:lnTo>
                  <a:pt x="66" y="0"/>
                </a:lnTo>
                <a:lnTo>
                  <a:pt x="80" y="2"/>
                </a:lnTo>
                <a:lnTo>
                  <a:pt x="92" y="6"/>
                </a:lnTo>
                <a:lnTo>
                  <a:pt x="102" y="12"/>
                </a:lnTo>
                <a:lnTo>
                  <a:pt x="112" y="20"/>
                </a:lnTo>
                <a:lnTo>
                  <a:pt x="120" y="28"/>
                </a:lnTo>
                <a:lnTo>
                  <a:pt x="126" y="40"/>
                </a:lnTo>
                <a:lnTo>
                  <a:pt x="130" y="52"/>
                </a:lnTo>
                <a:lnTo>
                  <a:pt x="130" y="64"/>
                </a:lnTo>
                <a:lnTo>
                  <a:pt x="130" y="64"/>
                </a:lnTo>
                <a:lnTo>
                  <a:pt x="130" y="64"/>
                </a:lnTo>
                <a:lnTo>
                  <a:pt x="130" y="78"/>
                </a:lnTo>
                <a:lnTo>
                  <a:pt x="126" y="90"/>
                </a:lnTo>
                <a:lnTo>
                  <a:pt x="120" y="100"/>
                </a:lnTo>
                <a:lnTo>
                  <a:pt x="112" y="110"/>
                </a:lnTo>
                <a:lnTo>
                  <a:pt x="102" y="118"/>
                </a:lnTo>
                <a:lnTo>
                  <a:pt x="92" y="124"/>
                </a:lnTo>
                <a:lnTo>
                  <a:pt x="78" y="128"/>
                </a:lnTo>
                <a:lnTo>
                  <a:pt x="66" y="128"/>
                </a:lnTo>
                <a:lnTo>
                  <a:pt x="66" y="128"/>
                </a:lnTo>
                <a:lnTo>
                  <a:pt x="52" y="128"/>
                </a:lnTo>
                <a:lnTo>
                  <a:pt x="40" y="124"/>
                </a:lnTo>
                <a:lnTo>
                  <a:pt x="28" y="118"/>
                </a:lnTo>
                <a:lnTo>
                  <a:pt x="18" y="110"/>
                </a:lnTo>
                <a:lnTo>
                  <a:pt x="10" y="100"/>
                </a:lnTo>
                <a:lnTo>
                  <a:pt x="4" y="90"/>
                </a:lnTo>
                <a:lnTo>
                  <a:pt x="2" y="78"/>
                </a:lnTo>
                <a:lnTo>
                  <a:pt x="0" y="66"/>
                </a:lnTo>
                <a:lnTo>
                  <a:pt x="0" y="66"/>
                </a:lnTo>
                <a:close/>
                <a:moveTo>
                  <a:pt x="102" y="66"/>
                </a:moveTo>
                <a:lnTo>
                  <a:pt x="102" y="64"/>
                </a:lnTo>
                <a:lnTo>
                  <a:pt x="102" y="64"/>
                </a:lnTo>
                <a:lnTo>
                  <a:pt x="102" y="56"/>
                </a:lnTo>
                <a:lnTo>
                  <a:pt x="100" y="50"/>
                </a:lnTo>
                <a:lnTo>
                  <a:pt x="96" y="42"/>
                </a:lnTo>
                <a:lnTo>
                  <a:pt x="92" y="38"/>
                </a:lnTo>
                <a:lnTo>
                  <a:pt x="86" y="32"/>
                </a:lnTo>
                <a:lnTo>
                  <a:pt x="80" y="28"/>
                </a:lnTo>
                <a:lnTo>
                  <a:pt x="72" y="26"/>
                </a:lnTo>
                <a:lnTo>
                  <a:pt x="66" y="26"/>
                </a:lnTo>
                <a:lnTo>
                  <a:pt x="66" y="26"/>
                </a:lnTo>
                <a:lnTo>
                  <a:pt x="56" y="26"/>
                </a:lnTo>
                <a:lnTo>
                  <a:pt x="50" y="28"/>
                </a:lnTo>
                <a:lnTo>
                  <a:pt x="44" y="32"/>
                </a:lnTo>
                <a:lnTo>
                  <a:pt x="38" y="36"/>
                </a:lnTo>
                <a:lnTo>
                  <a:pt x="34" y="42"/>
                </a:lnTo>
                <a:lnTo>
                  <a:pt x="30" y="50"/>
                </a:lnTo>
                <a:lnTo>
                  <a:pt x="28" y="56"/>
                </a:lnTo>
                <a:lnTo>
                  <a:pt x="28" y="64"/>
                </a:lnTo>
                <a:lnTo>
                  <a:pt x="28" y="64"/>
                </a:lnTo>
                <a:lnTo>
                  <a:pt x="28" y="64"/>
                </a:lnTo>
                <a:lnTo>
                  <a:pt x="28" y="72"/>
                </a:lnTo>
                <a:lnTo>
                  <a:pt x="30" y="80"/>
                </a:lnTo>
                <a:lnTo>
                  <a:pt x="34" y="86"/>
                </a:lnTo>
                <a:lnTo>
                  <a:pt x="38" y="92"/>
                </a:lnTo>
                <a:lnTo>
                  <a:pt x="44" y="98"/>
                </a:lnTo>
                <a:lnTo>
                  <a:pt x="50" y="102"/>
                </a:lnTo>
                <a:lnTo>
                  <a:pt x="58" y="104"/>
                </a:lnTo>
                <a:lnTo>
                  <a:pt x="66" y="104"/>
                </a:lnTo>
                <a:lnTo>
                  <a:pt x="66" y="104"/>
                </a:lnTo>
                <a:lnTo>
                  <a:pt x="74" y="104"/>
                </a:lnTo>
                <a:lnTo>
                  <a:pt x="80" y="102"/>
                </a:lnTo>
                <a:lnTo>
                  <a:pt x="88" y="98"/>
                </a:lnTo>
                <a:lnTo>
                  <a:pt x="92" y="92"/>
                </a:lnTo>
                <a:lnTo>
                  <a:pt x="96" y="86"/>
                </a:lnTo>
                <a:lnTo>
                  <a:pt x="100" y="80"/>
                </a:lnTo>
                <a:lnTo>
                  <a:pt x="102" y="74"/>
                </a:lnTo>
                <a:lnTo>
                  <a:pt x="102" y="66"/>
                </a:lnTo>
                <a:lnTo>
                  <a:pt x="102" y="6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6" name="Freeform 213"/>
          <p:cNvSpPr>
            <a:spLocks/>
          </p:cNvSpPr>
          <p:nvPr userDrawn="1"/>
        </p:nvSpPr>
        <p:spPr bwMode="auto">
          <a:xfrm>
            <a:off x="3442684" y="1208077"/>
            <a:ext cx="248714" cy="169542"/>
          </a:xfrm>
          <a:custGeom>
            <a:avLst/>
            <a:gdLst>
              <a:gd name="T0" fmla="*/ 0 w 186"/>
              <a:gd name="T1" fmla="*/ 4 h 126"/>
              <a:gd name="T2" fmla="*/ 28 w 186"/>
              <a:gd name="T3" fmla="*/ 4 h 126"/>
              <a:gd name="T4" fmla="*/ 28 w 186"/>
              <a:gd name="T5" fmla="*/ 22 h 126"/>
              <a:gd name="T6" fmla="*/ 28 w 186"/>
              <a:gd name="T7" fmla="*/ 22 h 126"/>
              <a:gd name="T8" fmla="*/ 34 w 186"/>
              <a:gd name="T9" fmla="*/ 14 h 126"/>
              <a:gd name="T10" fmla="*/ 42 w 186"/>
              <a:gd name="T11" fmla="*/ 8 h 126"/>
              <a:gd name="T12" fmla="*/ 52 w 186"/>
              <a:gd name="T13" fmla="*/ 2 h 126"/>
              <a:gd name="T14" fmla="*/ 66 w 186"/>
              <a:gd name="T15" fmla="*/ 0 h 126"/>
              <a:gd name="T16" fmla="*/ 66 w 186"/>
              <a:gd name="T17" fmla="*/ 0 h 126"/>
              <a:gd name="T18" fmla="*/ 78 w 186"/>
              <a:gd name="T19" fmla="*/ 2 h 126"/>
              <a:gd name="T20" fmla="*/ 88 w 186"/>
              <a:gd name="T21" fmla="*/ 6 h 126"/>
              <a:gd name="T22" fmla="*/ 96 w 186"/>
              <a:gd name="T23" fmla="*/ 14 h 126"/>
              <a:gd name="T24" fmla="*/ 102 w 186"/>
              <a:gd name="T25" fmla="*/ 22 h 126"/>
              <a:gd name="T26" fmla="*/ 102 w 186"/>
              <a:gd name="T27" fmla="*/ 22 h 126"/>
              <a:gd name="T28" fmla="*/ 110 w 186"/>
              <a:gd name="T29" fmla="*/ 14 h 126"/>
              <a:gd name="T30" fmla="*/ 120 w 186"/>
              <a:gd name="T31" fmla="*/ 6 h 126"/>
              <a:gd name="T32" fmla="*/ 130 w 186"/>
              <a:gd name="T33" fmla="*/ 2 h 126"/>
              <a:gd name="T34" fmla="*/ 144 w 186"/>
              <a:gd name="T35" fmla="*/ 0 h 126"/>
              <a:gd name="T36" fmla="*/ 144 w 186"/>
              <a:gd name="T37" fmla="*/ 0 h 126"/>
              <a:gd name="T38" fmla="*/ 152 w 186"/>
              <a:gd name="T39" fmla="*/ 2 h 126"/>
              <a:gd name="T40" fmla="*/ 162 w 186"/>
              <a:gd name="T41" fmla="*/ 4 h 126"/>
              <a:gd name="T42" fmla="*/ 168 w 186"/>
              <a:gd name="T43" fmla="*/ 8 h 126"/>
              <a:gd name="T44" fmla="*/ 174 w 186"/>
              <a:gd name="T45" fmla="*/ 14 h 126"/>
              <a:gd name="T46" fmla="*/ 180 w 186"/>
              <a:gd name="T47" fmla="*/ 20 h 126"/>
              <a:gd name="T48" fmla="*/ 184 w 186"/>
              <a:gd name="T49" fmla="*/ 28 h 126"/>
              <a:gd name="T50" fmla="*/ 186 w 186"/>
              <a:gd name="T51" fmla="*/ 38 h 126"/>
              <a:gd name="T52" fmla="*/ 186 w 186"/>
              <a:gd name="T53" fmla="*/ 48 h 126"/>
              <a:gd name="T54" fmla="*/ 186 w 186"/>
              <a:gd name="T55" fmla="*/ 126 h 126"/>
              <a:gd name="T56" fmla="*/ 158 w 186"/>
              <a:gd name="T57" fmla="*/ 126 h 126"/>
              <a:gd name="T58" fmla="*/ 158 w 186"/>
              <a:gd name="T59" fmla="*/ 56 h 126"/>
              <a:gd name="T60" fmla="*/ 158 w 186"/>
              <a:gd name="T61" fmla="*/ 56 h 126"/>
              <a:gd name="T62" fmla="*/ 156 w 186"/>
              <a:gd name="T63" fmla="*/ 44 h 126"/>
              <a:gd name="T64" fmla="*/ 152 w 186"/>
              <a:gd name="T65" fmla="*/ 34 h 126"/>
              <a:gd name="T66" fmla="*/ 144 w 186"/>
              <a:gd name="T67" fmla="*/ 28 h 126"/>
              <a:gd name="T68" fmla="*/ 134 w 186"/>
              <a:gd name="T69" fmla="*/ 26 h 126"/>
              <a:gd name="T70" fmla="*/ 134 w 186"/>
              <a:gd name="T71" fmla="*/ 26 h 126"/>
              <a:gd name="T72" fmla="*/ 122 w 186"/>
              <a:gd name="T73" fmla="*/ 28 h 126"/>
              <a:gd name="T74" fmla="*/ 114 w 186"/>
              <a:gd name="T75" fmla="*/ 34 h 126"/>
              <a:gd name="T76" fmla="*/ 110 w 186"/>
              <a:gd name="T77" fmla="*/ 44 h 126"/>
              <a:gd name="T78" fmla="*/ 108 w 186"/>
              <a:gd name="T79" fmla="*/ 56 h 126"/>
              <a:gd name="T80" fmla="*/ 108 w 186"/>
              <a:gd name="T81" fmla="*/ 126 h 126"/>
              <a:gd name="T82" fmla="*/ 80 w 186"/>
              <a:gd name="T83" fmla="*/ 126 h 126"/>
              <a:gd name="T84" fmla="*/ 80 w 186"/>
              <a:gd name="T85" fmla="*/ 56 h 126"/>
              <a:gd name="T86" fmla="*/ 80 w 186"/>
              <a:gd name="T87" fmla="*/ 56 h 126"/>
              <a:gd name="T88" fmla="*/ 78 w 186"/>
              <a:gd name="T89" fmla="*/ 44 h 126"/>
              <a:gd name="T90" fmla="*/ 72 w 186"/>
              <a:gd name="T91" fmla="*/ 34 h 126"/>
              <a:gd name="T92" fmla="*/ 64 w 186"/>
              <a:gd name="T93" fmla="*/ 28 h 126"/>
              <a:gd name="T94" fmla="*/ 54 w 186"/>
              <a:gd name="T95" fmla="*/ 26 h 126"/>
              <a:gd name="T96" fmla="*/ 54 w 186"/>
              <a:gd name="T97" fmla="*/ 26 h 126"/>
              <a:gd name="T98" fmla="*/ 44 w 186"/>
              <a:gd name="T99" fmla="*/ 28 h 126"/>
              <a:gd name="T100" fmla="*/ 36 w 186"/>
              <a:gd name="T101" fmla="*/ 34 h 126"/>
              <a:gd name="T102" fmla="*/ 30 w 186"/>
              <a:gd name="T103" fmla="*/ 44 h 126"/>
              <a:gd name="T104" fmla="*/ 28 w 186"/>
              <a:gd name="T105" fmla="*/ 56 h 126"/>
              <a:gd name="T106" fmla="*/ 28 w 186"/>
              <a:gd name="T107" fmla="*/ 126 h 126"/>
              <a:gd name="T108" fmla="*/ 0 w 186"/>
              <a:gd name="T109" fmla="*/ 126 h 126"/>
              <a:gd name="T110" fmla="*/ 0 w 186"/>
              <a:gd name="T111" fmla="*/ 4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6" h="126">
                <a:moveTo>
                  <a:pt x="0" y="4"/>
                </a:moveTo>
                <a:lnTo>
                  <a:pt x="28" y="4"/>
                </a:lnTo>
                <a:lnTo>
                  <a:pt x="28" y="22"/>
                </a:lnTo>
                <a:lnTo>
                  <a:pt x="28" y="22"/>
                </a:lnTo>
                <a:lnTo>
                  <a:pt x="34" y="14"/>
                </a:lnTo>
                <a:lnTo>
                  <a:pt x="42" y="8"/>
                </a:lnTo>
                <a:lnTo>
                  <a:pt x="52" y="2"/>
                </a:lnTo>
                <a:lnTo>
                  <a:pt x="66" y="0"/>
                </a:lnTo>
                <a:lnTo>
                  <a:pt x="66" y="0"/>
                </a:lnTo>
                <a:lnTo>
                  <a:pt x="78" y="2"/>
                </a:lnTo>
                <a:lnTo>
                  <a:pt x="88" y="6"/>
                </a:lnTo>
                <a:lnTo>
                  <a:pt x="96" y="14"/>
                </a:lnTo>
                <a:lnTo>
                  <a:pt x="102" y="22"/>
                </a:lnTo>
                <a:lnTo>
                  <a:pt x="102" y="22"/>
                </a:lnTo>
                <a:lnTo>
                  <a:pt x="110" y="14"/>
                </a:lnTo>
                <a:lnTo>
                  <a:pt x="120" y="6"/>
                </a:lnTo>
                <a:lnTo>
                  <a:pt x="130" y="2"/>
                </a:lnTo>
                <a:lnTo>
                  <a:pt x="144" y="0"/>
                </a:lnTo>
                <a:lnTo>
                  <a:pt x="144" y="0"/>
                </a:lnTo>
                <a:lnTo>
                  <a:pt x="152" y="2"/>
                </a:lnTo>
                <a:lnTo>
                  <a:pt x="162" y="4"/>
                </a:lnTo>
                <a:lnTo>
                  <a:pt x="168" y="8"/>
                </a:lnTo>
                <a:lnTo>
                  <a:pt x="174" y="14"/>
                </a:lnTo>
                <a:lnTo>
                  <a:pt x="180" y="20"/>
                </a:lnTo>
                <a:lnTo>
                  <a:pt x="184" y="28"/>
                </a:lnTo>
                <a:lnTo>
                  <a:pt x="186" y="38"/>
                </a:lnTo>
                <a:lnTo>
                  <a:pt x="186" y="48"/>
                </a:lnTo>
                <a:lnTo>
                  <a:pt x="186" y="126"/>
                </a:lnTo>
                <a:lnTo>
                  <a:pt x="158" y="126"/>
                </a:lnTo>
                <a:lnTo>
                  <a:pt x="158" y="56"/>
                </a:lnTo>
                <a:lnTo>
                  <a:pt x="158" y="56"/>
                </a:lnTo>
                <a:lnTo>
                  <a:pt x="156" y="44"/>
                </a:lnTo>
                <a:lnTo>
                  <a:pt x="152" y="34"/>
                </a:lnTo>
                <a:lnTo>
                  <a:pt x="144" y="28"/>
                </a:lnTo>
                <a:lnTo>
                  <a:pt x="134" y="26"/>
                </a:lnTo>
                <a:lnTo>
                  <a:pt x="134" y="26"/>
                </a:lnTo>
                <a:lnTo>
                  <a:pt x="122" y="28"/>
                </a:lnTo>
                <a:lnTo>
                  <a:pt x="114" y="34"/>
                </a:lnTo>
                <a:lnTo>
                  <a:pt x="110" y="44"/>
                </a:lnTo>
                <a:lnTo>
                  <a:pt x="108" y="56"/>
                </a:lnTo>
                <a:lnTo>
                  <a:pt x="108" y="126"/>
                </a:lnTo>
                <a:lnTo>
                  <a:pt x="80" y="126"/>
                </a:lnTo>
                <a:lnTo>
                  <a:pt x="80" y="56"/>
                </a:lnTo>
                <a:lnTo>
                  <a:pt x="80" y="56"/>
                </a:lnTo>
                <a:lnTo>
                  <a:pt x="78" y="44"/>
                </a:lnTo>
                <a:lnTo>
                  <a:pt x="72" y="34"/>
                </a:lnTo>
                <a:lnTo>
                  <a:pt x="64" y="28"/>
                </a:lnTo>
                <a:lnTo>
                  <a:pt x="54" y="26"/>
                </a:lnTo>
                <a:lnTo>
                  <a:pt x="54" y="26"/>
                </a:lnTo>
                <a:lnTo>
                  <a:pt x="44" y="28"/>
                </a:lnTo>
                <a:lnTo>
                  <a:pt x="36" y="34"/>
                </a:lnTo>
                <a:lnTo>
                  <a:pt x="30" y="44"/>
                </a:lnTo>
                <a:lnTo>
                  <a:pt x="28" y="56"/>
                </a:lnTo>
                <a:lnTo>
                  <a:pt x="28" y="126"/>
                </a:lnTo>
                <a:lnTo>
                  <a:pt x="0" y="126"/>
                </a:lnTo>
                <a:lnTo>
                  <a:pt x="0" y="4"/>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7" name="Freeform 214"/>
          <p:cNvSpPr>
            <a:spLocks/>
          </p:cNvSpPr>
          <p:nvPr userDrawn="1"/>
        </p:nvSpPr>
        <p:spPr bwMode="auto">
          <a:xfrm>
            <a:off x="3742210" y="1210768"/>
            <a:ext cx="131043" cy="169542"/>
          </a:xfrm>
          <a:custGeom>
            <a:avLst/>
            <a:gdLst>
              <a:gd name="T0" fmla="*/ 12 w 98"/>
              <a:gd name="T1" fmla="*/ 88 h 126"/>
              <a:gd name="T2" fmla="*/ 22 w 98"/>
              <a:gd name="T3" fmla="*/ 96 h 126"/>
              <a:gd name="T4" fmla="*/ 42 w 98"/>
              <a:gd name="T5" fmla="*/ 104 h 126"/>
              <a:gd name="T6" fmla="*/ 52 w 98"/>
              <a:gd name="T7" fmla="*/ 104 h 126"/>
              <a:gd name="T8" fmla="*/ 66 w 98"/>
              <a:gd name="T9" fmla="*/ 100 h 126"/>
              <a:gd name="T10" fmla="*/ 72 w 98"/>
              <a:gd name="T11" fmla="*/ 90 h 126"/>
              <a:gd name="T12" fmla="*/ 72 w 98"/>
              <a:gd name="T13" fmla="*/ 90 h 126"/>
              <a:gd name="T14" fmla="*/ 70 w 98"/>
              <a:gd name="T15" fmla="*/ 84 h 126"/>
              <a:gd name="T16" fmla="*/ 44 w 98"/>
              <a:gd name="T17" fmla="*/ 74 h 126"/>
              <a:gd name="T18" fmla="*/ 30 w 98"/>
              <a:gd name="T19" fmla="*/ 68 h 126"/>
              <a:gd name="T20" fmla="*/ 12 w 98"/>
              <a:gd name="T21" fmla="*/ 58 h 126"/>
              <a:gd name="T22" fmla="*/ 6 w 98"/>
              <a:gd name="T23" fmla="*/ 46 h 126"/>
              <a:gd name="T24" fmla="*/ 6 w 98"/>
              <a:gd name="T25" fmla="*/ 36 h 126"/>
              <a:gd name="T26" fmla="*/ 6 w 98"/>
              <a:gd name="T27" fmla="*/ 28 h 126"/>
              <a:gd name="T28" fmla="*/ 14 w 98"/>
              <a:gd name="T29" fmla="*/ 14 h 126"/>
              <a:gd name="T30" fmla="*/ 24 w 98"/>
              <a:gd name="T31" fmla="*/ 6 h 126"/>
              <a:gd name="T32" fmla="*/ 40 w 98"/>
              <a:gd name="T33" fmla="*/ 0 h 126"/>
              <a:gd name="T34" fmla="*/ 50 w 98"/>
              <a:gd name="T35" fmla="*/ 0 h 126"/>
              <a:gd name="T36" fmla="*/ 72 w 98"/>
              <a:gd name="T37" fmla="*/ 4 h 126"/>
              <a:gd name="T38" fmla="*/ 94 w 98"/>
              <a:gd name="T39" fmla="*/ 14 h 126"/>
              <a:gd name="T40" fmla="*/ 84 w 98"/>
              <a:gd name="T41" fmla="*/ 34 h 126"/>
              <a:gd name="T42" fmla="*/ 56 w 98"/>
              <a:gd name="T43" fmla="*/ 22 h 126"/>
              <a:gd name="T44" fmla="*/ 48 w 98"/>
              <a:gd name="T45" fmla="*/ 22 h 126"/>
              <a:gd name="T46" fmla="*/ 36 w 98"/>
              <a:gd name="T47" fmla="*/ 26 h 126"/>
              <a:gd name="T48" fmla="*/ 32 w 98"/>
              <a:gd name="T49" fmla="*/ 34 h 126"/>
              <a:gd name="T50" fmla="*/ 32 w 98"/>
              <a:gd name="T51" fmla="*/ 34 h 126"/>
              <a:gd name="T52" fmla="*/ 34 w 98"/>
              <a:gd name="T53" fmla="*/ 40 h 126"/>
              <a:gd name="T54" fmla="*/ 60 w 98"/>
              <a:gd name="T55" fmla="*/ 52 h 126"/>
              <a:gd name="T56" fmla="*/ 72 w 98"/>
              <a:gd name="T57" fmla="*/ 56 h 126"/>
              <a:gd name="T58" fmla="*/ 90 w 98"/>
              <a:gd name="T59" fmla="*/ 68 h 126"/>
              <a:gd name="T60" fmla="*/ 96 w 98"/>
              <a:gd name="T61" fmla="*/ 80 h 126"/>
              <a:gd name="T62" fmla="*/ 98 w 98"/>
              <a:gd name="T63" fmla="*/ 88 h 126"/>
              <a:gd name="T64" fmla="*/ 96 w 98"/>
              <a:gd name="T65" fmla="*/ 96 h 126"/>
              <a:gd name="T66" fmla="*/ 90 w 98"/>
              <a:gd name="T67" fmla="*/ 112 h 126"/>
              <a:gd name="T68" fmla="*/ 78 w 98"/>
              <a:gd name="T69" fmla="*/ 120 h 126"/>
              <a:gd name="T70" fmla="*/ 60 w 98"/>
              <a:gd name="T71" fmla="*/ 126 h 126"/>
              <a:gd name="T72" fmla="*/ 52 w 98"/>
              <a:gd name="T73" fmla="*/ 126 h 126"/>
              <a:gd name="T74" fmla="*/ 24 w 98"/>
              <a:gd name="T75" fmla="*/ 122 h 126"/>
              <a:gd name="T76" fmla="*/ 0 w 98"/>
              <a:gd name="T77" fmla="*/ 108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8" h="126">
                <a:moveTo>
                  <a:pt x="0" y="108"/>
                </a:moveTo>
                <a:lnTo>
                  <a:pt x="12" y="88"/>
                </a:lnTo>
                <a:lnTo>
                  <a:pt x="12" y="88"/>
                </a:lnTo>
                <a:lnTo>
                  <a:pt x="22" y="96"/>
                </a:lnTo>
                <a:lnTo>
                  <a:pt x="32" y="100"/>
                </a:lnTo>
                <a:lnTo>
                  <a:pt x="42" y="104"/>
                </a:lnTo>
                <a:lnTo>
                  <a:pt x="52" y="104"/>
                </a:lnTo>
                <a:lnTo>
                  <a:pt x="52" y="104"/>
                </a:lnTo>
                <a:lnTo>
                  <a:pt x="60" y="104"/>
                </a:lnTo>
                <a:lnTo>
                  <a:pt x="66" y="100"/>
                </a:lnTo>
                <a:lnTo>
                  <a:pt x="70" y="96"/>
                </a:lnTo>
                <a:lnTo>
                  <a:pt x="72" y="90"/>
                </a:lnTo>
                <a:lnTo>
                  <a:pt x="72" y="90"/>
                </a:lnTo>
                <a:lnTo>
                  <a:pt x="72" y="90"/>
                </a:lnTo>
                <a:lnTo>
                  <a:pt x="70" y="86"/>
                </a:lnTo>
                <a:lnTo>
                  <a:pt x="70" y="84"/>
                </a:lnTo>
                <a:lnTo>
                  <a:pt x="64" y="80"/>
                </a:lnTo>
                <a:lnTo>
                  <a:pt x="44" y="74"/>
                </a:lnTo>
                <a:lnTo>
                  <a:pt x="44" y="74"/>
                </a:lnTo>
                <a:lnTo>
                  <a:pt x="30" y="68"/>
                </a:lnTo>
                <a:lnTo>
                  <a:pt x="18" y="62"/>
                </a:lnTo>
                <a:lnTo>
                  <a:pt x="12" y="58"/>
                </a:lnTo>
                <a:lnTo>
                  <a:pt x="10" y="52"/>
                </a:lnTo>
                <a:lnTo>
                  <a:pt x="6" y="46"/>
                </a:lnTo>
                <a:lnTo>
                  <a:pt x="6" y="38"/>
                </a:lnTo>
                <a:lnTo>
                  <a:pt x="6" y="36"/>
                </a:lnTo>
                <a:lnTo>
                  <a:pt x="6" y="36"/>
                </a:lnTo>
                <a:lnTo>
                  <a:pt x="6" y="28"/>
                </a:lnTo>
                <a:lnTo>
                  <a:pt x="10" y="22"/>
                </a:lnTo>
                <a:lnTo>
                  <a:pt x="14" y="14"/>
                </a:lnTo>
                <a:lnTo>
                  <a:pt x="18" y="10"/>
                </a:lnTo>
                <a:lnTo>
                  <a:pt x="24" y="6"/>
                </a:lnTo>
                <a:lnTo>
                  <a:pt x="32" y="2"/>
                </a:lnTo>
                <a:lnTo>
                  <a:pt x="40" y="0"/>
                </a:lnTo>
                <a:lnTo>
                  <a:pt x="50" y="0"/>
                </a:lnTo>
                <a:lnTo>
                  <a:pt x="50" y="0"/>
                </a:lnTo>
                <a:lnTo>
                  <a:pt x="60" y="0"/>
                </a:lnTo>
                <a:lnTo>
                  <a:pt x="72" y="4"/>
                </a:lnTo>
                <a:lnTo>
                  <a:pt x="84" y="8"/>
                </a:lnTo>
                <a:lnTo>
                  <a:pt x="94" y="14"/>
                </a:lnTo>
                <a:lnTo>
                  <a:pt x="84" y="34"/>
                </a:lnTo>
                <a:lnTo>
                  <a:pt x="84" y="34"/>
                </a:lnTo>
                <a:lnTo>
                  <a:pt x="66" y="24"/>
                </a:lnTo>
                <a:lnTo>
                  <a:pt x="56" y="22"/>
                </a:lnTo>
                <a:lnTo>
                  <a:pt x="48" y="22"/>
                </a:lnTo>
                <a:lnTo>
                  <a:pt x="48" y="22"/>
                </a:lnTo>
                <a:lnTo>
                  <a:pt x="42" y="22"/>
                </a:lnTo>
                <a:lnTo>
                  <a:pt x="36" y="26"/>
                </a:lnTo>
                <a:lnTo>
                  <a:pt x="32" y="28"/>
                </a:lnTo>
                <a:lnTo>
                  <a:pt x="32" y="34"/>
                </a:lnTo>
                <a:lnTo>
                  <a:pt x="32" y="34"/>
                </a:lnTo>
                <a:lnTo>
                  <a:pt x="32" y="34"/>
                </a:lnTo>
                <a:lnTo>
                  <a:pt x="32" y="38"/>
                </a:lnTo>
                <a:lnTo>
                  <a:pt x="34" y="40"/>
                </a:lnTo>
                <a:lnTo>
                  <a:pt x="40" y="44"/>
                </a:lnTo>
                <a:lnTo>
                  <a:pt x="60" y="52"/>
                </a:lnTo>
                <a:lnTo>
                  <a:pt x="60" y="52"/>
                </a:lnTo>
                <a:lnTo>
                  <a:pt x="72" y="56"/>
                </a:lnTo>
                <a:lnTo>
                  <a:pt x="84" y="64"/>
                </a:lnTo>
                <a:lnTo>
                  <a:pt x="90" y="68"/>
                </a:lnTo>
                <a:lnTo>
                  <a:pt x="94" y="74"/>
                </a:lnTo>
                <a:lnTo>
                  <a:pt x="96" y="80"/>
                </a:lnTo>
                <a:lnTo>
                  <a:pt x="98" y="88"/>
                </a:lnTo>
                <a:lnTo>
                  <a:pt x="98" y="88"/>
                </a:lnTo>
                <a:lnTo>
                  <a:pt x="98" y="88"/>
                </a:lnTo>
                <a:lnTo>
                  <a:pt x="96" y="96"/>
                </a:lnTo>
                <a:lnTo>
                  <a:pt x="94" y="104"/>
                </a:lnTo>
                <a:lnTo>
                  <a:pt x="90" y="112"/>
                </a:lnTo>
                <a:lnTo>
                  <a:pt x="84" y="116"/>
                </a:lnTo>
                <a:lnTo>
                  <a:pt x="78" y="120"/>
                </a:lnTo>
                <a:lnTo>
                  <a:pt x="70" y="124"/>
                </a:lnTo>
                <a:lnTo>
                  <a:pt x="60" y="126"/>
                </a:lnTo>
                <a:lnTo>
                  <a:pt x="52" y="126"/>
                </a:lnTo>
                <a:lnTo>
                  <a:pt x="52" y="126"/>
                </a:lnTo>
                <a:lnTo>
                  <a:pt x="38" y="126"/>
                </a:lnTo>
                <a:lnTo>
                  <a:pt x="24" y="122"/>
                </a:lnTo>
                <a:lnTo>
                  <a:pt x="12" y="116"/>
                </a:lnTo>
                <a:lnTo>
                  <a:pt x="0" y="108"/>
                </a:lnTo>
                <a:lnTo>
                  <a:pt x="0" y="108"/>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8" name="Rectangle 215"/>
          <p:cNvSpPr>
            <a:spLocks noChangeArrowheads="1"/>
          </p:cNvSpPr>
          <p:nvPr userDrawn="1"/>
        </p:nvSpPr>
        <p:spPr bwMode="auto">
          <a:xfrm>
            <a:off x="3918717" y="1261899"/>
            <a:ext cx="93602" cy="37676"/>
          </a:xfrm>
          <a:prstGeom prst="rect">
            <a:avLst/>
          </a:prstGeom>
          <a:solidFill>
            <a:srgbClr val="F7D3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9" name="Freeform 216"/>
          <p:cNvSpPr>
            <a:spLocks/>
          </p:cNvSpPr>
          <p:nvPr userDrawn="1"/>
        </p:nvSpPr>
        <p:spPr bwMode="auto">
          <a:xfrm>
            <a:off x="4055108" y="1148872"/>
            <a:ext cx="101625" cy="228747"/>
          </a:xfrm>
          <a:custGeom>
            <a:avLst/>
            <a:gdLst>
              <a:gd name="T0" fmla="*/ 16 w 76"/>
              <a:gd name="T1" fmla="*/ 72 h 170"/>
              <a:gd name="T2" fmla="*/ 0 w 76"/>
              <a:gd name="T3" fmla="*/ 72 h 170"/>
              <a:gd name="T4" fmla="*/ 0 w 76"/>
              <a:gd name="T5" fmla="*/ 48 h 170"/>
              <a:gd name="T6" fmla="*/ 16 w 76"/>
              <a:gd name="T7" fmla="*/ 48 h 170"/>
              <a:gd name="T8" fmla="*/ 16 w 76"/>
              <a:gd name="T9" fmla="*/ 40 h 170"/>
              <a:gd name="T10" fmla="*/ 16 w 76"/>
              <a:gd name="T11" fmla="*/ 40 h 170"/>
              <a:gd name="T12" fmla="*/ 16 w 76"/>
              <a:gd name="T13" fmla="*/ 30 h 170"/>
              <a:gd name="T14" fmla="*/ 18 w 76"/>
              <a:gd name="T15" fmla="*/ 22 h 170"/>
              <a:gd name="T16" fmla="*/ 22 w 76"/>
              <a:gd name="T17" fmla="*/ 14 h 170"/>
              <a:gd name="T18" fmla="*/ 26 w 76"/>
              <a:gd name="T19" fmla="*/ 8 h 170"/>
              <a:gd name="T20" fmla="*/ 26 w 76"/>
              <a:gd name="T21" fmla="*/ 8 h 170"/>
              <a:gd name="T22" fmla="*/ 30 w 76"/>
              <a:gd name="T23" fmla="*/ 4 h 170"/>
              <a:gd name="T24" fmla="*/ 38 w 76"/>
              <a:gd name="T25" fmla="*/ 2 h 170"/>
              <a:gd name="T26" fmla="*/ 44 w 76"/>
              <a:gd name="T27" fmla="*/ 0 h 170"/>
              <a:gd name="T28" fmla="*/ 54 w 76"/>
              <a:gd name="T29" fmla="*/ 0 h 170"/>
              <a:gd name="T30" fmla="*/ 54 w 76"/>
              <a:gd name="T31" fmla="*/ 0 h 170"/>
              <a:gd name="T32" fmla="*/ 66 w 76"/>
              <a:gd name="T33" fmla="*/ 0 h 170"/>
              <a:gd name="T34" fmla="*/ 76 w 76"/>
              <a:gd name="T35" fmla="*/ 2 h 170"/>
              <a:gd name="T36" fmla="*/ 76 w 76"/>
              <a:gd name="T37" fmla="*/ 26 h 170"/>
              <a:gd name="T38" fmla="*/ 76 w 76"/>
              <a:gd name="T39" fmla="*/ 26 h 170"/>
              <a:gd name="T40" fmla="*/ 68 w 76"/>
              <a:gd name="T41" fmla="*/ 24 h 170"/>
              <a:gd name="T42" fmla="*/ 60 w 76"/>
              <a:gd name="T43" fmla="*/ 24 h 170"/>
              <a:gd name="T44" fmla="*/ 60 w 76"/>
              <a:gd name="T45" fmla="*/ 24 h 170"/>
              <a:gd name="T46" fmla="*/ 52 w 76"/>
              <a:gd name="T47" fmla="*/ 24 h 170"/>
              <a:gd name="T48" fmla="*/ 48 w 76"/>
              <a:gd name="T49" fmla="*/ 28 h 170"/>
              <a:gd name="T50" fmla="*/ 44 w 76"/>
              <a:gd name="T51" fmla="*/ 34 h 170"/>
              <a:gd name="T52" fmla="*/ 44 w 76"/>
              <a:gd name="T53" fmla="*/ 42 h 170"/>
              <a:gd name="T54" fmla="*/ 44 w 76"/>
              <a:gd name="T55" fmla="*/ 48 h 170"/>
              <a:gd name="T56" fmla="*/ 76 w 76"/>
              <a:gd name="T57" fmla="*/ 48 h 170"/>
              <a:gd name="T58" fmla="*/ 76 w 76"/>
              <a:gd name="T59" fmla="*/ 72 h 170"/>
              <a:gd name="T60" fmla="*/ 44 w 76"/>
              <a:gd name="T61" fmla="*/ 72 h 170"/>
              <a:gd name="T62" fmla="*/ 44 w 76"/>
              <a:gd name="T63" fmla="*/ 170 h 170"/>
              <a:gd name="T64" fmla="*/ 16 w 76"/>
              <a:gd name="T65" fmla="*/ 170 h 170"/>
              <a:gd name="T66" fmla="*/ 16 w 76"/>
              <a:gd name="T67" fmla="*/ 7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6" h="170">
                <a:moveTo>
                  <a:pt x="16" y="72"/>
                </a:moveTo>
                <a:lnTo>
                  <a:pt x="0" y="72"/>
                </a:lnTo>
                <a:lnTo>
                  <a:pt x="0" y="48"/>
                </a:lnTo>
                <a:lnTo>
                  <a:pt x="16" y="48"/>
                </a:lnTo>
                <a:lnTo>
                  <a:pt x="16" y="40"/>
                </a:lnTo>
                <a:lnTo>
                  <a:pt x="16" y="40"/>
                </a:lnTo>
                <a:lnTo>
                  <a:pt x="16" y="30"/>
                </a:lnTo>
                <a:lnTo>
                  <a:pt x="18" y="22"/>
                </a:lnTo>
                <a:lnTo>
                  <a:pt x="22" y="14"/>
                </a:lnTo>
                <a:lnTo>
                  <a:pt x="26" y="8"/>
                </a:lnTo>
                <a:lnTo>
                  <a:pt x="26" y="8"/>
                </a:lnTo>
                <a:lnTo>
                  <a:pt x="30" y="4"/>
                </a:lnTo>
                <a:lnTo>
                  <a:pt x="38" y="2"/>
                </a:lnTo>
                <a:lnTo>
                  <a:pt x="44" y="0"/>
                </a:lnTo>
                <a:lnTo>
                  <a:pt x="54" y="0"/>
                </a:lnTo>
                <a:lnTo>
                  <a:pt x="54" y="0"/>
                </a:lnTo>
                <a:lnTo>
                  <a:pt x="66" y="0"/>
                </a:lnTo>
                <a:lnTo>
                  <a:pt x="76" y="2"/>
                </a:lnTo>
                <a:lnTo>
                  <a:pt x="76" y="26"/>
                </a:lnTo>
                <a:lnTo>
                  <a:pt x="76" y="26"/>
                </a:lnTo>
                <a:lnTo>
                  <a:pt x="68" y="24"/>
                </a:lnTo>
                <a:lnTo>
                  <a:pt x="60" y="24"/>
                </a:lnTo>
                <a:lnTo>
                  <a:pt x="60" y="24"/>
                </a:lnTo>
                <a:lnTo>
                  <a:pt x="52" y="24"/>
                </a:lnTo>
                <a:lnTo>
                  <a:pt x="48" y="28"/>
                </a:lnTo>
                <a:lnTo>
                  <a:pt x="44" y="34"/>
                </a:lnTo>
                <a:lnTo>
                  <a:pt x="44" y="42"/>
                </a:lnTo>
                <a:lnTo>
                  <a:pt x="44" y="48"/>
                </a:lnTo>
                <a:lnTo>
                  <a:pt x="76" y="48"/>
                </a:lnTo>
                <a:lnTo>
                  <a:pt x="76" y="72"/>
                </a:lnTo>
                <a:lnTo>
                  <a:pt x="44" y="72"/>
                </a:lnTo>
                <a:lnTo>
                  <a:pt x="44" y="170"/>
                </a:lnTo>
                <a:lnTo>
                  <a:pt x="16" y="170"/>
                </a:lnTo>
                <a:lnTo>
                  <a:pt x="16" y="72"/>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0" name="Freeform 217"/>
          <p:cNvSpPr>
            <a:spLocks noEditPoints="1"/>
          </p:cNvSpPr>
          <p:nvPr userDrawn="1"/>
        </p:nvSpPr>
        <p:spPr bwMode="auto">
          <a:xfrm>
            <a:off x="4191500" y="1208077"/>
            <a:ext cx="173832" cy="172233"/>
          </a:xfrm>
          <a:custGeom>
            <a:avLst/>
            <a:gdLst>
              <a:gd name="T0" fmla="*/ 0 w 130"/>
              <a:gd name="T1" fmla="*/ 64 h 128"/>
              <a:gd name="T2" fmla="*/ 0 w 130"/>
              <a:gd name="T3" fmla="*/ 52 h 128"/>
              <a:gd name="T4" fmla="*/ 10 w 130"/>
              <a:gd name="T5" fmla="*/ 30 h 128"/>
              <a:gd name="T6" fmla="*/ 28 w 130"/>
              <a:gd name="T7" fmla="*/ 12 h 128"/>
              <a:gd name="T8" fmla="*/ 50 w 130"/>
              <a:gd name="T9" fmla="*/ 2 h 128"/>
              <a:gd name="T10" fmla="*/ 64 w 130"/>
              <a:gd name="T11" fmla="*/ 0 h 128"/>
              <a:gd name="T12" fmla="*/ 90 w 130"/>
              <a:gd name="T13" fmla="*/ 6 h 128"/>
              <a:gd name="T14" fmla="*/ 112 w 130"/>
              <a:gd name="T15" fmla="*/ 20 h 128"/>
              <a:gd name="T16" fmla="*/ 124 w 130"/>
              <a:gd name="T17" fmla="*/ 40 h 128"/>
              <a:gd name="T18" fmla="*/ 130 w 130"/>
              <a:gd name="T19" fmla="*/ 64 h 128"/>
              <a:gd name="T20" fmla="*/ 130 w 130"/>
              <a:gd name="T21" fmla="*/ 64 h 128"/>
              <a:gd name="T22" fmla="*/ 124 w 130"/>
              <a:gd name="T23" fmla="*/ 90 h 128"/>
              <a:gd name="T24" fmla="*/ 112 w 130"/>
              <a:gd name="T25" fmla="*/ 110 h 128"/>
              <a:gd name="T26" fmla="*/ 90 w 130"/>
              <a:gd name="T27" fmla="*/ 124 h 128"/>
              <a:gd name="T28" fmla="*/ 64 w 130"/>
              <a:gd name="T29" fmla="*/ 128 h 128"/>
              <a:gd name="T30" fmla="*/ 50 w 130"/>
              <a:gd name="T31" fmla="*/ 128 h 128"/>
              <a:gd name="T32" fmla="*/ 28 w 130"/>
              <a:gd name="T33" fmla="*/ 118 h 128"/>
              <a:gd name="T34" fmla="*/ 10 w 130"/>
              <a:gd name="T35" fmla="*/ 100 h 128"/>
              <a:gd name="T36" fmla="*/ 0 w 130"/>
              <a:gd name="T37" fmla="*/ 78 h 128"/>
              <a:gd name="T38" fmla="*/ 0 w 130"/>
              <a:gd name="T39" fmla="*/ 66 h 128"/>
              <a:gd name="T40" fmla="*/ 102 w 130"/>
              <a:gd name="T41" fmla="*/ 64 h 128"/>
              <a:gd name="T42" fmla="*/ 100 w 130"/>
              <a:gd name="T43" fmla="*/ 56 h 128"/>
              <a:gd name="T44" fmla="*/ 96 w 130"/>
              <a:gd name="T45" fmla="*/ 42 h 128"/>
              <a:gd name="T46" fmla="*/ 86 w 130"/>
              <a:gd name="T47" fmla="*/ 32 h 128"/>
              <a:gd name="T48" fmla="*/ 72 w 130"/>
              <a:gd name="T49" fmla="*/ 26 h 128"/>
              <a:gd name="T50" fmla="*/ 64 w 130"/>
              <a:gd name="T51" fmla="*/ 26 h 128"/>
              <a:gd name="T52" fmla="*/ 48 w 130"/>
              <a:gd name="T53" fmla="*/ 28 h 128"/>
              <a:gd name="T54" fmla="*/ 38 w 130"/>
              <a:gd name="T55" fmla="*/ 36 h 128"/>
              <a:gd name="T56" fmla="*/ 30 w 130"/>
              <a:gd name="T57" fmla="*/ 50 h 128"/>
              <a:gd name="T58" fmla="*/ 28 w 130"/>
              <a:gd name="T59" fmla="*/ 64 h 128"/>
              <a:gd name="T60" fmla="*/ 28 w 130"/>
              <a:gd name="T61" fmla="*/ 64 h 128"/>
              <a:gd name="T62" fmla="*/ 30 w 130"/>
              <a:gd name="T63" fmla="*/ 80 h 128"/>
              <a:gd name="T64" fmla="*/ 38 w 130"/>
              <a:gd name="T65" fmla="*/ 92 h 128"/>
              <a:gd name="T66" fmla="*/ 50 w 130"/>
              <a:gd name="T67" fmla="*/ 102 h 128"/>
              <a:gd name="T68" fmla="*/ 64 w 130"/>
              <a:gd name="T69" fmla="*/ 104 h 128"/>
              <a:gd name="T70" fmla="*/ 72 w 130"/>
              <a:gd name="T71" fmla="*/ 104 h 128"/>
              <a:gd name="T72" fmla="*/ 86 w 130"/>
              <a:gd name="T73" fmla="*/ 98 h 128"/>
              <a:gd name="T74" fmla="*/ 96 w 130"/>
              <a:gd name="T75" fmla="*/ 86 h 128"/>
              <a:gd name="T76" fmla="*/ 100 w 130"/>
              <a:gd name="T77" fmla="*/ 74 h 128"/>
              <a:gd name="T78" fmla="*/ 102 w 130"/>
              <a:gd name="T79"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0" h="128">
                <a:moveTo>
                  <a:pt x="0" y="66"/>
                </a:moveTo>
                <a:lnTo>
                  <a:pt x="0" y="64"/>
                </a:lnTo>
                <a:lnTo>
                  <a:pt x="0" y="64"/>
                </a:lnTo>
                <a:lnTo>
                  <a:pt x="0" y="52"/>
                </a:lnTo>
                <a:lnTo>
                  <a:pt x="4" y="40"/>
                </a:lnTo>
                <a:lnTo>
                  <a:pt x="10" y="30"/>
                </a:lnTo>
                <a:lnTo>
                  <a:pt x="18" y="20"/>
                </a:lnTo>
                <a:lnTo>
                  <a:pt x="28" y="12"/>
                </a:lnTo>
                <a:lnTo>
                  <a:pt x="38" y="6"/>
                </a:lnTo>
                <a:lnTo>
                  <a:pt x="50" y="2"/>
                </a:lnTo>
                <a:lnTo>
                  <a:pt x="64" y="0"/>
                </a:lnTo>
                <a:lnTo>
                  <a:pt x="64" y="0"/>
                </a:lnTo>
                <a:lnTo>
                  <a:pt x="78" y="2"/>
                </a:lnTo>
                <a:lnTo>
                  <a:pt x="90" y="6"/>
                </a:lnTo>
                <a:lnTo>
                  <a:pt x="102" y="12"/>
                </a:lnTo>
                <a:lnTo>
                  <a:pt x="112" y="20"/>
                </a:lnTo>
                <a:lnTo>
                  <a:pt x="118" y="28"/>
                </a:lnTo>
                <a:lnTo>
                  <a:pt x="124" y="40"/>
                </a:lnTo>
                <a:lnTo>
                  <a:pt x="128" y="52"/>
                </a:lnTo>
                <a:lnTo>
                  <a:pt x="130" y="64"/>
                </a:lnTo>
                <a:lnTo>
                  <a:pt x="130" y="64"/>
                </a:lnTo>
                <a:lnTo>
                  <a:pt x="130" y="64"/>
                </a:lnTo>
                <a:lnTo>
                  <a:pt x="128" y="78"/>
                </a:lnTo>
                <a:lnTo>
                  <a:pt x="124" y="90"/>
                </a:lnTo>
                <a:lnTo>
                  <a:pt x="118" y="100"/>
                </a:lnTo>
                <a:lnTo>
                  <a:pt x="112" y="110"/>
                </a:lnTo>
                <a:lnTo>
                  <a:pt x="102" y="118"/>
                </a:lnTo>
                <a:lnTo>
                  <a:pt x="90" y="124"/>
                </a:lnTo>
                <a:lnTo>
                  <a:pt x="78" y="128"/>
                </a:lnTo>
                <a:lnTo>
                  <a:pt x="64" y="128"/>
                </a:lnTo>
                <a:lnTo>
                  <a:pt x="64" y="128"/>
                </a:lnTo>
                <a:lnTo>
                  <a:pt x="50" y="128"/>
                </a:lnTo>
                <a:lnTo>
                  <a:pt x="38" y="124"/>
                </a:lnTo>
                <a:lnTo>
                  <a:pt x="28" y="118"/>
                </a:lnTo>
                <a:lnTo>
                  <a:pt x="18" y="110"/>
                </a:lnTo>
                <a:lnTo>
                  <a:pt x="10" y="100"/>
                </a:lnTo>
                <a:lnTo>
                  <a:pt x="4" y="90"/>
                </a:lnTo>
                <a:lnTo>
                  <a:pt x="0" y="78"/>
                </a:lnTo>
                <a:lnTo>
                  <a:pt x="0" y="66"/>
                </a:lnTo>
                <a:lnTo>
                  <a:pt x="0" y="66"/>
                </a:lnTo>
                <a:close/>
                <a:moveTo>
                  <a:pt x="102" y="66"/>
                </a:moveTo>
                <a:lnTo>
                  <a:pt x="102" y="64"/>
                </a:lnTo>
                <a:lnTo>
                  <a:pt x="102" y="64"/>
                </a:lnTo>
                <a:lnTo>
                  <a:pt x="100" y="56"/>
                </a:lnTo>
                <a:lnTo>
                  <a:pt x="98" y="50"/>
                </a:lnTo>
                <a:lnTo>
                  <a:pt x="96" y="42"/>
                </a:lnTo>
                <a:lnTo>
                  <a:pt x="92" y="38"/>
                </a:lnTo>
                <a:lnTo>
                  <a:pt x="86" y="32"/>
                </a:lnTo>
                <a:lnTo>
                  <a:pt x="80" y="28"/>
                </a:lnTo>
                <a:lnTo>
                  <a:pt x="72" y="26"/>
                </a:lnTo>
                <a:lnTo>
                  <a:pt x="64" y="26"/>
                </a:lnTo>
                <a:lnTo>
                  <a:pt x="64" y="26"/>
                </a:lnTo>
                <a:lnTo>
                  <a:pt x="56" y="26"/>
                </a:lnTo>
                <a:lnTo>
                  <a:pt x="48" y="28"/>
                </a:lnTo>
                <a:lnTo>
                  <a:pt x="42" y="32"/>
                </a:lnTo>
                <a:lnTo>
                  <a:pt x="38" y="36"/>
                </a:lnTo>
                <a:lnTo>
                  <a:pt x="32" y="42"/>
                </a:lnTo>
                <a:lnTo>
                  <a:pt x="30" y="50"/>
                </a:lnTo>
                <a:lnTo>
                  <a:pt x="28" y="56"/>
                </a:lnTo>
                <a:lnTo>
                  <a:pt x="28" y="64"/>
                </a:lnTo>
                <a:lnTo>
                  <a:pt x="28" y="64"/>
                </a:lnTo>
                <a:lnTo>
                  <a:pt x="28" y="64"/>
                </a:lnTo>
                <a:lnTo>
                  <a:pt x="28" y="72"/>
                </a:lnTo>
                <a:lnTo>
                  <a:pt x="30" y="80"/>
                </a:lnTo>
                <a:lnTo>
                  <a:pt x="34" y="86"/>
                </a:lnTo>
                <a:lnTo>
                  <a:pt x="38" y="92"/>
                </a:lnTo>
                <a:lnTo>
                  <a:pt x="44" y="98"/>
                </a:lnTo>
                <a:lnTo>
                  <a:pt x="50" y="102"/>
                </a:lnTo>
                <a:lnTo>
                  <a:pt x="56" y="104"/>
                </a:lnTo>
                <a:lnTo>
                  <a:pt x="64" y="104"/>
                </a:lnTo>
                <a:lnTo>
                  <a:pt x="64" y="104"/>
                </a:lnTo>
                <a:lnTo>
                  <a:pt x="72" y="104"/>
                </a:lnTo>
                <a:lnTo>
                  <a:pt x="80" y="102"/>
                </a:lnTo>
                <a:lnTo>
                  <a:pt x="86" y="98"/>
                </a:lnTo>
                <a:lnTo>
                  <a:pt x="92" y="92"/>
                </a:lnTo>
                <a:lnTo>
                  <a:pt x="96" y="86"/>
                </a:lnTo>
                <a:lnTo>
                  <a:pt x="100" y="80"/>
                </a:lnTo>
                <a:lnTo>
                  <a:pt x="100" y="74"/>
                </a:lnTo>
                <a:lnTo>
                  <a:pt x="102" y="66"/>
                </a:lnTo>
                <a:lnTo>
                  <a:pt x="102" y="6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1" name="Freeform 218"/>
          <p:cNvSpPr>
            <a:spLocks/>
          </p:cNvSpPr>
          <p:nvPr userDrawn="1"/>
        </p:nvSpPr>
        <p:spPr bwMode="auto">
          <a:xfrm>
            <a:off x="4410796" y="1208077"/>
            <a:ext cx="152437" cy="172233"/>
          </a:xfrm>
          <a:custGeom>
            <a:avLst/>
            <a:gdLst>
              <a:gd name="T0" fmla="*/ 0 w 114"/>
              <a:gd name="T1" fmla="*/ 66 h 128"/>
              <a:gd name="T2" fmla="*/ 0 w 114"/>
              <a:gd name="T3" fmla="*/ 64 h 128"/>
              <a:gd name="T4" fmla="*/ 0 w 114"/>
              <a:gd name="T5" fmla="*/ 64 h 128"/>
              <a:gd name="T6" fmla="*/ 2 w 114"/>
              <a:gd name="T7" fmla="*/ 52 h 128"/>
              <a:gd name="T8" fmla="*/ 4 w 114"/>
              <a:gd name="T9" fmla="*/ 40 h 128"/>
              <a:gd name="T10" fmla="*/ 10 w 114"/>
              <a:gd name="T11" fmla="*/ 30 h 128"/>
              <a:gd name="T12" fmla="*/ 18 w 114"/>
              <a:gd name="T13" fmla="*/ 20 h 128"/>
              <a:gd name="T14" fmla="*/ 28 w 114"/>
              <a:gd name="T15" fmla="*/ 12 h 128"/>
              <a:gd name="T16" fmla="*/ 38 w 114"/>
              <a:gd name="T17" fmla="*/ 6 h 128"/>
              <a:gd name="T18" fmla="*/ 50 w 114"/>
              <a:gd name="T19" fmla="*/ 2 h 128"/>
              <a:gd name="T20" fmla="*/ 64 w 114"/>
              <a:gd name="T21" fmla="*/ 0 h 128"/>
              <a:gd name="T22" fmla="*/ 64 w 114"/>
              <a:gd name="T23" fmla="*/ 0 h 128"/>
              <a:gd name="T24" fmla="*/ 80 w 114"/>
              <a:gd name="T25" fmla="*/ 2 h 128"/>
              <a:gd name="T26" fmla="*/ 92 w 114"/>
              <a:gd name="T27" fmla="*/ 6 h 128"/>
              <a:gd name="T28" fmla="*/ 104 w 114"/>
              <a:gd name="T29" fmla="*/ 14 h 128"/>
              <a:gd name="T30" fmla="*/ 112 w 114"/>
              <a:gd name="T31" fmla="*/ 22 h 128"/>
              <a:gd name="T32" fmla="*/ 96 w 114"/>
              <a:gd name="T33" fmla="*/ 40 h 128"/>
              <a:gd name="T34" fmla="*/ 96 w 114"/>
              <a:gd name="T35" fmla="*/ 40 h 128"/>
              <a:gd name="T36" fmla="*/ 88 w 114"/>
              <a:gd name="T37" fmla="*/ 34 h 128"/>
              <a:gd name="T38" fmla="*/ 82 w 114"/>
              <a:gd name="T39" fmla="*/ 30 h 128"/>
              <a:gd name="T40" fmla="*/ 74 w 114"/>
              <a:gd name="T41" fmla="*/ 26 h 128"/>
              <a:gd name="T42" fmla="*/ 64 w 114"/>
              <a:gd name="T43" fmla="*/ 26 h 128"/>
              <a:gd name="T44" fmla="*/ 64 w 114"/>
              <a:gd name="T45" fmla="*/ 26 h 128"/>
              <a:gd name="T46" fmla="*/ 56 w 114"/>
              <a:gd name="T47" fmla="*/ 26 h 128"/>
              <a:gd name="T48" fmla="*/ 50 w 114"/>
              <a:gd name="T49" fmla="*/ 28 h 128"/>
              <a:gd name="T50" fmla="*/ 44 w 114"/>
              <a:gd name="T51" fmla="*/ 32 h 128"/>
              <a:gd name="T52" fmla="*/ 38 w 114"/>
              <a:gd name="T53" fmla="*/ 36 h 128"/>
              <a:gd name="T54" fmla="*/ 34 w 114"/>
              <a:gd name="T55" fmla="*/ 42 h 128"/>
              <a:gd name="T56" fmla="*/ 30 w 114"/>
              <a:gd name="T57" fmla="*/ 50 h 128"/>
              <a:gd name="T58" fmla="*/ 28 w 114"/>
              <a:gd name="T59" fmla="*/ 56 h 128"/>
              <a:gd name="T60" fmla="*/ 28 w 114"/>
              <a:gd name="T61" fmla="*/ 64 h 128"/>
              <a:gd name="T62" fmla="*/ 28 w 114"/>
              <a:gd name="T63" fmla="*/ 64 h 128"/>
              <a:gd name="T64" fmla="*/ 28 w 114"/>
              <a:gd name="T65" fmla="*/ 64 h 128"/>
              <a:gd name="T66" fmla="*/ 28 w 114"/>
              <a:gd name="T67" fmla="*/ 72 h 128"/>
              <a:gd name="T68" fmla="*/ 30 w 114"/>
              <a:gd name="T69" fmla="*/ 80 h 128"/>
              <a:gd name="T70" fmla="*/ 34 w 114"/>
              <a:gd name="T71" fmla="*/ 86 h 128"/>
              <a:gd name="T72" fmla="*/ 38 w 114"/>
              <a:gd name="T73" fmla="*/ 92 h 128"/>
              <a:gd name="T74" fmla="*/ 44 w 114"/>
              <a:gd name="T75" fmla="*/ 98 h 128"/>
              <a:gd name="T76" fmla="*/ 50 w 114"/>
              <a:gd name="T77" fmla="*/ 102 h 128"/>
              <a:gd name="T78" fmla="*/ 56 w 114"/>
              <a:gd name="T79" fmla="*/ 104 h 128"/>
              <a:gd name="T80" fmla="*/ 64 w 114"/>
              <a:gd name="T81" fmla="*/ 104 h 128"/>
              <a:gd name="T82" fmla="*/ 64 w 114"/>
              <a:gd name="T83" fmla="*/ 104 h 128"/>
              <a:gd name="T84" fmla="*/ 74 w 114"/>
              <a:gd name="T85" fmla="*/ 104 h 128"/>
              <a:gd name="T86" fmla="*/ 82 w 114"/>
              <a:gd name="T87" fmla="*/ 100 h 128"/>
              <a:gd name="T88" fmla="*/ 90 w 114"/>
              <a:gd name="T89" fmla="*/ 96 h 128"/>
              <a:gd name="T90" fmla="*/ 96 w 114"/>
              <a:gd name="T91" fmla="*/ 90 h 128"/>
              <a:gd name="T92" fmla="*/ 114 w 114"/>
              <a:gd name="T93" fmla="*/ 106 h 128"/>
              <a:gd name="T94" fmla="*/ 114 w 114"/>
              <a:gd name="T95" fmla="*/ 106 h 128"/>
              <a:gd name="T96" fmla="*/ 104 w 114"/>
              <a:gd name="T97" fmla="*/ 114 h 128"/>
              <a:gd name="T98" fmla="*/ 92 w 114"/>
              <a:gd name="T99" fmla="*/ 122 h 128"/>
              <a:gd name="T100" fmla="*/ 80 w 114"/>
              <a:gd name="T101" fmla="*/ 128 h 128"/>
              <a:gd name="T102" fmla="*/ 64 w 114"/>
              <a:gd name="T103" fmla="*/ 128 h 128"/>
              <a:gd name="T104" fmla="*/ 64 w 114"/>
              <a:gd name="T105" fmla="*/ 128 h 128"/>
              <a:gd name="T106" fmla="*/ 50 w 114"/>
              <a:gd name="T107" fmla="*/ 128 h 128"/>
              <a:gd name="T108" fmla="*/ 38 w 114"/>
              <a:gd name="T109" fmla="*/ 124 h 128"/>
              <a:gd name="T110" fmla="*/ 28 w 114"/>
              <a:gd name="T111" fmla="*/ 118 h 128"/>
              <a:gd name="T112" fmla="*/ 18 w 114"/>
              <a:gd name="T113" fmla="*/ 110 h 128"/>
              <a:gd name="T114" fmla="*/ 10 w 114"/>
              <a:gd name="T115" fmla="*/ 100 h 128"/>
              <a:gd name="T116" fmla="*/ 4 w 114"/>
              <a:gd name="T117" fmla="*/ 90 h 128"/>
              <a:gd name="T118" fmla="*/ 2 w 114"/>
              <a:gd name="T119" fmla="*/ 78 h 128"/>
              <a:gd name="T120" fmla="*/ 0 w 114"/>
              <a:gd name="T121" fmla="*/ 66 h 128"/>
              <a:gd name="T122" fmla="*/ 0 w 114"/>
              <a:gd name="T12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4" h="128">
                <a:moveTo>
                  <a:pt x="0" y="66"/>
                </a:moveTo>
                <a:lnTo>
                  <a:pt x="0" y="64"/>
                </a:lnTo>
                <a:lnTo>
                  <a:pt x="0" y="64"/>
                </a:lnTo>
                <a:lnTo>
                  <a:pt x="2" y="52"/>
                </a:lnTo>
                <a:lnTo>
                  <a:pt x="4" y="40"/>
                </a:lnTo>
                <a:lnTo>
                  <a:pt x="10" y="30"/>
                </a:lnTo>
                <a:lnTo>
                  <a:pt x="18" y="20"/>
                </a:lnTo>
                <a:lnTo>
                  <a:pt x="28" y="12"/>
                </a:lnTo>
                <a:lnTo>
                  <a:pt x="38" y="6"/>
                </a:lnTo>
                <a:lnTo>
                  <a:pt x="50" y="2"/>
                </a:lnTo>
                <a:lnTo>
                  <a:pt x="64" y="0"/>
                </a:lnTo>
                <a:lnTo>
                  <a:pt x="64" y="0"/>
                </a:lnTo>
                <a:lnTo>
                  <a:pt x="80" y="2"/>
                </a:lnTo>
                <a:lnTo>
                  <a:pt x="92" y="6"/>
                </a:lnTo>
                <a:lnTo>
                  <a:pt x="104" y="14"/>
                </a:lnTo>
                <a:lnTo>
                  <a:pt x="112" y="22"/>
                </a:lnTo>
                <a:lnTo>
                  <a:pt x="96" y="40"/>
                </a:lnTo>
                <a:lnTo>
                  <a:pt x="96" y="40"/>
                </a:lnTo>
                <a:lnTo>
                  <a:pt x="88" y="34"/>
                </a:lnTo>
                <a:lnTo>
                  <a:pt x="82" y="30"/>
                </a:lnTo>
                <a:lnTo>
                  <a:pt x="74" y="26"/>
                </a:lnTo>
                <a:lnTo>
                  <a:pt x="64" y="26"/>
                </a:lnTo>
                <a:lnTo>
                  <a:pt x="64" y="26"/>
                </a:lnTo>
                <a:lnTo>
                  <a:pt x="56" y="26"/>
                </a:lnTo>
                <a:lnTo>
                  <a:pt x="50" y="28"/>
                </a:lnTo>
                <a:lnTo>
                  <a:pt x="44" y="32"/>
                </a:lnTo>
                <a:lnTo>
                  <a:pt x="38" y="36"/>
                </a:lnTo>
                <a:lnTo>
                  <a:pt x="34" y="42"/>
                </a:lnTo>
                <a:lnTo>
                  <a:pt x="30" y="50"/>
                </a:lnTo>
                <a:lnTo>
                  <a:pt x="28" y="56"/>
                </a:lnTo>
                <a:lnTo>
                  <a:pt x="28" y="64"/>
                </a:lnTo>
                <a:lnTo>
                  <a:pt x="28" y="64"/>
                </a:lnTo>
                <a:lnTo>
                  <a:pt x="28" y="64"/>
                </a:lnTo>
                <a:lnTo>
                  <a:pt x="28" y="72"/>
                </a:lnTo>
                <a:lnTo>
                  <a:pt x="30" y="80"/>
                </a:lnTo>
                <a:lnTo>
                  <a:pt x="34" y="86"/>
                </a:lnTo>
                <a:lnTo>
                  <a:pt x="38" y="92"/>
                </a:lnTo>
                <a:lnTo>
                  <a:pt x="44" y="98"/>
                </a:lnTo>
                <a:lnTo>
                  <a:pt x="50" y="102"/>
                </a:lnTo>
                <a:lnTo>
                  <a:pt x="56" y="104"/>
                </a:lnTo>
                <a:lnTo>
                  <a:pt x="64" y="104"/>
                </a:lnTo>
                <a:lnTo>
                  <a:pt x="64" y="104"/>
                </a:lnTo>
                <a:lnTo>
                  <a:pt x="74" y="104"/>
                </a:lnTo>
                <a:lnTo>
                  <a:pt x="82" y="100"/>
                </a:lnTo>
                <a:lnTo>
                  <a:pt x="90" y="96"/>
                </a:lnTo>
                <a:lnTo>
                  <a:pt x="96" y="90"/>
                </a:lnTo>
                <a:lnTo>
                  <a:pt x="114" y="106"/>
                </a:lnTo>
                <a:lnTo>
                  <a:pt x="114" y="106"/>
                </a:lnTo>
                <a:lnTo>
                  <a:pt x="104" y="114"/>
                </a:lnTo>
                <a:lnTo>
                  <a:pt x="92" y="122"/>
                </a:lnTo>
                <a:lnTo>
                  <a:pt x="80" y="128"/>
                </a:lnTo>
                <a:lnTo>
                  <a:pt x="64" y="128"/>
                </a:lnTo>
                <a:lnTo>
                  <a:pt x="64" y="128"/>
                </a:lnTo>
                <a:lnTo>
                  <a:pt x="50" y="128"/>
                </a:lnTo>
                <a:lnTo>
                  <a:pt x="38" y="124"/>
                </a:lnTo>
                <a:lnTo>
                  <a:pt x="28" y="118"/>
                </a:lnTo>
                <a:lnTo>
                  <a:pt x="18" y="110"/>
                </a:lnTo>
                <a:lnTo>
                  <a:pt x="10" y="100"/>
                </a:lnTo>
                <a:lnTo>
                  <a:pt x="4" y="90"/>
                </a:lnTo>
                <a:lnTo>
                  <a:pt x="2" y="78"/>
                </a:lnTo>
                <a:lnTo>
                  <a:pt x="0" y="66"/>
                </a:lnTo>
                <a:lnTo>
                  <a:pt x="0" y="6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2" name="Freeform 219"/>
          <p:cNvSpPr>
            <a:spLocks/>
          </p:cNvSpPr>
          <p:nvPr userDrawn="1"/>
        </p:nvSpPr>
        <p:spPr bwMode="auto">
          <a:xfrm>
            <a:off x="4608697" y="1213459"/>
            <a:ext cx="147089" cy="166851"/>
          </a:xfrm>
          <a:custGeom>
            <a:avLst/>
            <a:gdLst>
              <a:gd name="T0" fmla="*/ 0 w 110"/>
              <a:gd name="T1" fmla="*/ 78 h 124"/>
              <a:gd name="T2" fmla="*/ 0 w 110"/>
              <a:gd name="T3" fmla="*/ 0 h 124"/>
              <a:gd name="T4" fmla="*/ 28 w 110"/>
              <a:gd name="T5" fmla="*/ 0 h 124"/>
              <a:gd name="T6" fmla="*/ 28 w 110"/>
              <a:gd name="T7" fmla="*/ 70 h 124"/>
              <a:gd name="T8" fmla="*/ 28 w 110"/>
              <a:gd name="T9" fmla="*/ 70 h 124"/>
              <a:gd name="T10" fmla="*/ 30 w 110"/>
              <a:gd name="T11" fmla="*/ 82 h 124"/>
              <a:gd name="T12" fmla="*/ 36 w 110"/>
              <a:gd name="T13" fmla="*/ 92 h 124"/>
              <a:gd name="T14" fmla="*/ 44 w 110"/>
              <a:gd name="T15" fmla="*/ 96 h 124"/>
              <a:gd name="T16" fmla="*/ 54 w 110"/>
              <a:gd name="T17" fmla="*/ 98 h 124"/>
              <a:gd name="T18" fmla="*/ 54 w 110"/>
              <a:gd name="T19" fmla="*/ 98 h 124"/>
              <a:gd name="T20" fmla="*/ 66 w 110"/>
              <a:gd name="T21" fmla="*/ 96 h 124"/>
              <a:gd name="T22" fmla="*/ 74 w 110"/>
              <a:gd name="T23" fmla="*/ 90 h 124"/>
              <a:gd name="T24" fmla="*/ 80 w 110"/>
              <a:gd name="T25" fmla="*/ 82 h 124"/>
              <a:gd name="T26" fmla="*/ 82 w 110"/>
              <a:gd name="T27" fmla="*/ 68 h 124"/>
              <a:gd name="T28" fmla="*/ 82 w 110"/>
              <a:gd name="T29" fmla="*/ 0 h 124"/>
              <a:gd name="T30" fmla="*/ 110 w 110"/>
              <a:gd name="T31" fmla="*/ 0 h 124"/>
              <a:gd name="T32" fmla="*/ 110 w 110"/>
              <a:gd name="T33" fmla="*/ 122 h 124"/>
              <a:gd name="T34" fmla="*/ 82 w 110"/>
              <a:gd name="T35" fmla="*/ 122 h 124"/>
              <a:gd name="T36" fmla="*/ 82 w 110"/>
              <a:gd name="T37" fmla="*/ 102 h 124"/>
              <a:gd name="T38" fmla="*/ 82 w 110"/>
              <a:gd name="T39" fmla="*/ 102 h 124"/>
              <a:gd name="T40" fmla="*/ 76 w 110"/>
              <a:gd name="T41" fmla="*/ 112 h 124"/>
              <a:gd name="T42" fmla="*/ 68 w 110"/>
              <a:gd name="T43" fmla="*/ 118 h 124"/>
              <a:gd name="T44" fmla="*/ 58 w 110"/>
              <a:gd name="T45" fmla="*/ 122 h 124"/>
              <a:gd name="T46" fmla="*/ 44 w 110"/>
              <a:gd name="T47" fmla="*/ 124 h 124"/>
              <a:gd name="T48" fmla="*/ 44 w 110"/>
              <a:gd name="T49" fmla="*/ 124 h 124"/>
              <a:gd name="T50" fmla="*/ 34 w 110"/>
              <a:gd name="T51" fmla="*/ 124 h 124"/>
              <a:gd name="T52" fmla="*/ 26 w 110"/>
              <a:gd name="T53" fmla="*/ 122 h 124"/>
              <a:gd name="T54" fmla="*/ 18 w 110"/>
              <a:gd name="T55" fmla="*/ 118 h 124"/>
              <a:gd name="T56" fmla="*/ 12 w 110"/>
              <a:gd name="T57" fmla="*/ 112 h 124"/>
              <a:gd name="T58" fmla="*/ 8 w 110"/>
              <a:gd name="T59" fmla="*/ 104 h 124"/>
              <a:gd name="T60" fmla="*/ 4 w 110"/>
              <a:gd name="T61" fmla="*/ 96 h 124"/>
              <a:gd name="T62" fmla="*/ 2 w 110"/>
              <a:gd name="T63" fmla="*/ 88 h 124"/>
              <a:gd name="T64" fmla="*/ 0 w 110"/>
              <a:gd name="T65" fmla="*/ 78 h 124"/>
              <a:gd name="T66" fmla="*/ 0 w 110"/>
              <a:gd name="T67" fmla="*/ 7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0" h="124">
                <a:moveTo>
                  <a:pt x="0" y="78"/>
                </a:moveTo>
                <a:lnTo>
                  <a:pt x="0" y="0"/>
                </a:lnTo>
                <a:lnTo>
                  <a:pt x="28" y="0"/>
                </a:lnTo>
                <a:lnTo>
                  <a:pt x="28" y="70"/>
                </a:lnTo>
                <a:lnTo>
                  <a:pt x="28" y="70"/>
                </a:lnTo>
                <a:lnTo>
                  <a:pt x="30" y="82"/>
                </a:lnTo>
                <a:lnTo>
                  <a:pt x="36" y="92"/>
                </a:lnTo>
                <a:lnTo>
                  <a:pt x="44" y="96"/>
                </a:lnTo>
                <a:lnTo>
                  <a:pt x="54" y="98"/>
                </a:lnTo>
                <a:lnTo>
                  <a:pt x="54" y="98"/>
                </a:lnTo>
                <a:lnTo>
                  <a:pt x="66" y="96"/>
                </a:lnTo>
                <a:lnTo>
                  <a:pt x="74" y="90"/>
                </a:lnTo>
                <a:lnTo>
                  <a:pt x="80" y="82"/>
                </a:lnTo>
                <a:lnTo>
                  <a:pt x="82" y="68"/>
                </a:lnTo>
                <a:lnTo>
                  <a:pt x="82" y="0"/>
                </a:lnTo>
                <a:lnTo>
                  <a:pt x="110" y="0"/>
                </a:lnTo>
                <a:lnTo>
                  <a:pt x="110" y="122"/>
                </a:lnTo>
                <a:lnTo>
                  <a:pt x="82" y="122"/>
                </a:lnTo>
                <a:lnTo>
                  <a:pt x="82" y="102"/>
                </a:lnTo>
                <a:lnTo>
                  <a:pt x="82" y="102"/>
                </a:lnTo>
                <a:lnTo>
                  <a:pt x="76" y="112"/>
                </a:lnTo>
                <a:lnTo>
                  <a:pt x="68" y="118"/>
                </a:lnTo>
                <a:lnTo>
                  <a:pt x="58" y="122"/>
                </a:lnTo>
                <a:lnTo>
                  <a:pt x="44" y="124"/>
                </a:lnTo>
                <a:lnTo>
                  <a:pt x="44" y="124"/>
                </a:lnTo>
                <a:lnTo>
                  <a:pt x="34" y="124"/>
                </a:lnTo>
                <a:lnTo>
                  <a:pt x="26" y="122"/>
                </a:lnTo>
                <a:lnTo>
                  <a:pt x="18" y="118"/>
                </a:lnTo>
                <a:lnTo>
                  <a:pt x="12" y="112"/>
                </a:lnTo>
                <a:lnTo>
                  <a:pt x="8" y="104"/>
                </a:lnTo>
                <a:lnTo>
                  <a:pt x="4" y="96"/>
                </a:lnTo>
                <a:lnTo>
                  <a:pt x="2" y="88"/>
                </a:lnTo>
                <a:lnTo>
                  <a:pt x="0" y="78"/>
                </a:lnTo>
                <a:lnTo>
                  <a:pt x="0" y="78"/>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3" name="Freeform 220"/>
          <p:cNvSpPr>
            <a:spLocks/>
          </p:cNvSpPr>
          <p:nvPr userDrawn="1"/>
        </p:nvSpPr>
        <p:spPr bwMode="auto">
          <a:xfrm>
            <a:off x="4809273" y="1210768"/>
            <a:ext cx="128368" cy="169542"/>
          </a:xfrm>
          <a:custGeom>
            <a:avLst/>
            <a:gdLst>
              <a:gd name="T0" fmla="*/ 12 w 96"/>
              <a:gd name="T1" fmla="*/ 88 h 126"/>
              <a:gd name="T2" fmla="*/ 22 w 96"/>
              <a:gd name="T3" fmla="*/ 96 h 126"/>
              <a:gd name="T4" fmla="*/ 42 w 96"/>
              <a:gd name="T5" fmla="*/ 104 h 126"/>
              <a:gd name="T6" fmla="*/ 52 w 96"/>
              <a:gd name="T7" fmla="*/ 104 h 126"/>
              <a:gd name="T8" fmla="*/ 66 w 96"/>
              <a:gd name="T9" fmla="*/ 100 h 126"/>
              <a:gd name="T10" fmla="*/ 70 w 96"/>
              <a:gd name="T11" fmla="*/ 90 h 126"/>
              <a:gd name="T12" fmla="*/ 70 w 96"/>
              <a:gd name="T13" fmla="*/ 90 h 126"/>
              <a:gd name="T14" fmla="*/ 68 w 96"/>
              <a:gd name="T15" fmla="*/ 84 h 126"/>
              <a:gd name="T16" fmla="*/ 44 w 96"/>
              <a:gd name="T17" fmla="*/ 74 h 126"/>
              <a:gd name="T18" fmla="*/ 30 w 96"/>
              <a:gd name="T19" fmla="*/ 68 h 126"/>
              <a:gd name="T20" fmla="*/ 12 w 96"/>
              <a:gd name="T21" fmla="*/ 58 h 126"/>
              <a:gd name="T22" fmla="*/ 6 w 96"/>
              <a:gd name="T23" fmla="*/ 46 h 126"/>
              <a:gd name="T24" fmla="*/ 6 w 96"/>
              <a:gd name="T25" fmla="*/ 36 h 126"/>
              <a:gd name="T26" fmla="*/ 6 w 96"/>
              <a:gd name="T27" fmla="*/ 28 h 126"/>
              <a:gd name="T28" fmla="*/ 12 w 96"/>
              <a:gd name="T29" fmla="*/ 14 h 126"/>
              <a:gd name="T30" fmla="*/ 24 w 96"/>
              <a:gd name="T31" fmla="*/ 6 h 126"/>
              <a:gd name="T32" fmla="*/ 40 w 96"/>
              <a:gd name="T33" fmla="*/ 0 h 126"/>
              <a:gd name="T34" fmla="*/ 48 w 96"/>
              <a:gd name="T35" fmla="*/ 0 h 126"/>
              <a:gd name="T36" fmla="*/ 72 w 96"/>
              <a:gd name="T37" fmla="*/ 4 h 126"/>
              <a:gd name="T38" fmla="*/ 94 w 96"/>
              <a:gd name="T39" fmla="*/ 14 h 126"/>
              <a:gd name="T40" fmla="*/ 82 w 96"/>
              <a:gd name="T41" fmla="*/ 34 h 126"/>
              <a:gd name="T42" fmla="*/ 56 w 96"/>
              <a:gd name="T43" fmla="*/ 22 h 126"/>
              <a:gd name="T44" fmla="*/ 48 w 96"/>
              <a:gd name="T45" fmla="*/ 22 h 126"/>
              <a:gd name="T46" fmla="*/ 36 w 96"/>
              <a:gd name="T47" fmla="*/ 26 h 126"/>
              <a:gd name="T48" fmla="*/ 32 w 96"/>
              <a:gd name="T49" fmla="*/ 34 h 126"/>
              <a:gd name="T50" fmla="*/ 32 w 96"/>
              <a:gd name="T51" fmla="*/ 34 h 126"/>
              <a:gd name="T52" fmla="*/ 34 w 96"/>
              <a:gd name="T53" fmla="*/ 40 h 126"/>
              <a:gd name="T54" fmla="*/ 58 w 96"/>
              <a:gd name="T55" fmla="*/ 52 h 126"/>
              <a:gd name="T56" fmla="*/ 72 w 96"/>
              <a:gd name="T57" fmla="*/ 56 h 126"/>
              <a:gd name="T58" fmla="*/ 90 w 96"/>
              <a:gd name="T59" fmla="*/ 68 h 126"/>
              <a:gd name="T60" fmla="*/ 96 w 96"/>
              <a:gd name="T61" fmla="*/ 80 h 126"/>
              <a:gd name="T62" fmla="*/ 96 w 96"/>
              <a:gd name="T63" fmla="*/ 88 h 126"/>
              <a:gd name="T64" fmla="*/ 96 w 96"/>
              <a:gd name="T65" fmla="*/ 96 h 126"/>
              <a:gd name="T66" fmla="*/ 90 w 96"/>
              <a:gd name="T67" fmla="*/ 112 h 126"/>
              <a:gd name="T68" fmla="*/ 76 w 96"/>
              <a:gd name="T69" fmla="*/ 120 h 126"/>
              <a:gd name="T70" fmla="*/ 60 w 96"/>
              <a:gd name="T71" fmla="*/ 126 h 126"/>
              <a:gd name="T72" fmla="*/ 52 w 96"/>
              <a:gd name="T73" fmla="*/ 126 h 126"/>
              <a:gd name="T74" fmla="*/ 24 w 96"/>
              <a:gd name="T75" fmla="*/ 122 h 126"/>
              <a:gd name="T76" fmla="*/ 0 w 96"/>
              <a:gd name="T77" fmla="*/ 108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6" h="126">
                <a:moveTo>
                  <a:pt x="0" y="108"/>
                </a:moveTo>
                <a:lnTo>
                  <a:pt x="12" y="88"/>
                </a:lnTo>
                <a:lnTo>
                  <a:pt x="12" y="88"/>
                </a:lnTo>
                <a:lnTo>
                  <a:pt x="22" y="96"/>
                </a:lnTo>
                <a:lnTo>
                  <a:pt x="32" y="100"/>
                </a:lnTo>
                <a:lnTo>
                  <a:pt x="42" y="104"/>
                </a:lnTo>
                <a:lnTo>
                  <a:pt x="52" y="104"/>
                </a:lnTo>
                <a:lnTo>
                  <a:pt x="52" y="104"/>
                </a:lnTo>
                <a:lnTo>
                  <a:pt x="60" y="104"/>
                </a:lnTo>
                <a:lnTo>
                  <a:pt x="66" y="100"/>
                </a:lnTo>
                <a:lnTo>
                  <a:pt x="70" y="96"/>
                </a:lnTo>
                <a:lnTo>
                  <a:pt x="70" y="90"/>
                </a:lnTo>
                <a:lnTo>
                  <a:pt x="70" y="90"/>
                </a:lnTo>
                <a:lnTo>
                  <a:pt x="70" y="90"/>
                </a:lnTo>
                <a:lnTo>
                  <a:pt x="70" y="86"/>
                </a:lnTo>
                <a:lnTo>
                  <a:pt x="68" y="84"/>
                </a:lnTo>
                <a:lnTo>
                  <a:pt x="62" y="80"/>
                </a:lnTo>
                <a:lnTo>
                  <a:pt x="44" y="74"/>
                </a:lnTo>
                <a:lnTo>
                  <a:pt x="44" y="74"/>
                </a:lnTo>
                <a:lnTo>
                  <a:pt x="30" y="68"/>
                </a:lnTo>
                <a:lnTo>
                  <a:pt x="18" y="62"/>
                </a:lnTo>
                <a:lnTo>
                  <a:pt x="12" y="58"/>
                </a:lnTo>
                <a:lnTo>
                  <a:pt x="8" y="52"/>
                </a:lnTo>
                <a:lnTo>
                  <a:pt x="6" y="46"/>
                </a:lnTo>
                <a:lnTo>
                  <a:pt x="6" y="38"/>
                </a:lnTo>
                <a:lnTo>
                  <a:pt x="6" y="36"/>
                </a:lnTo>
                <a:lnTo>
                  <a:pt x="6" y="36"/>
                </a:lnTo>
                <a:lnTo>
                  <a:pt x="6" y="28"/>
                </a:lnTo>
                <a:lnTo>
                  <a:pt x="8" y="22"/>
                </a:lnTo>
                <a:lnTo>
                  <a:pt x="12" y="14"/>
                </a:lnTo>
                <a:lnTo>
                  <a:pt x="18" y="10"/>
                </a:lnTo>
                <a:lnTo>
                  <a:pt x="24" y="6"/>
                </a:lnTo>
                <a:lnTo>
                  <a:pt x="32" y="2"/>
                </a:lnTo>
                <a:lnTo>
                  <a:pt x="40" y="0"/>
                </a:lnTo>
                <a:lnTo>
                  <a:pt x="48" y="0"/>
                </a:lnTo>
                <a:lnTo>
                  <a:pt x="48" y="0"/>
                </a:lnTo>
                <a:lnTo>
                  <a:pt x="60" y="0"/>
                </a:lnTo>
                <a:lnTo>
                  <a:pt x="72" y="4"/>
                </a:lnTo>
                <a:lnTo>
                  <a:pt x="84" y="8"/>
                </a:lnTo>
                <a:lnTo>
                  <a:pt x="94" y="14"/>
                </a:lnTo>
                <a:lnTo>
                  <a:pt x="82" y="34"/>
                </a:lnTo>
                <a:lnTo>
                  <a:pt x="82" y="34"/>
                </a:lnTo>
                <a:lnTo>
                  <a:pt x="64" y="24"/>
                </a:lnTo>
                <a:lnTo>
                  <a:pt x="56" y="22"/>
                </a:lnTo>
                <a:lnTo>
                  <a:pt x="48" y="22"/>
                </a:lnTo>
                <a:lnTo>
                  <a:pt x="48" y="22"/>
                </a:lnTo>
                <a:lnTo>
                  <a:pt x="40" y="22"/>
                </a:lnTo>
                <a:lnTo>
                  <a:pt x="36" y="26"/>
                </a:lnTo>
                <a:lnTo>
                  <a:pt x="32" y="28"/>
                </a:lnTo>
                <a:lnTo>
                  <a:pt x="32" y="34"/>
                </a:lnTo>
                <a:lnTo>
                  <a:pt x="32" y="34"/>
                </a:lnTo>
                <a:lnTo>
                  <a:pt x="32" y="34"/>
                </a:lnTo>
                <a:lnTo>
                  <a:pt x="32" y="38"/>
                </a:lnTo>
                <a:lnTo>
                  <a:pt x="34" y="40"/>
                </a:lnTo>
                <a:lnTo>
                  <a:pt x="40" y="44"/>
                </a:lnTo>
                <a:lnTo>
                  <a:pt x="58" y="52"/>
                </a:lnTo>
                <a:lnTo>
                  <a:pt x="58" y="52"/>
                </a:lnTo>
                <a:lnTo>
                  <a:pt x="72" y="56"/>
                </a:lnTo>
                <a:lnTo>
                  <a:pt x="84" y="64"/>
                </a:lnTo>
                <a:lnTo>
                  <a:pt x="90" y="68"/>
                </a:lnTo>
                <a:lnTo>
                  <a:pt x="94" y="74"/>
                </a:lnTo>
                <a:lnTo>
                  <a:pt x="96" y="80"/>
                </a:lnTo>
                <a:lnTo>
                  <a:pt x="96" y="88"/>
                </a:lnTo>
                <a:lnTo>
                  <a:pt x="96" y="88"/>
                </a:lnTo>
                <a:lnTo>
                  <a:pt x="96" y="88"/>
                </a:lnTo>
                <a:lnTo>
                  <a:pt x="96" y="96"/>
                </a:lnTo>
                <a:lnTo>
                  <a:pt x="94" y="104"/>
                </a:lnTo>
                <a:lnTo>
                  <a:pt x="90" y="112"/>
                </a:lnTo>
                <a:lnTo>
                  <a:pt x="84" y="116"/>
                </a:lnTo>
                <a:lnTo>
                  <a:pt x="76" y="120"/>
                </a:lnTo>
                <a:lnTo>
                  <a:pt x="70" y="124"/>
                </a:lnTo>
                <a:lnTo>
                  <a:pt x="60" y="126"/>
                </a:lnTo>
                <a:lnTo>
                  <a:pt x="52" y="126"/>
                </a:lnTo>
                <a:lnTo>
                  <a:pt x="52" y="126"/>
                </a:lnTo>
                <a:lnTo>
                  <a:pt x="38" y="126"/>
                </a:lnTo>
                <a:lnTo>
                  <a:pt x="24" y="122"/>
                </a:lnTo>
                <a:lnTo>
                  <a:pt x="12" y="116"/>
                </a:lnTo>
                <a:lnTo>
                  <a:pt x="0" y="108"/>
                </a:lnTo>
                <a:lnTo>
                  <a:pt x="0" y="108"/>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4" name="Freeform 221"/>
          <p:cNvSpPr>
            <a:spLocks noEditPoints="1"/>
          </p:cNvSpPr>
          <p:nvPr userDrawn="1"/>
        </p:nvSpPr>
        <p:spPr bwMode="auto">
          <a:xfrm>
            <a:off x="4983105" y="1208077"/>
            <a:ext cx="157786" cy="172233"/>
          </a:xfrm>
          <a:custGeom>
            <a:avLst/>
            <a:gdLst>
              <a:gd name="T0" fmla="*/ 0 w 118"/>
              <a:gd name="T1" fmla="*/ 64 h 128"/>
              <a:gd name="T2" fmla="*/ 2 w 118"/>
              <a:gd name="T3" fmla="*/ 52 h 128"/>
              <a:gd name="T4" fmla="*/ 10 w 118"/>
              <a:gd name="T5" fmla="*/ 30 h 128"/>
              <a:gd name="T6" fmla="*/ 26 w 118"/>
              <a:gd name="T7" fmla="*/ 12 h 128"/>
              <a:gd name="T8" fmla="*/ 48 w 118"/>
              <a:gd name="T9" fmla="*/ 2 h 128"/>
              <a:gd name="T10" fmla="*/ 60 w 118"/>
              <a:gd name="T11" fmla="*/ 0 h 128"/>
              <a:gd name="T12" fmla="*/ 86 w 118"/>
              <a:gd name="T13" fmla="*/ 6 h 128"/>
              <a:gd name="T14" fmla="*/ 104 w 118"/>
              <a:gd name="T15" fmla="*/ 20 h 128"/>
              <a:gd name="T16" fmla="*/ 114 w 118"/>
              <a:gd name="T17" fmla="*/ 42 h 128"/>
              <a:gd name="T18" fmla="*/ 118 w 118"/>
              <a:gd name="T19" fmla="*/ 66 h 128"/>
              <a:gd name="T20" fmla="*/ 118 w 118"/>
              <a:gd name="T21" fmla="*/ 74 h 128"/>
              <a:gd name="T22" fmla="*/ 28 w 118"/>
              <a:gd name="T23" fmla="*/ 74 h 128"/>
              <a:gd name="T24" fmla="*/ 36 w 118"/>
              <a:gd name="T25" fmla="*/ 94 h 128"/>
              <a:gd name="T26" fmla="*/ 50 w 118"/>
              <a:gd name="T27" fmla="*/ 104 h 128"/>
              <a:gd name="T28" fmla="*/ 64 w 118"/>
              <a:gd name="T29" fmla="*/ 106 h 128"/>
              <a:gd name="T30" fmla="*/ 82 w 118"/>
              <a:gd name="T31" fmla="*/ 102 h 128"/>
              <a:gd name="T32" fmla="*/ 96 w 118"/>
              <a:gd name="T33" fmla="*/ 92 h 128"/>
              <a:gd name="T34" fmla="*/ 114 w 118"/>
              <a:gd name="T35" fmla="*/ 106 h 128"/>
              <a:gd name="T36" fmla="*/ 92 w 118"/>
              <a:gd name="T37" fmla="*/ 122 h 128"/>
              <a:gd name="T38" fmla="*/ 62 w 118"/>
              <a:gd name="T39" fmla="*/ 128 h 128"/>
              <a:gd name="T40" fmla="*/ 50 w 118"/>
              <a:gd name="T41" fmla="*/ 128 h 128"/>
              <a:gd name="T42" fmla="*/ 28 w 118"/>
              <a:gd name="T43" fmla="*/ 118 h 128"/>
              <a:gd name="T44" fmla="*/ 10 w 118"/>
              <a:gd name="T45" fmla="*/ 102 h 128"/>
              <a:gd name="T46" fmla="*/ 2 w 118"/>
              <a:gd name="T47" fmla="*/ 78 h 128"/>
              <a:gd name="T48" fmla="*/ 0 w 118"/>
              <a:gd name="T49" fmla="*/ 66 h 128"/>
              <a:gd name="T50" fmla="*/ 90 w 118"/>
              <a:gd name="T51" fmla="*/ 56 h 128"/>
              <a:gd name="T52" fmla="*/ 82 w 118"/>
              <a:gd name="T53" fmla="*/ 34 h 128"/>
              <a:gd name="T54" fmla="*/ 72 w 118"/>
              <a:gd name="T55" fmla="*/ 26 h 128"/>
              <a:gd name="T56" fmla="*/ 60 w 118"/>
              <a:gd name="T57" fmla="*/ 24 h 128"/>
              <a:gd name="T58" fmla="*/ 54 w 118"/>
              <a:gd name="T59" fmla="*/ 24 h 128"/>
              <a:gd name="T60" fmla="*/ 38 w 118"/>
              <a:gd name="T61" fmla="*/ 32 h 128"/>
              <a:gd name="T62" fmla="*/ 28 w 118"/>
              <a:gd name="T63" fmla="*/ 5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8" h="128">
                <a:moveTo>
                  <a:pt x="0" y="66"/>
                </a:moveTo>
                <a:lnTo>
                  <a:pt x="0" y="64"/>
                </a:lnTo>
                <a:lnTo>
                  <a:pt x="0" y="64"/>
                </a:lnTo>
                <a:lnTo>
                  <a:pt x="2" y="52"/>
                </a:lnTo>
                <a:lnTo>
                  <a:pt x="4" y="40"/>
                </a:lnTo>
                <a:lnTo>
                  <a:pt x="10" y="30"/>
                </a:lnTo>
                <a:lnTo>
                  <a:pt x="16" y="20"/>
                </a:lnTo>
                <a:lnTo>
                  <a:pt x="26" y="12"/>
                </a:lnTo>
                <a:lnTo>
                  <a:pt x="36" y="6"/>
                </a:lnTo>
                <a:lnTo>
                  <a:pt x="48" y="2"/>
                </a:lnTo>
                <a:lnTo>
                  <a:pt x="60" y="0"/>
                </a:lnTo>
                <a:lnTo>
                  <a:pt x="60" y="0"/>
                </a:lnTo>
                <a:lnTo>
                  <a:pt x="74" y="2"/>
                </a:lnTo>
                <a:lnTo>
                  <a:pt x="86" y="6"/>
                </a:lnTo>
                <a:lnTo>
                  <a:pt x="96" y="12"/>
                </a:lnTo>
                <a:lnTo>
                  <a:pt x="104" y="20"/>
                </a:lnTo>
                <a:lnTo>
                  <a:pt x="110" y="30"/>
                </a:lnTo>
                <a:lnTo>
                  <a:pt x="114" y="42"/>
                </a:lnTo>
                <a:lnTo>
                  <a:pt x="118" y="54"/>
                </a:lnTo>
                <a:lnTo>
                  <a:pt x="118" y="66"/>
                </a:lnTo>
                <a:lnTo>
                  <a:pt x="118" y="66"/>
                </a:lnTo>
                <a:lnTo>
                  <a:pt x="118" y="74"/>
                </a:lnTo>
                <a:lnTo>
                  <a:pt x="28" y="74"/>
                </a:lnTo>
                <a:lnTo>
                  <a:pt x="28" y="74"/>
                </a:lnTo>
                <a:lnTo>
                  <a:pt x="32" y="88"/>
                </a:lnTo>
                <a:lnTo>
                  <a:pt x="36" y="94"/>
                </a:lnTo>
                <a:lnTo>
                  <a:pt x="40" y="98"/>
                </a:lnTo>
                <a:lnTo>
                  <a:pt x="50" y="104"/>
                </a:lnTo>
                <a:lnTo>
                  <a:pt x="64" y="106"/>
                </a:lnTo>
                <a:lnTo>
                  <a:pt x="64" y="106"/>
                </a:lnTo>
                <a:lnTo>
                  <a:pt x="74" y="104"/>
                </a:lnTo>
                <a:lnTo>
                  <a:pt x="82" y="102"/>
                </a:lnTo>
                <a:lnTo>
                  <a:pt x="90" y="98"/>
                </a:lnTo>
                <a:lnTo>
                  <a:pt x="96" y="92"/>
                </a:lnTo>
                <a:lnTo>
                  <a:pt x="114" y="106"/>
                </a:lnTo>
                <a:lnTo>
                  <a:pt x="114" y="106"/>
                </a:lnTo>
                <a:lnTo>
                  <a:pt x="104" y="116"/>
                </a:lnTo>
                <a:lnTo>
                  <a:pt x="92" y="122"/>
                </a:lnTo>
                <a:lnTo>
                  <a:pt x="78" y="128"/>
                </a:lnTo>
                <a:lnTo>
                  <a:pt x="62" y="128"/>
                </a:lnTo>
                <a:lnTo>
                  <a:pt x="62" y="128"/>
                </a:lnTo>
                <a:lnTo>
                  <a:pt x="50" y="128"/>
                </a:lnTo>
                <a:lnTo>
                  <a:pt x="38" y="124"/>
                </a:lnTo>
                <a:lnTo>
                  <a:pt x="28" y="118"/>
                </a:lnTo>
                <a:lnTo>
                  <a:pt x="18" y="112"/>
                </a:lnTo>
                <a:lnTo>
                  <a:pt x="10" y="102"/>
                </a:lnTo>
                <a:lnTo>
                  <a:pt x="4" y="92"/>
                </a:lnTo>
                <a:lnTo>
                  <a:pt x="2" y="78"/>
                </a:lnTo>
                <a:lnTo>
                  <a:pt x="0" y="66"/>
                </a:lnTo>
                <a:lnTo>
                  <a:pt x="0" y="66"/>
                </a:lnTo>
                <a:close/>
                <a:moveTo>
                  <a:pt x="90" y="56"/>
                </a:moveTo>
                <a:lnTo>
                  <a:pt x="90" y="56"/>
                </a:lnTo>
                <a:lnTo>
                  <a:pt x="88" y="44"/>
                </a:lnTo>
                <a:lnTo>
                  <a:pt x="82" y="34"/>
                </a:lnTo>
                <a:lnTo>
                  <a:pt x="78" y="30"/>
                </a:lnTo>
                <a:lnTo>
                  <a:pt x="72" y="26"/>
                </a:lnTo>
                <a:lnTo>
                  <a:pt x="66" y="24"/>
                </a:lnTo>
                <a:lnTo>
                  <a:pt x="60" y="24"/>
                </a:lnTo>
                <a:lnTo>
                  <a:pt x="60" y="24"/>
                </a:lnTo>
                <a:lnTo>
                  <a:pt x="54" y="24"/>
                </a:lnTo>
                <a:lnTo>
                  <a:pt x="48" y="26"/>
                </a:lnTo>
                <a:lnTo>
                  <a:pt x="38" y="32"/>
                </a:lnTo>
                <a:lnTo>
                  <a:pt x="32" y="44"/>
                </a:lnTo>
                <a:lnTo>
                  <a:pt x="28" y="56"/>
                </a:lnTo>
                <a:lnTo>
                  <a:pt x="90" y="5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5" name="Freeform 222"/>
          <p:cNvSpPr>
            <a:spLocks noEditPoints="1"/>
          </p:cNvSpPr>
          <p:nvPr userDrawn="1"/>
        </p:nvSpPr>
        <p:spPr bwMode="auto">
          <a:xfrm>
            <a:off x="5189029" y="1148872"/>
            <a:ext cx="168484" cy="231438"/>
          </a:xfrm>
          <a:custGeom>
            <a:avLst/>
            <a:gdLst>
              <a:gd name="T0" fmla="*/ 0 w 126"/>
              <a:gd name="T1" fmla="*/ 108 h 172"/>
              <a:gd name="T2" fmla="*/ 0 w 126"/>
              <a:gd name="T3" fmla="*/ 94 h 172"/>
              <a:gd name="T4" fmla="*/ 10 w 126"/>
              <a:gd name="T5" fmla="*/ 70 h 172"/>
              <a:gd name="T6" fmla="*/ 26 w 126"/>
              <a:gd name="T7" fmla="*/ 54 h 172"/>
              <a:gd name="T8" fmla="*/ 46 w 126"/>
              <a:gd name="T9" fmla="*/ 46 h 172"/>
              <a:gd name="T10" fmla="*/ 56 w 126"/>
              <a:gd name="T11" fmla="*/ 44 h 172"/>
              <a:gd name="T12" fmla="*/ 82 w 126"/>
              <a:gd name="T13" fmla="*/ 52 h 172"/>
              <a:gd name="T14" fmla="*/ 98 w 126"/>
              <a:gd name="T15" fmla="*/ 66 h 172"/>
              <a:gd name="T16" fmla="*/ 126 w 126"/>
              <a:gd name="T17" fmla="*/ 0 h 172"/>
              <a:gd name="T18" fmla="*/ 98 w 126"/>
              <a:gd name="T19" fmla="*/ 170 h 172"/>
              <a:gd name="T20" fmla="*/ 98 w 126"/>
              <a:gd name="T21" fmla="*/ 150 h 172"/>
              <a:gd name="T22" fmla="*/ 82 w 126"/>
              <a:gd name="T23" fmla="*/ 166 h 172"/>
              <a:gd name="T24" fmla="*/ 56 w 126"/>
              <a:gd name="T25" fmla="*/ 172 h 172"/>
              <a:gd name="T26" fmla="*/ 46 w 126"/>
              <a:gd name="T27" fmla="*/ 172 h 172"/>
              <a:gd name="T28" fmla="*/ 26 w 126"/>
              <a:gd name="T29" fmla="*/ 164 h 172"/>
              <a:gd name="T30" fmla="*/ 10 w 126"/>
              <a:gd name="T31" fmla="*/ 146 h 172"/>
              <a:gd name="T32" fmla="*/ 0 w 126"/>
              <a:gd name="T33" fmla="*/ 124 h 172"/>
              <a:gd name="T34" fmla="*/ 0 w 126"/>
              <a:gd name="T35" fmla="*/ 108 h 172"/>
              <a:gd name="T36" fmla="*/ 98 w 126"/>
              <a:gd name="T37" fmla="*/ 108 h 172"/>
              <a:gd name="T38" fmla="*/ 98 w 126"/>
              <a:gd name="T39" fmla="*/ 100 h 172"/>
              <a:gd name="T40" fmla="*/ 92 w 126"/>
              <a:gd name="T41" fmla="*/ 86 h 172"/>
              <a:gd name="T42" fmla="*/ 82 w 126"/>
              <a:gd name="T43" fmla="*/ 76 h 172"/>
              <a:gd name="T44" fmla="*/ 70 w 126"/>
              <a:gd name="T45" fmla="*/ 70 h 172"/>
              <a:gd name="T46" fmla="*/ 62 w 126"/>
              <a:gd name="T47" fmla="*/ 70 h 172"/>
              <a:gd name="T48" fmla="*/ 50 w 126"/>
              <a:gd name="T49" fmla="*/ 72 h 172"/>
              <a:gd name="T50" fmla="*/ 38 w 126"/>
              <a:gd name="T51" fmla="*/ 80 h 172"/>
              <a:gd name="T52" fmla="*/ 30 w 126"/>
              <a:gd name="T53" fmla="*/ 92 h 172"/>
              <a:gd name="T54" fmla="*/ 28 w 126"/>
              <a:gd name="T55" fmla="*/ 108 h 172"/>
              <a:gd name="T56" fmla="*/ 28 w 126"/>
              <a:gd name="T57" fmla="*/ 108 h 172"/>
              <a:gd name="T58" fmla="*/ 30 w 126"/>
              <a:gd name="T59" fmla="*/ 126 h 172"/>
              <a:gd name="T60" fmla="*/ 38 w 126"/>
              <a:gd name="T61" fmla="*/ 138 h 172"/>
              <a:gd name="T62" fmla="*/ 50 w 126"/>
              <a:gd name="T63" fmla="*/ 146 h 172"/>
              <a:gd name="T64" fmla="*/ 62 w 126"/>
              <a:gd name="T65" fmla="*/ 148 h 172"/>
              <a:gd name="T66" fmla="*/ 70 w 126"/>
              <a:gd name="T67" fmla="*/ 148 h 172"/>
              <a:gd name="T68" fmla="*/ 82 w 126"/>
              <a:gd name="T69" fmla="*/ 142 h 172"/>
              <a:gd name="T70" fmla="*/ 92 w 126"/>
              <a:gd name="T71" fmla="*/ 132 h 172"/>
              <a:gd name="T72" fmla="*/ 98 w 126"/>
              <a:gd name="T73" fmla="*/ 118 h 172"/>
              <a:gd name="T74" fmla="*/ 98 w 126"/>
              <a:gd name="T75" fmla="*/ 108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6" h="172">
                <a:moveTo>
                  <a:pt x="0" y="108"/>
                </a:moveTo>
                <a:lnTo>
                  <a:pt x="0" y="108"/>
                </a:lnTo>
                <a:lnTo>
                  <a:pt x="0" y="108"/>
                </a:lnTo>
                <a:lnTo>
                  <a:pt x="0" y="94"/>
                </a:lnTo>
                <a:lnTo>
                  <a:pt x="4" y="82"/>
                </a:lnTo>
                <a:lnTo>
                  <a:pt x="10" y="70"/>
                </a:lnTo>
                <a:lnTo>
                  <a:pt x="16" y="62"/>
                </a:lnTo>
                <a:lnTo>
                  <a:pt x="26" y="54"/>
                </a:lnTo>
                <a:lnTo>
                  <a:pt x="36" y="50"/>
                </a:lnTo>
                <a:lnTo>
                  <a:pt x="46" y="46"/>
                </a:lnTo>
                <a:lnTo>
                  <a:pt x="56" y="44"/>
                </a:lnTo>
                <a:lnTo>
                  <a:pt x="56" y="44"/>
                </a:lnTo>
                <a:lnTo>
                  <a:pt x="70" y="46"/>
                </a:lnTo>
                <a:lnTo>
                  <a:pt x="82" y="52"/>
                </a:lnTo>
                <a:lnTo>
                  <a:pt x="90" y="58"/>
                </a:lnTo>
                <a:lnTo>
                  <a:pt x="98" y="66"/>
                </a:lnTo>
                <a:lnTo>
                  <a:pt x="98" y="0"/>
                </a:lnTo>
                <a:lnTo>
                  <a:pt x="126" y="0"/>
                </a:lnTo>
                <a:lnTo>
                  <a:pt x="126" y="170"/>
                </a:lnTo>
                <a:lnTo>
                  <a:pt x="98" y="170"/>
                </a:lnTo>
                <a:lnTo>
                  <a:pt x="98" y="150"/>
                </a:lnTo>
                <a:lnTo>
                  <a:pt x="98" y="150"/>
                </a:lnTo>
                <a:lnTo>
                  <a:pt x="90" y="158"/>
                </a:lnTo>
                <a:lnTo>
                  <a:pt x="82" y="166"/>
                </a:lnTo>
                <a:lnTo>
                  <a:pt x="70" y="170"/>
                </a:lnTo>
                <a:lnTo>
                  <a:pt x="56" y="172"/>
                </a:lnTo>
                <a:lnTo>
                  <a:pt x="56" y="172"/>
                </a:lnTo>
                <a:lnTo>
                  <a:pt x="46" y="172"/>
                </a:lnTo>
                <a:lnTo>
                  <a:pt x="36" y="168"/>
                </a:lnTo>
                <a:lnTo>
                  <a:pt x="26" y="164"/>
                </a:lnTo>
                <a:lnTo>
                  <a:pt x="18" y="156"/>
                </a:lnTo>
                <a:lnTo>
                  <a:pt x="10" y="146"/>
                </a:lnTo>
                <a:lnTo>
                  <a:pt x="4" y="136"/>
                </a:lnTo>
                <a:lnTo>
                  <a:pt x="0" y="124"/>
                </a:lnTo>
                <a:lnTo>
                  <a:pt x="0" y="108"/>
                </a:lnTo>
                <a:lnTo>
                  <a:pt x="0" y="108"/>
                </a:lnTo>
                <a:close/>
                <a:moveTo>
                  <a:pt x="98" y="108"/>
                </a:moveTo>
                <a:lnTo>
                  <a:pt x="98" y="108"/>
                </a:lnTo>
                <a:lnTo>
                  <a:pt x="98" y="108"/>
                </a:lnTo>
                <a:lnTo>
                  <a:pt x="98" y="100"/>
                </a:lnTo>
                <a:lnTo>
                  <a:pt x="96" y="92"/>
                </a:lnTo>
                <a:lnTo>
                  <a:pt x="92" y="86"/>
                </a:lnTo>
                <a:lnTo>
                  <a:pt x="88" y="80"/>
                </a:lnTo>
                <a:lnTo>
                  <a:pt x="82" y="76"/>
                </a:lnTo>
                <a:lnTo>
                  <a:pt x="76" y="72"/>
                </a:lnTo>
                <a:lnTo>
                  <a:pt x="70" y="70"/>
                </a:lnTo>
                <a:lnTo>
                  <a:pt x="62" y="70"/>
                </a:lnTo>
                <a:lnTo>
                  <a:pt x="62" y="70"/>
                </a:lnTo>
                <a:lnTo>
                  <a:pt x="56" y="70"/>
                </a:lnTo>
                <a:lnTo>
                  <a:pt x="50" y="72"/>
                </a:lnTo>
                <a:lnTo>
                  <a:pt x="44" y="76"/>
                </a:lnTo>
                <a:lnTo>
                  <a:pt x="38" y="80"/>
                </a:lnTo>
                <a:lnTo>
                  <a:pt x="34" y="86"/>
                </a:lnTo>
                <a:lnTo>
                  <a:pt x="30" y="92"/>
                </a:lnTo>
                <a:lnTo>
                  <a:pt x="28" y="100"/>
                </a:lnTo>
                <a:lnTo>
                  <a:pt x="28" y="108"/>
                </a:lnTo>
                <a:lnTo>
                  <a:pt x="28" y="108"/>
                </a:lnTo>
                <a:lnTo>
                  <a:pt x="28" y="108"/>
                </a:lnTo>
                <a:lnTo>
                  <a:pt x="28" y="118"/>
                </a:lnTo>
                <a:lnTo>
                  <a:pt x="30" y="126"/>
                </a:lnTo>
                <a:lnTo>
                  <a:pt x="34" y="132"/>
                </a:lnTo>
                <a:lnTo>
                  <a:pt x="38" y="138"/>
                </a:lnTo>
                <a:lnTo>
                  <a:pt x="44" y="142"/>
                </a:lnTo>
                <a:lnTo>
                  <a:pt x="50" y="146"/>
                </a:lnTo>
                <a:lnTo>
                  <a:pt x="56" y="148"/>
                </a:lnTo>
                <a:lnTo>
                  <a:pt x="62" y="148"/>
                </a:lnTo>
                <a:lnTo>
                  <a:pt x="62" y="148"/>
                </a:lnTo>
                <a:lnTo>
                  <a:pt x="70" y="148"/>
                </a:lnTo>
                <a:lnTo>
                  <a:pt x="76" y="146"/>
                </a:lnTo>
                <a:lnTo>
                  <a:pt x="82" y="142"/>
                </a:lnTo>
                <a:lnTo>
                  <a:pt x="88" y="138"/>
                </a:lnTo>
                <a:lnTo>
                  <a:pt x="92" y="132"/>
                </a:lnTo>
                <a:lnTo>
                  <a:pt x="96" y="124"/>
                </a:lnTo>
                <a:lnTo>
                  <a:pt x="98" y="118"/>
                </a:lnTo>
                <a:lnTo>
                  <a:pt x="98" y="108"/>
                </a:lnTo>
                <a:lnTo>
                  <a:pt x="98" y="108"/>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6" name="Freeform 223"/>
          <p:cNvSpPr>
            <a:spLocks noEditPoints="1"/>
          </p:cNvSpPr>
          <p:nvPr userDrawn="1"/>
        </p:nvSpPr>
        <p:spPr bwMode="auto">
          <a:xfrm>
            <a:off x="5523322" y="1210768"/>
            <a:ext cx="149763" cy="169542"/>
          </a:xfrm>
          <a:custGeom>
            <a:avLst/>
            <a:gdLst>
              <a:gd name="T0" fmla="*/ 84 w 112"/>
              <a:gd name="T1" fmla="*/ 108 h 126"/>
              <a:gd name="T2" fmla="*/ 76 w 112"/>
              <a:gd name="T3" fmla="*/ 116 h 126"/>
              <a:gd name="T4" fmla="*/ 56 w 112"/>
              <a:gd name="T5" fmla="*/ 126 h 126"/>
              <a:gd name="T6" fmla="*/ 44 w 112"/>
              <a:gd name="T7" fmla="*/ 126 h 126"/>
              <a:gd name="T8" fmla="*/ 28 w 112"/>
              <a:gd name="T9" fmla="*/ 124 h 126"/>
              <a:gd name="T10" fmla="*/ 14 w 112"/>
              <a:gd name="T11" fmla="*/ 116 h 126"/>
              <a:gd name="T12" fmla="*/ 4 w 112"/>
              <a:gd name="T13" fmla="*/ 104 h 126"/>
              <a:gd name="T14" fmla="*/ 0 w 112"/>
              <a:gd name="T15" fmla="*/ 88 h 126"/>
              <a:gd name="T16" fmla="*/ 0 w 112"/>
              <a:gd name="T17" fmla="*/ 88 h 126"/>
              <a:gd name="T18" fmla="*/ 4 w 112"/>
              <a:gd name="T19" fmla="*/ 70 h 126"/>
              <a:gd name="T20" fmla="*/ 14 w 112"/>
              <a:gd name="T21" fmla="*/ 58 h 126"/>
              <a:gd name="T22" fmla="*/ 30 w 112"/>
              <a:gd name="T23" fmla="*/ 50 h 126"/>
              <a:gd name="T24" fmla="*/ 50 w 112"/>
              <a:gd name="T25" fmla="*/ 48 h 126"/>
              <a:gd name="T26" fmla="*/ 68 w 112"/>
              <a:gd name="T27" fmla="*/ 50 h 126"/>
              <a:gd name="T28" fmla="*/ 84 w 112"/>
              <a:gd name="T29" fmla="*/ 50 h 126"/>
              <a:gd name="T30" fmla="*/ 82 w 112"/>
              <a:gd name="T31" fmla="*/ 40 h 126"/>
              <a:gd name="T32" fmla="*/ 76 w 112"/>
              <a:gd name="T33" fmla="*/ 32 h 126"/>
              <a:gd name="T34" fmla="*/ 54 w 112"/>
              <a:gd name="T35" fmla="*/ 24 h 126"/>
              <a:gd name="T36" fmla="*/ 36 w 112"/>
              <a:gd name="T37" fmla="*/ 26 h 126"/>
              <a:gd name="T38" fmla="*/ 10 w 112"/>
              <a:gd name="T39" fmla="*/ 10 h 126"/>
              <a:gd name="T40" fmla="*/ 32 w 112"/>
              <a:gd name="T41" fmla="*/ 2 h 126"/>
              <a:gd name="T42" fmla="*/ 58 w 112"/>
              <a:gd name="T43" fmla="*/ 0 h 126"/>
              <a:gd name="T44" fmla="*/ 70 w 112"/>
              <a:gd name="T45" fmla="*/ 0 h 126"/>
              <a:gd name="T46" fmla="*/ 90 w 112"/>
              <a:gd name="T47" fmla="*/ 8 h 126"/>
              <a:gd name="T48" fmla="*/ 104 w 112"/>
              <a:gd name="T49" fmla="*/ 20 h 126"/>
              <a:gd name="T50" fmla="*/ 110 w 112"/>
              <a:gd name="T51" fmla="*/ 40 h 126"/>
              <a:gd name="T52" fmla="*/ 112 w 112"/>
              <a:gd name="T53" fmla="*/ 124 h 126"/>
              <a:gd name="T54" fmla="*/ 84 w 112"/>
              <a:gd name="T55" fmla="*/ 72 h 126"/>
              <a:gd name="T56" fmla="*/ 72 w 112"/>
              <a:gd name="T57" fmla="*/ 70 h 126"/>
              <a:gd name="T58" fmla="*/ 56 w 112"/>
              <a:gd name="T59" fmla="*/ 68 h 126"/>
              <a:gd name="T60" fmla="*/ 36 w 112"/>
              <a:gd name="T61" fmla="*/ 72 h 126"/>
              <a:gd name="T62" fmla="*/ 28 w 112"/>
              <a:gd name="T63" fmla="*/ 86 h 126"/>
              <a:gd name="T64" fmla="*/ 28 w 112"/>
              <a:gd name="T65" fmla="*/ 88 h 126"/>
              <a:gd name="T66" fmla="*/ 34 w 112"/>
              <a:gd name="T67" fmla="*/ 100 h 126"/>
              <a:gd name="T68" fmla="*/ 52 w 112"/>
              <a:gd name="T69" fmla="*/ 106 h 126"/>
              <a:gd name="T70" fmla="*/ 64 w 112"/>
              <a:gd name="T71" fmla="*/ 104 h 126"/>
              <a:gd name="T72" fmla="*/ 82 w 112"/>
              <a:gd name="T73" fmla="*/ 90 h 126"/>
              <a:gd name="T74" fmla="*/ 84 w 112"/>
              <a:gd name="T75" fmla="*/ 8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2" h="126">
                <a:moveTo>
                  <a:pt x="84" y="124"/>
                </a:moveTo>
                <a:lnTo>
                  <a:pt x="84" y="108"/>
                </a:lnTo>
                <a:lnTo>
                  <a:pt x="84" y="108"/>
                </a:lnTo>
                <a:lnTo>
                  <a:pt x="76" y="116"/>
                </a:lnTo>
                <a:lnTo>
                  <a:pt x="68" y="122"/>
                </a:lnTo>
                <a:lnTo>
                  <a:pt x="56" y="126"/>
                </a:lnTo>
                <a:lnTo>
                  <a:pt x="44" y="126"/>
                </a:lnTo>
                <a:lnTo>
                  <a:pt x="44" y="126"/>
                </a:lnTo>
                <a:lnTo>
                  <a:pt x="36" y="126"/>
                </a:lnTo>
                <a:lnTo>
                  <a:pt x="28" y="124"/>
                </a:lnTo>
                <a:lnTo>
                  <a:pt x="20" y="120"/>
                </a:lnTo>
                <a:lnTo>
                  <a:pt x="14" y="116"/>
                </a:lnTo>
                <a:lnTo>
                  <a:pt x="8" y="112"/>
                </a:lnTo>
                <a:lnTo>
                  <a:pt x="4" y="104"/>
                </a:lnTo>
                <a:lnTo>
                  <a:pt x="2" y="98"/>
                </a:lnTo>
                <a:lnTo>
                  <a:pt x="0" y="88"/>
                </a:lnTo>
                <a:lnTo>
                  <a:pt x="0" y="88"/>
                </a:lnTo>
                <a:lnTo>
                  <a:pt x="0" y="88"/>
                </a:lnTo>
                <a:lnTo>
                  <a:pt x="2" y="78"/>
                </a:lnTo>
                <a:lnTo>
                  <a:pt x="4" y="70"/>
                </a:lnTo>
                <a:lnTo>
                  <a:pt x="8" y="64"/>
                </a:lnTo>
                <a:lnTo>
                  <a:pt x="14" y="58"/>
                </a:lnTo>
                <a:lnTo>
                  <a:pt x="22" y="54"/>
                </a:lnTo>
                <a:lnTo>
                  <a:pt x="30" y="50"/>
                </a:lnTo>
                <a:lnTo>
                  <a:pt x="40" y="48"/>
                </a:lnTo>
                <a:lnTo>
                  <a:pt x="50" y="48"/>
                </a:lnTo>
                <a:lnTo>
                  <a:pt x="50" y="48"/>
                </a:lnTo>
                <a:lnTo>
                  <a:pt x="68" y="50"/>
                </a:lnTo>
                <a:lnTo>
                  <a:pt x="84" y="54"/>
                </a:lnTo>
                <a:lnTo>
                  <a:pt x="84" y="50"/>
                </a:lnTo>
                <a:lnTo>
                  <a:pt x="84" y="50"/>
                </a:lnTo>
                <a:lnTo>
                  <a:pt x="82" y="40"/>
                </a:lnTo>
                <a:lnTo>
                  <a:pt x="80" y="36"/>
                </a:lnTo>
                <a:lnTo>
                  <a:pt x="76" y="32"/>
                </a:lnTo>
                <a:lnTo>
                  <a:pt x="66" y="26"/>
                </a:lnTo>
                <a:lnTo>
                  <a:pt x="54" y="24"/>
                </a:lnTo>
                <a:lnTo>
                  <a:pt x="54" y="24"/>
                </a:lnTo>
                <a:lnTo>
                  <a:pt x="36" y="26"/>
                </a:lnTo>
                <a:lnTo>
                  <a:pt x="18" y="32"/>
                </a:lnTo>
                <a:lnTo>
                  <a:pt x="10" y="10"/>
                </a:lnTo>
                <a:lnTo>
                  <a:pt x="10" y="10"/>
                </a:lnTo>
                <a:lnTo>
                  <a:pt x="32" y="2"/>
                </a:lnTo>
                <a:lnTo>
                  <a:pt x="44" y="0"/>
                </a:lnTo>
                <a:lnTo>
                  <a:pt x="58" y="0"/>
                </a:lnTo>
                <a:lnTo>
                  <a:pt x="58" y="0"/>
                </a:lnTo>
                <a:lnTo>
                  <a:pt x="70" y="0"/>
                </a:lnTo>
                <a:lnTo>
                  <a:pt x="82" y="4"/>
                </a:lnTo>
                <a:lnTo>
                  <a:pt x="90" y="8"/>
                </a:lnTo>
                <a:lnTo>
                  <a:pt x="98" y="14"/>
                </a:lnTo>
                <a:lnTo>
                  <a:pt x="104" y="20"/>
                </a:lnTo>
                <a:lnTo>
                  <a:pt x="108" y="30"/>
                </a:lnTo>
                <a:lnTo>
                  <a:pt x="110" y="40"/>
                </a:lnTo>
                <a:lnTo>
                  <a:pt x="112" y="52"/>
                </a:lnTo>
                <a:lnTo>
                  <a:pt x="112" y="124"/>
                </a:lnTo>
                <a:lnTo>
                  <a:pt x="84" y="124"/>
                </a:lnTo>
                <a:close/>
                <a:moveTo>
                  <a:pt x="84" y="72"/>
                </a:moveTo>
                <a:lnTo>
                  <a:pt x="84" y="72"/>
                </a:lnTo>
                <a:lnTo>
                  <a:pt x="72" y="70"/>
                </a:lnTo>
                <a:lnTo>
                  <a:pt x="56" y="68"/>
                </a:lnTo>
                <a:lnTo>
                  <a:pt x="56" y="68"/>
                </a:lnTo>
                <a:lnTo>
                  <a:pt x="44" y="70"/>
                </a:lnTo>
                <a:lnTo>
                  <a:pt x="36" y="72"/>
                </a:lnTo>
                <a:lnTo>
                  <a:pt x="30" y="78"/>
                </a:lnTo>
                <a:lnTo>
                  <a:pt x="28" y="86"/>
                </a:lnTo>
                <a:lnTo>
                  <a:pt x="28" y="88"/>
                </a:lnTo>
                <a:lnTo>
                  <a:pt x="28" y="88"/>
                </a:lnTo>
                <a:lnTo>
                  <a:pt x="30" y="94"/>
                </a:lnTo>
                <a:lnTo>
                  <a:pt x="34" y="100"/>
                </a:lnTo>
                <a:lnTo>
                  <a:pt x="42" y="104"/>
                </a:lnTo>
                <a:lnTo>
                  <a:pt x="52" y="106"/>
                </a:lnTo>
                <a:lnTo>
                  <a:pt x="52" y="106"/>
                </a:lnTo>
                <a:lnTo>
                  <a:pt x="64" y="104"/>
                </a:lnTo>
                <a:lnTo>
                  <a:pt x="74" y="98"/>
                </a:lnTo>
                <a:lnTo>
                  <a:pt x="82" y="90"/>
                </a:lnTo>
                <a:lnTo>
                  <a:pt x="84" y="86"/>
                </a:lnTo>
                <a:lnTo>
                  <a:pt x="84" y="80"/>
                </a:lnTo>
                <a:lnTo>
                  <a:pt x="84" y="72"/>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8" name="Freeform 224"/>
          <p:cNvSpPr>
            <a:spLocks noEditPoints="1"/>
          </p:cNvSpPr>
          <p:nvPr userDrawn="1"/>
        </p:nvSpPr>
        <p:spPr bwMode="auto">
          <a:xfrm>
            <a:off x="5734595" y="1208077"/>
            <a:ext cx="168484" cy="220673"/>
          </a:xfrm>
          <a:custGeom>
            <a:avLst/>
            <a:gdLst>
              <a:gd name="T0" fmla="*/ 28 w 126"/>
              <a:gd name="T1" fmla="*/ 4 h 164"/>
              <a:gd name="T2" fmla="*/ 28 w 126"/>
              <a:gd name="T3" fmla="*/ 24 h 164"/>
              <a:gd name="T4" fmla="*/ 46 w 126"/>
              <a:gd name="T5" fmla="*/ 8 h 164"/>
              <a:gd name="T6" fmla="*/ 70 w 126"/>
              <a:gd name="T7" fmla="*/ 0 h 164"/>
              <a:gd name="T8" fmla="*/ 80 w 126"/>
              <a:gd name="T9" fmla="*/ 2 h 164"/>
              <a:gd name="T10" fmla="*/ 100 w 126"/>
              <a:gd name="T11" fmla="*/ 10 h 164"/>
              <a:gd name="T12" fmla="*/ 116 w 126"/>
              <a:gd name="T13" fmla="*/ 26 h 164"/>
              <a:gd name="T14" fmla="*/ 126 w 126"/>
              <a:gd name="T15" fmla="*/ 50 h 164"/>
              <a:gd name="T16" fmla="*/ 126 w 126"/>
              <a:gd name="T17" fmla="*/ 64 h 164"/>
              <a:gd name="T18" fmla="*/ 126 w 126"/>
              <a:gd name="T19" fmla="*/ 80 h 164"/>
              <a:gd name="T20" fmla="*/ 116 w 126"/>
              <a:gd name="T21" fmla="*/ 102 h 164"/>
              <a:gd name="T22" fmla="*/ 100 w 126"/>
              <a:gd name="T23" fmla="*/ 120 h 164"/>
              <a:gd name="T24" fmla="*/ 80 w 126"/>
              <a:gd name="T25" fmla="*/ 128 h 164"/>
              <a:gd name="T26" fmla="*/ 70 w 126"/>
              <a:gd name="T27" fmla="*/ 128 h 164"/>
              <a:gd name="T28" fmla="*/ 44 w 126"/>
              <a:gd name="T29" fmla="*/ 122 h 164"/>
              <a:gd name="T30" fmla="*/ 28 w 126"/>
              <a:gd name="T31" fmla="*/ 106 h 164"/>
              <a:gd name="T32" fmla="*/ 0 w 126"/>
              <a:gd name="T33" fmla="*/ 164 h 164"/>
              <a:gd name="T34" fmla="*/ 98 w 126"/>
              <a:gd name="T35" fmla="*/ 64 h 164"/>
              <a:gd name="T36" fmla="*/ 98 w 126"/>
              <a:gd name="T37" fmla="*/ 64 h 164"/>
              <a:gd name="T38" fmla="*/ 96 w 126"/>
              <a:gd name="T39" fmla="*/ 48 h 164"/>
              <a:gd name="T40" fmla="*/ 88 w 126"/>
              <a:gd name="T41" fmla="*/ 36 h 164"/>
              <a:gd name="T42" fmla="*/ 76 w 126"/>
              <a:gd name="T43" fmla="*/ 28 h 164"/>
              <a:gd name="T44" fmla="*/ 64 w 126"/>
              <a:gd name="T45" fmla="*/ 26 h 164"/>
              <a:gd name="T46" fmla="*/ 56 w 126"/>
              <a:gd name="T47" fmla="*/ 26 h 164"/>
              <a:gd name="T48" fmla="*/ 44 w 126"/>
              <a:gd name="T49" fmla="*/ 32 h 164"/>
              <a:gd name="T50" fmla="*/ 34 w 126"/>
              <a:gd name="T51" fmla="*/ 42 h 164"/>
              <a:gd name="T52" fmla="*/ 28 w 126"/>
              <a:gd name="T53" fmla="*/ 56 h 164"/>
              <a:gd name="T54" fmla="*/ 28 w 126"/>
              <a:gd name="T55" fmla="*/ 64 h 164"/>
              <a:gd name="T56" fmla="*/ 28 w 126"/>
              <a:gd name="T57" fmla="*/ 74 h 164"/>
              <a:gd name="T58" fmla="*/ 34 w 126"/>
              <a:gd name="T59" fmla="*/ 88 h 164"/>
              <a:gd name="T60" fmla="*/ 44 w 126"/>
              <a:gd name="T61" fmla="*/ 98 h 164"/>
              <a:gd name="T62" fmla="*/ 56 w 126"/>
              <a:gd name="T63" fmla="*/ 104 h 164"/>
              <a:gd name="T64" fmla="*/ 64 w 126"/>
              <a:gd name="T65" fmla="*/ 104 h 164"/>
              <a:gd name="T66" fmla="*/ 76 w 126"/>
              <a:gd name="T67" fmla="*/ 102 h 164"/>
              <a:gd name="T68" fmla="*/ 88 w 126"/>
              <a:gd name="T69" fmla="*/ 94 h 164"/>
              <a:gd name="T70" fmla="*/ 96 w 126"/>
              <a:gd name="T71" fmla="*/ 82 h 164"/>
              <a:gd name="T72" fmla="*/ 98 w 126"/>
              <a:gd name="T73" fmla="*/ 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64">
                <a:moveTo>
                  <a:pt x="0" y="4"/>
                </a:moveTo>
                <a:lnTo>
                  <a:pt x="28" y="4"/>
                </a:lnTo>
                <a:lnTo>
                  <a:pt x="28" y="24"/>
                </a:lnTo>
                <a:lnTo>
                  <a:pt x="28" y="24"/>
                </a:lnTo>
                <a:lnTo>
                  <a:pt x="36" y="14"/>
                </a:lnTo>
                <a:lnTo>
                  <a:pt x="46" y="8"/>
                </a:lnTo>
                <a:lnTo>
                  <a:pt x="56" y="2"/>
                </a:lnTo>
                <a:lnTo>
                  <a:pt x="70" y="0"/>
                </a:lnTo>
                <a:lnTo>
                  <a:pt x="70" y="0"/>
                </a:lnTo>
                <a:lnTo>
                  <a:pt x="80" y="2"/>
                </a:lnTo>
                <a:lnTo>
                  <a:pt x="90" y="6"/>
                </a:lnTo>
                <a:lnTo>
                  <a:pt x="100" y="10"/>
                </a:lnTo>
                <a:lnTo>
                  <a:pt x="110" y="18"/>
                </a:lnTo>
                <a:lnTo>
                  <a:pt x="116" y="26"/>
                </a:lnTo>
                <a:lnTo>
                  <a:pt x="122" y="38"/>
                </a:lnTo>
                <a:lnTo>
                  <a:pt x="126" y="50"/>
                </a:lnTo>
                <a:lnTo>
                  <a:pt x="126" y="64"/>
                </a:lnTo>
                <a:lnTo>
                  <a:pt x="126" y="64"/>
                </a:lnTo>
                <a:lnTo>
                  <a:pt x="126" y="64"/>
                </a:lnTo>
                <a:lnTo>
                  <a:pt x="126" y="80"/>
                </a:lnTo>
                <a:lnTo>
                  <a:pt x="122" y="92"/>
                </a:lnTo>
                <a:lnTo>
                  <a:pt x="116" y="102"/>
                </a:lnTo>
                <a:lnTo>
                  <a:pt x="110" y="112"/>
                </a:lnTo>
                <a:lnTo>
                  <a:pt x="100" y="120"/>
                </a:lnTo>
                <a:lnTo>
                  <a:pt x="92" y="124"/>
                </a:lnTo>
                <a:lnTo>
                  <a:pt x="80" y="128"/>
                </a:lnTo>
                <a:lnTo>
                  <a:pt x="70" y="128"/>
                </a:lnTo>
                <a:lnTo>
                  <a:pt x="70" y="128"/>
                </a:lnTo>
                <a:lnTo>
                  <a:pt x="56" y="126"/>
                </a:lnTo>
                <a:lnTo>
                  <a:pt x="44" y="122"/>
                </a:lnTo>
                <a:lnTo>
                  <a:pt x="36" y="116"/>
                </a:lnTo>
                <a:lnTo>
                  <a:pt x="28" y="106"/>
                </a:lnTo>
                <a:lnTo>
                  <a:pt x="28" y="164"/>
                </a:lnTo>
                <a:lnTo>
                  <a:pt x="0" y="164"/>
                </a:lnTo>
                <a:lnTo>
                  <a:pt x="0" y="4"/>
                </a:lnTo>
                <a:close/>
                <a:moveTo>
                  <a:pt x="98" y="64"/>
                </a:moveTo>
                <a:lnTo>
                  <a:pt x="98" y="64"/>
                </a:lnTo>
                <a:lnTo>
                  <a:pt x="98" y="64"/>
                </a:lnTo>
                <a:lnTo>
                  <a:pt x="98" y="56"/>
                </a:lnTo>
                <a:lnTo>
                  <a:pt x="96" y="48"/>
                </a:lnTo>
                <a:lnTo>
                  <a:pt x="92" y="42"/>
                </a:lnTo>
                <a:lnTo>
                  <a:pt x="88" y="36"/>
                </a:lnTo>
                <a:lnTo>
                  <a:pt x="82" y="32"/>
                </a:lnTo>
                <a:lnTo>
                  <a:pt x="76" y="28"/>
                </a:lnTo>
                <a:lnTo>
                  <a:pt x="70" y="26"/>
                </a:lnTo>
                <a:lnTo>
                  <a:pt x="64" y="26"/>
                </a:lnTo>
                <a:lnTo>
                  <a:pt x="64" y="26"/>
                </a:lnTo>
                <a:lnTo>
                  <a:pt x="56" y="26"/>
                </a:lnTo>
                <a:lnTo>
                  <a:pt x="50" y="28"/>
                </a:lnTo>
                <a:lnTo>
                  <a:pt x="44" y="32"/>
                </a:lnTo>
                <a:lnTo>
                  <a:pt x="38" y="36"/>
                </a:lnTo>
                <a:lnTo>
                  <a:pt x="34" y="42"/>
                </a:lnTo>
                <a:lnTo>
                  <a:pt x="30" y="48"/>
                </a:lnTo>
                <a:lnTo>
                  <a:pt x="28" y="56"/>
                </a:lnTo>
                <a:lnTo>
                  <a:pt x="28" y="64"/>
                </a:lnTo>
                <a:lnTo>
                  <a:pt x="28" y="64"/>
                </a:lnTo>
                <a:lnTo>
                  <a:pt x="28" y="64"/>
                </a:lnTo>
                <a:lnTo>
                  <a:pt x="28" y="74"/>
                </a:lnTo>
                <a:lnTo>
                  <a:pt x="30" y="82"/>
                </a:lnTo>
                <a:lnTo>
                  <a:pt x="34" y="88"/>
                </a:lnTo>
                <a:lnTo>
                  <a:pt x="38" y="94"/>
                </a:lnTo>
                <a:lnTo>
                  <a:pt x="44" y="98"/>
                </a:lnTo>
                <a:lnTo>
                  <a:pt x="50" y="102"/>
                </a:lnTo>
                <a:lnTo>
                  <a:pt x="56" y="104"/>
                </a:lnTo>
                <a:lnTo>
                  <a:pt x="64" y="104"/>
                </a:lnTo>
                <a:lnTo>
                  <a:pt x="64" y="104"/>
                </a:lnTo>
                <a:lnTo>
                  <a:pt x="70" y="104"/>
                </a:lnTo>
                <a:lnTo>
                  <a:pt x="76" y="102"/>
                </a:lnTo>
                <a:lnTo>
                  <a:pt x="82" y="98"/>
                </a:lnTo>
                <a:lnTo>
                  <a:pt x="88" y="94"/>
                </a:lnTo>
                <a:lnTo>
                  <a:pt x="92" y="88"/>
                </a:lnTo>
                <a:lnTo>
                  <a:pt x="96" y="82"/>
                </a:lnTo>
                <a:lnTo>
                  <a:pt x="98" y="74"/>
                </a:lnTo>
                <a:lnTo>
                  <a:pt x="98" y="64"/>
                </a:lnTo>
                <a:lnTo>
                  <a:pt x="98" y="64"/>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9" name="Freeform 225"/>
          <p:cNvSpPr>
            <a:spLocks noEditPoints="1"/>
          </p:cNvSpPr>
          <p:nvPr userDrawn="1"/>
        </p:nvSpPr>
        <p:spPr bwMode="auto">
          <a:xfrm>
            <a:off x="5959240" y="1208077"/>
            <a:ext cx="171158" cy="220673"/>
          </a:xfrm>
          <a:custGeom>
            <a:avLst/>
            <a:gdLst>
              <a:gd name="T0" fmla="*/ 28 w 128"/>
              <a:gd name="T1" fmla="*/ 4 h 164"/>
              <a:gd name="T2" fmla="*/ 28 w 128"/>
              <a:gd name="T3" fmla="*/ 24 h 164"/>
              <a:gd name="T4" fmla="*/ 46 w 128"/>
              <a:gd name="T5" fmla="*/ 8 h 164"/>
              <a:gd name="T6" fmla="*/ 70 w 128"/>
              <a:gd name="T7" fmla="*/ 0 h 164"/>
              <a:gd name="T8" fmla="*/ 82 w 128"/>
              <a:gd name="T9" fmla="*/ 2 h 164"/>
              <a:gd name="T10" fmla="*/ 102 w 128"/>
              <a:gd name="T11" fmla="*/ 10 h 164"/>
              <a:gd name="T12" fmla="*/ 118 w 128"/>
              <a:gd name="T13" fmla="*/ 26 h 164"/>
              <a:gd name="T14" fmla="*/ 126 w 128"/>
              <a:gd name="T15" fmla="*/ 50 h 164"/>
              <a:gd name="T16" fmla="*/ 128 w 128"/>
              <a:gd name="T17" fmla="*/ 64 h 164"/>
              <a:gd name="T18" fmla="*/ 126 w 128"/>
              <a:gd name="T19" fmla="*/ 80 h 164"/>
              <a:gd name="T20" fmla="*/ 118 w 128"/>
              <a:gd name="T21" fmla="*/ 102 h 164"/>
              <a:gd name="T22" fmla="*/ 102 w 128"/>
              <a:gd name="T23" fmla="*/ 120 h 164"/>
              <a:gd name="T24" fmla="*/ 82 w 128"/>
              <a:gd name="T25" fmla="*/ 128 h 164"/>
              <a:gd name="T26" fmla="*/ 70 w 128"/>
              <a:gd name="T27" fmla="*/ 128 h 164"/>
              <a:gd name="T28" fmla="*/ 46 w 128"/>
              <a:gd name="T29" fmla="*/ 122 h 164"/>
              <a:gd name="T30" fmla="*/ 28 w 128"/>
              <a:gd name="T31" fmla="*/ 106 h 164"/>
              <a:gd name="T32" fmla="*/ 0 w 128"/>
              <a:gd name="T33" fmla="*/ 164 h 164"/>
              <a:gd name="T34" fmla="*/ 100 w 128"/>
              <a:gd name="T35" fmla="*/ 64 h 164"/>
              <a:gd name="T36" fmla="*/ 100 w 128"/>
              <a:gd name="T37" fmla="*/ 64 h 164"/>
              <a:gd name="T38" fmla="*/ 96 w 128"/>
              <a:gd name="T39" fmla="*/ 48 h 164"/>
              <a:gd name="T40" fmla="*/ 88 w 128"/>
              <a:gd name="T41" fmla="*/ 36 h 164"/>
              <a:gd name="T42" fmla="*/ 78 w 128"/>
              <a:gd name="T43" fmla="*/ 28 h 164"/>
              <a:gd name="T44" fmla="*/ 64 w 128"/>
              <a:gd name="T45" fmla="*/ 26 h 164"/>
              <a:gd name="T46" fmla="*/ 56 w 128"/>
              <a:gd name="T47" fmla="*/ 26 h 164"/>
              <a:gd name="T48" fmla="*/ 44 w 128"/>
              <a:gd name="T49" fmla="*/ 32 h 164"/>
              <a:gd name="T50" fmla="*/ 34 w 128"/>
              <a:gd name="T51" fmla="*/ 42 h 164"/>
              <a:gd name="T52" fmla="*/ 28 w 128"/>
              <a:gd name="T53" fmla="*/ 56 h 164"/>
              <a:gd name="T54" fmla="*/ 28 w 128"/>
              <a:gd name="T55" fmla="*/ 64 h 164"/>
              <a:gd name="T56" fmla="*/ 28 w 128"/>
              <a:gd name="T57" fmla="*/ 74 h 164"/>
              <a:gd name="T58" fmla="*/ 34 w 128"/>
              <a:gd name="T59" fmla="*/ 88 h 164"/>
              <a:gd name="T60" fmla="*/ 44 w 128"/>
              <a:gd name="T61" fmla="*/ 98 h 164"/>
              <a:gd name="T62" fmla="*/ 56 w 128"/>
              <a:gd name="T63" fmla="*/ 104 h 164"/>
              <a:gd name="T64" fmla="*/ 64 w 128"/>
              <a:gd name="T65" fmla="*/ 104 h 164"/>
              <a:gd name="T66" fmla="*/ 78 w 128"/>
              <a:gd name="T67" fmla="*/ 102 h 164"/>
              <a:gd name="T68" fmla="*/ 88 w 128"/>
              <a:gd name="T69" fmla="*/ 94 h 164"/>
              <a:gd name="T70" fmla="*/ 96 w 128"/>
              <a:gd name="T71" fmla="*/ 82 h 164"/>
              <a:gd name="T72" fmla="*/ 100 w 128"/>
              <a:gd name="T73" fmla="*/ 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8" h="164">
                <a:moveTo>
                  <a:pt x="0" y="4"/>
                </a:moveTo>
                <a:lnTo>
                  <a:pt x="28" y="4"/>
                </a:lnTo>
                <a:lnTo>
                  <a:pt x="28" y="24"/>
                </a:lnTo>
                <a:lnTo>
                  <a:pt x="28" y="24"/>
                </a:lnTo>
                <a:lnTo>
                  <a:pt x="36" y="14"/>
                </a:lnTo>
                <a:lnTo>
                  <a:pt x="46" y="8"/>
                </a:lnTo>
                <a:lnTo>
                  <a:pt x="56" y="2"/>
                </a:lnTo>
                <a:lnTo>
                  <a:pt x="70" y="0"/>
                </a:lnTo>
                <a:lnTo>
                  <a:pt x="70" y="0"/>
                </a:lnTo>
                <a:lnTo>
                  <a:pt x="82" y="2"/>
                </a:lnTo>
                <a:lnTo>
                  <a:pt x="92" y="6"/>
                </a:lnTo>
                <a:lnTo>
                  <a:pt x="102" y="10"/>
                </a:lnTo>
                <a:lnTo>
                  <a:pt x="110" y="18"/>
                </a:lnTo>
                <a:lnTo>
                  <a:pt x="118" y="26"/>
                </a:lnTo>
                <a:lnTo>
                  <a:pt x="122" y="38"/>
                </a:lnTo>
                <a:lnTo>
                  <a:pt x="126" y="50"/>
                </a:lnTo>
                <a:lnTo>
                  <a:pt x="128" y="64"/>
                </a:lnTo>
                <a:lnTo>
                  <a:pt x="128" y="64"/>
                </a:lnTo>
                <a:lnTo>
                  <a:pt x="128" y="64"/>
                </a:lnTo>
                <a:lnTo>
                  <a:pt x="126" y="80"/>
                </a:lnTo>
                <a:lnTo>
                  <a:pt x="122" y="92"/>
                </a:lnTo>
                <a:lnTo>
                  <a:pt x="118" y="102"/>
                </a:lnTo>
                <a:lnTo>
                  <a:pt x="110" y="112"/>
                </a:lnTo>
                <a:lnTo>
                  <a:pt x="102" y="120"/>
                </a:lnTo>
                <a:lnTo>
                  <a:pt x="92" y="124"/>
                </a:lnTo>
                <a:lnTo>
                  <a:pt x="82" y="128"/>
                </a:lnTo>
                <a:lnTo>
                  <a:pt x="70" y="128"/>
                </a:lnTo>
                <a:lnTo>
                  <a:pt x="70" y="128"/>
                </a:lnTo>
                <a:lnTo>
                  <a:pt x="56" y="126"/>
                </a:lnTo>
                <a:lnTo>
                  <a:pt x="46" y="122"/>
                </a:lnTo>
                <a:lnTo>
                  <a:pt x="36" y="116"/>
                </a:lnTo>
                <a:lnTo>
                  <a:pt x="28" y="106"/>
                </a:lnTo>
                <a:lnTo>
                  <a:pt x="28" y="164"/>
                </a:lnTo>
                <a:lnTo>
                  <a:pt x="0" y="164"/>
                </a:lnTo>
                <a:lnTo>
                  <a:pt x="0" y="4"/>
                </a:lnTo>
                <a:close/>
                <a:moveTo>
                  <a:pt x="100" y="64"/>
                </a:moveTo>
                <a:lnTo>
                  <a:pt x="100" y="64"/>
                </a:lnTo>
                <a:lnTo>
                  <a:pt x="100" y="64"/>
                </a:lnTo>
                <a:lnTo>
                  <a:pt x="98" y="56"/>
                </a:lnTo>
                <a:lnTo>
                  <a:pt x="96" y="48"/>
                </a:lnTo>
                <a:lnTo>
                  <a:pt x="92" y="42"/>
                </a:lnTo>
                <a:lnTo>
                  <a:pt x="88" y="36"/>
                </a:lnTo>
                <a:lnTo>
                  <a:pt x="84" y="32"/>
                </a:lnTo>
                <a:lnTo>
                  <a:pt x="78" y="28"/>
                </a:lnTo>
                <a:lnTo>
                  <a:pt x="70" y="26"/>
                </a:lnTo>
                <a:lnTo>
                  <a:pt x="64" y="26"/>
                </a:lnTo>
                <a:lnTo>
                  <a:pt x="64" y="26"/>
                </a:lnTo>
                <a:lnTo>
                  <a:pt x="56" y="26"/>
                </a:lnTo>
                <a:lnTo>
                  <a:pt x="50" y="28"/>
                </a:lnTo>
                <a:lnTo>
                  <a:pt x="44" y="32"/>
                </a:lnTo>
                <a:lnTo>
                  <a:pt x="38" y="36"/>
                </a:lnTo>
                <a:lnTo>
                  <a:pt x="34" y="42"/>
                </a:lnTo>
                <a:lnTo>
                  <a:pt x="32" y="48"/>
                </a:lnTo>
                <a:lnTo>
                  <a:pt x="28" y="56"/>
                </a:lnTo>
                <a:lnTo>
                  <a:pt x="28" y="64"/>
                </a:lnTo>
                <a:lnTo>
                  <a:pt x="28" y="64"/>
                </a:lnTo>
                <a:lnTo>
                  <a:pt x="28" y="64"/>
                </a:lnTo>
                <a:lnTo>
                  <a:pt x="28" y="74"/>
                </a:lnTo>
                <a:lnTo>
                  <a:pt x="32" y="82"/>
                </a:lnTo>
                <a:lnTo>
                  <a:pt x="34" y="88"/>
                </a:lnTo>
                <a:lnTo>
                  <a:pt x="38" y="94"/>
                </a:lnTo>
                <a:lnTo>
                  <a:pt x="44" y="98"/>
                </a:lnTo>
                <a:lnTo>
                  <a:pt x="50" y="102"/>
                </a:lnTo>
                <a:lnTo>
                  <a:pt x="56" y="104"/>
                </a:lnTo>
                <a:lnTo>
                  <a:pt x="64" y="104"/>
                </a:lnTo>
                <a:lnTo>
                  <a:pt x="64" y="104"/>
                </a:lnTo>
                <a:lnTo>
                  <a:pt x="72" y="104"/>
                </a:lnTo>
                <a:lnTo>
                  <a:pt x="78" y="102"/>
                </a:lnTo>
                <a:lnTo>
                  <a:pt x="84" y="98"/>
                </a:lnTo>
                <a:lnTo>
                  <a:pt x="88" y="94"/>
                </a:lnTo>
                <a:lnTo>
                  <a:pt x="94" y="88"/>
                </a:lnTo>
                <a:lnTo>
                  <a:pt x="96" y="82"/>
                </a:lnTo>
                <a:lnTo>
                  <a:pt x="98" y="74"/>
                </a:lnTo>
                <a:lnTo>
                  <a:pt x="100" y="64"/>
                </a:lnTo>
                <a:lnTo>
                  <a:pt x="100" y="64"/>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1" name="Freeform 226"/>
          <p:cNvSpPr>
            <a:spLocks/>
          </p:cNvSpPr>
          <p:nvPr userDrawn="1"/>
        </p:nvSpPr>
        <p:spPr bwMode="auto">
          <a:xfrm>
            <a:off x="6186559" y="1210768"/>
            <a:ext cx="93602" cy="166851"/>
          </a:xfrm>
          <a:custGeom>
            <a:avLst/>
            <a:gdLst>
              <a:gd name="T0" fmla="*/ 0 w 70"/>
              <a:gd name="T1" fmla="*/ 2 h 124"/>
              <a:gd name="T2" fmla="*/ 28 w 70"/>
              <a:gd name="T3" fmla="*/ 2 h 124"/>
              <a:gd name="T4" fmla="*/ 28 w 70"/>
              <a:gd name="T5" fmla="*/ 30 h 124"/>
              <a:gd name="T6" fmla="*/ 28 w 70"/>
              <a:gd name="T7" fmla="*/ 30 h 124"/>
              <a:gd name="T8" fmla="*/ 34 w 70"/>
              <a:gd name="T9" fmla="*/ 16 h 124"/>
              <a:gd name="T10" fmla="*/ 44 w 70"/>
              <a:gd name="T11" fmla="*/ 6 h 124"/>
              <a:gd name="T12" fmla="*/ 50 w 70"/>
              <a:gd name="T13" fmla="*/ 4 h 124"/>
              <a:gd name="T14" fmla="*/ 56 w 70"/>
              <a:gd name="T15" fmla="*/ 0 h 124"/>
              <a:gd name="T16" fmla="*/ 64 w 70"/>
              <a:gd name="T17" fmla="*/ 0 h 124"/>
              <a:gd name="T18" fmla="*/ 70 w 70"/>
              <a:gd name="T19" fmla="*/ 0 h 124"/>
              <a:gd name="T20" fmla="*/ 70 w 70"/>
              <a:gd name="T21" fmla="*/ 28 h 124"/>
              <a:gd name="T22" fmla="*/ 70 w 70"/>
              <a:gd name="T23" fmla="*/ 28 h 124"/>
              <a:gd name="T24" fmla="*/ 70 w 70"/>
              <a:gd name="T25" fmla="*/ 28 h 124"/>
              <a:gd name="T26" fmla="*/ 60 w 70"/>
              <a:gd name="T27" fmla="*/ 30 h 124"/>
              <a:gd name="T28" fmla="*/ 52 w 70"/>
              <a:gd name="T29" fmla="*/ 32 h 124"/>
              <a:gd name="T30" fmla="*/ 46 w 70"/>
              <a:gd name="T31" fmla="*/ 36 h 124"/>
              <a:gd name="T32" fmla="*/ 40 w 70"/>
              <a:gd name="T33" fmla="*/ 40 h 124"/>
              <a:gd name="T34" fmla="*/ 34 w 70"/>
              <a:gd name="T35" fmla="*/ 48 h 124"/>
              <a:gd name="T36" fmla="*/ 30 w 70"/>
              <a:gd name="T37" fmla="*/ 56 h 124"/>
              <a:gd name="T38" fmla="*/ 28 w 70"/>
              <a:gd name="T39" fmla="*/ 66 h 124"/>
              <a:gd name="T40" fmla="*/ 28 w 70"/>
              <a:gd name="T41" fmla="*/ 78 h 124"/>
              <a:gd name="T42" fmla="*/ 28 w 70"/>
              <a:gd name="T43" fmla="*/ 124 h 124"/>
              <a:gd name="T44" fmla="*/ 0 w 70"/>
              <a:gd name="T45" fmla="*/ 124 h 124"/>
              <a:gd name="T46" fmla="*/ 0 w 70"/>
              <a:gd name="T47" fmla="*/ 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 h="124">
                <a:moveTo>
                  <a:pt x="0" y="2"/>
                </a:moveTo>
                <a:lnTo>
                  <a:pt x="28" y="2"/>
                </a:lnTo>
                <a:lnTo>
                  <a:pt x="28" y="30"/>
                </a:lnTo>
                <a:lnTo>
                  <a:pt x="28" y="30"/>
                </a:lnTo>
                <a:lnTo>
                  <a:pt x="34" y="16"/>
                </a:lnTo>
                <a:lnTo>
                  <a:pt x="44" y="6"/>
                </a:lnTo>
                <a:lnTo>
                  <a:pt x="50" y="4"/>
                </a:lnTo>
                <a:lnTo>
                  <a:pt x="56" y="0"/>
                </a:lnTo>
                <a:lnTo>
                  <a:pt x="64" y="0"/>
                </a:lnTo>
                <a:lnTo>
                  <a:pt x="70" y="0"/>
                </a:lnTo>
                <a:lnTo>
                  <a:pt x="70" y="28"/>
                </a:lnTo>
                <a:lnTo>
                  <a:pt x="70" y="28"/>
                </a:lnTo>
                <a:lnTo>
                  <a:pt x="70" y="28"/>
                </a:lnTo>
                <a:lnTo>
                  <a:pt x="60" y="30"/>
                </a:lnTo>
                <a:lnTo>
                  <a:pt x="52" y="32"/>
                </a:lnTo>
                <a:lnTo>
                  <a:pt x="46" y="36"/>
                </a:lnTo>
                <a:lnTo>
                  <a:pt x="40" y="40"/>
                </a:lnTo>
                <a:lnTo>
                  <a:pt x="34" y="48"/>
                </a:lnTo>
                <a:lnTo>
                  <a:pt x="30" y="56"/>
                </a:lnTo>
                <a:lnTo>
                  <a:pt x="28" y="66"/>
                </a:lnTo>
                <a:lnTo>
                  <a:pt x="28" y="78"/>
                </a:lnTo>
                <a:lnTo>
                  <a:pt x="28" y="124"/>
                </a:lnTo>
                <a:lnTo>
                  <a:pt x="0" y="124"/>
                </a:lnTo>
                <a:lnTo>
                  <a:pt x="0" y="2"/>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2" name="Freeform 227"/>
          <p:cNvSpPr>
            <a:spLocks noEditPoints="1"/>
          </p:cNvSpPr>
          <p:nvPr userDrawn="1"/>
        </p:nvSpPr>
        <p:spPr bwMode="auto">
          <a:xfrm>
            <a:off x="6317602" y="1208077"/>
            <a:ext cx="176507" cy="172233"/>
          </a:xfrm>
          <a:custGeom>
            <a:avLst/>
            <a:gdLst>
              <a:gd name="T0" fmla="*/ 0 w 132"/>
              <a:gd name="T1" fmla="*/ 64 h 128"/>
              <a:gd name="T2" fmla="*/ 2 w 132"/>
              <a:gd name="T3" fmla="*/ 52 h 128"/>
              <a:gd name="T4" fmla="*/ 12 w 132"/>
              <a:gd name="T5" fmla="*/ 30 h 128"/>
              <a:gd name="T6" fmla="*/ 30 w 132"/>
              <a:gd name="T7" fmla="*/ 12 h 128"/>
              <a:gd name="T8" fmla="*/ 52 w 132"/>
              <a:gd name="T9" fmla="*/ 2 h 128"/>
              <a:gd name="T10" fmla="*/ 66 w 132"/>
              <a:gd name="T11" fmla="*/ 0 h 128"/>
              <a:gd name="T12" fmla="*/ 92 w 132"/>
              <a:gd name="T13" fmla="*/ 6 h 128"/>
              <a:gd name="T14" fmla="*/ 112 w 132"/>
              <a:gd name="T15" fmla="*/ 20 h 128"/>
              <a:gd name="T16" fmla="*/ 126 w 132"/>
              <a:gd name="T17" fmla="*/ 40 h 128"/>
              <a:gd name="T18" fmla="*/ 132 w 132"/>
              <a:gd name="T19" fmla="*/ 64 h 128"/>
              <a:gd name="T20" fmla="*/ 132 w 132"/>
              <a:gd name="T21" fmla="*/ 64 h 128"/>
              <a:gd name="T22" fmla="*/ 126 w 132"/>
              <a:gd name="T23" fmla="*/ 90 h 128"/>
              <a:gd name="T24" fmla="*/ 112 w 132"/>
              <a:gd name="T25" fmla="*/ 110 h 128"/>
              <a:gd name="T26" fmla="*/ 92 w 132"/>
              <a:gd name="T27" fmla="*/ 124 h 128"/>
              <a:gd name="T28" fmla="*/ 66 w 132"/>
              <a:gd name="T29" fmla="*/ 128 h 128"/>
              <a:gd name="T30" fmla="*/ 52 w 132"/>
              <a:gd name="T31" fmla="*/ 128 h 128"/>
              <a:gd name="T32" fmla="*/ 28 w 132"/>
              <a:gd name="T33" fmla="*/ 118 h 128"/>
              <a:gd name="T34" fmla="*/ 12 w 132"/>
              <a:gd name="T35" fmla="*/ 100 h 128"/>
              <a:gd name="T36" fmla="*/ 2 w 132"/>
              <a:gd name="T37" fmla="*/ 78 h 128"/>
              <a:gd name="T38" fmla="*/ 0 w 132"/>
              <a:gd name="T39" fmla="*/ 66 h 128"/>
              <a:gd name="T40" fmla="*/ 104 w 132"/>
              <a:gd name="T41" fmla="*/ 64 h 128"/>
              <a:gd name="T42" fmla="*/ 102 w 132"/>
              <a:gd name="T43" fmla="*/ 56 h 128"/>
              <a:gd name="T44" fmla="*/ 98 w 132"/>
              <a:gd name="T45" fmla="*/ 42 h 128"/>
              <a:gd name="T46" fmla="*/ 88 w 132"/>
              <a:gd name="T47" fmla="*/ 32 h 128"/>
              <a:gd name="T48" fmla="*/ 74 w 132"/>
              <a:gd name="T49" fmla="*/ 26 h 128"/>
              <a:gd name="T50" fmla="*/ 66 w 132"/>
              <a:gd name="T51" fmla="*/ 26 h 128"/>
              <a:gd name="T52" fmla="*/ 50 w 132"/>
              <a:gd name="T53" fmla="*/ 28 h 128"/>
              <a:gd name="T54" fmla="*/ 38 w 132"/>
              <a:gd name="T55" fmla="*/ 36 h 128"/>
              <a:gd name="T56" fmla="*/ 32 w 132"/>
              <a:gd name="T57" fmla="*/ 50 h 128"/>
              <a:gd name="T58" fmla="*/ 28 w 132"/>
              <a:gd name="T59" fmla="*/ 64 h 128"/>
              <a:gd name="T60" fmla="*/ 28 w 132"/>
              <a:gd name="T61" fmla="*/ 64 h 128"/>
              <a:gd name="T62" fmla="*/ 32 w 132"/>
              <a:gd name="T63" fmla="*/ 80 h 128"/>
              <a:gd name="T64" fmla="*/ 40 w 132"/>
              <a:gd name="T65" fmla="*/ 92 h 128"/>
              <a:gd name="T66" fmla="*/ 52 w 132"/>
              <a:gd name="T67" fmla="*/ 102 h 128"/>
              <a:gd name="T68" fmla="*/ 66 w 132"/>
              <a:gd name="T69" fmla="*/ 104 h 128"/>
              <a:gd name="T70" fmla="*/ 74 w 132"/>
              <a:gd name="T71" fmla="*/ 104 h 128"/>
              <a:gd name="T72" fmla="*/ 88 w 132"/>
              <a:gd name="T73" fmla="*/ 98 h 128"/>
              <a:gd name="T74" fmla="*/ 98 w 132"/>
              <a:gd name="T75" fmla="*/ 86 h 128"/>
              <a:gd name="T76" fmla="*/ 102 w 132"/>
              <a:gd name="T77" fmla="*/ 74 h 128"/>
              <a:gd name="T78" fmla="*/ 104 w 132"/>
              <a:gd name="T79"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2" h="128">
                <a:moveTo>
                  <a:pt x="0" y="66"/>
                </a:moveTo>
                <a:lnTo>
                  <a:pt x="0" y="64"/>
                </a:lnTo>
                <a:lnTo>
                  <a:pt x="0" y="64"/>
                </a:lnTo>
                <a:lnTo>
                  <a:pt x="2" y="52"/>
                </a:lnTo>
                <a:lnTo>
                  <a:pt x="6" y="40"/>
                </a:lnTo>
                <a:lnTo>
                  <a:pt x="12" y="30"/>
                </a:lnTo>
                <a:lnTo>
                  <a:pt x="20" y="20"/>
                </a:lnTo>
                <a:lnTo>
                  <a:pt x="30" y="12"/>
                </a:lnTo>
                <a:lnTo>
                  <a:pt x="40" y="6"/>
                </a:lnTo>
                <a:lnTo>
                  <a:pt x="52" y="2"/>
                </a:lnTo>
                <a:lnTo>
                  <a:pt x="66" y="0"/>
                </a:lnTo>
                <a:lnTo>
                  <a:pt x="66" y="0"/>
                </a:lnTo>
                <a:lnTo>
                  <a:pt x="80" y="2"/>
                </a:lnTo>
                <a:lnTo>
                  <a:pt x="92" y="6"/>
                </a:lnTo>
                <a:lnTo>
                  <a:pt x="104" y="12"/>
                </a:lnTo>
                <a:lnTo>
                  <a:pt x="112" y="20"/>
                </a:lnTo>
                <a:lnTo>
                  <a:pt x="120" y="28"/>
                </a:lnTo>
                <a:lnTo>
                  <a:pt x="126" y="40"/>
                </a:lnTo>
                <a:lnTo>
                  <a:pt x="130" y="52"/>
                </a:lnTo>
                <a:lnTo>
                  <a:pt x="132" y="64"/>
                </a:lnTo>
                <a:lnTo>
                  <a:pt x="132" y="64"/>
                </a:lnTo>
                <a:lnTo>
                  <a:pt x="132" y="64"/>
                </a:lnTo>
                <a:lnTo>
                  <a:pt x="130" y="78"/>
                </a:lnTo>
                <a:lnTo>
                  <a:pt x="126" y="90"/>
                </a:lnTo>
                <a:lnTo>
                  <a:pt x="120" y="100"/>
                </a:lnTo>
                <a:lnTo>
                  <a:pt x="112" y="110"/>
                </a:lnTo>
                <a:lnTo>
                  <a:pt x="104" y="118"/>
                </a:lnTo>
                <a:lnTo>
                  <a:pt x="92" y="124"/>
                </a:lnTo>
                <a:lnTo>
                  <a:pt x="80" y="128"/>
                </a:lnTo>
                <a:lnTo>
                  <a:pt x="66" y="128"/>
                </a:lnTo>
                <a:lnTo>
                  <a:pt x="66" y="128"/>
                </a:lnTo>
                <a:lnTo>
                  <a:pt x="52" y="128"/>
                </a:lnTo>
                <a:lnTo>
                  <a:pt x="40" y="124"/>
                </a:lnTo>
                <a:lnTo>
                  <a:pt x="28" y="118"/>
                </a:lnTo>
                <a:lnTo>
                  <a:pt x="20" y="110"/>
                </a:lnTo>
                <a:lnTo>
                  <a:pt x="12" y="100"/>
                </a:lnTo>
                <a:lnTo>
                  <a:pt x="6" y="90"/>
                </a:lnTo>
                <a:lnTo>
                  <a:pt x="2" y="78"/>
                </a:lnTo>
                <a:lnTo>
                  <a:pt x="0" y="66"/>
                </a:lnTo>
                <a:lnTo>
                  <a:pt x="0" y="66"/>
                </a:lnTo>
                <a:close/>
                <a:moveTo>
                  <a:pt x="104" y="66"/>
                </a:moveTo>
                <a:lnTo>
                  <a:pt x="104" y="64"/>
                </a:lnTo>
                <a:lnTo>
                  <a:pt x="104" y="64"/>
                </a:lnTo>
                <a:lnTo>
                  <a:pt x="102" y="56"/>
                </a:lnTo>
                <a:lnTo>
                  <a:pt x="100" y="50"/>
                </a:lnTo>
                <a:lnTo>
                  <a:pt x="98" y="42"/>
                </a:lnTo>
                <a:lnTo>
                  <a:pt x="92" y="38"/>
                </a:lnTo>
                <a:lnTo>
                  <a:pt x="88" y="32"/>
                </a:lnTo>
                <a:lnTo>
                  <a:pt x="80" y="28"/>
                </a:lnTo>
                <a:lnTo>
                  <a:pt x="74" y="26"/>
                </a:lnTo>
                <a:lnTo>
                  <a:pt x="66" y="26"/>
                </a:lnTo>
                <a:lnTo>
                  <a:pt x="66" y="26"/>
                </a:lnTo>
                <a:lnTo>
                  <a:pt x="58" y="26"/>
                </a:lnTo>
                <a:lnTo>
                  <a:pt x="50" y="28"/>
                </a:lnTo>
                <a:lnTo>
                  <a:pt x="44" y="32"/>
                </a:lnTo>
                <a:lnTo>
                  <a:pt x="38" y="36"/>
                </a:lnTo>
                <a:lnTo>
                  <a:pt x="34" y="42"/>
                </a:lnTo>
                <a:lnTo>
                  <a:pt x="32" y="50"/>
                </a:lnTo>
                <a:lnTo>
                  <a:pt x="30" y="56"/>
                </a:lnTo>
                <a:lnTo>
                  <a:pt x="28" y="64"/>
                </a:lnTo>
                <a:lnTo>
                  <a:pt x="28" y="64"/>
                </a:lnTo>
                <a:lnTo>
                  <a:pt x="28" y="64"/>
                </a:lnTo>
                <a:lnTo>
                  <a:pt x="30" y="72"/>
                </a:lnTo>
                <a:lnTo>
                  <a:pt x="32" y="80"/>
                </a:lnTo>
                <a:lnTo>
                  <a:pt x="34" y="86"/>
                </a:lnTo>
                <a:lnTo>
                  <a:pt x="40" y="92"/>
                </a:lnTo>
                <a:lnTo>
                  <a:pt x="44" y="98"/>
                </a:lnTo>
                <a:lnTo>
                  <a:pt x="52" y="102"/>
                </a:lnTo>
                <a:lnTo>
                  <a:pt x="58" y="104"/>
                </a:lnTo>
                <a:lnTo>
                  <a:pt x="66" y="104"/>
                </a:lnTo>
                <a:lnTo>
                  <a:pt x="66" y="104"/>
                </a:lnTo>
                <a:lnTo>
                  <a:pt x="74" y="104"/>
                </a:lnTo>
                <a:lnTo>
                  <a:pt x="82" y="102"/>
                </a:lnTo>
                <a:lnTo>
                  <a:pt x="88" y="98"/>
                </a:lnTo>
                <a:lnTo>
                  <a:pt x="94" y="92"/>
                </a:lnTo>
                <a:lnTo>
                  <a:pt x="98" y="86"/>
                </a:lnTo>
                <a:lnTo>
                  <a:pt x="100" y="80"/>
                </a:lnTo>
                <a:lnTo>
                  <a:pt x="102" y="74"/>
                </a:lnTo>
                <a:lnTo>
                  <a:pt x="104" y="66"/>
                </a:lnTo>
                <a:lnTo>
                  <a:pt x="104" y="6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3" name="Freeform 228"/>
          <p:cNvSpPr>
            <a:spLocks noEditPoints="1"/>
          </p:cNvSpPr>
          <p:nvPr userDrawn="1"/>
        </p:nvSpPr>
        <p:spPr bwMode="auto">
          <a:xfrm>
            <a:off x="6536898" y="1210768"/>
            <a:ext cx="147089" cy="169542"/>
          </a:xfrm>
          <a:custGeom>
            <a:avLst/>
            <a:gdLst>
              <a:gd name="T0" fmla="*/ 82 w 110"/>
              <a:gd name="T1" fmla="*/ 108 h 126"/>
              <a:gd name="T2" fmla="*/ 76 w 110"/>
              <a:gd name="T3" fmla="*/ 116 h 126"/>
              <a:gd name="T4" fmla="*/ 56 w 110"/>
              <a:gd name="T5" fmla="*/ 126 h 126"/>
              <a:gd name="T6" fmla="*/ 44 w 110"/>
              <a:gd name="T7" fmla="*/ 126 h 126"/>
              <a:gd name="T8" fmla="*/ 26 w 110"/>
              <a:gd name="T9" fmla="*/ 124 h 126"/>
              <a:gd name="T10" fmla="*/ 12 w 110"/>
              <a:gd name="T11" fmla="*/ 116 h 126"/>
              <a:gd name="T12" fmla="*/ 4 w 110"/>
              <a:gd name="T13" fmla="*/ 104 h 126"/>
              <a:gd name="T14" fmla="*/ 0 w 110"/>
              <a:gd name="T15" fmla="*/ 88 h 126"/>
              <a:gd name="T16" fmla="*/ 0 w 110"/>
              <a:gd name="T17" fmla="*/ 88 h 126"/>
              <a:gd name="T18" fmla="*/ 4 w 110"/>
              <a:gd name="T19" fmla="*/ 70 h 126"/>
              <a:gd name="T20" fmla="*/ 14 w 110"/>
              <a:gd name="T21" fmla="*/ 58 h 126"/>
              <a:gd name="T22" fmla="*/ 30 w 110"/>
              <a:gd name="T23" fmla="*/ 50 h 126"/>
              <a:gd name="T24" fmla="*/ 50 w 110"/>
              <a:gd name="T25" fmla="*/ 48 h 126"/>
              <a:gd name="T26" fmla="*/ 68 w 110"/>
              <a:gd name="T27" fmla="*/ 50 h 126"/>
              <a:gd name="T28" fmla="*/ 84 w 110"/>
              <a:gd name="T29" fmla="*/ 50 h 126"/>
              <a:gd name="T30" fmla="*/ 82 w 110"/>
              <a:gd name="T31" fmla="*/ 40 h 126"/>
              <a:gd name="T32" fmla="*/ 76 w 110"/>
              <a:gd name="T33" fmla="*/ 32 h 126"/>
              <a:gd name="T34" fmla="*/ 54 w 110"/>
              <a:gd name="T35" fmla="*/ 24 h 126"/>
              <a:gd name="T36" fmla="*/ 34 w 110"/>
              <a:gd name="T37" fmla="*/ 26 h 126"/>
              <a:gd name="T38" fmla="*/ 10 w 110"/>
              <a:gd name="T39" fmla="*/ 10 h 126"/>
              <a:gd name="T40" fmla="*/ 32 w 110"/>
              <a:gd name="T41" fmla="*/ 2 h 126"/>
              <a:gd name="T42" fmla="*/ 56 w 110"/>
              <a:gd name="T43" fmla="*/ 0 h 126"/>
              <a:gd name="T44" fmla="*/ 70 w 110"/>
              <a:gd name="T45" fmla="*/ 0 h 126"/>
              <a:gd name="T46" fmla="*/ 90 w 110"/>
              <a:gd name="T47" fmla="*/ 8 h 126"/>
              <a:gd name="T48" fmla="*/ 104 w 110"/>
              <a:gd name="T49" fmla="*/ 20 h 126"/>
              <a:gd name="T50" fmla="*/ 110 w 110"/>
              <a:gd name="T51" fmla="*/ 40 h 126"/>
              <a:gd name="T52" fmla="*/ 110 w 110"/>
              <a:gd name="T53" fmla="*/ 124 h 126"/>
              <a:gd name="T54" fmla="*/ 84 w 110"/>
              <a:gd name="T55" fmla="*/ 72 h 126"/>
              <a:gd name="T56" fmla="*/ 72 w 110"/>
              <a:gd name="T57" fmla="*/ 70 h 126"/>
              <a:gd name="T58" fmla="*/ 56 w 110"/>
              <a:gd name="T59" fmla="*/ 68 h 126"/>
              <a:gd name="T60" fmla="*/ 34 w 110"/>
              <a:gd name="T61" fmla="*/ 72 h 126"/>
              <a:gd name="T62" fmla="*/ 28 w 110"/>
              <a:gd name="T63" fmla="*/ 86 h 126"/>
              <a:gd name="T64" fmla="*/ 28 w 110"/>
              <a:gd name="T65" fmla="*/ 88 h 126"/>
              <a:gd name="T66" fmla="*/ 34 w 110"/>
              <a:gd name="T67" fmla="*/ 100 h 126"/>
              <a:gd name="T68" fmla="*/ 52 w 110"/>
              <a:gd name="T69" fmla="*/ 106 h 126"/>
              <a:gd name="T70" fmla="*/ 64 w 110"/>
              <a:gd name="T71" fmla="*/ 104 h 126"/>
              <a:gd name="T72" fmla="*/ 82 w 110"/>
              <a:gd name="T73" fmla="*/ 90 h 126"/>
              <a:gd name="T74" fmla="*/ 84 w 110"/>
              <a:gd name="T75" fmla="*/ 8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0" h="126">
                <a:moveTo>
                  <a:pt x="82" y="124"/>
                </a:moveTo>
                <a:lnTo>
                  <a:pt x="82" y="108"/>
                </a:lnTo>
                <a:lnTo>
                  <a:pt x="82" y="108"/>
                </a:lnTo>
                <a:lnTo>
                  <a:pt x="76" y="116"/>
                </a:lnTo>
                <a:lnTo>
                  <a:pt x="66" y="122"/>
                </a:lnTo>
                <a:lnTo>
                  <a:pt x="56" y="126"/>
                </a:lnTo>
                <a:lnTo>
                  <a:pt x="44" y="126"/>
                </a:lnTo>
                <a:lnTo>
                  <a:pt x="44" y="126"/>
                </a:lnTo>
                <a:lnTo>
                  <a:pt x="34" y="126"/>
                </a:lnTo>
                <a:lnTo>
                  <a:pt x="26" y="124"/>
                </a:lnTo>
                <a:lnTo>
                  <a:pt x="20" y="120"/>
                </a:lnTo>
                <a:lnTo>
                  <a:pt x="12" y="116"/>
                </a:lnTo>
                <a:lnTo>
                  <a:pt x="8" y="112"/>
                </a:lnTo>
                <a:lnTo>
                  <a:pt x="4" y="104"/>
                </a:lnTo>
                <a:lnTo>
                  <a:pt x="0" y="98"/>
                </a:lnTo>
                <a:lnTo>
                  <a:pt x="0" y="88"/>
                </a:lnTo>
                <a:lnTo>
                  <a:pt x="0" y="88"/>
                </a:lnTo>
                <a:lnTo>
                  <a:pt x="0" y="88"/>
                </a:lnTo>
                <a:lnTo>
                  <a:pt x="0" y="78"/>
                </a:lnTo>
                <a:lnTo>
                  <a:pt x="4" y="70"/>
                </a:lnTo>
                <a:lnTo>
                  <a:pt x="8" y="64"/>
                </a:lnTo>
                <a:lnTo>
                  <a:pt x="14" y="58"/>
                </a:lnTo>
                <a:lnTo>
                  <a:pt x="22" y="54"/>
                </a:lnTo>
                <a:lnTo>
                  <a:pt x="30" y="50"/>
                </a:lnTo>
                <a:lnTo>
                  <a:pt x="40" y="48"/>
                </a:lnTo>
                <a:lnTo>
                  <a:pt x="50" y="48"/>
                </a:lnTo>
                <a:lnTo>
                  <a:pt x="50" y="48"/>
                </a:lnTo>
                <a:lnTo>
                  <a:pt x="68" y="50"/>
                </a:lnTo>
                <a:lnTo>
                  <a:pt x="84" y="54"/>
                </a:lnTo>
                <a:lnTo>
                  <a:pt x="84" y="50"/>
                </a:lnTo>
                <a:lnTo>
                  <a:pt x="84" y="50"/>
                </a:lnTo>
                <a:lnTo>
                  <a:pt x="82" y="40"/>
                </a:lnTo>
                <a:lnTo>
                  <a:pt x="78" y="36"/>
                </a:lnTo>
                <a:lnTo>
                  <a:pt x="76" y="32"/>
                </a:lnTo>
                <a:lnTo>
                  <a:pt x="66" y="26"/>
                </a:lnTo>
                <a:lnTo>
                  <a:pt x="54" y="24"/>
                </a:lnTo>
                <a:lnTo>
                  <a:pt x="54" y="24"/>
                </a:lnTo>
                <a:lnTo>
                  <a:pt x="34" y="26"/>
                </a:lnTo>
                <a:lnTo>
                  <a:pt x="18" y="32"/>
                </a:lnTo>
                <a:lnTo>
                  <a:pt x="10" y="10"/>
                </a:lnTo>
                <a:lnTo>
                  <a:pt x="10" y="10"/>
                </a:lnTo>
                <a:lnTo>
                  <a:pt x="32" y="2"/>
                </a:lnTo>
                <a:lnTo>
                  <a:pt x="44" y="0"/>
                </a:lnTo>
                <a:lnTo>
                  <a:pt x="56" y="0"/>
                </a:lnTo>
                <a:lnTo>
                  <a:pt x="56" y="0"/>
                </a:lnTo>
                <a:lnTo>
                  <a:pt x="70" y="0"/>
                </a:lnTo>
                <a:lnTo>
                  <a:pt x="80" y="4"/>
                </a:lnTo>
                <a:lnTo>
                  <a:pt x="90" y="8"/>
                </a:lnTo>
                <a:lnTo>
                  <a:pt x="98" y="14"/>
                </a:lnTo>
                <a:lnTo>
                  <a:pt x="104" y="20"/>
                </a:lnTo>
                <a:lnTo>
                  <a:pt x="108" y="30"/>
                </a:lnTo>
                <a:lnTo>
                  <a:pt x="110" y="40"/>
                </a:lnTo>
                <a:lnTo>
                  <a:pt x="110" y="52"/>
                </a:lnTo>
                <a:lnTo>
                  <a:pt x="110" y="124"/>
                </a:lnTo>
                <a:lnTo>
                  <a:pt x="82" y="124"/>
                </a:lnTo>
                <a:close/>
                <a:moveTo>
                  <a:pt x="84" y="72"/>
                </a:moveTo>
                <a:lnTo>
                  <a:pt x="84" y="72"/>
                </a:lnTo>
                <a:lnTo>
                  <a:pt x="72" y="70"/>
                </a:lnTo>
                <a:lnTo>
                  <a:pt x="56" y="68"/>
                </a:lnTo>
                <a:lnTo>
                  <a:pt x="56" y="68"/>
                </a:lnTo>
                <a:lnTo>
                  <a:pt x="44" y="70"/>
                </a:lnTo>
                <a:lnTo>
                  <a:pt x="34" y="72"/>
                </a:lnTo>
                <a:lnTo>
                  <a:pt x="30" y="78"/>
                </a:lnTo>
                <a:lnTo>
                  <a:pt x="28" y="86"/>
                </a:lnTo>
                <a:lnTo>
                  <a:pt x="28" y="88"/>
                </a:lnTo>
                <a:lnTo>
                  <a:pt x="28" y="88"/>
                </a:lnTo>
                <a:lnTo>
                  <a:pt x="30" y="94"/>
                </a:lnTo>
                <a:lnTo>
                  <a:pt x="34" y="100"/>
                </a:lnTo>
                <a:lnTo>
                  <a:pt x="42" y="104"/>
                </a:lnTo>
                <a:lnTo>
                  <a:pt x="52" y="106"/>
                </a:lnTo>
                <a:lnTo>
                  <a:pt x="52" y="106"/>
                </a:lnTo>
                <a:lnTo>
                  <a:pt x="64" y="104"/>
                </a:lnTo>
                <a:lnTo>
                  <a:pt x="74" y="98"/>
                </a:lnTo>
                <a:lnTo>
                  <a:pt x="82" y="90"/>
                </a:lnTo>
                <a:lnTo>
                  <a:pt x="84" y="86"/>
                </a:lnTo>
                <a:lnTo>
                  <a:pt x="84" y="80"/>
                </a:lnTo>
                <a:lnTo>
                  <a:pt x="84" y="72"/>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4" name="Freeform 229"/>
          <p:cNvSpPr>
            <a:spLocks/>
          </p:cNvSpPr>
          <p:nvPr userDrawn="1"/>
        </p:nvSpPr>
        <p:spPr bwMode="auto">
          <a:xfrm>
            <a:off x="6737473" y="1208077"/>
            <a:ext cx="152437" cy="172233"/>
          </a:xfrm>
          <a:custGeom>
            <a:avLst/>
            <a:gdLst>
              <a:gd name="T0" fmla="*/ 0 w 114"/>
              <a:gd name="T1" fmla="*/ 66 h 128"/>
              <a:gd name="T2" fmla="*/ 0 w 114"/>
              <a:gd name="T3" fmla="*/ 64 h 128"/>
              <a:gd name="T4" fmla="*/ 0 w 114"/>
              <a:gd name="T5" fmla="*/ 64 h 128"/>
              <a:gd name="T6" fmla="*/ 2 w 114"/>
              <a:gd name="T7" fmla="*/ 52 h 128"/>
              <a:gd name="T8" fmla="*/ 6 w 114"/>
              <a:gd name="T9" fmla="*/ 40 h 128"/>
              <a:gd name="T10" fmla="*/ 10 w 114"/>
              <a:gd name="T11" fmla="*/ 30 h 128"/>
              <a:gd name="T12" fmla="*/ 18 w 114"/>
              <a:gd name="T13" fmla="*/ 20 h 128"/>
              <a:gd name="T14" fmla="*/ 28 w 114"/>
              <a:gd name="T15" fmla="*/ 12 h 128"/>
              <a:gd name="T16" fmla="*/ 38 w 114"/>
              <a:gd name="T17" fmla="*/ 6 h 128"/>
              <a:gd name="T18" fmla="*/ 50 w 114"/>
              <a:gd name="T19" fmla="*/ 2 h 128"/>
              <a:gd name="T20" fmla="*/ 64 w 114"/>
              <a:gd name="T21" fmla="*/ 0 h 128"/>
              <a:gd name="T22" fmla="*/ 64 w 114"/>
              <a:gd name="T23" fmla="*/ 0 h 128"/>
              <a:gd name="T24" fmla="*/ 80 w 114"/>
              <a:gd name="T25" fmla="*/ 2 h 128"/>
              <a:gd name="T26" fmla="*/ 92 w 114"/>
              <a:gd name="T27" fmla="*/ 6 h 128"/>
              <a:gd name="T28" fmla="*/ 104 w 114"/>
              <a:gd name="T29" fmla="*/ 14 h 128"/>
              <a:gd name="T30" fmla="*/ 114 w 114"/>
              <a:gd name="T31" fmla="*/ 22 h 128"/>
              <a:gd name="T32" fmla="*/ 96 w 114"/>
              <a:gd name="T33" fmla="*/ 40 h 128"/>
              <a:gd name="T34" fmla="*/ 96 w 114"/>
              <a:gd name="T35" fmla="*/ 40 h 128"/>
              <a:gd name="T36" fmla="*/ 90 w 114"/>
              <a:gd name="T37" fmla="*/ 34 h 128"/>
              <a:gd name="T38" fmla="*/ 82 w 114"/>
              <a:gd name="T39" fmla="*/ 30 h 128"/>
              <a:gd name="T40" fmla="*/ 74 w 114"/>
              <a:gd name="T41" fmla="*/ 26 h 128"/>
              <a:gd name="T42" fmla="*/ 64 w 114"/>
              <a:gd name="T43" fmla="*/ 26 h 128"/>
              <a:gd name="T44" fmla="*/ 64 w 114"/>
              <a:gd name="T45" fmla="*/ 26 h 128"/>
              <a:gd name="T46" fmla="*/ 56 w 114"/>
              <a:gd name="T47" fmla="*/ 26 h 128"/>
              <a:gd name="T48" fmla="*/ 50 w 114"/>
              <a:gd name="T49" fmla="*/ 28 h 128"/>
              <a:gd name="T50" fmla="*/ 44 w 114"/>
              <a:gd name="T51" fmla="*/ 32 h 128"/>
              <a:gd name="T52" fmla="*/ 38 w 114"/>
              <a:gd name="T53" fmla="*/ 36 h 128"/>
              <a:gd name="T54" fmla="*/ 34 w 114"/>
              <a:gd name="T55" fmla="*/ 42 h 128"/>
              <a:gd name="T56" fmla="*/ 32 w 114"/>
              <a:gd name="T57" fmla="*/ 50 h 128"/>
              <a:gd name="T58" fmla="*/ 30 w 114"/>
              <a:gd name="T59" fmla="*/ 56 h 128"/>
              <a:gd name="T60" fmla="*/ 28 w 114"/>
              <a:gd name="T61" fmla="*/ 64 h 128"/>
              <a:gd name="T62" fmla="*/ 28 w 114"/>
              <a:gd name="T63" fmla="*/ 64 h 128"/>
              <a:gd name="T64" fmla="*/ 28 w 114"/>
              <a:gd name="T65" fmla="*/ 64 h 128"/>
              <a:gd name="T66" fmla="*/ 30 w 114"/>
              <a:gd name="T67" fmla="*/ 72 h 128"/>
              <a:gd name="T68" fmla="*/ 32 w 114"/>
              <a:gd name="T69" fmla="*/ 80 h 128"/>
              <a:gd name="T70" fmla="*/ 34 w 114"/>
              <a:gd name="T71" fmla="*/ 86 h 128"/>
              <a:gd name="T72" fmla="*/ 38 w 114"/>
              <a:gd name="T73" fmla="*/ 92 h 128"/>
              <a:gd name="T74" fmla="*/ 44 w 114"/>
              <a:gd name="T75" fmla="*/ 98 h 128"/>
              <a:gd name="T76" fmla="*/ 50 w 114"/>
              <a:gd name="T77" fmla="*/ 102 h 128"/>
              <a:gd name="T78" fmla="*/ 58 w 114"/>
              <a:gd name="T79" fmla="*/ 104 h 128"/>
              <a:gd name="T80" fmla="*/ 66 w 114"/>
              <a:gd name="T81" fmla="*/ 104 h 128"/>
              <a:gd name="T82" fmla="*/ 66 w 114"/>
              <a:gd name="T83" fmla="*/ 104 h 128"/>
              <a:gd name="T84" fmla="*/ 74 w 114"/>
              <a:gd name="T85" fmla="*/ 104 h 128"/>
              <a:gd name="T86" fmla="*/ 82 w 114"/>
              <a:gd name="T87" fmla="*/ 100 h 128"/>
              <a:gd name="T88" fmla="*/ 90 w 114"/>
              <a:gd name="T89" fmla="*/ 96 h 128"/>
              <a:gd name="T90" fmla="*/ 98 w 114"/>
              <a:gd name="T91" fmla="*/ 90 h 128"/>
              <a:gd name="T92" fmla="*/ 114 w 114"/>
              <a:gd name="T93" fmla="*/ 106 h 128"/>
              <a:gd name="T94" fmla="*/ 114 w 114"/>
              <a:gd name="T95" fmla="*/ 106 h 128"/>
              <a:gd name="T96" fmla="*/ 104 w 114"/>
              <a:gd name="T97" fmla="*/ 114 h 128"/>
              <a:gd name="T98" fmla="*/ 94 w 114"/>
              <a:gd name="T99" fmla="*/ 122 h 128"/>
              <a:gd name="T100" fmla="*/ 80 w 114"/>
              <a:gd name="T101" fmla="*/ 128 h 128"/>
              <a:gd name="T102" fmla="*/ 64 w 114"/>
              <a:gd name="T103" fmla="*/ 128 h 128"/>
              <a:gd name="T104" fmla="*/ 64 w 114"/>
              <a:gd name="T105" fmla="*/ 128 h 128"/>
              <a:gd name="T106" fmla="*/ 50 w 114"/>
              <a:gd name="T107" fmla="*/ 128 h 128"/>
              <a:gd name="T108" fmla="*/ 38 w 114"/>
              <a:gd name="T109" fmla="*/ 124 h 128"/>
              <a:gd name="T110" fmla="*/ 28 w 114"/>
              <a:gd name="T111" fmla="*/ 118 h 128"/>
              <a:gd name="T112" fmla="*/ 18 w 114"/>
              <a:gd name="T113" fmla="*/ 110 h 128"/>
              <a:gd name="T114" fmla="*/ 10 w 114"/>
              <a:gd name="T115" fmla="*/ 100 h 128"/>
              <a:gd name="T116" fmla="*/ 6 w 114"/>
              <a:gd name="T117" fmla="*/ 90 h 128"/>
              <a:gd name="T118" fmla="*/ 2 w 114"/>
              <a:gd name="T119" fmla="*/ 78 h 128"/>
              <a:gd name="T120" fmla="*/ 0 w 114"/>
              <a:gd name="T121" fmla="*/ 66 h 128"/>
              <a:gd name="T122" fmla="*/ 0 w 114"/>
              <a:gd name="T12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4" h="128">
                <a:moveTo>
                  <a:pt x="0" y="66"/>
                </a:moveTo>
                <a:lnTo>
                  <a:pt x="0" y="64"/>
                </a:lnTo>
                <a:lnTo>
                  <a:pt x="0" y="64"/>
                </a:lnTo>
                <a:lnTo>
                  <a:pt x="2" y="52"/>
                </a:lnTo>
                <a:lnTo>
                  <a:pt x="6" y="40"/>
                </a:lnTo>
                <a:lnTo>
                  <a:pt x="10" y="30"/>
                </a:lnTo>
                <a:lnTo>
                  <a:pt x="18" y="20"/>
                </a:lnTo>
                <a:lnTo>
                  <a:pt x="28" y="12"/>
                </a:lnTo>
                <a:lnTo>
                  <a:pt x="38" y="6"/>
                </a:lnTo>
                <a:lnTo>
                  <a:pt x="50" y="2"/>
                </a:lnTo>
                <a:lnTo>
                  <a:pt x="64" y="0"/>
                </a:lnTo>
                <a:lnTo>
                  <a:pt x="64" y="0"/>
                </a:lnTo>
                <a:lnTo>
                  <a:pt x="80" y="2"/>
                </a:lnTo>
                <a:lnTo>
                  <a:pt x="92" y="6"/>
                </a:lnTo>
                <a:lnTo>
                  <a:pt x="104" y="14"/>
                </a:lnTo>
                <a:lnTo>
                  <a:pt x="114" y="22"/>
                </a:lnTo>
                <a:lnTo>
                  <a:pt x="96" y="40"/>
                </a:lnTo>
                <a:lnTo>
                  <a:pt x="96" y="40"/>
                </a:lnTo>
                <a:lnTo>
                  <a:pt x="90" y="34"/>
                </a:lnTo>
                <a:lnTo>
                  <a:pt x="82" y="30"/>
                </a:lnTo>
                <a:lnTo>
                  <a:pt x="74" y="26"/>
                </a:lnTo>
                <a:lnTo>
                  <a:pt x="64" y="26"/>
                </a:lnTo>
                <a:lnTo>
                  <a:pt x="64" y="26"/>
                </a:lnTo>
                <a:lnTo>
                  <a:pt x="56" y="26"/>
                </a:lnTo>
                <a:lnTo>
                  <a:pt x="50" y="28"/>
                </a:lnTo>
                <a:lnTo>
                  <a:pt x="44" y="32"/>
                </a:lnTo>
                <a:lnTo>
                  <a:pt x="38" y="36"/>
                </a:lnTo>
                <a:lnTo>
                  <a:pt x="34" y="42"/>
                </a:lnTo>
                <a:lnTo>
                  <a:pt x="32" y="50"/>
                </a:lnTo>
                <a:lnTo>
                  <a:pt x="30" y="56"/>
                </a:lnTo>
                <a:lnTo>
                  <a:pt x="28" y="64"/>
                </a:lnTo>
                <a:lnTo>
                  <a:pt x="28" y="64"/>
                </a:lnTo>
                <a:lnTo>
                  <a:pt x="28" y="64"/>
                </a:lnTo>
                <a:lnTo>
                  <a:pt x="30" y="72"/>
                </a:lnTo>
                <a:lnTo>
                  <a:pt x="32" y="80"/>
                </a:lnTo>
                <a:lnTo>
                  <a:pt x="34" y="86"/>
                </a:lnTo>
                <a:lnTo>
                  <a:pt x="38" y="92"/>
                </a:lnTo>
                <a:lnTo>
                  <a:pt x="44" y="98"/>
                </a:lnTo>
                <a:lnTo>
                  <a:pt x="50" y="102"/>
                </a:lnTo>
                <a:lnTo>
                  <a:pt x="58" y="104"/>
                </a:lnTo>
                <a:lnTo>
                  <a:pt x="66" y="104"/>
                </a:lnTo>
                <a:lnTo>
                  <a:pt x="66" y="104"/>
                </a:lnTo>
                <a:lnTo>
                  <a:pt x="74" y="104"/>
                </a:lnTo>
                <a:lnTo>
                  <a:pt x="82" y="100"/>
                </a:lnTo>
                <a:lnTo>
                  <a:pt x="90" y="96"/>
                </a:lnTo>
                <a:lnTo>
                  <a:pt x="98" y="90"/>
                </a:lnTo>
                <a:lnTo>
                  <a:pt x="114" y="106"/>
                </a:lnTo>
                <a:lnTo>
                  <a:pt x="114" y="106"/>
                </a:lnTo>
                <a:lnTo>
                  <a:pt x="104" y="114"/>
                </a:lnTo>
                <a:lnTo>
                  <a:pt x="94" y="122"/>
                </a:lnTo>
                <a:lnTo>
                  <a:pt x="80" y="128"/>
                </a:lnTo>
                <a:lnTo>
                  <a:pt x="64" y="128"/>
                </a:lnTo>
                <a:lnTo>
                  <a:pt x="64" y="128"/>
                </a:lnTo>
                <a:lnTo>
                  <a:pt x="50" y="128"/>
                </a:lnTo>
                <a:lnTo>
                  <a:pt x="38" y="124"/>
                </a:lnTo>
                <a:lnTo>
                  <a:pt x="28" y="118"/>
                </a:lnTo>
                <a:lnTo>
                  <a:pt x="18" y="110"/>
                </a:lnTo>
                <a:lnTo>
                  <a:pt x="10" y="100"/>
                </a:lnTo>
                <a:lnTo>
                  <a:pt x="6" y="90"/>
                </a:lnTo>
                <a:lnTo>
                  <a:pt x="2" y="78"/>
                </a:lnTo>
                <a:lnTo>
                  <a:pt x="0" y="66"/>
                </a:lnTo>
                <a:lnTo>
                  <a:pt x="0" y="6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5" name="Freeform 230"/>
          <p:cNvSpPr>
            <a:spLocks/>
          </p:cNvSpPr>
          <p:nvPr userDrawn="1"/>
        </p:nvSpPr>
        <p:spPr bwMode="auto">
          <a:xfrm>
            <a:off x="6940723" y="1148872"/>
            <a:ext cx="147089" cy="228747"/>
          </a:xfrm>
          <a:custGeom>
            <a:avLst/>
            <a:gdLst>
              <a:gd name="T0" fmla="*/ 0 w 110"/>
              <a:gd name="T1" fmla="*/ 0 h 170"/>
              <a:gd name="T2" fmla="*/ 28 w 110"/>
              <a:gd name="T3" fmla="*/ 0 h 170"/>
              <a:gd name="T4" fmla="*/ 28 w 110"/>
              <a:gd name="T5" fmla="*/ 66 h 170"/>
              <a:gd name="T6" fmla="*/ 28 w 110"/>
              <a:gd name="T7" fmla="*/ 66 h 170"/>
              <a:gd name="T8" fmla="*/ 34 w 110"/>
              <a:gd name="T9" fmla="*/ 58 h 170"/>
              <a:gd name="T10" fmla="*/ 42 w 110"/>
              <a:gd name="T11" fmla="*/ 52 h 170"/>
              <a:gd name="T12" fmla="*/ 52 w 110"/>
              <a:gd name="T13" fmla="*/ 46 h 170"/>
              <a:gd name="T14" fmla="*/ 66 w 110"/>
              <a:gd name="T15" fmla="*/ 44 h 170"/>
              <a:gd name="T16" fmla="*/ 66 w 110"/>
              <a:gd name="T17" fmla="*/ 44 h 170"/>
              <a:gd name="T18" fmla="*/ 76 w 110"/>
              <a:gd name="T19" fmla="*/ 46 h 170"/>
              <a:gd name="T20" fmla="*/ 84 w 110"/>
              <a:gd name="T21" fmla="*/ 48 h 170"/>
              <a:gd name="T22" fmla="*/ 92 w 110"/>
              <a:gd name="T23" fmla="*/ 52 h 170"/>
              <a:gd name="T24" fmla="*/ 98 w 110"/>
              <a:gd name="T25" fmla="*/ 58 h 170"/>
              <a:gd name="T26" fmla="*/ 102 w 110"/>
              <a:gd name="T27" fmla="*/ 64 h 170"/>
              <a:gd name="T28" fmla="*/ 106 w 110"/>
              <a:gd name="T29" fmla="*/ 72 h 170"/>
              <a:gd name="T30" fmla="*/ 108 w 110"/>
              <a:gd name="T31" fmla="*/ 82 h 170"/>
              <a:gd name="T32" fmla="*/ 110 w 110"/>
              <a:gd name="T33" fmla="*/ 92 h 170"/>
              <a:gd name="T34" fmla="*/ 110 w 110"/>
              <a:gd name="T35" fmla="*/ 170 h 170"/>
              <a:gd name="T36" fmla="*/ 82 w 110"/>
              <a:gd name="T37" fmla="*/ 170 h 170"/>
              <a:gd name="T38" fmla="*/ 82 w 110"/>
              <a:gd name="T39" fmla="*/ 100 h 170"/>
              <a:gd name="T40" fmla="*/ 82 w 110"/>
              <a:gd name="T41" fmla="*/ 100 h 170"/>
              <a:gd name="T42" fmla="*/ 80 w 110"/>
              <a:gd name="T43" fmla="*/ 88 h 170"/>
              <a:gd name="T44" fmla="*/ 74 w 110"/>
              <a:gd name="T45" fmla="*/ 78 h 170"/>
              <a:gd name="T46" fmla="*/ 66 w 110"/>
              <a:gd name="T47" fmla="*/ 72 h 170"/>
              <a:gd name="T48" fmla="*/ 54 w 110"/>
              <a:gd name="T49" fmla="*/ 70 h 170"/>
              <a:gd name="T50" fmla="*/ 54 w 110"/>
              <a:gd name="T51" fmla="*/ 70 h 170"/>
              <a:gd name="T52" fmla="*/ 44 w 110"/>
              <a:gd name="T53" fmla="*/ 72 h 170"/>
              <a:gd name="T54" fmla="*/ 36 w 110"/>
              <a:gd name="T55" fmla="*/ 78 h 170"/>
              <a:gd name="T56" fmla="*/ 30 w 110"/>
              <a:gd name="T57" fmla="*/ 88 h 170"/>
              <a:gd name="T58" fmla="*/ 28 w 110"/>
              <a:gd name="T59" fmla="*/ 100 h 170"/>
              <a:gd name="T60" fmla="*/ 28 w 110"/>
              <a:gd name="T61" fmla="*/ 170 h 170"/>
              <a:gd name="T62" fmla="*/ 0 w 110"/>
              <a:gd name="T63" fmla="*/ 170 h 170"/>
              <a:gd name="T64" fmla="*/ 0 w 110"/>
              <a:gd name="T65"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0" h="170">
                <a:moveTo>
                  <a:pt x="0" y="0"/>
                </a:moveTo>
                <a:lnTo>
                  <a:pt x="28" y="0"/>
                </a:lnTo>
                <a:lnTo>
                  <a:pt x="28" y="66"/>
                </a:lnTo>
                <a:lnTo>
                  <a:pt x="28" y="66"/>
                </a:lnTo>
                <a:lnTo>
                  <a:pt x="34" y="58"/>
                </a:lnTo>
                <a:lnTo>
                  <a:pt x="42" y="52"/>
                </a:lnTo>
                <a:lnTo>
                  <a:pt x="52" y="46"/>
                </a:lnTo>
                <a:lnTo>
                  <a:pt x="66" y="44"/>
                </a:lnTo>
                <a:lnTo>
                  <a:pt x="66" y="44"/>
                </a:lnTo>
                <a:lnTo>
                  <a:pt x="76" y="46"/>
                </a:lnTo>
                <a:lnTo>
                  <a:pt x="84" y="48"/>
                </a:lnTo>
                <a:lnTo>
                  <a:pt x="92" y="52"/>
                </a:lnTo>
                <a:lnTo>
                  <a:pt x="98" y="58"/>
                </a:lnTo>
                <a:lnTo>
                  <a:pt x="102" y="64"/>
                </a:lnTo>
                <a:lnTo>
                  <a:pt x="106" y="72"/>
                </a:lnTo>
                <a:lnTo>
                  <a:pt x="108" y="82"/>
                </a:lnTo>
                <a:lnTo>
                  <a:pt x="110" y="92"/>
                </a:lnTo>
                <a:lnTo>
                  <a:pt x="110" y="170"/>
                </a:lnTo>
                <a:lnTo>
                  <a:pt x="82" y="170"/>
                </a:lnTo>
                <a:lnTo>
                  <a:pt x="82" y="100"/>
                </a:lnTo>
                <a:lnTo>
                  <a:pt x="82" y="100"/>
                </a:lnTo>
                <a:lnTo>
                  <a:pt x="80" y="88"/>
                </a:lnTo>
                <a:lnTo>
                  <a:pt x="74" y="78"/>
                </a:lnTo>
                <a:lnTo>
                  <a:pt x="66" y="72"/>
                </a:lnTo>
                <a:lnTo>
                  <a:pt x="54" y="70"/>
                </a:lnTo>
                <a:lnTo>
                  <a:pt x="54" y="70"/>
                </a:lnTo>
                <a:lnTo>
                  <a:pt x="44" y="72"/>
                </a:lnTo>
                <a:lnTo>
                  <a:pt x="36" y="78"/>
                </a:lnTo>
                <a:lnTo>
                  <a:pt x="30" y="88"/>
                </a:lnTo>
                <a:lnTo>
                  <a:pt x="28" y="100"/>
                </a:lnTo>
                <a:lnTo>
                  <a:pt x="28" y="170"/>
                </a:lnTo>
                <a:lnTo>
                  <a:pt x="0" y="170"/>
                </a:lnTo>
                <a:lnTo>
                  <a:pt x="0" y="0"/>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6" name="Freeform 232"/>
          <p:cNvSpPr>
            <a:spLocks/>
          </p:cNvSpPr>
          <p:nvPr userDrawn="1"/>
        </p:nvSpPr>
        <p:spPr bwMode="auto">
          <a:xfrm>
            <a:off x="1220412" y="285750"/>
            <a:ext cx="655214" cy="737372"/>
          </a:xfrm>
          <a:custGeom>
            <a:avLst/>
            <a:gdLst>
              <a:gd name="T0" fmla="*/ 0 w 490"/>
              <a:gd name="T1" fmla="*/ 274 h 548"/>
              <a:gd name="T2" fmla="*/ 2 w 490"/>
              <a:gd name="T3" fmla="*/ 246 h 548"/>
              <a:gd name="T4" fmla="*/ 12 w 490"/>
              <a:gd name="T5" fmla="*/ 194 h 548"/>
              <a:gd name="T6" fmla="*/ 32 w 490"/>
              <a:gd name="T7" fmla="*/ 144 h 548"/>
              <a:gd name="T8" fmla="*/ 60 w 490"/>
              <a:gd name="T9" fmla="*/ 100 h 548"/>
              <a:gd name="T10" fmla="*/ 96 w 490"/>
              <a:gd name="T11" fmla="*/ 64 h 548"/>
              <a:gd name="T12" fmla="*/ 140 w 490"/>
              <a:gd name="T13" fmla="*/ 34 h 548"/>
              <a:gd name="T14" fmla="*/ 190 w 490"/>
              <a:gd name="T15" fmla="*/ 12 h 548"/>
              <a:gd name="T16" fmla="*/ 246 w 490"/>
              <a:gd name="T17" fmla="*/ 2 h 548"/>
              <a:gd name="T18" fmla="*/ 276 w 490"/>
              <a:gd name="T19" fmla="*/ 0 h 548"/>
              <a:gd name="T20" fmla="*/ 344 w 490"/>
              <a:gd name="T21" fmla="*/ 6 h 548"/>
              <a:gd name="T22" fmla="*/ 400 w 490"/>
              <a:gd name="T23" fmla="*/ 24 h 548"/>
              <a:gd name="T24" fmla="*/ 446 w 490"/>
              <a:gd name="T25" fmla="*/ 50 h 548"/>
              <a:gd name="T26" fmla="*/ 486 w 490"/>
              <a:gd name="T27" fmla="*/ 82 h 548"/>
              <a:gd name="T28" fmla="*/ 412 w 490"/>
              <a:gd name="T29" fmla="*/ 168 h 548"/>
              <a:gd name="T30" fmla="*/ 380 w 490"/>
              <a:gd name="T31" fmla="*/ 142 h 548"/>
              <a:gd name="T32" fmla="*/ 348 w 490"/>
              <a:gd name="T33" fmla="*/ 124 h 548"/>
              <a:gd name="T34" fmla="*/ 314 w 490"/>
              <a:gd name="T35" fmla="*/ 112 h 548"/>
              <a:gd name="T36" fmla="*/ 276 w 490"/>
              <a:gd name="T37" fmla="*/ 108 h 548"/>
              <a:gd name="T38" fmla="*/ 260 w 490"/>
              <a:gd name="T39" fmla="*/ 108 h 548"/>
              <a:gd name="T40" fmla="*/ 228 w 490"/>
              <a:gd name="T41" fmla="*/ 116 h 548"/>
              <a:gd name="T42" fmla="*/ 200 w 490"/>
              <a:gd name="T43" fmla="*/ 128 h 548"/>
              <a:gd name="T44" fmla="*/ 176 w 490"/>
              <a:gd name="T45" fmla="*/ 146 h 548"/>
              <a:gd name="T46" fmla="*/ 156 w 490"/>
              <a:gd name="T47" fmla="*/ 168 h 548"/>
              <a:gd name="T48" fmla="*/ 140 w 490"/>
              <a:gd name="T49" fmla="*/ 194 h 548"/>
              <a:gd name="T50" fmla="*/ 130 w 490"/>
              <a:gd name="T51" fmla="*/ 224 h 548"/>
              <a:gd name="T52" fmla="*/ 124 w 490"/>
              <a:gd name="T53" fmla="*/ 256 h 548"/>
              <a:gd name="T54" fmla="*/ 122 w 490"/>
              <a:gd name="T55" fmla="*/ 274 h 548"/>
              <a:gd name="T56" fmla="*/ 124 w 490"/>
              <a:gd name="T57" fmla="*/ 292 h 548"/>
              <a:gd name="T58" fmla="*/ 128 w 490"/>
              <a:gd name="T59" fmla="*/ 324 h 548"/>
              <a:gd name="T60" fmla="*/ 140 w 490"/>
              <a:gd name="T61" fmla="*/ 352 h 548"/>
              <a:gd name="T62" fmla="*/ 156 w 490"/>
              <a:gd name="T63" fmla="*/ 380 h 548"/>
              <a:gd name="T64" fmla="*/ 176 w 490"/>
              <a:gd name="T65" fmla="*/ 402 h 548"/>
              <a:gd name="T66" fmla="*/ 200 w 490"/>
              <a:gd name="T67" fmla="*/ 420 h 548"/>
              <a:gd name="T68" fmla="*/ 228 w 490"/>
              <a:gd name="T69" fmla="*/ 432 h 548"/>
              <a:gd name="T70" fmla="*/ 260 w 490"/>
              <a:gd name="T71" fmla="*/ 440 h 548"/>
              <a:gd name="T72" fmla="*/ 276 w 490"/>
              <a:gd name="T73" fmla="*/ 440 h 548"/>
              <a:gd name="T74" fmla="*/ 318 w 490"/>
              <a:gd name="T75" fmla="*/ 436 h 548"/>
              <a:gd name="T76" fmla="*/ 352 w 490"/>
              <a:gd name="T77" fmla="*/ 424 h 548"/>
              <a:gd name="T78" fmla="*/ 384 w 490"/>
              <a:gd name="T79" fmla="*/ 404 h 548"/>
              <a:gd name="T80" fmla="*/ 490 w 490"/>
              <a:gd name="T81" fmla="*/ 454 h 548"/>
              <a:gd name="T82" fmla="*/ 468 w 490"/>
              <a:gd name="T83" fmla="*/ 474 h 548"/>
              <a:gd name="T84" fmla="*/ 424 w 490"/>
              <a:gd name="T85" fmla="*/ 508 h 548"/>
              <a:gd name="T86" fmla="*/ 372 w 490"/>
              <a:gd name="T87" fmla="*/ 534 h 548"/>
              <a:gd name="T88" fmla="*/ 308 w 490"/>
              <a:gd name="T89" fmla="*/ 546 h 548"/>
              <a:gd name="T90" fmla="*/ 272 w 490"/>
              <a:gd name="T91" fmla="*/ 548 h 548"/>
              <a:gd name="T92" fmla="*/ 216 w 490"/>
              <a:gd name="T93" fmla="*/ 542 h 548"/>
              <a:gd name="T94" fmla="*/ 164 w 490"/>
              <a:gd name="T95" fmla="*/ 526 h 548"/>
              <a:gd name="T96" fmla="*/ 118 w 490"/>
              <a:gd name="T97" fmla="*/ 502 h 548"/>
              <a:gd name="T98" fmla="*/ 78 w 490"/>
              <a:gd name="T99" fmla="*/ 468 h 548"/>
              <a:gd name="T100" fmla="*/ 46 w 490"/>
              <a:gd name="T101" fmla="*/ 428 h 548"/>
              <a:gd name="T102" fmla="*/ 22 w 490"/>
              <a:gd name="T103" fmla="*/ 382 h 548"/>
              <a:gd name="T104" fmla="*/ 6 w 490"/>
              <a:gd name="T105" fmla="*/ 332 h 548"/>
              <a:gd name="T106" fmla="*/ 0 w 490"/>
              <a:gd name="T107" fmla="*/ 276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0" h="548">
                <a:moveTo>
                  <a:pt x="0" y="276"/>
                </a:moveTo>
                <a:lnTo>
                  <a:pt x="0" y="274"/>
                </a:lnTo>
                <a:lnTo>
                  <a:pt x="0" y="274"/>
                </a:lnTo>
                <a:lnTo>
                  <a:pt x="2" y="246"/>
                </a:lnTo>
                <a:lnTo>
                  <a:pt x="6" y="220"/>
                </a:lnTo>
                <a:lnTo>
                  <a:pt x="12" y="194"/>
                </a:lnTo>
                <a:lnTo>
                  <a:pt x="22" y="168"/>
                </a:lnTo>
                <a:lnTo>
                  <a:pt x="32" y="144"/>
                </a:lnTo>
                <a:lnTo>
                  <a:pt x="46" y="122"/>
                </a:lnTo>
                <a:lnTo>
                  <a:pt x="60" y="100"/>
                </a:lnTo>
                <a:lnTo>
                  <a:pt x="78" y="80"/>
                </a:lnTo>
                <a:lnTo>
                  <a:pt x="96" y="64"/>
                </a:lnTo>
                <a:lnTo>
                  <a:pt x="118" y="48"/>
                </a:lnTo>
                <a:lnTo>
                  <a:pt x="140" y="34"/>
                </a:lnTo>
                <a:lnTo>
                  <a:pt x="166" y="22"/>
                </a:lnTo>
                <a:lnTo>
                  <a:pt x="190" y="12"/>
                </a:lnTo>
                <a:lnTo>
                  <a:pt x="218" y="6"/>
                </a:lnTo>
                <a:lnTo>
                  <a:pt x="246" y="2"/>
                </a:lnTo>
                <a:lnTo>
                  <a:pt x="276" y="0"/>
                </a:lnTo>
                <a:lnTo>
                  <a:pt x="276" y="0"/>
                </a:lnTo>
                <a:lnTo>
                  <a:pt x="312" y="2"/>
                </a:lnTo>
                <a:lnTo>
                  <a:pt x="344" y="6"/>
                </a:lnTo>
                <a:lnTo>
                  <a:pt x="374" y="14"/>
                </a:lnTo>
                <a:lnTo>
                  <a:pt x="400" y="24"/>
                </a:lnTo>
                <a:lnTo>
                  <a:pt x="424" y="36"/>
                </a:lnTo>
                <a:lnTo>
                  <a:pt x="446" y="50"/>
                </a:lnTo>
                <a:lnTo>
                  <a:pt x="466" y="64"/>
                </a:lnTo>
                <a:lnTo>
                  <a:pt x="486" y="82"/>
                </a:lnTo>
                <a:lnTo>
                  <a:pt x="412" y="168"/>
                </a:lnTo>
                <a:lnTo>
                  <a:pt x="412" y="168"/>
                </a:lnTo>
                <a:lnTo>
                  <a:pt x="396" y="154"/>
                </a:lnTo>
                <a:lnTo>
                  <a:pt x="380" y="142"/>
                </a:lnTo>
                <a:lnTo>
                  <a:pt x="364" y="132"/>
                </a:lnTo>
                <a:lnTo>
                  <a:pt x="348" y="124"/>
                </a:lnTo>
                <a:lnTo>
                  <a:pt x="332" y="118"/>
                </a:lnTo>
                <a:lnTo>
                  <a:pt x="314" y="112"/>
                </a:lnTo>
                <a:lnTo>
                  <a:pt x="296" y="108"/>
                </a:lnTo>
                <a:lnTo>
                  <a:pt x="276" y="108"/>
                </a:lnTo>
                <a:lnTo>
                  <a:pt x="276" y="108"/>
                </a:lnTo>
                <a:lnTo>
                  <a:pt x="260" y="108"/>
                </a:lnTo>
                <a:lnTo>
                  <a:pt x="244" y="112"/>
                </a:lnTo>
                <a:lnTo>
                  <a:pt x="228" y="116"/>
                </a:lnTo>
                <a:lnTo>
                  <a:pt x="214" y="120"/>
                </a:lnTo>
                <a:lnTo>
                  <a:pt x="200" y="128"/>
                </a:lnTo>
                <a:lnTo>
                  <a:pt x="188" y="136"/>
                </a:lnTo>
                <a:lnTo>
                  <a:pt x="176" y="146"/>
                </a:lnTo>
                <a:lnTo>
                  <a:pt x="166" y="156"/>
                </a:lnTo>
                <a:lnTo>
                  <a:pt x="156" y="168"/>
                </a:lnTo>
                <a:lnTo>
                  <a:pt x="148" y="180"/>
                </a:lnTo>
                <a:lnTo>
                  <a:pt x="140" y="194"/>
                </a:lnTo>
                <a:lnTo>
                  <a:pt x="134" y="208"/>
                </a:lnTo>
                <a:lnTo>
                  <a:pt x="130" y="224"/>
                </a:lnTo>
                <a:lnTo>
                  <a:pt x="126" y="240"/>
                </a:lnTo>
                <a:lnTo>
                  <a:pt x="124" y="256"/>
                </a:lnTo>
                <a:lnTo>
                  <a:pt x="122" y="272"/>
                </a:lnTo>
                <a:lnTo>
                  <a:pt x="122" y="274"/>
                </a:lnTo>
                <a:lnTo>
                  <a:pt x="122" y="274"/>
                </a:lnTo>
                <a:lnTo>
                  <a:pt x="124" y="292"/>
                </a:lnTo>
                <a:lnTo>
                  <a:pt x="126" y="308"/>
                </a:lnTo>
                <a:lnTo>
                  <a:pt x="128" y="324"/>
                </a:lnTo>
                <a:lnTo>
                  <a:pt x="134" y="338"/>
                </a:lnTo>
                <a:lnTo>
                  <a:pt x="140" y="352"/>
                </a:lnTo>
                <a:lnTo>
                  <a:pt x="148" y="366"/>
                </a:lnTo>
                <a:lnTo>
                  <a:pt x="156" y="380"/>
                </a:lnTo>
                <a:lnTo>
                  <a:pt x="166" y="392"/>
                </a:lnTo>
                <a:lnTo>
                  <a:pt x="176" y="402"/>
                </a:lnTo>
                <a:lnTo>
                  <a:pt x="188" y="412"/>
                </a:lnTo>
                <a:lnTo>
                  <a:pt x="200" y="420"/>
                </a:lnTo>
                <a:lnTo>
                  <a:pt x="214" y="428"/>
                </a:lnTo>
                <a:lnTo>
                  <a:pt x="228" y="432"/>
                </a:lnTo>
                <a:lnTo>
                  <a:pt x="244" y="438"/>
                </a:lnTo>
                <a:lnTo>
                  <a:pt x="260" y="440"/>
                </a:lnTo>
                <a:lnTo>
                  <a:pt x="276" y="440"/>
                </a:lnTo>
                <a:lnTo>
                  <a:pt x="276" y="440"/>
                </a:lnTo>
                <a:lnTo>
                  <a:pt x="298" y="440"/>
                </a:lnTo>
                <a:lnTo>
                  <a:pt x="318" y="436"/>
                </a:lnTo>
                <a:lnTo>
                  <a:pt x="336" y="430"/>
                </a:lnTo>
                <a:lnTo>
                  <a:pt x="352" y="424"/>
                </a:lnTo>
                <a:lnTo>
                  <a:pt x="368" y="414"/>
                </a:lnTo>
                <a:lnTo>
                  <a:pt x="384" y="404"/>
                </a:lnTo>
                <a:lnTo>
                  <a:pt x="416" y="378"/>
                </a:lnTo>
                <a:lnTo>
                  <a:pt x="490" y="454"/>
                </a:lnTo>
                <a:lnTo>
                  <a:pt x="490" y="454"/>
                </a:lnTo>
                <a:lnTo>
                  <a:pt x="468" y="474"/>
                </a:lnTo>
                <a:lnTo>
                  <a:pt x="446" y="492"/>
                </a:lnTo>
                <a:lnTo>
                  <a:pt x="424" y="508"/>
                </a:lnTo>
                <a:lnTo>
                  <a:pt x="398" y="522"/>
                </a:lnTo>
                <a:lnTo>
                  <a:pt x="372" y="534"/>
                </a:lnTo>
                <a:lnTo>
                  <a:pt x="342" y="542"/>
                </a:lnTo>
                <a:lnTo>
                  <a:pt x="308" y="546"/>
                </a:lnTo>
                <a:lnTo>
                  <a:pt x="272" y="548"/>
                </a:lnTo>
                <a:lnTo>
                  <a:pt x="272" y="548"/>
                </a:lnTo>
                <a:lnTo>
                  <a:pt x="244" y="546"/>
                </a:lnTo>
                <a:lnTo>
                  <a:pt x="216" y="542"/>
                </a:lnTo>
                <a:lnTo>
                  <a:pt x="190" y="536"/>
                </a:lnTo>
                <a:lnTo>
                  <a:pt x="164" y="526"/>
                </a:lnTo>
                <a:lnTo>
                  <a:pt x="140" y="516"/>
                </a:lnTo>
                <a:lnTo>
                  <a:pt x="118" y="502"/>
                </a:lnTo>
                <a:lnTo>
                  <a:pt x="98" y="486"/>
                </a:lnTo>
                <a:lnTo>
                  <a:pt x="78" y="468"/>
                </a:lnTo>
                <a:lnTo>
                  <a:pt x="60" y="450"/>
                </a:lnTo>
                <a:lnTo>
                  <a:pt x="46" y="428"/>
                </a:lnTo>
                <a:lnTo>
                  <a:pt x="32" y="406"/>
                </a:lnTo>
                <a:lnTo>
                  <a:pt x="22" y="382"/>
                </a:lnTo>
                <a:lnTo>
                  <a:pt x="12" y="358"/>
                </a:lnTo>
                <a:lnTo>
                  <a:pt x="6" y="332"/>
                </a:lnTo>
                <a:lnTo>
                  <a:pt x="2" y="304"/>
                </a:lnTo>
                <a:lnTo>
                  <a:pt x="0" y="276"/>
                </a:lnTo>
                <a:lnTo>
                  <a:pt x="0" y="27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7" name="Freeform 233"/>
          <p:cNvSpPr>
            <a:spLocks/>
          </p:cNvSpPr>
          <p:nvPr userDrawn="1"/>
        </p:nvSpPr>
        <p:spPr bwMode="auto">
          <a:xfrm>
            <a:off x="1974576" y="299206"/>
            <a:ext cx="599053" cy="710461"/>
          </a:xfrm>
          <a:custGeom>
            <a:avLst/>
            <a:gdLst>
              <a:gd name="T0" fmla="*/ 0 w 448"/>
              <a:gd name="T1" fmla="*/ 0 h 528"/>
              <a:gd name="T2" fmla="*/ 116 w 448"/>
              <a:gd name="T3" fmla="*/ 0 h 528"/>
              <a:gd name="T4" fmla="*/ 116 w 448"/>
              <a:gd name="T5" fmla="*/ 210 h 528"/>
              <a:gd name="T6" fmla="*/ 332 w 448"/>
              <a:gd name="T7" fmla="*/ 210 h 528"/>
              <a:gd name="T8" fmla="*/ 332 w 448"/>
              <a:gd name="T9" fmla="*/ 0 h 528"/>
              <a:gd name="T10" fmla="*/ 448 w 448"/>
              <a:gd name="T11" fmla="*/ 0 h 528"/>
              <a:gd name="T12" fmla="*/ 448 w 448"/>
              <a:gd name="T13" fmla="*/ 528 h 528"/>
              <a:gd name="T14" fmla="*/ 332 w 448"/>
              <a:gd name="T15" fmla="*/ 528 h 528"/>
              <a:gd name="T16" fmla="*/ 332 w 448"/>
              <a:gd name="T17" fmla="*/ 316 h 528"/>
              <a:gd name="T18" fmla="*/ 116 w 448"/>
              <a:gd name="T19" fmla="*/ 316 h 528"/>
              <a:gd name="T20" fmla="*/ 116 w 448"/>
              <a:gd name="T21" fmla="*/ 528 h 528"/>
              <a:gd name="T22" fmla="*/ 0 w 448"/>
              <a:gd name="T23" fmla="*/ 528 h 528"/>
              <a:gd name="T24" fmla="*/ 0 w 448"/>
              <a:gd name="T25"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8" h="528">
                <a:moveTo>
                  <a:pt x="0" y="0"/>
                </a:moveTo>
                <a:lnTo>
                  <a:pt x="116" y="0"/>
                </a:lnTo>
                <a:lnTo>
                  <a:pt x="116" y="210"/>
                </a:lnTo>
                <a:lnTo>
                  <a:pt x="332" y="210"/>
                </a:lnTo>
                <a:lnTo>
                  <a:pt x="332" y="0"/>
                </a:lnTo>
                <a:lnTo>
                  <a:pt x="448" y="0"/>
                </a:lnTo>
                <a:lnTo>
                  <a:pt x="448" y="528"/>
                </a:lnTo>
                <a:lnTo>
                  <a:pt x="332" y="528"/>
                </a:lnTo>
                <a:lnTo>
                  <a:pt x="332" y="316"/>
                </a:lnTo>
                <a:lnTo>
                  <a:pt x="116" y="316"/>
                </a:lnTo>
                <a:lnTo>
                  <a:pt x="116" y="528"/>
                </a:lnTo>
                <a:lnTo>
                  <a:pt x="0" y="528"/>
                </a:lnTo>
                <a:lnTo>
                  <a:pt x="0" y="0"/>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8" name="Freeform 234"/>
          <p:cNvSpPr>
            <a:spLocks/>
          </p:cNvSpPr>
          <p:nvPr userDrawn="1"/>
        </p:nvSpPr>
        <p:spPr bwMode="auto">
          <a:xfrm>
            <a:off x="2734090" y="299206"/>
            <a:ext cx="540217" cy="710461"/>
          </a:xfrm>
          <a:custGeom>
            <a:avLst/>
            <a:gdLst>
              <a:gd name="T0" fmla="*/ 0 w 404"/>
              <a:gd name="T1" fmla="*/ 0 h 528"/>
              <a:gd name="T2" fmla="*/ 400 w 404"/>
              <a:gd name="T3" fmla="*/ 0 h 528"/>
              <a:gd name="T4" fmla="*/ 400 w 404"/>
              <a:gd name="T5" fmla="*/ 104 h 528"/>
              <a:gd name="T6" fmla="*/ 116 w 404"/>
              <a:gd name="T7" fmla="*/ 104 h 528"/>
              <a:gd name="T8" fmla="*/ 116 w 404"/>
              <a:gd name="T9" fmla="*/ 210 h 528"/>
              <a:gd name="T10" fmla="*/ 366 w 404"/>
              <a:gd name="T11" fmla="*/ 210 h 528"/>
              <a:gd name="T12" fmla="*/ 366 w 404"/>
              <a:gd name="T13" fmla="*/ 314 h 528"/>
              <a:gd name="T14" fmla="*/ 116 w 404"/>
              <a:gd name="T15" fmla="*/ 314 h 528"/>
              <a:gd name="T16" fmla="*/ 116 w 404"/>
              <a:gd name="T17" fmla="*/ 426 h 528"/>
              <a:gd name="T18" fmla="*/ 404 w 404"/>
              <a:gd name="T19" fmla="*/ 426 h 528"/>
              <a:gd name="T20" fmla="*/ 404 w 404"/>
              <a:gd name="T21" fmla="*/ 528 h 528"/>
              <a:gd name="T22" fmla="*/ 0 w 404"/>
              <a:gd name="T23" fmla="*/ 528 h 528"/>
              <a:gd name="T24" fmla="*/ 0 w 404"/>
              <a:gd name="T25"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4" h="528">
                <a:moveTo>
                  <a:pt x="0" y="0"/>
                </a:moveTo>
                <a:lnTo>
                  <a:pt x="400" y="0"/>
                </a:lnTo>
                <a:lnTo>
                  <a:pt x="400" y="104"/>
                </a:lnTo>
                <a:lnTo>
                  <a:pt x="116" y="104"/>
                </a:lnTo>
                <a:lnTo>
                  <a:pt x="116" y="210"/>
                </a:lnTo>
                <a:lnTo>
                  <a:pt x="366" y="210"/>
                </a:lnTo>
                <a:lnTo>
                  <a:pt x="366" y="314"/>
                </a:lnTo>
                <a:lnTo>
                  <a:pt x="116" y="314"/>
                </a:lnTo>
                <a:lnTo>
                  <a:pt x="116" y="426"/>
                </a:lnTo>
                <a:lnTo>
                  <a:pt x="404" y="426"/>
                </a:lnTo>
                <a:lnTo>
                  <a:pt x="404" y="528"/>
                </a:lnTo>
                <a:lnTo>
                  <a:pt x="0" y="528"/>
                </a:lnTo>
                <a:lnTo>
                  <a:pt x="0" y="0"/>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0" name="Freeform 235"/>
          <p:cNvSpPr>
            <a:spLocks/>
          </p:cNvSpPr>
          <p:nvPr userDrawn="1"/>
        </p:nvSpPr>
        <p:spPr bwMode="auto">
          <a:xfrm>
            <a:off x="3408024" y="299206"/>
            <a:ext cx="708701" cy="710461"/>
          </a:xfrm>
          <a:custGeom>
            <a:avLst/>
            <a:gdLst>
              <a:gd name="T0" fmla="*/ 0 w 530"/>
              <a:gd name="T1" fmla="*/ 0 h 528"/>
              <a:gd name="T2" fmla="*/ 126 w 530"/>
              <a:gd name="T3" fmla="*/ 0 h 528"/>
              <a:gd name="T4" fmla="*/ 264 w 530"/>
              <a:gd name="T5" fmla="*/ 224 h 528"/>
              <a:gd name="T6" fmla="*/ 404 w 530"/>
              <a:gd name="T7" fmla="*/ 0 h 528"/>
              <a:gd name="T8" fmla="*/ 530 w 530"/>
              <a:gd name="T9" fmla="*/ 0 h 528"/>
              <a:gd name="T10" fmla="*/ 530 w 530"/>
              <a:gd name="T11" fmla="*/ 528 h 528"/>
              <a:gd name="T12" fmla="*/ 414 w 530"/>
              <a:gd name="T13" fmla="*/ 528 h 528"/>
              <a:gd name="T14" fmla="*/ 414 w 530"/>
              <a:gd name="T15" fmla="*/ 184 h 528"/>
              <a:gd name="T16" fmla="*/ 264 w 530"/>
              <a:gd name="T17" fmla="*/ 410 h 528"/>
              <a:gd name="T18" fmla="*/ 262 w 530"/>
              <a:gd name="T19" fmla="*/ 410 h 528"/>
              <a:gd name="T20" fmla="*/ 114 w 530"/>
              <a:gd name="T21" fmla="*/ 186 h 528"/>
              <a:gd name="T22" fmla="*/ 114 w 530"/>
              <a:gd name="T23" fmla="*/ 528 h 528"/>
              <a:gd name="T24" fmla="*/ 0 w 530"/>
              <a:gd name="T25" fmla="*/ 528 h 528"/>
              <a:gd name="T26" fmla="*/ 0 w 530"/>
              <a:gd name="T27"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0" h="528">
                <a:moveTo>
                  <a:pt x="0" y="0"/>
                </a:moveTo>
                <a:lnTo>
                  <a:pt x="126" y="0"/>
                </a:lnTo>
                <a:lnTo>
                  <a:pt x="264" y="224"/>
                </a:lnTo>
                <a:lnTo>
                  <a:pt x="404" y="0"/>
                </a:lnTo>
                <a:lnTo>
                  <a:pt x="530" y="0"/>
                </a:lnTo>
                <a:lnTo>
                  <a:pt x="530" y="528"/>
                </a:lnTo>
                <a:lnTo>
                  <a:pt x="414" y="528"/>
                </a:lnTo>
                <a:lnTo>
                  <a:pt x="414" y="184"/>
                </a:lnTo>
                <a:lnTo>
                  <a:pt x="264" y="410"/>
                </a:lnTo>
                <a:lnTo>
                  <a:pt x="262" y="410"/>
                </a:lnTo>
                <a:lnTo>
                  <a:pt x="114" y="186"/>
                </a:lnTo>
                <a:lnTo>
                  <a:pt x="114" y="528"/>
                </a:lnTo>
                <a:lnTo>
                  <a:pt x="0" y="528"/>
                </a:lnTo>
                <a:lnTo>
                  <a:pt x="0" y="0"/>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1" name="Rectangle 236"/>
          <p:cNvSpPr>
            <a:spLocks noChangeArrowheads="1"/>
          </p:cNvSpPr>
          <p:nvPr userDrawn="1"/>
        </p:nvSpPr>
        <p:spPr bwMode="auto">
          <a:xfrm>
            <a:off x="4279859" y="299206"/>
            <a:ext cx="157786" cy="710461"/>
          </a:xfrm>
          <a:prstGeom prst="rect">
            <a:avLst/>
          </a:prstGeom>
          <a:solidFill>
            <a:srgbClr val="F7D3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2" name="Freeform 237"/>
          <p:cNvSpPr>
            <a:spLocks/>
          </p:cNvSpPr>
          <p:nvPr userDrawn="1"/>
        </p:nvSpPr>
        <p:spPr bwMode="auto">
          <a:xfrm>
            <a:off x="4547293" y="288441"/>
            <a:ext cx="558937" cy="731990"/>
          </a:xfrm>
          <a:custGeom>
            <a:avLst/>
            <a:gdLst>
              <a:gd name="T0" fmla="*/ 68 w 418"/>
              <a:gd name="T1" fmla="*/ 378 h 544"/>
              <a:gd name="T2" fmla="*/ 124 w 418"/>
              <a:gd name="T3" fmla="*/ 414 h 544"/>
              <a:gd name="T4" fmla="*/ 184 w 418"/>
              <a:gd name="T5" fmla="*/ 438 h 544"/>
              <a:gd name="T6" fmla="*/ 226 w 418"/>
              <a:gd name="T7" fmla="*/ 442 h 544"/>
              <a:gd name="T8" fmla="*/ 272 w 418"/>
              <a:gd name="T9" fmla="*/ 434 h 544"/>
              <a:gd name="T10" fmla="*/ 298 w 418"/>
              <a:gd name="T11" fmla="*/ 412 h 544"/>
              <a:gd name="T12" fmla="*/ 304 w 418"/>
              <a:gd name="T13" fmla="*/ 390 h 544"/>
              <a:gd name="T14" fmla="*/ 300 w 418"/>
              <a:gd name="T15" fmla="*/ 370 h 544"/>
              <a:gd name="T16" fmla="*/ 270 w 418"/>
              <a:gd name="T17" fmla="*/ 346 h 544"/>
              <a:gd name="T18" fmla="*/ 196 w 418"/>
              <a:gd name="T19" fmla="*/ 322 h 544"/>
              <a:gd name="T20" fmla="*/ 124 w 418"/>
              <a:gd name="T21" fmla="*/ 300 h 544"/>
              <a:gd name="T22" fmla="*/ 70 w 418"/>
              <a:gd name="T23" fmla="*/ 272 h 544"/>
              <a:gd name="T24" fmla="*/ 40 w 418"/>
              <a:gd name="T25" fmla="*/ 240 h 544"/>
              <a:gd name="T26" fmla="*/ 24 w 418"/>
              <a:gd name="T27" fmla="*/ 198 h 544"/>
              <a:gd name="T28" fmla="*/ 22 w 418"/>
              <a:gd name="T29" fmla="*/ 160 h 544"/>
              <a:gd name="T30" fmla="*/ 24 w 418"/>
              <a:gd name="T31" fmla="*/ 126 h 544"/>
              <a:gd name="T32" fmla="*/ 42 w 418"/>
              <a:gd name="T33" fmla="*/ 80 h 544"/>
              <a:gd name="T34" fmla="*/ 74 w 418"/>
              <a:gd name="T35" fmla="*/ 44 h 544"/>
              <a:gd name="T36" fmla="*/ 116 w 418"/>
              <a:gd name="T37" fmla="*/ 18 h 544"/>
              <a:gd name="T38" fmla="*/ 168 w 418"/>
              <a:gd name="T39" fmla="*/ 2 h 544"/>
              <a:gd name="T40" fmla="*/ 206 w 418"/>
              <a:gd name="T41" fmla="*/ 0 h 544"/>
              <a:gd name="T42" fmla="*/ 288 w 418"/>
              <a:gd name="T43" fmla="*/ 10 h 544"/>
              <a:gd name="T44" fmla="*/ 360 w 418"/>
              <a:gd name="T45" fmla="*/ 38 h 544"/>
              <a:gd name="T46" fmla="*/ 342 w 418"/>
              <a:gd name="T47" fmla="*/ 156 h 544"/>
              <a:gd name="T48" fmla="*/ 290 w 418"/>
              <a:gd name="T49" fmla="*/ 124 h 544"/>
              <a:gd name="T50" fmla="*/ 238 w 418"/>
              <a:gd name="T51" fmla="*/ 106 h 544"/>
              <a:gd name="T52" fmla="*/ 206 w 418"/>
              <a:gd name="T53" fmla="*/ 102 h 544"/>
              <a:gd name="T54" fmla="*/ 164 w 418"/>
              <a:gd name="T55" fmla="*/ 110 h 544"/>
              <a:gd name="T56" fmla="*/ 142 w 418"/>
              <a:gd name="T57" fmla="*/ 130 h 544"/>
              <a:gd name="T58" fmla="*/ 138 w 418"/>
              <a:gd name="T59" fmla="*/ 150 h 544"/>
              <a:gd name="T60" fmla="*/ 142 w 418"/>
              <a:gd name="T61" fmla="*/ 172 h 544"/>
              <a:gd name="T62" fmla="*/ 174 w 418"/>
              <a:gd name="T63" fmla="*/ 196 h 544"/>
              <a:gd name="T64" fmla="*/ 252 w 418"/>
              <a:gd name="T65" fmla="*/ 220 h 544"/>
              <a:gd name="T66" fmla="*/ 352 w 418"/>
              <a:gd name="T67" fmla="*/ 258 h 544"/>
              <a:gd name="T68" fmla="*/ 386 w 418"/>
              <a:gd name="T69" fmla="*/ 284 h 544"/>
              <a:gd name="T70" fmla="*/ 408 w 418"/>
              <a:gd name="T71" fmla="*/ 320 h 544"/>
              <a:gd name="T72" fmla="*/ 418 w 418"/>
              <a:gd name="T73" fmla="*/ 362 h 544"/>
              <a:gd name="T74" fmla="*/ 418 w 418"/>
              <a:gd name="T75" fmla="*/ 380 h 544"/>
              <a:gd name="T76" fmla="*/ 410 w 418"/>
              <a:gd name="T77" fmla="*/ 434 h 544"/>
              <a:gd name="T78" fmla="*/ 388 w 418"/>
              <a:gd name="T79" fmla="*/ 478 h 544"/>
              <a:gd name="T80" fmla="*/ 352 w 418"/>
              <a:gd name="T81" fmla="*/ 512 h 544"/>
              <a:gd name="T82" fmla="*/ 304 w 418"/>
              <a:gd name="T83" fmla="*/ 534 h 544"/>
              <a:gd name="T84" fmla="*/ 246 w 418"/>
              <a:gd name="T85" fmla="*/ 544 h 544"/>
              <a:gd name="T86" fmla="*/ 194 w 418"/>
              <a:gd name="T87" fmla="*/ 544 h 544"/>
              <a:gd name="T88" fmla="*/ 106 w 418"/>
              <a:gd name="T89" fmla="*/ 524 h 544"/>
              <a:gd name="T90" fmla="*/ 24 w 418"/>
              <a:gd name="T91" fmla="*/ 48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18" h="544">
                <a:moveTo>
                  <a:pt x="0" y="460"/>
                </a:moveTo>
                <a:lnTo>
                  <a:pt x="68" y="378"/>
                </a:lnTo>
                <a:lnTo>
                  <a:pt x="68" y="378"/>
                </a:lnTo>
                <a:lnTo>
                  <a:pt x="86" y="392"/>
                </a:lnTo>
                <a:lnTo>
                  <a:pt x="106" y="404"/>
                </a:lnTo>
                <a:lnTo>
                  <a:pt x="124" y="414"/>
                </a:lnTo>
                <a:lnTo>
                  <a:pt x="144" y="424"/>
                </a:lnTo>
                <a:lnTo>
                  <a:pt x="162" y="432"/>
                </a:lnTo>
                <a:lnTo>
                  <a:pt x="184" y="438"/>
                </a:lnTo>
                <a:lnTo>
                  <a:pt x="204" y="440"/>
                </a:lnTo>
                <a:lnTo>
                  <a:pt x="226" y="442"/>
                </a:lnTo>
                <a:lnTo>
                  <a:pt x="226" y="442"/>
                </a:lnTo>
                <a:lnTo>
                  <a:pt x="244" y="440"/>
                </a:lnTo>
                <a:lnTo>
                  <a:pt x="258" y="438"/>
                </a:lnTo>
                <a:lnTo>
                  <a:pt x="272" y="434"/>
                </a:lnTo>
                <a:lnTo>
                  <a:pt x="284" y="428"/>
                </a:lnTo>
                <a:lnTo>
                  <a:pt x="292" y="422"/>
                </a:lnTo>
                <a:lnTo>
                  <a:pt x="298" y="412"/>
                </a:lnTo>
                <a:lnTo>
                  <a:pt x="302" y="402"/>
                </a:lnTo>
                <a:lnTo>
                  <a:pt x="304" y="392"/>
                </a:lnTo>
                <a:lnTo>
                  <a:pt x="304" y="390"/>
                </a:lnTo>
                <a:lnTo>
                  <a:pt x="304" y="390"/>
                </a:lnTo>
                <a:lnTo>
                  <a:pt x="302" y="380"/>
                </a:lnTo>
                <a:lnTo>
                  <a:pt x="300" y="370"/>
                </a:lnTo>
                <a:lnTo>
                  <a:pt x="292" y="362"/>
                </a:lnTo>
                <a:lnTo>
                  <a:pt x="284" y="354"/>
                </a:lnTo>
                <a:lnTo>
                  <a:pt x="270" y="346"/>
                </a:lnTo>
                <a:lnTo>
                  <a:pt x="250" y="338"/>
                </a:lnTo>
                <a:lnTo>
                  <a:pt x="226" y="332"/>
                </a:lnTo>
                <a:lnTo>
                  <a:pt x="196" y="322"/>
                </a:lnTo>
                <a:lnTo>
                  <a:pt x="196" y="322"/>
                </a:lnTo>
                <a:lnTo>
                  <a:pt x="158" y="312"/>
                </a:lnTo>
                <a:lnTo>
                  <a:pt x="124" y="300"/>
                </a:lnTo>
                <a:lnTo>
                  <a:pt x="94" y="288"/>
                </a:lnTo>
                <a:lnTo>
                  <a:pt x="82" y="280"/>
                </a:lnTo>
                <a:lnTo>
                  <a:pt x="70" y="272"/>
                </a:lnTo>
                <a:lnTo>
                  <a:pt x="58" y="262"/>
                </a:lnTo>
                <a:lnTo>
                  <a:pt x="48" y="252"/>
                </a:lnTo>
                <a:lnTo>
                  <a:pt x="40" y="240"/>
                </a:lnTo>
                <a:lnTo>
                  <a:pt x="34" y="226"/>
                </a:lnTo>
                <a:lnTo>
                  <a:pt x="28" y="212"/>
                </a:lnTo>
                <a:lnTo>
                  <a:pt x="24" y="198"/>
                </a:lnTo>
                <a:lnTo>
                  <a:pt x="22" y="180"/>
                </a:lnTo>
                <a:lnTo>
                  <a:pt x="22" y="162"/>
                </a:lnTo>
                <a:lnTo>
                  <a:pt x="22" y="160"/>
                </a:lnTo>
                <a:lnTo>
                  <a:pt x="22" y="160"/>
                </a:lnTo>
                <a:lnTo>
                  <a:pt x="22" y="142"/>
                </a:lnTo>
                <a:lnTo>
                  <a:pt x="24" y="126"/>
                </a:lnTo>
                <a:lnTo>
                  <a:pt x="30" y="110"/>
                </a:lnTo>
                <a:lnTo>
                  <a:pt x="36" y="94"/>
                </a:lnTo>
                <a:lnTo>
                  <a:pt x="42" y="80"/>
                </a:lnTo>
                <a:lnTo>
                  <a:pt x="52" y="66"/>
                </a:lnTo>
                <a:lnTo>
                  <a:pt x="62" y="54"/>
                </a:lnTo>
                <a:lnTo>
                  <a:pt x="74" y="44"/>
                </a:lnTo>
                <a:lnTo>
                  <a:pt x="86" y="34"/>
                </a:lnTo>
                <a:lnTo>
                  <a:pt x="100" y="26"/>
                </a:lnTo>
                <a:lnTo>
                  <a:pt x="116" y="18"/>
                </a:lnTo>
                <a:lnTo>
                  <a:pt x="132" y="12"/>
                </a:lnTo>
                <a:lnTo>
                  <a:pt x="150" y="6"/>
                </a:lnTo>
                <a:lnTo>
                  <a:pt x="168" y="2"/>
                </a:lnTo>
                <a:lnTo>
                  <a:pt x="186" y="0"/>
                </a:lnTo>
                <a:lnTo>
                  <a:pt x="206" y="0"/>
                </a:lnTo>
                <a:lnTo>
                  <a:pt x="206" y="0"/>
                </a:lnTo>
                <a:lnTo>
                  <a:pt x="234" y="2"/>
                </a:lnTo>
                <a:lnTo>
                  <a:pt x="262" y="4"/>
                </a:lnTo>
                <a:lnTo>
                  <a:pt x="288" y="10"/>
                </a:lnTo>
                <a:lnTo>
                  <a:pt x="314" y="18"/>
                </a:lnTo>
                <a:lnTo>
                  <a:pt x="338" y="28"/>
                </a:lnTo>
                <a:lnTo>
                  <a:pt x="360" y="38"/>
                </a:lnTo>
                <a:lnTo>
                  <a:pt x="382" y="52"/>
                </a:lnTo>
                <a:lnTo>
                  <a:pt x="404" y="68"/>
                </a:lnTo>
                <a:lnTo>
                  <a:pt x="342" y="156"/>
                </a:lnTo>
                <a:lnTo>
                  <a:pt x="342" y="156"/>
                </a:lnTo>
                <a:lnTo>
                  <a:pt x="308" y="134"/>
                </a:lnTo>
                <a:lnTo>
                  <a:pt x="290" y="124"/>
                </a:lnTo>
                <a:lnTo>
                  <a:pt x="272" y="116"/>
                </a:lnTo>
                <a:lnTo>
                  <a:pt x="256" y="110"/>
                </a:lnTo>
                <a:lnTo>
                  <a:pt x="238" y="106"/>
                </a:lnTo>
                <a:lnTo>
                  <a:pt x="222" y="104"/>
                </a:lnTo>
                <a:lnTo>
                  <a:pt x="206" y="102"/>
                </a:lnTo>
                <a:lnTo>
                  <a:pt x="206" y="102"/>
                </a:lnTo>
                <a:lnTo>
                  <a:pt x="190" y="104"/>
                </a:lnTo>
                <a:lnTo>
                  <a:pt x="176" y="106"/>
                </a:lnTo>
                <a:lnTo>
                  <a:pt x="164" y="110"/>
                </a:lnTo>
                <a:lnTo>
                  <a:pt x="154" y="116"/>
                </a:lnTo>
                <a:lnTo>
                  <a:pt x="146" y="124"/>
                </a:lnTo>
                <a:lnTo>
                  <a:pt x="142" y="130"/>
                </a:lnTo>
                <a:lnTo>
                  <a:pt x="138" y="140"/>
                </a:lnTo>
                <a:lnTo>
                  <a:pt x="138" y="148"/>
                </a:lnTo>
                <a:lnTo>
                  <a:pt x="138" y="150"/>
                </a:lnTo>
                <a:lnTo>
                  <a:pt x="138" y="150"/>
                </a:lnTo>
                <a:lnTo>
                  <a:pt x="138" y="162"/>
                </a:lnTo>
                <a:lnTo>
                  <a:pt x="142" y="172"/>
                </a:lnTo>
                <a:lnTo>
                  <a:pt x="150" y="182"/>
                </a:lnTo>
                <a:lnTo>
                  <a:pt x="160" y="190"/>
                </a:lnTo>
                <a:lnTo>
                  <a:pt x="174" y="196"/>
                </a:lnTo>
                <a:lnTo>
                  <a:pt x="194" y="204"/>
                </a:lnTo>
                <a:lnTo>
                  <a:pt x="252" y="220"/>
                </a:lnTo>
                <a:lnTo>
                  <a:pt x="252" y="220"/>
                </a:lnTo>
                <a:lnTo>
                  <a:pt x="290" y="232"/>
                </a:lnTo>
                <a:lnTo>
                  <a:pt x="322" y="244"/>
                </a:lnTo>
                <a:lnTo>
                  <a:pt x="352" y="258"/>
                </a:lnTo>
                <a:lnTo>
                  <a:pt x="364" y="266"/>
                </a:lnTo>
                <a:lnTo>
                  <a:pt x="376" y="276"/>
                </a:lnTo>
                <a:lnTo>
                  <a:pt x="386" y="284"/>
                </a:lnTo>
                <a:lnTo>
                  <a:pt x="394" y="296"/>
                </a:lnTo>
                <a:lnTo>
                  <a:pt x="402" y="306"/>
                </a:lnTo>
                <a:lnTo>
                  <a:pt x="408" y="320"/>
                </a:lnTo>
                <a:lnTo>
                  <a:pt x="412" y="332"/>
                </a:lnTo>
                <a:lnTo>
                  <a:pt x="416" y="346"/>
                </a:lnTo>
                <a:lnTo>
                  <a:pt x="418" y="362"/>
                </a:lnTo>
                <a:lnTo>
                  <a:pt x="418" y="378"/>
                </a:lnTo>
                <a:lnTo>
                  <a:pt x="418" y="380"/>
                </a:lnTo>
                <a:lnTo>
                  <a:pt x="418" y="380"/>
                </a:lnTo>
                <a:lnTo>
                  <a:pt x="418" y="400"/>
                </a:lnTo>
                <a:lnTo>
                  <a:pt x="416" y="418"/>
                </a:lnTo>
                <a:lnTo>
                  <a:pt x="410" y="434"/>
                </a:lnTo>
                <a:lnTo>
                  <a:pt x="404" y="450"/>
                </a:lnTo>
                <a:lnTo>
                  <a:pt x="396" y="464"/>
                </a:lnTo>
                <a:lnTo>
                  <a:pt x="388" y="478"/>
                </a:lnTo>
                <a:lnTo>
                  <a:pt x="376" y="490"/>
                </a:lnTo>
                <a:lnTo>
                  <a:pt x="364" y="502"/>
                </a:lnTo>
                <a:lnTo>
                  <a:pt x="352" y="512"/>
                </a:lnTo>
                <a:lnTo>
                  <a:pt x="336" y="520"/>
                </a:lnTo>
                <a:lnTo>
                  <a:pt x="320" y="528"/>
                </a:lnTo>
                <a:lnTo>
                  <a:pt x="304" y="534"/>
                </a:lnTo>
                <a:lnTo>
                  <a:pt x="286" y="538"/>
                </a:lnTo>
                <a:lnTo>
                  <a:pt x="266" y="542"/>
                </a:lnTo>
                <a:lnTo>
                  <a:pt x="246" y="544"/>
                </a:lnTo>
                <a:lnTo>
                  <a:pt x="224" y="544"/>
                </a:lnTo>
                <a:lnTo>
                  <a:pt x="224" y="544"/>
                </a:lnTo>
                <a:lnTo>
                  <a:pt x="194" y="544"/>
                </a:lnTo>
                <a:lnTo>
                  <a:pt x="164" y="540"/>
                </a:lnTo>
                <a:lnTo>
                  <a:pt x="136" y="532"/>
                </a:lnTo>
                <a:lnTo>
                  <a:pt x="106" y="524"/>
                </a:lnTo>
                <a:lnTo>
                  <a:pt x="78" y="512"/>
                </a:lnTo>
                <a:lnTo>
                  <a:pt x="50" y="496"/>
                </a:lnTo>
                <a:lnTo>
                  <a:pt x="24" y="480"/>
                </a:lnTo>
                <a:lnTo>
                  <a:pt x="0" y="460"/>
                </a:lnTo>
                <a:lnTo>
                  <a:pt x="0" y="460"/>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3" name="Freeform 238"/>
          <p:cNvSpPr>
            <a:spLocks/>
          </p:cNvSpPr>
          <p:nvPr userDrawn="1"/>
        </p:nvSpPr>
        <p:spPr bwMode="auto">
          <a:xfrm>
            <a:off x="5173090" y="299206"/>
            <a:ext cx="585681" cy="710461"/>
          </a:xfrm>
          <a:custGeom>
            <a:avLst/>
            <a:gdLst>
              <a:gd name="T0" fmla="*/ 160 w 438"/>
              <a:gd name="T1" fmla="*/ 106 h 528"/>
              <a:gd name="T2" fmla="*/ 0 w 438"/>
              <a:gd name="T3" fmla="*/ 106 h 528"/>
              <a:gd name="T4" fmla="*/ 0 w 438"/>
              <a:gd name="T5" fmla="*/ 0 h 528"/>
              <a:gd name="T6" fmla="*/ 438 w 438"/>
              <a:gd name="T7" fmla="*/ 0 h 528"/>
              <a:gd name="T8" fmla="*/ 438 w 438"/>
              <a:gd name="T9" fmla="*/ 106 h 528"/>
              <a:gd name="T10" fmla="*/ 276 w 438"/>
              <a:gd name="T11" fmla="*/ 106 h 528"/>
              <a:gd name="T12" fmla="*/ 276 w 438"/>
              <a:gd name="T13" fmla="*/ 528 h 528"/>
              <a:gd name="T14" fmla="*/ 160 w 438"/>
              <a:gd name="T15" fmla="*/ 528 h 528"/>
              <a:gd name="T16" fmla="*/ 160 w 438"/>
              <a:gd name="T17" fmla="*/ 10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528">
                <a:moveTo>
                  <a:pt x="160" y="106"/>
                </a:moveTo>
                <a:lnTo>
                  <a:pt x="0" y="106"/>
                </a:lnTo>
                <a:lnTo>
                  <a:pt x="0" y="0"/>
                </a:lnTo>
                <a:lnTo>
                  <a:pt x="438" y="0"/>
                </a:lnTo>
                <a:lnTo>
                  <a:pt x="438" y="106"/>
                </a:lnTo>
                <a:lnTo>
                  <a:pt x="276" y="106"/>
                </a:lnTo>
                <a:lnTo>
                  <a:pt x="276" y="528"/>
                </a:lnTo>
                <a:lnTo>
                  <a:pt x="160" y="528"/>
                </a:lnTo>
                <a:lnTo>
                  <a:pt x="160" y="10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4" name="Freeform 239"/>
          <p:cNvSpPr>
            <a:spLocks/>
          </p:cNvSpPr>
          <p:nvPr userDrawn="1"/>
        </p:nvSpPr>
        <p:spPr bwMode="auto">
          <a:xfrm>
            <a:off x="5849698" y="299206"/>
            <a:ext cx="612424" cy="710461"/>
          </a:xfrm>
          <a:custGeom>
            <a:avLst/>
            <a:gdLst>
              <a:gd name="T0" fmla="*/ 0 w 458"/>
              <a:gd name="T1" fmla="*/ 0 h 528"/>
              <a:gd name="T2" fmla="*/ 242 w 458"/>
              <a:gd name="T3" fmla="*/ 0 h 528"/>
              <a:gd name="T4" fmla="*/ 242 w 458"/>
              <a:gd name="T5" fmla="*/ 0 h 528"/>
              <a:gd name="T6" fmla="*/ 268 w 458"/>
              <a:gd name="T7" fmla="*/ 0 h 528"/>
              <a:gd name="T8" fmla="*/ 290 w 458"/>
              <a:gd name="T9" fmla="*/ 4 h 528"/>
              <a:gd name="T10" fmla="*/ 312 w 458"/>
              <a:gd name="T11" fmla="*/ 8 h 528"/>
              <a:gd name="T12" fmla="*/ 332 w 458"/>
              <a:gd name="T13" fmla="*/ 14 h 528"/>
              <a:gd name="T14" fmla="*/ 350 w 458"/>
              <a:gd name="T15" fmla="*/ 22 h 528"/>
              <a:gd name="T16" fmla="*/ 368 w 458"/>
              <a:gd name="T17" fmla="*/ 30 h 528"/>
              <a:gd name="T18" fmla="*/ 382 w 458"/>
              <a:gd name="T19" fmla="*/ 40 h 528"/>
              <a:gd name="T20" fmla="*/ 396 w 458"/>
              <a:gd name="T21" fmla="*/ 54 h 528"/>
              <a:gd name="T22" fmla="*/ 396 w 458"/>
              <a:gd name="T23" fmla="*/ 54 h 528"/>
              <a:gd name="T24" fmla="*/ 408 w 458"/>
              <a:gd name="T25" fmla="*/ 64 h 528"/>
              <a:gd name="T26" fmla="*/ 416 w 458"/>
              <a:gd name="T27" fmla="*/ 78 h 528"/>
              <a:gd name="T28" fmla="*/ 424 w 458"/>
              <a:gd name="T29" fmla="*/ 92 h 528"/>
              <a:gd name="T30" fmla="*/ 430 w 458"/>
              <a:gd name="T31" fmla="*/ 106 h 528"/>
              <a:gd name="T32" fmla="*/ 436 w 458"/>
              <a:gd name="T33" fmla="*/ 122 h 528"/>
              <a:gd name="T34" fmla="*/ 440 w 458"/>
              <a:gd name="T35" fmla="*/ 138 h 528"/>
              <a:gd name="T36" fmla="*/ 442 w 458"/>
              <a:gd name="T37" fmla="*/ 156 h 528"/>
              <a:gd name="T38" fmla="*/ 442 w 458"/>
              <a:gd name="T39" fmla="*/ 174 h 528"/>
              <a:gd name="T40" fmla="*/ 442 w 458"/>
              <a:gd name="T41" fmla="*/ 176 h 528"/>
              <a:gd name="T42" fmla="*/ 442 w 458"/>
              <a:gd name="T43" fmla="*/ 176 h 528"/>
              <a:gd name="T44" fmla="*/ 440 w 458"/>
              <a:gd name="T45" fmla="*/ 206 h 528"/>
              <a:gd name="T46" fmla="*/ 434 w 458"/>
              <a:gd name="T47" fmla="*/ 234 h 528"/>
              <a:gd name="T48" fmla="*/ 424 w 458"/>
              <a:gd name="T49" fmla="*/ 258 h 528"/>
              <a:gd name="T50" fmla="*/ 410 w 458"/>
              <a:gd name="T51" fmla="*/ 280 h 528"/>
              <a:gd name="T52" fmla="*/ 394 w 458"/>
              <a:gd name="T53" fmla="*/ 300 h 528"/>
              <a:gd name="T54" fmla="*/ 374 w 458"/>
              <a:gd name="T55" fmla="*/ 316 h 528"/>
              <a:gd name="T56" fmla="*/ 352 w 458"/>
              <a:gd name="T57" fmla="*/ 330 h 528"/>
              <a:gd name="T58" fmla="*/ 328 w 458"/>
              <a:gd name="T59" fmla="*/ 340 h 528"/>
              <a:gd name="T60" fmla="*/ 458 w 458"/>
              <a:gd name="T61" fmla="*/ 528 h 528"/>
              <a:gd name="T62" fmla="*/ 322 w 458"/>
              <a:gd name="T63" fmla="*/ 528 h 528"/>
              <a:gd name="T64" fmla="*/ 208 w 458"/>
              <a:gd name="T65" fmla="*/ 360 h 528"/>
              <a:gd name="T66" fmla="*/ 118 w 458"/>
              <a:gd name="T67" fmla="*/ 360 h 528"/>
              <a:gd name="T68" fmla="*/ 118 w 458"/>
              <a:gd name="T69" fmla="*/ 528 h 528"/>
              <a:gd name="T70" fmla="*/ 0 w 458"/>
              <a:gd name="T71" fmla="*/ 528 h 528"/>
              <a:gd name="T72" fmla="*/ 0 w 458"/>
              <a:gd name="T73"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58" h="528">
                <a:moveTo>
                  <a:pt x="0" y="0"/>
                </a:moveTo>
                <a:lnTo>
                  <a:pt x="242" y="0"/>
                </a:lnTo>
                <a:lnTo>
                  <a:pt x="242" y="0"/>
                </a:lnTo>
                <a:lnTo>
                  <a:pt x="268" y="0"/>
                </a:lnTo>
                <a:lnTo>
                  <a:pt x="290" y="4"/>
                </a:lnTo>
                <a:lnTo>
                  <a:pt x="312" y="8"/>
                </a:lnTo>
                <a:lnTo>
                  <a:pt x="332" y="14"/>
                </a:lnTo>
                <a:lnTo>
                  <a:pt x="350" y="22"/>
                </a:lnTo>
                <a:lnTo>
                  <a:pt x="368" y="30"/>
                </a:lnTo>
                <a:lnTo>
                  <a:pt x="382" y="40"/>
                </a:lnTo>
                <a:lnTo>
                  <a:pt x="396" y="54"/>
                </a:lnTo>
                <a:lnTo>
                  <a:pt x="396" y="54"/>
                </a:lnTo>
                <a:lnTo>
                  <a:pt x="408" y="64"/>
                </a:lnTo>
                <a:lnTo>
                  <a:pt x="416" y="78"/>
                </a:lnTo>
                <a:lnTo>
                  <a:pt x="424" y="92"/>
                </a:lnTo>
                <a:lnTo>
                  <a:pt x="430" y="106"/>
                </a:lnTo>
                <a:lnTo>
                  <a:pt x="436" y="122"/>
                </a:lnTo>
                <a:lnTo>
                  <a:pt x="440" y="138"/>
                </a:lnTo>
                <a:lnTo>
                  <a:pt x="442" y="156"/>
                </a:lnTo>
                <a:lnTo>
                  <a:pt x="442" y="174"/>
                </a:lnTo>
                <a:lnTo>
                  <a:pt x="442" y="176"/>
                </a:lnTo>
                <a:lnTo>
                  <a:pt x="442" y="176"/>
                </a:lnTo>
                <a:lnTo>
                  <a:pt x="440" y="206"/>
                </a:lnTo>
                <a:lnTo>
                  <a:pt x="434" y="234"/>
                </a:lnTo>
                <a:lnTo>
                  <a:pt x="424" y="258"/>
                </a:lnTo>
                <a:lnTo>
                  <a:pt x="410" y="280"/>
                </a:lnTo>
                <a:lnTo>
                  <a:pt x="394" y="300"/>
                </a:lnTo>
                <a:lnTo>
                  <a:pt x="374" y="316"/>
                </a:lnTo>
                <a:lnTo>
                  <a:pt x="352" y="330"/>
                </a:lnTo>
                <a:lnTo>
                  <a:pt x="328" y="340"/>
                </a:lnTo>
                <a:lnTo>
                  <a:pt x="458" y="528"/>
                </a:lnTo>
                <a:lnTo>
                  <a:pt x="322" y="528"/>
                </a:lnTo>
                <a:lnTo>
                  <a:pt x="208" y="360"/>
                </a:lnTo>
                <a:lnTo>
                  <a:pt x="118" y="360"/>
                </a:lnTo>
                <a:lnTo>
                  <a:pt x="118" y="528"/>
                </a:lnTo>
                <a:lnTo>
                  <a:pt x="0" y="528"/>
                </a:lnTo>
                <a:lnTo>
                  <a:pt x="0" y="0"/>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5" name="Freeform 240"/>
          <p:cNvSpPr>
            <a:spLocks/>
          </p:cNvSpPr>
          <p:nvPr userDrawn="1"/>
        </p:nvSpPr>
        <p:spPr bwMode="auto">
          <a:xfrm>
            <a:off x="6007484" y="439145"/>
            <a:ext cx="275457" cy="204527"/>
          </a:xfrm>
          <a:custGeom>
            <a:avLst/>
            <a:gdLst>
              <a:gd name="T0" fmla="*/ 118 w 206"/>
              <a:gd name="T1" fmla="*/ 152 h 152"/>
              <a:gd name="T2" fmla="*/ 118 w 206"/>
              <a:gd name="T3" fmla="*/ 152 h 152"/>
              <a:gd name="T4" fmla="*/ 138 w 206"/>
              <a:gd name="T5" fmla="*/ 152 h 152"/>
              <a:gd name="T6" fmla="*/ 154 w 206"/>
              <a:gd name="T7" fmla="*/ 148 h 152"/>
              <a:gd name="T8" fmla="*/ 170 w 206"/>
              <a:gd name="T9" fmla="*/ 140 h 152"/>
              <a:gd name="T10" fmla="*/ 182 w 206"/>
              <a:gd name="T11" fmla="*/ 132 h 152"/>
              <a:gd name="T12" fmla="*/ 192 w 206"/>
              <a:gd name="T13" fmla="*/ 122 h 152"/>
              <a:gd name="T14" fmla="*/ 200 w 206"/>
              <a:gd name="T15" fmla="*/ 108 h 152"/>
              <a:gd name="T16" fmla="*/ 204 w 206"/>
              <a:gd name="T17" fmla="*/ 94 h 152"/>
              <a:gd name="T18" fmla="*/ 206 w 206"/>
              <a:gd name="T19" fmla="*/ 78 h 152"/>
              <a:gd name="T20" fmla="*/ 206 w 206"/>
              <a:gd name="T21" fmla="*/ 76 h 152"/>
              <a:gd name="T22" fmla="*/ 206 w 206"/>
              <a:gd name="T23" fmla="*/ 76 h 152"/>
              <a:gd name="T24" fmla="*/ 204 w 206"/>
              <a:gd name="T25" fmla="*/ 58 h 152"/>
              <a:gd name="T26" fmla="*/ 200 w 206"/>
              <a:gd name="T27" fmla="*/ 44 h 152"/>
              <a:gd name="T28" fmla="*/ 192 w 206"/>
              <a:gd name="T29" fmla="*/ 30 h 152"/>
              <a:gd name="T30" fmla="*/ 182 w 206"/>
              <a:gd name="T31" fmla="*/ 20 h 152"/>
              <a:gd name="T32" fmla="*/ 168 w 206"/>
              <a:gd name="T33" fmla="*/ 12 h 152"/>
              <a:gd name="T34" fmla="*/ 152 w 206"/>
              <a:gd name="T35" fmla="*/ 6 h 152"/>
              <a:gd name="T36" fmla="*/ 134 w 206"/>
              <a:gd name="T37" fmla="*/ 2 h 152"/>
              <a:gd name="T38" fmla="*/ 114 w 206"/>
              <a:gd name="T39" fmla="*/ 0 h 152"/>
              <a:gd name="T40" fmla="*/ 0 w 206"/>
              <a:gd name="T41" fmla="*/ 0 h 152"/>
              <a:gd name="T42" fmla="*/ 0 w 206"/>
              <a:gd name="T43" fmla="*/ 152 h 152"/>
              <a:gd name="T44" fmla="*/ 118 w 206"/>
              <a:gd name="T45"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6" h="152">
                <a:moveTo>
                  <a:pt x="118" y="152"/>
                </a:moveTo>
                <a:lnTo>
                  <a:pt x="118" y="152"/>
                </a:lnTo>
                <a:lnTo>
                  <a:pt x="138" y="152"/>
                </a:lnTo>
                <a:lnTo>
                  <a:pt x="154" y="148"/>
                </a:lnTo>
                <a:lnTo>
                  <a:pt x="170" y="140"/>
                </a:lnTo>
                <a:lnTo>
                  <a:pt x="182" y="132"/>
                </a:lnTo>
                <a:lnTo>
                  <a:pt x="192" y="122"/>
                </a:lnTo>
                <a:lnTo>
                  <a:pt x="200" y="108"/>
                </a:lnTo>
                <a:lnTo>
                  <a:pt x="204" y="94"/>
                </a:lnTo>
                <a:lnTo>
                  <a:pt x="206" y="78"/>
                </a:lnTo>
                <a:lnTo>
                  <a:pt x="206" y="76"/>
                </a:lnTo>
                <a:lnTo>
                  <a:pt x="206" y="76"/>
                </a:lnTo>
                <a:lnTo>
                  <a:pt x="204" y="58"/>
                </a:lnTo>
                <a:lnTo>
                  <a:pt x="200" y="44"/>
                </a:lnTo>
                <a:lnTo>
                  <a:pt x="192" y="30"/>
                </a:lnTo>
                <a:lnTo>
                  <a:pt x="182" y="20"/>
                </a:lnTo>
                <a:lnTo>
                  <a:pt x="168" y="12"/>
                </a:lnTo>
                <a:lnTo>
                  <a:pt x="152" y="6"/>
                </a:lnTo>
                <a:lnTo>
                  <a:pt x="134" y="2"/>
                </a:lnTo>
                <a:lnTo>
                  <a:pt x="114" y="0"/>
                </a:lnTo>
                <a:lnTo>
                  <a:pt x="0" y="0"/>
                </a:lnTo>
                <a:lnTo>
                  <a:pt x="0" y="152"/>
                </a:lnTo>
                <a:lnTo>
                  <a:pt x="118" y="152"/>
                </a:lnTo>
                <a:close/>
              </a:path>
            </a:pathLst>
          </a:custGeom>
          <a:solidFill>
            <a:srgbClr val="335359"/>
          </a:solidFill>
          <a:ln>
            <a:no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6" name="Freeform 241"/>
          <p:cNvSpPr>
            <a:spLocks/>
          </p:cNvSpPr>
          <p:nvPr userDrawn="1"/>
        </p:nvSpPr>
        <p:spPr bwMode="auto">
          <a:xfrm>
            <a:off x="6462122" y="299206"/>
            <a:ext cx="700678" cy="710461"/>
          </a:xfrm>
          <a:custGeom>
            <a:avLst/>
            <a:gdLst>
              <a:gd name="T0" fmla="*/ 204 w 524"/>
              <a:gd name="T1" fmla="*/ 320 h 528"/>
              <a:gd name="T2" fmla="*/ 0 w 524"/>
              <a:gd name="T3" fmla="*/ 0 h 528"/>
              <a:gd name="T4" fmla="*/ 136 w 524"/>
              <a:gd name="T5" fmla="*/ 0 h 528"/>
              <a:gd name="T6" fmla="*/ 262 w 524"/>
              <a:gd name="T7" fmla="*/ 212 h 528"/>
              <a:gd name="T8" fmla="*/ 390 w 524"/>
              <a:gd name="T9" fmla="*/ 0 h 528"/>
              <a:gd name="T10" fmla="*/ 524 w 524"/>
              <a:gd name="T11" fmla="*/ 0 h 528"/>
              <a:gd name="T12" fmla="*/ 320 w 524"/>
              <a:gd name="T13" fmla="*/ 318 h 528"/>
              <a:gd name="T14" fmla="*/ 320 w 524"/>
              <a:gd name="T15" fmla="*/ 528 h 528"/>
              <a:gd name="T16" fmla="*/ 204 w 524"/>
              <a:gd name="T17" fmla="*/ 528 h 528"/>
              <a:gd name="T18" fmla="*/ 204 w 524"/>
              <a:gd name="T19" fmla="*/ 32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4" h="528">
                <a:moveTo>
                  <a:pt x="204" y="320"/>
                </a:moveTo>
                <a:lnTo>
                  <a:pt x="0" y="0"/>
                </a:lnTo>
                <a:lnTo>
                  <a:pt x="136" y="0"/>
                </a:lnTo>
                <a:lnTo>
                  <a:pt x="262" y="212"/>
                </a:lnTo>
                <a:lnTo>
                  <a:pt x="390" y="0"/>
                </a:lnTo>
                <a:lnTo>
                  <a:pt x="524" y="0"/>
                </a:lnTo>
                <a:lnTo>
                  <a:pt x="320" y="318"/>
                </a:lnTo>
                <a:lnTo>
                  <a:pt x="320" y="528"/>
                </a:lnTo>
                <a:lnTo>
                  <a:pt x="204" y="528"/>
                </a:lnTo>
                <a:lnTo>
                  <a:pt x="204" y="320"/>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7" name="Rectangle 41"/>
          <p:cNvSpPr>
            <a:spLocks noChangeArrowheads="1"/>
          </p:cNvSpPr>
          <p:nvPr userDrawn="1"/>
        </p:nvSpPr>
        <p:spPr bwMode="auto">
          <a:xfrm>
            <a:off x="7449970" y="272871"/>
            <a:ext cx="1366336" cy="12003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fontAlgn="base">
              <a:spcBef>
                <a:spcPct val="0"/>
              </a:spcBef>
              <a:spcAft>
                <a:spcPct val="0"/>
              </a:spcAft>
            </a:pPr>
            <a:r>
              <a:rPr lang="en-US" sz="2600" b="1" dirty="0">
                <a:solidFill>
                  <a:srgbClr val="FFFFFF"/>
                </a:solidFill>
                <a:latin typeface="Arial Black" pitchFamily="34" charset="0"/>
              </a:rPr>
              <a:t>Gilbert </a:t>
            </a:r>
          </a:p>
          <a:p>
            <a:pPr fontAlgn="base">
              <a:spcBef>
                <a:spcPct val="0"/>
              </a:spcBef>
              <a:spcAft>
                <a:spcPct val="0"/>
              </a:spcAft>
            </a:pPr>
            <a:r>
              <a:rPr lang="en-US" sz="2600" b="1" dirty="0">
                <a:solidFill>
                  <a:srgbClr val="FFFFFF"/>
                </a:solidFill>
                <a:latin typeface="Arial Black" pitchFamily="34" charset="0"/>
              </a:rPr>
              <a:t>Kirss </a:t>
            </a:r>
          </a:p>
          <a:p>
            <a:pPr fontAlgn="base">
              <a:spcBef>
                <a:spcPct val="0"/>
              </a:spcBef>
              <a:spcAft>
                <a:spcPct val="0"/>
              </a:spcAft>
            </a:pPr>
            <a:r>
              <a:rPr lang="en-US" sz="2600" b="1" dirty="0">
                <a:solidFill>
                  <a:srgbClr val="FFFFFF"/>
                </a:solidFill>
                <a:latin typeface="Arial Black" pitchFamily="34" charset="0"/>
              </a:rPr>
              <a:t>Foster</a:t>
            </a:r>
          </a:p>
        </p:txBody>
      </p:sp>
    </p:spTree>
    <p:extLst>
      <p:ext uri="{BB962C8B-B14F-4D97-AF65-F5344CB8AC3E}">
        <p14:creationId xmlns:p14="http://schemas.microsoft.com/office/powerpoint/2010/main" val="41794698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effectLst/>
        </p:spPr>
        <p:txBody>
          <a:bodyPr/>
          <a:lstStyle>
            <a:lvl1pPr>
              <a:defRPr b="0">
                <a:latin typeface="Arial Black" pitchFamily="34" charset="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3C635E55-CB1D-472F-9901-EBAF6658061D}" type="slidenum">
              <a:rPr lang="en-US"/>
              <a:pPr>
                <a:defRPr/>
              </a:pPr>
              <a:t>‹#›</a:t>
            </a:fld>
            <a:endParaRPr lang="en-US" dirty="0"/>
          </a:p>
        </p:txBody>
      </p:sp>
    </p:spTree>
    <p:extLst>
      <p:ext uri="{BB962C8B-B14F-4D97-AF65-F5344CB8AC3E}">
        <p14:creationId xmlns:p14="http://schemas.microsoft.com/office/powerpoint/2010/main" val="9209067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6625"/>
            <a:ext cx="7620000" cy="869950"/>
          </a:xfrm>
        </p:spPr>
        <p:txBody>
          <a:bodyPr/>
          <a:lstStyle>
            <a:lvl1pPr>
              <a:defRPr b="0">
                <a:latin typeface="Arial Black" pitchFamily="34" charset="0"/>
              </a:defRPr>
            </a:lvl1pPr>
          </a:lstStyle>
          <a:p>
            <a:r>
              <a:rPr lang="en-US" dirty="0"/>
              <a:t>Click to edit Master title style</a:t>
            </a:r>
          </a:p>
        </p:txBody>
      </p:sp>
      <p:sp>
        <p:nvSpPr>
          <p:cNvPr id="3" name="Content Placeholder 2"/>
          <p:cNvSpPr>
            <a:spLocks noGrp="1"/>
          </p:cNvSpPr>
          <p:nvPr>
            <p:ph idx="1"/>
          </p:nvPr>
        </p:nvSpPr>
        <p:spPr>
          <a:xfrm>
            <a:off x="228600" y="1066801"/>
            <a:ext cx="86868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3C635E55-CB1D-472F-9901-EBAF6658061D}" type="slidenum">
              <a:rPr lang="en-US"/>
              <a:pPr>
                <a:defRPr/>
              </a:pPr>
              <a:t>‹#›</a:t>
            </a:fld>
            <a:endParaRPr lang="en-US" dirty="0"/>
          </a:p>
        </p:txBody>
      </p:sp>
    </p:spTree>
    <p:extLst>
      <p:ext uri="{BB962C8B-B14F-4D97-AF65-F5344CB8AC3E}">
        <p14:creationId xmlns:p14="http://schemas.microsoft.com/office/powerpoint/2010/main" val="10257676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atin typeface="Arial Black" pitchFamily="34" charset="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3C635E55-CB1D-472F-9901-EBAF6658061D}" type="slidenum">
              <a:rPr lang="en-US"/>
              <a:pPr>
                <a:defRPr/>
              </a:pPr>
              <a:t>‹#›</a:t>
            </a:fld>
            <a:endParaRPr lang="en-US" dirty="0"/>
          </a:p>
        </p:txBody>
      </p:sp>
    </p:spTree>
    <p:extLst>
      <p:ext uri="{BB962C8B-B14F-4D97-AF65-F5344CB8AC3E}">
        <p14:creationId xmlns:p14="http://schemas.microsoft.com/office/powerpoint/2010/main" val="40021606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3"/>
          <p:cNvSpPr>
            <a:spLocks noGrp="1" noChangeArrowheads="1"/>
          </p:cNvSpPr>
          <p:nvPr>
            <p:ph type="sldNum" sz="quarter" idx="10"/>
          </p:nvPr>
        </p:nvSpPr>
        <p:spPr>
          <a:ln/>
        </p:spPr>
        <p:txBody>
          <a:bodyPr/>
          <a:lstStyle>
            <a:lvl1pPr>
              <a:defRPr/>
            </a:lvl1pPr>
          </a:lstStyle>
          <a:p>
            <a:pPr>
              <a:defRPr/>
            </a:pPr>
            <a:fld id="{A79DE1D1-79E8-40BE-B0AB-F99592B24213}" type="slidenum">
              <a:rPr lang="en-US"/>
              <a:pPr>
                <a:defRPr/>
              </a:pPr>
              <a:t>‹#›</a:t>
            </a:fld>
            <a:endParaRPr lang="en-US" dirty="0"/>
          </a:p>
        </p:txBody>
      </p:sp>
    </p:spTree>
    <p:extLst>
      <p:ext uri="{BB962C8B-B14F-4D97-AF65-F5344CB8AC3E}">
        <p14:creationId xmlns:p14="http://schemas.microsoft.com/office/powerpoint/2010/main" val="2850676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600200"/>
            <a:ext cx="42672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2672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3"/>
          <p:cNvSpPr>
            <a:spLocks noGrp="1" noChangeArrowheads="1"/>
          </p:cNvSpPr>
          <p:nvPr>
            <p:ph type="sldNum" sz="quarter" idx="10"/>
          </p:nvPr>
        </p:nvSpPr>
        <p:spPr>
          <a:ln/>
        </p:spPr>
        <p:txBody>
          <a:bodyPr/>
          <a:lstStyle>
            <a:lvl1pPr>
              <a:defRPr/>
            </a:lvl1pPr>
          </a:lstStyle>
          <a:p>
            <a:pPr>
              <a:defRPr/>
            </a:pPr>
            <a:fld id="{9120F44F-09CE-4E93-ADAB-7E450424D389}" type="slidenum">
              <a:rPr lang="en-US"/>
              <a:pPr>
                <a:defRPr/>
              </a:pPr>
              <a:t>‹#›</a:t>
            </a:fld>
            <a:endParaRPr lang="en-US" dirty="0"/>
          </a:p>
        </p:txBody>
      </p:sp>
    </p:spTree>
    <p:extLst>
      <p:ext uri="{BB962C8B-B14F-4D97-AF65-F5344CB8AC3E}">
        <p14:creationId xmlns:p14="http://schemas.microsoft.com/office/powerpoint/2010/main" val="2763889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3"/>
          <p:cNvSpPr>
            <a:spLocks noGrp="1" noChangeArrowheads="1"/>
          </p:cNvSpPr>
          <p:nvPr>
            <p:ph type="sldNum" sz="quarter" idx="10"/>
          </p:nvPr>
        </p:nvSpPr>
        <p:spPr>
          <a:ln/>
        </p:spPr>
        <p:txBody>
          <a:bodyPr/>
          <a:lstStyle>
            <a:lvl1pPr>
              <a:defRPr/>
            </a:lvl1pPr>
          </a:lstStyle>
          <a:p>
            <a:pPr>
              <a:defRPr/>
            </a:pPr>
            <a:fld id="{CD6FFE01-2B97-4A32-981D-A4A897D0E491}" type="slidenum">
              <a:rPr lang="en-US"/>
              <a:pPr>
                <a:defRPr/>
              </a:pPr>
              <a:t>‹#›</a:t>
            </a:fld>
            <a:endParaRPr lang="en-US" dirty="0"/>
          </a:p>
        </p:txBody>
      </p:sp>
    </p:spTree>
    <p:extLst>
      <p:ext uri="{BB962C8B-B14F-4D97-AF65-F5344CB8AC3E}">
        <p14:creationId xmlns:p14="http://schemas.microsoft.com/office/powerpoint/2010/main" val="27332068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3"/>
          <p:cNvSpPr>
            <a:spLocks noGrp="1" noChangeArrowheads="1"/>
          </p:cNvSpPr>
          <p:nvPr>
            <p:ph type="sldNum" sz="quarter" idx="10"/>
          </p:nvPr>
        </p:nvSpPr>
        <p:spPr>
          <a:ln/>
        </p:spPr>
        <p:txBody>
          <a:bodyPr/>
          <a:lstStyle>
            <a:lvl1pPr>
              <a:defRPr/>
            </a:lvl1pPr>
          </a:lstStyle>
          <a:p>
            <a:pPr>
              <a:defRPr/>
            </a:pPr>
            <a:fld id="{711C17E1-BFDE-40E4-888F-E5FEAE4FDC14}" type="slidenum">
              <a:rPr lang="en-US"/>
              <a:pPr>
                <a:defRPr/>
              </a:pPr>
              <a:t>‹#›</a:t>
            </a:fld>
            <a:endParaRPr lang="en-US" dirty="0"/>
          </a:p>
        </p:txBody>
      </p:sp>
    </p:spTree>
    <p:extLst>
      <p:ext uri="{BB962C8B-B14F-4D97-AF65-F5344CB8AC3E}">
        <p14:creationId xmlns:p14="http://schemas.microsoft.com/office/powerpoint/2010/main" val="17971518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3"/>
          <p:cNvSpPr>
            <a:spLocks noGrp="1" noChangeArrowheads="1"/>
          </p:cNvSpPr>
          <p:nvPr>
            <p:ph type="sldNum" sz="quarter" idx="10"/>
          </p:nvPr>
        </p:nvSpPr>
        <p:spPr>
          <a:ln/>
        </p:spPr>
        <p:txBody>
          <a:bodyPr/>
          <a:lstStyle>
            <a:lvl1pPr>
              <a:defRPr/>
            </a:lvl1pPr>
          </a:lstStyle>
          <a:p>
            <a:pPr>
              <a:defRPr/>
            </a:pPr>
            <a:fld id="{5FD674A7-B45A-45F9-ADA3-AD4637A34DA4}" type="slidenum">
              <a:rPr lang="en-US"/>
              <a:pPr>
                <a:defRPr/>
              </a:pPr>
              <a:t>‹#›</a:t>
            </a:fld>
            <a:endParaRPr lang="en-US" dirty="0"/>
          </a:p>
        </p:txBody>
      </p:sp>
    </p:spTree>
    <p:extLst>
      <p:ext uri="{BB962C8B-B14F-4D97-AF65-F5344CB8AC3E}">
        <p14:creationId xmlns:p14="http://schemas.microsoft.com/office/powerpoint/2010/main" val="40258086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3"/>
          <p:cNvSpPr>
            <a:spLocks noGrp="1" noChangeArrowheads="1"/>
          </p:cNvSpPr>
          <p:nvPr>
            <p:ph type="sldNum" sz="quarter" idx="10"/>
          </p:nvPr>
        </p:nvSpPr>
        <p:spPr>
          <a:ln/>
        </p:spPr>
        <p:txBody>
          <a:bodyPr/>
          <a:lstStyle>
            <a:lvl1pPr>
              <a:defRPr/>
            </a:lvl1pPr>
          </a:lstStyle>
          <a:p>
            <a:pPr>
              <a:defRPr/>
            </a:pPr>
            <a:fld id="{C0C15B6B-A617-442D-B23A-CDE5EAFEF64C}" type="slidenum">
              <a:rPr lang="en-US"/>
              <a:pPr>
                <a:defRPr/>
              </a:pPr>
              <a:t>‹#›</a:t>
            </a:fld>
            <a:endParaRPr lang="en-US" dirty="0"/>
          </a:p>
        </p:txBody>
      </p:sp>
    </p:spTree>
    <p:extLst>
      <p:ext uri="{BB962C8B-B14F-4D97-AF65-F5344CB8AC3E}">
        <p14:creationId xmlns:p14="http://schemas.microsoft.com/office/powerpoint/2010/main" val="1185974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3"/>
          <p:cNvSpPr>
            <a:spLocks noGrp="1" noChangeArrowheads="1"/>
          </p:cNvSpPr>
          <p:nvPr>
            <p:ph type="sldNum" sz="quarter" idx="10"/>
          </p:nvPr>
        </p:nvSpPr>
        <p:spPr>
          <a:ln/>
        </p:spPr>
        <p:txBody>
          <a:bodyPr/>
          <a:lstStyle>
            <a:lvl1pPr>
              <a:defRPr/>
            </a:lvl1pPr>
          </a:lstStyle>
          <a:p>
            <a:pPr>
              <a:defRPr/>
            </a:pPr>
            <a:fld id="{A5BB7E1C-129F-405C-87A8-499A12AF2775}" type="slidenum">
              <a:rPr lang="en-US"/>
              <a:pPr>
                <a:defRPr/>
              </a:pPr>
              <a:t>‹#›</a:t>
            </a:fld>
            <a:endParaRPr lang="en-US" dirty="0"/>
          </a:p>
        </p:txBody>
      </p:sp>
    </p:spTree>
    <p:extLst>
      <p:ext uri="{BB962C8B-B14F-4D97-AF65-F5344CB8AC3E}">
        <p14:creationId xmlns:p14="http://schemas.microsoft.com/office/powerpoint/2010/main" val="29182409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3BB5036F-274C-4B6A-AA92-E32D8C3E43D1}" type="slidenum">
              <a:rPr lang="en-US"/>
              <a:pPr>
                <a:defRPr/>
              </a:pPr>
              <a:t>‹#›</a:t>
            </a:fld>
            <a:endParaRPr lang="en-US" dirty="0"/>
          </a:p>
        </p:txBody>
      </p:sp>
    </p:spTree>
    <p:extLst>
      <p:ext uri="{BB962C8B-B14F-4D97-AF65-F5344CB8AC3E}">
        <p14:creationId xmlns:p14="http://schemas.microsoft.com/office/powerpoint/2010/main" val="4457621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228600"/>
            <a:ext cx="2190750"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28600"/>
            <a:ext cx="6419850"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53C59695-C194-4561-B9CE-5D437492360F}" type="slidenum">
              <a:rPr lang="en-US"/>
              <a:pPr>
                <a:defRPr/>
              </a:pPr>
              <a:t>‹#›</a:t>
            </a:fld>
            <a:endParaRPr lang="en-US" dirty="0"/>
          </a:p>
        </p:txBody>
      </p:sp>
    </p:spTree>
    <p:extLst>
      <p:ext uri="{BB962C8B-B14F-4D97-AF65-F5344CB8AC3E}">
        <p14:creationId xmlns:p14="http://schemas.microsoft.com/office/powerpoint/2010/main" val="37730466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a:prstGeom prst="rect">
            <a:avLst/>
          </a:prstGeom>
        </p:spPr>
        <p:txBody>
          <a:bodyPr/>
          <a:lstStyle/>
          <a:p>
            <a:pPr fontAlgn="base">
              <a:spcBef>
                <a:spcPct val="0"/>
              </a:spcBef>
              <a:spcAft>
                <a:spcPct val="0"/>
              </a:spcAft>
            </a:pPr>
            <a:fld id="{B759308E-9F8C-4EE3-B99A-E3A248BAE64A}" type="datetime1">
              <a:rPr lang="en-US" smtClean="0">
                <a:solidFill>
                  <a:srgbClr val="000000"/>
                </a:solidFill>
              </a:rPr>
              <a:t>10/7/2024</a:t>
            </a:fld>
            <a:endParaRPr lang="en-US">
              <a:solidFill>
                <a:srgbClr val="000000"/>
              </a:solidFill>
            </a:endParaRPr>
          </a:p>
        </p:txBody>
      </p:sp>
      <p:sp>
        <p:nvSpPr>
          <p:cNvPr id="5" name="Footer Placeholder 4"/>
          <p:cNvSpPr>
            <a:spLocks noGrp="1"/>
          </p:cNvSpPr>
          <p:nvPr>
            <p:ph type="ftr" sz="quarter" idx="11"/>
          </p:nvPr>
        </p:nvSpPr>
        <p:spPr>
          <a:xfrm>
            <a:off x="914400" y="4323846"/>
            <a:ext cx="4880610" cy="365125"/>
          </a:xfrm>
          <a:prstGeom prst="rect">
            <a:avLst/>
          </a:prstGeom>
        </p:spPr>
        <p:txBody>
          <a:bodyPr/>
          <a:lstStyle/>
          <a:p>
            <a:pPr fontAlgn="base">
              <a:spcBef>
                <a:spcPct val="0"/>
              </a:spcBef>
              <a:spcAft>
                <a:spcPct val="0"/>
              </a:spcAft>
            </a:pPr>
            <a:endParaRPr lang="en-US">
              <a:solidFill>
                <a:srgbClr val="000000"/>
              </a:solidFill>
            </a:endParaRPr>
          </a:p>
        </p:txBody>
      </p:sp>
      <p:sp>
        <p:nvSpPr>
          <p:cNvPr id="6" name="Slide Number Placeholder 5"/>
          <p:cNvSpPr>
            <a:spLocks noGrp="1"/>
          </p:cNvSpPr>
          <p:nvPr>
            <p:ph type="sldNum" sz="quarter" idx="12"/>
          </p:nvPr>
        </p:nvSpPr>
        <p:spPr>
          <a:xfrm>
            <a:off x="6057900" y="1430867"/>
            <a:ext cx="2171700" cy="365125"/>
          </a:xfrm>
        </p:spPr>
        <p:txBody>
          <a:bodyPr/>
          <a:lstStyle/>
          <a:p>
            <a:fld id="{63C103D7-7FC1-4B9F-A526-BC88A3C4AA47}" type="slidenum">
              <a:rPr lang="en-US"/>
              <a:pPr/>
              <a:t>‹#›</a:t>
            </a:fld>
            <a:endParaRPr lang="en-US"/>
          </a:p>
        </p:txBody>
      </p:sp>
    </p:spTree>
    <p:extLst>
      <p:ext uri="{BB962C8B-B14F-4D97-AF65-F5344CB8AC3E}">
        <p14:creationId xmlns:p14="http://schemas.microsoft.com/office/powerpoint/2010/main" val="6675256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a:prstGeom prst="rect">
            <a:avLst/>
          </a:prstGeom>
        </p:spPr>
        <p:txBody>
          <a:bodyPr/>
          <a:lstStyle/>
          <a:p>
            <a:fld id="{EA8CD7FF-FDB2-440D-A186-3A3DEF0D5949}" type="datetime1">
              <a:rPr lang="en-US" smtClean="0">
                <a:solidFill>
                  <a:prstClr val="white"/>
                </a:solidFill>
              </a:rPr>
              <a:t>10/7/2024</a:t>
            </a:fld>
            <a:endParaRPr lang="en-US">
              <a:solidFill>
                <a:prstClr val="white"/>
              </a:solidFill>
            </a:endParaRPr>
          </a:p>
        </p:txBody>
      </p:sp>
      <p:sp>
        <p:nvSpPr>
          <p:cNvPr id="5" name="Footer Placeholder 4"/>
          <p:cNvSpPr>
            <a:spLocks noGrp="1"/>
          </p:cNvSpPr>
          <p:nvPr>
            <p:ph type="ftr" sz="quarter" idx="11"/>
          </p:nvPr>
        </p:nvSpPr>
        <p:spPr>
          <a:xfrm>
            <a:off x="914400" y="4323846"/>
            <a:ext cx="4880610"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0"/>
            <a:ext cx="217170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5206241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71700" y="381001"/>
            <a:ext cx="6377940" cy="1254759"/>
          </a:xfrm>
        </p:spPr>
        <p:txBody>
          <a:bodyPr/>
          <a:lstStyle/>
          <a:p>
            <a:r>
              <a:rPr lang="en-US" dirty="0"/>
              <a:t>Click to edit Master title style</a:t>
            </a:r>
          </a:p>
        </p:txBody>
      </p:sp>
      <p:sp>
        <p:nvSpPr>
          <p:cNvPr id="3" name="Content Placeholder 2"/>
          <p:cNvSpPr>
            <a:spLocks noGrp="1"/>
          </p:cNvSpPr>
          <p:nvPr>
            <p:ph idx="1"/>
          </p:nvPr>
        </p:nvSpPr>
        <p:spPr>
          <a:xfrm>
            <a:off x="594360" y="1635760"/>
            <a:ext cx="7955280" cy="4720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12230" y="6356351"/>
            <a:ext cx="2137410" cy="365125"/>
          </a:xfrm>
          <a:prstGeom prst="rect">
            <a:avLst/>
          </a:prstGeom>
        </p:spPr>
        <p:txBody>
          <a:bodyPr/>
          <a:lstStyle/>
          <a:p>
            <a:fld id="{41CF0339-93FE-4BF3-93BD-803C164F6C65}" type="datetime1">
              <a:rPr lang="en-US" smtClean="0">
                <a:solidFill>
                  <a:prstClr val="white"/>
                </a:solidFill>
              </a:rPr>
              <a:t>10/7/2024</a:t>
            </a:fld>
            <a:endParaRPr lang="en-US">
              <a:solidFill>
                <a:prstClr val="white"/>
              </a:solidFill>
            </a:endParaRPr>
          </a:p>
        </p:txBody>
      </p:sp>
      <p:sp>
        <p:nvSpPr>
          <p:cNvPr id="5" name="Footer Placeholder 4"/>
          <p:cNvSpPr>
            <a:spLocks noGrp="1"/>
          </p:cNvSpPr>
          <p:nvPr>
            <p:ph type="ftr" sz="quarter" idx="11"/>
          </p:nvPr>
        </p:nvSpPr>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15876"/>
            <a:ext cx="1977390" cy="365125"/>
          </a:xfrm>
        </p:spPr>
        <p:txBody>
          <a:bodyPr lIns="91440"/>
          <a:lstStyle>
            <a:lvl1pPr algn="l">
              <a:defRPr b="1">
                <a:solidFill>
                  <a:schemeClr val="bg1"/>
                </a:solidFill>
              </a:defRPr>
            </a:lvl1pPr>
          </a:lstStyle>
          <a:p>
            <a:fld id="{63C103D7-7FC1-4B9F-A526-BC88A3C4AA4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37235975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a:prstGeom prst="rect">
            <a:avLst/>
          </a:prstGeom>
        </p:spPr>
        <p:txBody>
          <a:bodyPr/>
          <a:lstStyle>
            <a:lvl1pPr algn="r">
              <a:defRPr/>
            </a:lvl1pPr>
          </a:lstStyle>
          <a:p>
            <a:fld id="{0ECEDC61-3AF0-4144-8FB0-CCE8DCDB9BAC}" type="datetime1">
              <a:rPr lang="en-US" smtClean="0">
                <a:solidFill>
                  <a:prstClr val="white"/>
                </a:solidFill>
              </a:rPr>
              <a:t>10/7/2024</a:t>
            </a:fld>
            <a:endParaRPr lang="en-US">
              <a:solidFill>
                <a:prstClr val="white"/>
              </a:solidFill>
            </a:endParaRPr>
          </a:p>
        </p:txBody>
      </p:sp>
      <p:sp>
        <p:nvSpPr>
          <p:cNvPr id="5" name="Footer Placeholder 4"/>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7882466" y="381001"/>
            <a:ext cx="667173"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26538546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C51870D5-EFDF-47F0-B192-A71B543292DF}" type="datetime1">
              <a:rPr lang="en-US" smtClean="0">
                <a:solidFill>
                  <a:prstClr val="white"/>
                </a:solidFill>
              </a:rPr>
              <a:t>10/7/2024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1225092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412230" y="6356351"/>
            <a:ext cx="2137410" cy="365125"/>
          </a:xfrm>
          <a:prstGeom prst="rect">
            <a:avLst/>
          </a:prstGeom>
        </p:spPr>
        <p:txBody>
          <a:bodyPr/>
          <a:lstStyle/>
          <a:p>
            <a:fld id="{F5D2D5C2-D93E-497D-AEC9-1CC59CD079FD}" type="datetime1">
              <a:rPr lang="en-US" smtClean="0">
                <a:solidFill>
                  <a:prstClr val="white"/>
                </a:solidFill>
              </a:rPr>
              <a:t>10/7/2024</a:t>
            </a:fld>
            <a:endParaRPr lang="en-US">
              <a:solidFill>
                <a:prstClr val="white"/>
              </a:solidFill>
            </a:endParaRPr>
          </a:p>
        </p:txBody>
      </p:sp>
      <p:sp>
        <p:nvSpPr>
          <p:cNvPr id="8" name="Footer Placeholder 7"/>
          <p:cNvSpPr>
            <a:spLocks noGrp="1"/>
          </p:cNvSpPr>
          <p:nvPr>
            <p:ph type="ftr" sz="quarter" idx="11"/>
          </p:nvPr>
        </p:nvSpPr>
        <p:spPr/>
        <p:txBody>
          <a:bodyPr/>
          <a:lstStyle/>
          <a:p>
            <a:endParaRPr lang="en-US">
              <a:solidFill>
                <a:prstClr val="white">
                  <a:tint val="75000"/>
                </a:prstClr>
              </a:solidFill>
            </a:endParaRPr>
          </a:p>
        </p:txBody>
      </p:sp>
      <p:sp>
        <p:nvSpPr>
          <p:cNvPr id="9" name="Slide Number Placeholder 8"/>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2085483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98527061-65EB-40A8-9BBE-4C146B18480A}" type="datetime1">
              <a:rPr lang="en-US" smtClean="0">
                <a:solidFill>
                  <a:prstClr val="white"/>
                </a:solidFill>
              </a:rPr>
              <a:t>10/7/2024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0806846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12230" y="6356351"/>
            <a:ext cx="2137410" cy="365125"/>
          </a:xfrm>
          <a:prstGeom prst="rect">
            <a:avLst/>
          </a:prstGeom>
        </p:spPr>
        <p:txBody>
          <a:bodyPr/>
          <a:lstStyle/>
          <a:p>
            <a:fld id="{233A52DB-2908-40A1-A12A-45AA86460853}" type="datetime1">
              <a:rPr lang="en-US" smtClean="0">
                <a:solidFill>
                  <a:prstClr val="white"/>
                </a:solidFill>
              </a:rPr>
              <a:t>10/7/2024</a:t>
            </a:fld>
            <a:endParaRPr lang="en-US">
              <a:solidFill>
                <a:prstClr val="white"/>
              </a:solidFill>
            </a:endParaRPr>
          </a:p>
        </p:txBody>
      </p:sp>
      <p:sp>
        <p:nvSpPr>
          <p:cNvPr id="3" name="Footer Placeholder 2"/>
          <p:cNvSpPr>
            <a:spLocks noGrp="1"/>
          </p:cNvSpPr>
          <p:nvPr>
            <p:ph type="ftr" sz="quarter" idx="11"/>
          </p:nvPr>
        </p:nvSpPr>
        <p:spPr/>
        <p:txBody>
          <a:bodyPr/>
          <a:lstStyle/>
          <a:p>
            <a:endParaRPr lang="en-US">
              <a:solidFill>
                <a:prstClr val="white">
                  <a:tint val="75000"/>
                </a:prstClr>
              </a:solidFill>
            </a:endParaRPr>
          </a:p>
        </p:txBody>
      </p:sp>
      <p:sp>
        <p:nvSpPr>
          <p:cNvPr id="4" name="Slide Number Placeholder 3"/>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6479978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51E6F9AE-8A21-4013-B34D-774A690C4B3A}" type="datetime1">
              <a:rPr lang="en-US" smtClean="0">
                <a:solidFill>
                  <a:prstClr val="white"/>
                </a:solidFill>
              </a:rPr>
              <a:t>10/7/2024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7882"/>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81384742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D95043C6-0B93-4E01-92A4-4B211591F877}" type="datetime1">
              <a:rPr lang="en-US" smtClean="0">
                <a:solidFill>
                  <a:prstClr val="white"/>
                </a:solidFill>
              </a:rPr>
              <a:t>10/7/2024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455127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34F034C2-390E-499B-8554-44B839312931}" type="datetime1">
              <a:rPr lang="en-US" smtClean="0">
                <a:solidFill>
                  <a:prstClr val="white"/>
                </a:solidFill>
              </a:rPr>
              <a:t>10/7/2024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25292626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a:prstGeom prst="rect">
            <a:avLst/>
          </a:prstGeom>
        </p:spPr>
        <p:txBody>
          <a:bodyPr/>
          <a:lstStyle>
            <a:lvl1pPr algn="r">
              <a:defRPr/>
            </a:lvl1pPr>
          </a:lstStyle>
          <a:p>
            <a:fld id="{48B44991-9621-4176-A9BC-0494715BCEC7}" type="datetime1">
              <a:rPr lang="en-US" smtClean="0">
                <a:solidFill>
                  <a:prstClr val="white"/>
                </a:solidFill>
              </a:rPr>
              <a:t>10/7/2024</a:t>
            </a:fld>
            <a:endParaRPr lang="en-US">
              <a:solidFill>
                <a:prstClr val="white"/>
              </a:solidFill>
            </a:endParaRPr>
          </a:p>
        </p:txBody>
      </p:sp>
      <p:sp>
        <p:nvSpPr>
          <p:cNvPr id="6" name="Footer Placeholder 5"/>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17118243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a:prstGeom prst="rect">
            <a:avLst/>
          </a:prstGeom>
        </p:spPr>
        <p:txBody>
          <a:bodyPr/>
          <a:lstStyle>
            <a:lvl1pPr algn="r">
              <a:defRPr/>
            </a:lvl1pPr>
          </a:lstStyle>
          <a:p>
            <a:fld id="{05B3E98A-112D-4F45-A2F5-E23A8C874E6E}" type="datetime1">
              <a:rPr lang="en-US" smtClean="0">
                <a:solidFill>
                  <a:prstClr val="white"/>
                </a:solidFill>
              </a:rPr>
              <a:t>10/7/2024</a:t>
            </a:fld>
            <a:endParaRPr lang="en-US">
              <a:solidFill>
                <a:prstClr val="white"/>
              </a:solidFill>
            </a:endParaRPr>
          </a:p>
        </p:txBody>
      </p:sp>
      <p:sp>
        <p:nvSpPr>
          <p:cNvPr id="6" name="Footer Placeholder 5"/>
          <p:cNvSpPr>
            <a:spLocks noGrp="1"/>
          </p:cNvSpPr>
          <p:nvPr>
            <p:ph type="ftr" sz="quarter" idx="11"/>
          </p:nvPr>
        </p:nvSpPr>
        <p:spPr>
          <a:xfrm>
            <a:off x="594360" y="379438"/>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8000" dirty="0">
                <a:solidFill>
                  <a:prstClr val="white"/>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8000" dirty="0">
                <a:solidFill>
                  <a:prstClr val="white"/>
                </a:solidFill>
                <a:effectLst/>
              </a:rPr>
              <a:t>”</a:t>
            </a:r>
          </a:p>
        </p:txBody>
      </p:sp>
    </p:spTree>
    <p:extLst>
      <p:ext uri="{BB962C8B-B14F-4D97-AF65-F5344CB8AC3E}">
        <p14:creationId xmlns:p14="http://schemas.microsoft.com/office/powerpoint/2010/main" val="66760651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a:prstGeom prst="rect">
            <a:avLst/>
          </a:prstGeom>
        </p:spPr>
        <p:txBody>
          <a:bodyPr/>
          <a:lstStyle>
            <a:lvl1pPr algn="r">
              <a:defRPr/>
            </a:lvl1pPr>
          </a:lstStyle>
          <a:p>
            <a:fld id="{3A89AC60-1123-47E8-9704-E981B2554097}" type="datetime1">
              <a:rPr lang="en-US" smtClean="0">
                <a:solidFill>
                  <a:prstClr val="white"/>
                </a:solidFill>
              </a:rPr>
              <a:t>10/7/2024</a:t>
            </a:fld>
            <a:endParaRPr lang="en-US">
              <a:solidFill>
                <a:prstClr val="white"/>
              </a:solidFill>
            </a:endParaRPr>
          </a:p>
        </p:txBody>
      </p:sp>
      <p:sp>
        <p:nvSpPr>
          <p:cNvPr id="6" name="Footer Placeholder 5"/>
          <p:cNvSpPr>
            <a:spLocks noGrp="1"/>
          </p:cNvSpPr>
          <p:nvPr>
            <p:ph type="ftr" sz="quarter" idx="11"/>
          </p:nvPr>
        </p:nvSpPr>
        <p:spPr>
          <a:xfrm>
            <a:off x="594360" y="378884"/>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21411299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60C9D4E8-45E3-45BE-BEE6-DB1AD8410C73}" type="datetime1">
              <a:rPr lang="en-US" smtClean="0">
                <a:solidFill>
                  <a:prstClr val="white"/>
                </a:solidFill>
              </a:rPr>
              <a:t>10/7/2024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2561458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7834E425-C69F-4E5C-BB88-9FE45090A073}" type="datetime1">
              <a:rPr lang="en-US" smtClean="0">
                <a:solidFill>
                  <a:prstClr val="white"/>
                </a:solidFill>
              </a:rPr>
              <a:t>10/7/2024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3284"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401373838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12230" y="6356351"/>
            <a:ext cx="2137410" cy="365125"/>
          </a:xfrm>
          <a:prstGeom prst="rect">
            <a:avLst/>
          </a:prstGeom>
        </p:spPr>
        <p:txBody>
          <a:bodyPr/>
          <a:lstStyle/>
          <a:p>
            <a:fld id="{9D9AF33C-E5E1-4F82-8F21-C22B907A6E1A}" type="datetime1">
              <a:rPr lang="en-US" smtClean="0">
                <a:solidFill>
                  <a:prstClr val="white"/>
                </a:solidFill>
              </a:rPr>
              <a:t>10/7/2024</a:t>
            </a:fld>
            <a:endParaRPr lang="en-US">
              <a:solidFill>
                <a:prstClr val="white"/>
              </a:solidFill>
            </a:endParaRPr>
          </a:p>
        </p:txBody>
      </p:sp>
      <p:sp>
        <p:nvSpPr>
          <p:cNvPr id="5" name="Footer Placeholder 4"/>
          <p:cNvSpPr>
            <a:spLocks noGrp="1"/>
          </p:cNvSpPr>
          <p:nvPr>
            <p:ph type="ftr" sz="quarter" idx="11"/>
          </p:nvPr>
        </p:nvSpPr>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108"/>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51928171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a:prstGeom prst="rect">
            <a:avLst/>
          </a:prstGeom>
        </p:spPr>
        <p:txBody>
          <a:bodyPr/>
          <a:lstStyle>
            <a:lvl1pPr algn="r">
              <a:defRPr/>
            </a:lvl1pPr>
          </a:lstStyle>
          <a:p>
            <a:fld id="{FB410BCB-B5CE-4AD7-8AE4-523A06B6266E}" type="datetime1">
              <a:rPr lang="en-US" smtClean="0">
                <a:solidFill>
                  <a:prstClr val="white"/>
                </a:solidFill>
              </a:rPr>
              <a:t>10/7/2024</a:t>
            </a:fld>
            <a:endParaRPr lang="en-US">
              <a:solidFill>
                <a:prstClr val="white"/>
              </a:solidFill>
            </a:endParaRPr>
          </a:p>
        </p:txBody>
      </p:sp>
      <p:sp>
        <p:nvSpPr>
          <p:cNvPr id="5" name="Footer Placeholder 4"/>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2666601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theme" Target="../theme/theme2.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theme" Target="../theme/theme3.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19" Type="http://schemas.openxmlformats.org/officeDocument/2006/relationships/image" Target="../media/image1.png"/><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381001"/>
            <a:ext cx="6377940" cy="129302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36880" y="1674029"/>
            <a:ext cx="8321040" cy="477757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solidFill>
                <a:prstClr val="white">
                  <a:tint val="75000"/>
                </a:prstClr>
              </a:solidFill>
            </a:endParaRPr>
          </a:p>
        </p:txBody>
      </p:sp>
      <p:sp>
        <p:nvSpPr>
          <p:cNvPr id="6" name="Slide Number Placeholder 5"/>
          <p:cNvSpPr>
            <a:spLocks noGrp="1"/>
          </p:cNvSpPr>
          <p:nvPr>
            <p:ph type="sldNum" sz="quarter" idx="4"/>
          </p:nvPr>
        </p:nvSpPr>
        <p:spPr>
          <a:xfrm>
            <a:off x="0" y="0"/>
            <a:ext cx="1977390" cy="365125"/>
          </a:xfrm>
          <a:prstGeom prst="rect">
            <a:avLst/>
          </a:prstGeom>
        </p:spPr>
        <p:txBody>
          <a:bodyPr vert="horz" lIns="91440" tIns="45720" rIns="91440" bIns="45720" rtlCol="0" anchor="ctr"/>
          <a:lstStyle>
            <a:lvl1pPr algn="l">
              <a:defRPr sz="1200"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3504424874"/>
      </p:ext>
    </p:extLst>
  </p:cSld>
  <p:clrMap bg1="lt1" tx1="dk1" bg2="lt2" tx2="dk2" accent1="accent1" accent2="accent2" accent3="accent3" accent4="accent4" accent5="accent5" accent6="accent6" hlink="hlink" folHlink="folHlink"/>
  <p:sldLayoutIdLst>
    <p:sldLayoutId id="2147484028"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39" r:id="rId12"/>
    <p:sldLayoutId id="2147484040" r:id="rId13"/>
    <p:sldLayoutId id="2147484041" r:id="rId14"/>
    <p:sldLayoutId id="2147484042" r:id="rId15"/>
    <p:sldLayoutId id="2147484043" r:id="rId16"/>
    <p:sldLayoutId id="2147484044" r:id="rId17"/>
    <p:sldLayoutId id="2147484080" r:id="rId18"/>
  </p:sldLayoutIdLst>
  <p:hf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Rectangle 27"/>
          <p:cNvSpPr>
            <a:spLocks noChangeArrowheads="1"/>
          </p:cNvSpPr>
          <p:nvPr userDrawn="1"/>
        </p:nvSpPr>
        <p:spPr bwMode="auto">
          <a:xfrm>
            <a:off x="0" y="6583680"/>
            <a:ext cx="9144000" cy="274320"/>
          </a:xfrm>
          <a:prstGeom prst="rect">
            <a:avLst/>
          </a:prstGeom>
          <a:solidFill>
            <a:srgbClr val="335359"/>
          </a:solidFill>
          <a:ln>
            <a:solidFill>
              <a:srgbClr val="335359"/>
            </a:solid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26" name="Rectangle 27"/>
          <p:cNvSpPr>
            <a:spLocks noChangeArrowheads="1"/>
          </p:cNvSpPr>
          <p:nvPr userDrawn="1"/>
        </p:nvSpPr>
        <p:spPr bwMode="auto">
          <a:xfrm>
            <a:off x="0" y="0"/>
            <a:ext cx="9144000" cy="1219200"/>
          </a:xfrm>
          <a:prstGeom prst="rect">
            <a:avLst/>
          </a:prstGeom>
          <a:solidFill>
            <a:srgbClr val="335359"/>
          </a:solidFill>
          <a:ln>
            <a:no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1600">
              <a:solidFill>
                <a:srgbClr val="000000"/>
              </a:solidFill>
            </a:endParaRPr>
          </a:p>
        </p:txBody>
      </p:sp>
      <p:sp>
        <p:nvSpPr>
          <p:cNvPr id="1029" name="Rectangle 21"/>
          <p:cNvSpPr>
            <a:spLocks noGrp="1" noChangeArrowheads="1"/>
          </p:cNvSpPr>
          <p:nvPr>
            <p:ph type="title"/>
          </p:nvPr>
        </p:nvSpPr>
        <p:spPr bwMode="auto">
          <a:xfrm>
            <a:off x="228600" y="120650"/>
            <a:ext cx="7239000" cy="106680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91440" rIns="91440" bIns="91440" numCol="1" anchor="ctr" anchorCtr="0" compatLnSpc="1">
            <a:prstTxWarp prst="textNoShape">
              <a:avLst/>
            </a:prstTxWarp>
          </a:bodyPr>
          <a:lstStyle/>
          <a:p>
            <a:pPr lvl="0"/>
            <a:r>
              <a:rPr lang="en-US" dirty="0"/>
              <a:t>Click to edit Master title style</a:t>
            </a:r>
          </a:p>
        </p:txBody>
      </p:sp>
      <p:sp>
        <p:nvSpPr>
          <p:cNvPr id="1030" name="Rectangle 22"/>
          <p:cNvSpPr>
            <a:spLocks noGrp="1" noChangeArrowheads="1"/>
          </p:cNvSpPr>
          <p:nvPr>
            <p:ph type="body" idx="1"/>
          </p:nvPr>
        </p:nvSpPr>
        <p:spPr bwMode="auto">
          <a:xfrm>
            <a:off x="228600" y="1449729"/>
            <a:ext cx="8686800" cy="53827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7" name="Rectangle 23"/>
          <p:cNvSpPr>
            <a:spLocks noGrp="1" noChangeArrowheads="1"/>
          </p:cNvSpPr>
          <p:nvPr>
            <p:ph type="sldNum" sz="quarter" idx="4"/>
          </p:nvPr>
        </p:nvSpPr>
        <p:spPr bwMode="auto">
          <a:xfrm>
            <a:off x="8606191" y="6625590"/>
            <a:ext cx="339725" cy="190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18288" rIns="91440" bIns="18288" numCol="1" anchor="ctr" anchorCtr="0" compatLnSpc="1">
            <a:prstTxWarp prst="textNoShape">
              <a:avLst/>
            </a:prstTxWarp>
            <a:spAutoFit/>
          </a:bodyPr>
          <a:lstStyle>
            <a:lvl1pPr algn="r">
              <a:defRPr sz="1000" b="1" smtClean="0">
                <a:solidFill>
                  <a:srgbClr val="F7D300"/>
                </a:solidFill>
              </a:defRPr>
            </a:lvl1pPr>
          </a:lstStyle>
          <a:p>
            <a:pPr fontAlgn="base">
              <a:spcBef>
                <a:spcPct val="0"/>
              </a:spcBef>
              <a:spcAft>
                <a:spcPct val="0"/>
              </a:spcAft>
              <a:defRPr/>
            </a:pPr>
            <a:fld id="{473E995E-6982-4670-AE9E-E91CD3C76706}" type="slidenum">
              <a:rPr lang="en-US"/>
              <a:pPr fontAlgn="base">
                <a:spcBef>
                  <a:spcPct val="0"/>
                </a:spcBef>
                <a:spcAft>
                  <a:spcPct val="0"/>
                </a:spcAft>
                <a:defRPr/>
              </a:pPr>
              <a:t>‹#›</a:t>
            </a:fld>
            <a:endParaRPr lang="en-US" dirty="0"/>
          </a:p>
        </p:txBody>
      </p:sp>
      <p:grpSp>
        <p:nvGrpSpPr>
          <p:cNvPr id="12" name="Group 11"/>
          <p:cNvGrpSpPr/>
          <p:nvPr userDrawn="1"/>
        </p:nvGrpSpPr>
        <p:grpSpPr>
          <a:xfrm>
            <a:off x="7848600" y="76200"/>
            <a:ext cx="1143000" cy="990600"/>
            <a:chOff x="7687152" y="136449"/>
            <a:chExt cx="1221083" cy="1192649"/>
          </a:xfrm>
          <a:effectLst>
            <a:outerShdw blurRad="50800" dist="38100" algn="l" rotWithShape="0">
              <a:prstClr val="black">
                <a:alpha val="40000"/>
              </a:prstClr>
            </a:outerShdw>
          </a:effectLst>
        </p:grpSpPr>
        <p:sp>
          <p:nvSpPr>
            <p:cNvPr id="4" name="AutoShape 3"/>
            <p:cNvSpPr>
              <a:spLocks noChangeAspect="1" noChangeArrowheads="1" noTextEdit="1"/>
            </p:cNvSpPr>
            <p:nvPr userDrawn="1"/>
          </p:nvSpPr>
          <p:spPr bwMode="auto">
            <a:xfrm rot="1164575">
              <a:off x="7687152" y="196992"/>
              <a:ext cx="1221083" cy="1071563"/>
            </a:xfrm>
            <a:prstGeom prst="rect">
              <a:avLst/>
            </a:prstGeom>
            <a:noFill/>
            <a:ln>
              <a:noFill/>
            </a:ln>
            <a:scene3d>
              <a:camera prst="orthographicFront"/>
              <a:lightRig rig="threePt" dir="t"/>
            </a:scene3d>
            <a:sp3d>
              <a:bevelT/>
            </a:sp3d>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5" name="Freeform 5"/>
            <p:cNvSpPr>
              <a:spLocks/>
            </p:cNvSpPr>
            <p:nvPr userDrawn="1"/>
          </p:nvSpPr>
          <p:spPr bwMode="auto">
            <a:xfrm rot="1164575">
              <a:off x="7734223" y="244063"/>
              <a:ext cx="1126941" cy="977421"/>
            </a:xfrm>
            <a:custGeom>
              <a:avLst/>
              <a:gdLst>
                <a:gd name="T0" fmla="*/ 204 w 814"/>
                <a:gd name="T1" fmla="*/ 706 h 706"/>
                <a:gd name="T2" fmla="*/ 0 w 814"/>
                <a:gd name="T3" fmla="*/ 352 h 706"/>
                <a:gd name="T4" fmla="*/ 204 w 814"/>
                <a:gd name="T5" fmla="*/ 0 h 706"/>
                <a:gd name="T6" fmla="*/ 612 w 814"/>
                <a:gd name="T7" fmla="*/ 0 h 706"/>
                <a:gd name="T8" fmla="*/ 814 w 814"/>
                <a:gd name="T9" fmla="*/ 352 h 706"/>
                <a:gd name="T10" fmla="*/ 612 w 814"/>
                <a:gd name="T11" fmla="*/ 706 h 706"/>
                <a:gd name="T12" fmla="*/ 204 w 814"/>
                <a:gd name="T13" fmla="*/ 706 h 706"/>
              </a:gdLst>
              <a:ahLst/>
              <a:cxnLst>
                <a:cxn ang="0">
                  <a:pos x="T0" y="T1"/>
                </a:cxn>
                <a:cxn ang="0">
                  <a:pos x="T2" y="T3"/>
                </a:cxn>
                <a:cxn ang="0">
                  <a:pos x="T4" y="T5"/>
                </a:cxn>
                <a:cxn ang="0">
                  <a:pos x="T6" y="T7"/>
                </a:cxn>
                <a:cxn ang="0">
                  <a:pos x="T8" y="T9"/>
                </a:cxn>
                <a:cxn ang="0">
                  <a:pos x="T10" y="T11"/>
                </a:cxn>
                <a:cxn ang="0">
                  <a:pos x="T12" y="T13"/>
                </a:cxn>
              </a:cxnLst>
              <a:rect l="0" t="0" r="r" b="b"/>
              <a:pathLst>
                <a:path w="814" h="706">
                  <a:moveTo>
                    <a:pt x="204" y="706"/>
                  </a:moveTo>
                  <a:lnTo>
                    <a:pt x="0" y="352"/>
                  </a:lnTo>
                  <a:lnTo>
                    <a:pt x="204" y="0"/>
                  </a:lnTo>
                  <a:lnTo>
                    <a:pt x="612" y="0"/>
                  </a:lnTo>
                  <a:lnTo>
                    <a:pt x="814" y="352"/>
                  </a:lnTo>
                  <a:lnTo>
                    <a:pt x="612" y="706"/>
                  </a:lnTo>
                  <a:lnTo>
                    <a:pt x="204" y="706"/>
                  </a:lnTo>
                  <a:close/>
                </a:path>
              </a:pathLst>
            </a:custGeom>
            <a:noFill/>
            <a:ln w="28575">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6" name="Freeform 6"/>
            <p:cNvSpPr>
              <a:spLocks/>
            </p:cNvSpPr>
            <p:nvPr userDrawn="1"/>
          </p:nvSpPr>
          <p:spPr bwMode="auto">
            <a:xfrm rot="1164575">
              <a:off x="8361513" y="1246031"/>
              <a:ext cx="80298" cy="83067"/>
            </a:xfrm>
            <a:custGeom>
              <a:avLst/>
              <a:gdLst>
                <a:gd name="T0" fmla="*/ 58 w 58"/>
                <a:gd name="T1" fmla="*/ 30 h 60"/>
                <a:gd name="T2" fmla="*/ 58 w 58"/>
                <a:gd name="T3" fmla="*/ 30 h 60"/>
                <a:gd name="T4" fmla="*/ 58 w 58"/>
                <a:gd name="T5" fmla="*/ 36 h 60"/>
                <a:gd name="T6" fmla="*/ 56 w 58"/>
                <a:gd name="T7" fmla="*/ 42 h 60"/>
                <a:gd name="T8" fmla="*/ 50 w 58"/>
                <a:gd name="T9" fmla="*/ 50 h 60"/>
                <a:gd name="T10" fmla="*/ 40 w 58"/>
                <a:gd name="T11" fmla="*/ 58 h 60"/>
                <a:gd name="T12" fmla="*/ 36 w 58"/>
                <a:gd name="T13" fmla="*/ 58 h 60"/>
                <a:gd name="T14" fmla="*/ 30 w 58"/>
                <a:gd name="T15" fmla="*/ 60 h 60"/>
                <a:gd name="T16" fmla="*/ 30 w 58"/>
                <a:gd name="T17" fmla="*/ 60 h 60"/>
                <a:gd name="T18" fmla="*/ 24 w 58"/>
                <a:gd name="T19" fmla="*/ 58 h 60"/>
                <a:gd name="T20" fmla="*/ 18 w 58"/>
                <a:gd name="T21" fmla="*/ 58 h 60"/>
                <a:gd name="T22" fmla="*/ 8 w 58"/>
                <a:gd name="T23" fmla="*/ 50 h 60"/>
                <a:gd name="T24" fmla="*/ 2 w 58"/>
                <a:gd name="T25" fmla="*/ 42 h 60"/>
                <a:gd name="T26" fmla="*/ 0 w 58"/>
                <a:gd name="T27" fmla="*/ 36 h 60"/>
                <a:gd name="T28" fmla="*/ 0 w 58"/>
                <a:gd name="T29" fmla="*/ 30 h 60"/>
                <a:gd name="T30" fmla="*/ 0 w 58"/>
                <a:gd name="T31" fmla="*/ 30 h 60"/>
                <a:gd name="T32" fmla="*/ 0 w 58"/>
                <a:gd name="T33" fmla="*/ 24 h 60"/>
                <a:gd name="T34" fmla="*/ 2 w 58"/>
                <a:gd name="T35" fmla="*/ 18 h 60"/>
                <a:gd name="T36" fmla="*/ 8 w 58"/>
                <a:gd name="T37" fmla="*/ 10 h 60"/>
                <a:gd name="T38" fmla="*/ 18 w 58"/>
                <a:gd name="T39" fmla="*/ 2 h 60"/>
                <a:gd name="T40" fmla="*/ 24 w 58"/>
                <a:gd name="T41" fmla="*/ 2 h 60"/>
                <a:gd name="T42" fmla="*/ 30 w 58"/>
                <a:gd name="T43" fmla="*/ 0 h 60"/>
                <a:gd name="T44" fmla="*/ 30 w 58"/>
                <a:gd name="T45" fmla="*/ 0 h 60"/>
                <a:gd name="T46" fmla="*/ 36 w 58"/>
                <a:gd name="T47" fmla="*/ 2 h 60"/>
                <a:gd name="T48" fmla="*/ 40 w 58"/>
                <a:gd name="T49" fmla="*/ 2 h 60"/>
                <a:gd name="T50" fmla="*/ 50 w 58"/>
                <a:gd name="T51" fmla="*/ 10 h 60"/>
                <a:gd name="T52" fmla="*/ 56 w 58"/>
                <a:gd name="T53" fmla="*/ 18 h 60"/>
                <a:gd name="T54" fmla="*/ 58 w 58"/>
                <a:gd name="T55" fmla="*/ 24 h 60"/>
                <a:gd name="T56" fmla="*/ 58 w 58"/>
                <a:gd name="T57" fmla="*/ 30 h 60"/>
                <a:gd name="T58" fmla="*/ 58 w 58"/>
                <a:gd name="T5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58" y="30"/>
                  </a:moveTo>
                  <a:lnTo>
                    <a:pt x="58" y="30"/>
                  </a:lnTo>
                  <a:lnTo>
                    <a:pt x="58" y="36"/>
                  </a:lnTo>
                  <a:lnTo>
                    <a:pt x="56" y="42"/>
                  </a:lnTo>
                  <a:lnTo>
                    <a:pt x="50" y="50"/>
                  </a:lnTo>
                  <a:lnTo>
                    <a:pt x="40" y="58"/>
                  </a:lnTo>
                  <a:lnTo>
                    <a:pt x="36" y="58"/>
                  </a:lnTo>
                  <a:lnTo>
                    <a:pt x="30" y="60"/>
                  </a:lnTo>
                  <a:lnTo>
                    <a:pt x="30" y="60"/>
                  </a:lnTo>
                  <a:lnTo>
                    <a:pt x="24" y="58"/>
                  </a:lnTo>
                  <a:lnTo>
                    <a:pt x="18" y="58"/>
                  </a:lnTo>
                  <a:lnTo>
                    <a:pt x="8" y="50"/>
                  </a:lnTo>
                  <a:lnTo>
                    <a:pt x="2" y="42"/>
                  </a:lnTo>
                  <a:lnTo>
                    <a:pt x="0" y="36"/>
                  </a:lnTo>
                  <a:lnTo>
                    <a:pt x="0" y="30"/>
                  </a:lnTo>
                  <a:lnTo>
                    <a:pt x="0" y="30"/>
                  </a:lnTo>
                  <a:lnTo>
                    <a:pt x="0" y="24"/>
                  </a:lnTo>
                  <a:lnTo>
                    <a:pt x="2" y="18"/>
                  </a:lnTo>
                  <a:lnTo>
                    <a:pt x="8" y="10"/>
                  </a:lnTo>
                  <a:lnTo>
                    <a:pt x="18" y="2"/>
                  </a:lnTo>
                  <a:lnTo>
                    <a:pt x="24" y="2"/>
                  </a:lnTo>
                  <a:lnTo>
                    <a:pt x="30" y="0"/>
                  </a:lnTo>
                  <a:lnTo>
                    <a:pt x="30" y="0"/>
                  </a:lnTo>
                  <a:lnTo>
                    <a:pt x="36" y="2"/>
                  </a:lnTo>
                  <a:lnTo>
                    <a:pt x="40" y="2"/>
                  </a:lnTo>
                  <a:lnTo>
                    <a:pt x="50" y="10"/>
                  </a:lnTo>
                  <a:lnTo>
                    <a:pt x="56" y="18"/>
                  </a:lnTo>
                  <a:lnTo>
                    <a:pt x="58" y="24"/>
                  </a:lnTo>
                  <a:lnTo>
                    <a:pt x="58" y="30"/>
                  </a:lnTo>
                  <a:lnTo>
                    <a:pt x="58" y="30"/>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7" name="Freeform 7"/>
            <p:cNvSpPr>
              <a:spLocks/>
            </p:cNvSpPr>
            <p:nvPr userDrawn="1"/>
          </p:nvSpPr>
          <p:spPr bwMode="auto">
            <a:xfrm rot="1164575">
              <a:off x="8790297" y="880336"/>
              <a:ext cx="80298" cy="80298"/>
            </a:xfrm>
            <a:custGeom>
              <a:avLst/>
              <a:gdLst>
                <a:gd name="T0" fmla="*/ 58 w 58"/>
                <a:gd name="T1" fmla="*/ 28 h 58"/>
                <a:gd name="T2" fmla="*/ 58 w 58"/>
                <a:gd name="T3" fmla="*/ 28 h 58"/>
                <a:gd name="T4" fmla="*/ 58 w 58"/>
                <a:gd name="T5" fmla="*/ 34 h 58"/>
                <a:gd name="T6" fmla="*/ 56 w 58"/>
                <a:gd name="T7" fmla="*/ 40 h 58"/>
                <a:gd name="T8" fmla="*/ 50 w 58"/>
                <a:gd name="T9" fmla="*/ 50 h 58"/>
                <a:gd name="T10" fmla="*/ 40 w 58"/>
                <a:gd name="T11" fmla="*/ 56 h 58"/>
                <a:gd name="T12" fmla="*/ 34 w 58"/>
                <a:gd name="T13" fmla="*/ 58 h 58"/>
                <a:gd name="T14" fmla="*/ 28 w 58"/>
                <a:gd name="T15" fmla="*/ 58 h 58"/>
                <a:gd name="T16" fmla="*/ 28 w 58"/>
                <a:gd name="T17" fmla="*/ 58 h 58"/>
                <a:gd name="T18" fmla="*/ 24 w 58"/>
                <a:gd name="T19" fmla="*/ 58 h 58"/>
                <a:gd name="T20" fmla="*/ 18 w 58"/>
                <a:gd name="T21" fmla="*/ 56 h 58"/>
                <a:gd name="T22" fmla="*/ 8 w 58"/>
                <a:gd name="T23" fmla="*/ 50 h 58"/>
                <a:gd name="T24" fmla="*/ 2 w 58"/>
                <a:gd name="T25" fmla="*/ 40 h 58"/>
                <a:gd name="T26" fmla="*/ 0 w 58"/>
                <a:gd name="T27" fmla="*/ 34 h 58"/>
                <a:gd name="T28" fmla="*/ 0 w 58"/>
                <a:gd name="T29" fmla="*/ 28 h 58"/>
                <a:gd name="T30" fmla="*/ 0 w 58"/>
                <a:gd name="T31" fmla="*/ 28 h 58"/>
                <a:gd name="T32" fmla="*/ 0 w 58"/>
                <a:gd name="T33" fmla="*/ 22 h 58"/>
                <a:gd name="T34" fmla="*/ 2 w 58"/>
                <a:gd name="T35" fmla="*/ 18 h 58"/>
                <a:gd name="T36" fmla="*/ 8 w 58"/>
                <a:gd name="T37" fmla="*/ 8 h 58"/>
                <a:gd name="T38" fmla="*/ 18 w 58"/>
                <a:gd name="T39" fmla="*/ 2 h 58"/>
                <a:gd name="T40" fmla="*/ 24 w 58"/>
                <a:gd name="T41" fmla="*/ 0 h 58"/>
                <a:gd name="T42" fmla="*/ 28 w 58"/>
                <a:gd name="T43" fmla="*/ 0 h 58"/>
                <a:gd name="T44" fmla="*/ 28 w 58"/>
                <a:gd name="T45" fmla="*/ 0 h 58"/>
                <a:gd name="T46" fmla="*/ 34 w 58"/>
                <a:gd name="T47" fmla="*/ 0 h 58"/>
                <a:gd name="T48" fmla="*/ 40 w 58"/>
                <a:gd name="T49" fmla="*/ 2 h 58"/>
                <a:gd name="T50" fmla="*/ 50 w 58"/>
                <a:gd name="T51" fmla="*/ 8 h 58"/>
                <a:gd name="T52" fmla="*/ 56 w 58"/>
                <a:gd name="T53" fmla="*/ 18 h 58"/>
                <a:gd name="T54" fmla="*/ 58 w 58"/>
                <a:gd name="T55" fmla="*/ 22 h 58"/>
                <a:gd name="T56" fmla="*/ 58 w 58"/>
                <a:gd name="T57" fmla="*/ 28 h 58"/>
                <a:gd name="T58" fmla="*/ 58 w 58"/>
                <a:gd name="T59" fmla="*/ 2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58" y="28"/>
                  </a:moveTo>
                  <a:lnTo>
                    <a:pt x="58" y="28"/>
                  </a:lnTo>
                  <a:lnTo>
                    <a:pt x="58" y="34"/>
                  </a:lnTo>
                  <a:lnTo>
                    <a:pt x="56" y="40"/>
                  </a:lnTo>
                  <a:lnTo>
                    <a:pt x="50" y="50"/>
                  </a:lnTo>
                  <a:lnTo>
                    <a:pt x="40" y="56"/>
                  </a:lnTo>
                  <a:lnTo>
                    <a:pt x="34" y="58"/>
                  </a:lnTo>
                  <a:lnTo>
                    <a:pt x="28" y="58"/>
                  </a:lnTo>
                  <a:lnTo>
                    <a:pt x="28" y="58"/>
                  </a:lnTo>
                  <a:lnTo>
                    <a:pt x="24" y="58"/>
                  </a:lnTo>
                  <a:lnTo>
                    <a:pt x="18" y="56"/>
                  </a:lnTo>
                  <a:lnTo>
                    <a:pt x="8" y="50"/>
                  </a:lnTo>
                  <a:lnTo>
                    <a:pt x="2" y="40"/>
                  </a:lnTo>
                  <a:lnTo>
                    <a:pt x="0" y="34"/>
                  </a:lnTo>
                  <a:lnTo>
                    <a:pt x="0" y="28"/>
                  </a:lnTo>
                  <a:lnTo>
                    <a:pt x="0" y="28"/>
                  </a:lnTo>
                  <a:lnTo>
                    <a:pt x="0" y="22"/>
                  </a:lnTo>
                  <a:lnTo>
                    <a:pt x="2" y="18"/>
                  </a:lnTo>
                  <a:lnTo>
                    <a:pt x="8" y="8"/>
                  </a:lnTo>
                  <a:lnTo>
                    <a:pt x="18" y="2"/>
                  </a:lnTo>
                  <a:lnTo>
                    <a:pt x="24" y="0"/>
                  </a:lnTo>
                  <a:lnTo>
                    <a:pt x="28" y="0"/>
                  </a:lnTo>
                  <a:lnTo>
                    <a:pt x="28" y="0"/>
                  </a:lnTo>
                  <a:lnTo>
                    <a:pt x="34" y="0"/>
                  </a:lnTo>
                  <a:lnTo>
                    <a:pt x="40" y="2"/>
                  </a:lnTo>
                  <a:lnTo>
                    <a:pt x="50" y="8"/>
                  </a:lnTo>
                  <a:lnTo>
                    <a:pt x="56" y="18"/>
                  </a:lnTo>
                  <a:lnTo>
                    <a:pt x="58" y="22"/>
                  </a:lnTo>
                  <a:lnTo>
                    <a:pt x="58" y="28"/>
                  </a:lnTo>
                  <a:lnTo>
                    <a:pt x="58" y="28"/>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8" name="Freeform 8"/>
            <p:cNvSpPr>
              <a:spLocks/>
            </p:cNvSpPr>
            <p:nvPr userDrawn="1"/>
          </p:nvSpPr>
          <p:spPr bwMode="auto">
            <a:xfrm rot="1164575">
              <a:off x="8686328" y="324161"/>
              <a:ext cx="80298" cy="83067"/>
            </a:xfrm>
            <a:custGeom>
              <a:avLst/>
              <a:gdLst>
                <a:gd name="T0" fmla="*/ 58 w 58"/>
                <a:gd name="T1" fmla="*/ 30 h 60"/>
                <a:gd name="T2" fmla="*/ 58 w 58"/>
                <a:gd name="T3" fmla="*/ 30 h 60"/>
                <a:gd name="T4" fmla="*/ 58 w 58"/>
                <a:gd name="T5" fmla="*/ 36 h 60"/>
                <a:gd name="T6" fmla="*/ 56 w 58"/>
                <a:gd name="T7" fmla="*/ 42 h 60"/>
                <a:gd name="T8" fmla="*/ 50 w 58"/>
                <a:gd name="T9" fmla="*/ 50 h 60"/>
                <a:gd name="T10" fmla="*/ 40 w 58"/>
                <a:gd name="T11" fmla="*/ 56 h 60"/>
                <a:gd name="T12" fmla="*/ 36 w 58"/>
                <a:gd name="T13" fmla="*/ 58 h 60"/>
                <a:gd name="T14" fmla="*/ 30 w 58"/>
                <a:gd name="T15" fmla="*/ 60 h 60"/>
                <a:gd name="T16" fmla="*/ 30 w 58"/>
                <a:gd name="T17" fmla="*/ 60 h 60"/>
                <a:gd name="T18" fmla="*/ 24 w 58"/>
                <a:gd name="T19" fmla="*/ 58 h 60"/>
                <a:gd name="T20" fmla="*/ 18 w 58"/>
                <a:gd name="T21" fmla="*/ 56 h 60"/>
                <a:gd name="T22" fmla="*/ 8 w 58"/>
                <a:gd name="T23" fmla="*/ 50 h 60"/>
                <a:gd name="T24" fmla="*/ 2 w 58"/>
                <a:gd name="T25" fmla="*/ 42 h 60"/>
                <a:gd name="T26" fmla="*/ 0 w 58"/>
                <a:gd name="T27" fmla="*/ 36 h 60"/>
                <a:gd name="T28" fmla="*/ 0 w 58"/>
                <a:gd name="T29" fmla="*/ 30 h 60"/>
                <a:gd name="T30" fmla="*/ 0 w 58"/>
                <a:gd name="T31" fmla="*/ 30 h 60"/>
                <a:gd name="T32" fmla="*/ 0 w 58"/>
                <a:gd name="T33" fmla="*/ 24 h 60"/>
                <a:gd name="T34" fmla="*/ 2 w 58"/>
                <a:gd name="T35" fmla="*/ 18 h 60"/>
                <a:gd name="T36" fmla="*/ 8 w 58"/>
                <a:gd name="T37" fmla="*/ 10 h 60"/>
                <a:gd name="T38" fmla="*/ 18 w 58"/>
                <a:gd name="T39" fmla="*/ 2 h 60"/>
                <a:gd name="T40" fmla="*/ 24 w 58"/>
                <a:gd name="T41" fmla="*/ 2 h 60"/>
                <a:gd name="T42" fmla="*/ 30 w 58"/>
                <a:gd name="T43" fmla="*/ 0 h 60"/>
                <a:gd name="T44" fmla="*/ 30 w 58"/>
                <a:gd name="T45" fmla="*/ 0 h 60"/>
                <a:gd name="T46" fmla="*/ 36 w 58"/>
                <a:gd name="T47" fmla="*/ 2 h 60"/>
                <a:gd name="T48" fmla="*/ 40 w 58"/>
                <a:gd name="T49" fmla="*/ 2 h 60"/>
                <a:gd name="T50" fmla="*/ 50 w 58"/>
                <a:gd name="T51" fmla="*/ 10 h 60"/>
                <a:gd name="T52" fmla="*/ 56 w 58"/>
                <a:gd name="T53" fmla="*/ 18 h 60"/>
                <a:gd name="T54" fmla="*/ 58 w 58"/>
                <a:gd name="T55" fmla="*/ 24 h 60"/>
                <a:gd name="T56" fmla="*/ 58 w 58"/>
                <a:gd name="T57" fmla="*/ 30 h 60"/>
                <a:gd name="T58" fmla="*/ 58 w 58"/>
                <a:gd name="T5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58" y="30"/>
                  </a:moveTo>
                  <a:lnTo>
                    <a:pt x="58" y="30"/>
                  </a:lnTo>
                  <a:lnTo>
                    <a:pt x="58" y="36"/>
                  </a:lnTo>
                  <a:lnTo>
                    <a:pt x="56" y="42"/>
                  </a:lnTo>
                  <a:lnTo>
                    <a:pt x="50" y="50"/>
                  </a:lnTo>
                  <a:lnTo>
                    <a:pt x="40" y="56"/>
                  </a:lnTo>
                  <a:lnTo>
                    <a:pt x="36" y="58"/>
                  </a:lnTo>
                  <a:lnTo>
                    <a:pt x="30" y="60"/>
                  </a:lnTo>
                  <a:lnTo>
                    <a:pt x="30" y="60"/>
                  </a:lnTo>
                  <a:lnTo>
                    <a:pt x="24" y="58"/>
                  </a:lnTo>
                  <a:lnTo>
                    <a:pt x="18" y="56"/>
                  </a:lnTo>
                  <a:lnTo>
                    <a:pt x="8" y="50"/>
                  </a:lnTo>
                  <a:lnTo>
                    <a:pt x="2" y="42"/>
                  </a:lnTo>
                  <a:lnTo>
                    <a:pt x="0" y="36"/>
                  </a:lnTo>
                  <a:lnTo>
                    <a:pt x="0" y="30"/>
                  </a:lnTo>
                  <a:lnTo>
                    <a:pt x="0" y="30"/>
                  </a:lnTo>
                  <a:lnTo>
                    <a:pt x="0" y="24"/>
                  </a:lnTo>
                  <a:lnTo>
                    <a:pt x="2" y="18"/>
                  </a:lnTo>
                  <a:lnTo>
                    <a:pt x="8" y="10"/>
                  </a:lnTo>
                  <a:lnTo>
                    <a:pt x="18" y="2"/>
                  </a:lnTo>
                  <a:lnTo>
                    <a:pt x="24" y="2"/>
                  </a:lnTo>
                  <a:lnTo>
                    <a:pt x="30" y="0"/>
                  </a:lnTo>
                  <a:lnTo>
                    <a:pt x="30" y="0"/>
                  </a:lnTo>
                  <a:lnTo>
                    <a:pt x="36" y="2"/>
                  </a:lnTo>
                  <a:lnTo>
                    <a:pt x="40" y="2"/>
                  </a:lnTo>
                  <a:lnTo>
                    <a:pt x="50" y="10"/>
                  </a:lnTo>
                  <a:lnTo>
                    <a:pt x="56" y="18"/>
                  </a:lnTo>
                  <a:lnTo>
                    <a:pt x="58" y="24"/>
                  </a:lnTo>
                  <a:lnTo>
                    <a:pt x="58" y="30"/>
                  </a:lnTo>
                  <a:lnTo>
                    <a:pt x="58" y="30"/>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 name="Freeform 9"/>
            <p:cNvSpPr>
              <a:spLocks/>
            </p:cNvSpPr>
            <p:nvPr userDrawn="1"/>
          </p:nvSpPr>
          <p:spPr bwMode="auto">
            <a:xfrm rot="1164575">
              <a:off x="8153576" y="136449"/>
              <a:ext cx="80298" cy="83067"/>
            </a:xfrm>
            <a:custGeom>
              <a:avLst/>
              <a:gdLst>
                <a:gd name="T0" fmla="*/ 58 w 58"/>
                <a:gd name="T1" fmla="*/ 30 h 60"/>
                <a:gd name="T2" fmla="*/ 58 w 58"/>
                <a:gd name="T3" fmla="*/ 30 h 60"/>
                <a:gd name="T4" fmla="*/ 58 w 58"/>
                <a:gd name="T5" fmla="*/ 36 h 60"/>
                <a:gd name="T6" fmla="*/ 56 w 58"/>
                <a:gd name="T7" fmla="*/ 42 h 60"/>
                <a:gd name="T8" fmla="*/ 50 w 58"/>
                <a:gd name="T9" fmla="*/ 50 h 60"/>
                <a:gd name="T10" fmla="*/ 40 w 58"/>
                <a:gd name="T11" fmla="*/ 56 h 60"/>
                <a:gd name="T12" fmla="*/ 36 w 58"/>
                <a:gd name="T13" fmla="*/ 58 h 60"/>
                <a:gd name="T14" fmla="*/ 30 w 58"/>
                <a:gd name="T15" fmla="*/ 60 h 60"/>
                <a:gd name="T16" fmla="*/ 30 w 58"/>
                <a:gd name="T17" fmla="*/ 60 h 60"/>
                <a:gd name="T18" fmla="*/ 24 w 58"/>
                <a:gd name="T19" fmla="*/ 58 h 60"/>
                <a:gd name="T20" fmla="*/ 18 w 58"/>
                <a:gd name="T21" fmla="*/ 56 h 60"/>
                <a:gd name="T22" fmla="*/ 8 w 58"/>
                <a:gd name="T23" fmla="*/ 50 h 60"/>
                <a:gd name="T24" fmla="*/ 2 w 58"/>
                <a:gd name="T25" fmla="*/ 42 h 60"/>
                <a:gd name="T26" fmla="*/ 0 w 58"/>
                <a:gd name="T27" fmla="*/ 36 h 60"/>
                <a:gd name="T28" fmla="*/ 0 w 58"/>
                <a:gd name="T29" fmla="*/ 30 h 60"/>
                <a:gd name="T30" fmla="*/ 0 w 58"/>
                <a:gd name="T31" fmla="*/ 30 h 60"/>
                <a:gd name="T32" fmla="*/ 0 w 58"/>
                <a:gd name="T33" fmla="*/ 24 h 60"/>
                <a:gd name="T34" fmla="*/ 2 w 58"/>
                <a:gd name="T35" fmla="*/ 18 h 60"/>
                <a:gd name="T36" fmla="*/ 8 w 58"/>
                <a:gd name="T37" fmla="*/ 10 h 60"/>
                <a:gd name="T38" fmla="*/ 18 w 58"/>
                <a:gd name="T39" fmla="*/ 2 h 60"/>
                <a:gd name="T40" fmla="*/ 24 w 58"/>
                <a:gd name="T41" fmla="*/ 2 h 60"/>
                <a:gd name="T42" fmla="*/ 30 w 58"/>
                <a:gd name="T43" fmla="*/ 0 h 60"/>
                <a:gd name="T44" fmla="*/ 30 w 58"/>
                <a:gd name="T45" fmla="*/ 0 h 60"/>
                <a:gd name="T46" fmla="*/ 36 w 58"/>
                <a:gd name="T47" fmla="*/ 2 h 60"/>
                <a:gd name="T48" fmla="*/ 40 w 58"/>
                <a:gd name="T49" fmla="*/ 2 h 60"/>
                <a:gd name="T50" fmla="*/ 50 w 58"/>
                <a:gd name="T51" fmla="*/ 10 h 60"/>
                <a:gd name="T52" fmla="*/ 56 w 58"/>
                <a:gd name="T53" fmla="*/ 18 h 60"/>
                <a:gd name="T54" fmla="*/ 58 w 58"/>
                <a:gd name="T55" fmla="*/ 24 h 60"/>
                <a:gd name="T56" fmla="*/ 58 w 58"/>
                <a:gd name="T57" fmla="*/ 30 h 60"/>
                <a:gd name="T58" fmla="*/ 58 w 58"/>
                <a:gd name="T5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58" y="30"/>
                  </a:moveTo>
                  <a:lnTo>
                    <a:pt x="58" y="30"/>
                  </a:lnTo>
                  <a:lnTo>
                    <a:pt x="58" y="36"/>
                  </a:lnTo>
                  <a:lnTo>
                    <a:pt x="56" y="42"/>
                  </a:lnTo>
                  <a:lnTo>
                    <a:pt x="50" y="50"/>
                  </a:lnTo>
                  <a:lnTo>
                    <a:pt x="40" y="56"/>
                  </a:lnTo>
                  <a:lnTo>
                    <a:pt x="36" y="58"/>
                  </a:lnTo>
                  <a:lnTo>
                    <a:pt x="30" y="60"/>
                  </a:lnTo>
                  <a:lnTo>
                    <a:pt x="30" y="60"/>
                  </a:lnTo>
                  <a:lnTo>
                    <a:pt x="24" y="58"/>
                  </a:lnTo>
                  <a:lnTo>
                    <a:pt x="18" y="56"/>
                  </a:lnTo>
                  <a:lnTo>
                    <a:pt x="8" y="50"/>
                  </a:lnTo>
                  <a:lnTo>
                    <a:pt x="2" y="42"/>
                  </a:lnTo>
                  <a:lnTo>
                    <a:pt x="0" y="36"/>
                  </a:lnTo>
                  <a:lnTo>
                    <a:pt x="0" y="30"/>
                  </a:lnTo>
                  <a:lnTo>
                    <a:pt x="0" y="30"/>
                  </a:lnTo>
                  <a:lnTo>
                    <a:pt x="0" y="24"/>
                  </a:lnTo>
                  <a:lnTo>
                    <a:pt x="2" y="18"/>
                  </a:lnTo>
                  <a:lnTo>
                    <a:pt x="8" y="10"/>
                  </a:lnTo>
                  <a:lnTo>
                    <a:pt x="18" y="2"/>
                  </a:lnTo>
                  <a:lnTo>
                    <a:pt x="24" y="2"/>
                  </a:lnTo>
                  <a:lnTo>
                    <a:pt x="30" y="0"/>
                  </a:lnTo>
                  <a:lnTo>
                    <a:pt x="30" y="0"/>
                  </a:lnTo>
                  <a:lnTo>
                    <a:pt x="36" y="2"/>
                  </a:lnTo>
                  <a:lnTo>
                    <a:pt x="40" y="2"/>
                  </a:lnTo>
                  <a:lnTo>
                    <a:pt x="50" y="10"/>
                  </a:lnTo>
                  <a:lnTo>
                    <a:pt x="56" y="18"/>
                  </a:lnTo>
                  <a:lnTo>
                    <a:pt x="58" y="24"/>
                  </a:lnTo>
                  <a:lnTo>
                    <a:pt x="58" y="30"/>
                  </a:lnTo>
                  <a:lnTo>
                    <a:pt x="58" y="30"/>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 name="Freeform 10"/>
            <p:cNvSpPr>
              <a:spLocks/>
            </p:cNvSpPr>
            <p:nvPr userDrawn="1"/>
          </p:nvSpPr>
          <p:spPr bwMode="auto">
            <a:xfrm rot="1164575">
              <a:off x="7724792" y="504913"/>
              <a:ext cx="80298" cy="80298"/>
            </a:xfrm>
            <a:custGeom>
              <a:avLst/>
              <a:gdLst>
                <a:gd name="T0" fmla="*/ 58 w 58"/>
                <a:gd name="T1" fmla="*/ 28 h 58"/>
                <a:gd name="T2" fmla="*/ 58 w 58"/>
                <a:gd name="T3" fmla="*/ 28 h 58"/>
                <a:gd name="T4" fmla="*/ 58 w 58"/>
                <a:gd name="T5" fmla="*/ 34 h 58"/>
                <a:gd name="T6" fmla="*/ 56 w 58"/>
                <a:gd name="T7" fmla="*/ 40 h 58"/>
                <a:gd name="T8" fmla="*/ 50 w 58"/>
                <a:gd name="T9" fmla="*/ 50 h 58"/>
                <a:gd name="T10" fmla="*/ 42 w 58"/>
                <a:gd name="T11" fmla="*/ 56 h 58"/>
                <a:gd name="T12" fmla="*/ 36 w 58"/>
                <a:gd name="T13" fmla="*/ 58 h 58"/>
                <a:gd name="T14" fmla="*/ 30 w 58"/>
                <a:gd name="T15" fmla="*/ 58 h 58"/>
                <a:gd name="T16" fmla="*/ 30 w 58"/>
                <a:gd name="T17" fmla="*/ 58 h 58"/>
                <a:gd name="T18" fmla="*/ 24 w 58"/>
                <a:gd name="T19" fmla="*/ 58 h 58"/>
                <a:gd name="T20" fmla="*/ 18 w 58"/>
                <a:gd name="T21" fmla="*/ 56 h 58"/>
                <a:gd name="T22" fmla="*/ 8 w 58"/>
                <a:gd name="T23" fmla="*/ 50 h 58"/>
                <a:gd name="T24" fmla="*/ 2 w 58"/>
                <a:gd name="T25" fmla="*/ 40 h 58"/>
                <a:gd name="T26" fmla="*/ 0 w 58"/>
                <a:gd name="T27" fmla="*/ 34 h 58"/>
                <a:gd name="T28" fmla="*/ 0 w 58"/>
                <a:gd name="T29" fmla="*/ 28 h 58"/>
                <a:gd name="T30" fmla="*/ 0 w 58"/>
                <a:gd name="T31" fmla="*/ 28 h 58"/>
                <a:gd name="T32" fmla="*/ 0 w 58"/>
                <a:gd name="T33" fmla="*/ 22 h 58"/>
                <a:gd name="T34" fmla="*/ 2 w 58"/>
                <a:gd name="T35" fmla="*/ 18 h 58"/>
                <a:gd name="T36" fmla="*/ 8 w 58"/>
                <a:gd name="T37" fmla="*/ 8 h 58"/>
                <a:gd name="T38" fmla="*/ 18 w 58"/>
                <a:gd name="T39" fmla="*/ 2 h 58"/>
                <a:gd name="T40" fmla="*/ 24 w 58"/>
                <a:gd name="T41" fmla="*/ 0 h 58"/>
                <a:gd name="T42" fmla="*/ 30 w 58"/>
                <a:gd name="T43" fmla="*/ 0 h 58"/>
                <a:gd name="T44" fmla="*/ 30 w 58"/>
                <a:gd name="T45" fmla="*/ 0 h 58"/>
                <a:gd name="T46" fmla="*/ 36 w 58"/>
                <a:gd name="T47" fmla="*/ 0 h 58"/>
                <a:gd name="T48" fmla="*/ 42 w 58"/>
                <a:gd name="T49" fmla="*/ 2 h 58"/>
                <a:gd name="T50" fmla="*/ 50 w 58"/>
                <a:gd name="T51" fmla="*/ 8 h 58"/>
                <a:gd name="T52" fmla="*/ 56 w 58"/>
                <a:gd name="T53" fmla="*/ 18 h 58"/>
                <a:gd name="T54" fmla="*/ 58 w 58"/>
                <a:gd name="T55" fmla="*/ 22 h 58"/>
                <a:gd name="T56" fmla="*/ 58 w 58"/>
                <a:gd name="T57" fmla="*/ 28 h 58"/>
                <a:gd name="T58" fmla="*/ 58 w 58"/>
                <a:gd name="T59" fmla="*/ 2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58" y="28"/>
                  </a:moveTo>
                  <a:lnTo>
                    <a:pt x="58" y="28"/>
                  </a:lnTo>
                  <a:lnTo>
                    <a:pt x="58" y="34"/>
                  </a:lnTo>
                  <a:lnTo>
                    <a:pt x="56" y="40"/>
                  </a:lnTo>
                  <a:lnTo>
                    <a:pt x="50" y="50"/>
                  </a:lnTo>
                  <a:lnTo>
                    <a:pt x="42" y="56"/>
                  </a:lnTo>
                  <a:lnTo>
                    <a:pt x="36" y="58"/>
                  </a:lnTo>
                  <a:lnTo>
                    <a:pt x="30" y="58"/>
                  </a:lnTo>
                  <a:lnTo>
                    <a:pt x="30" y="58"/>
                  </a:lnTo>
                  <a:lnTo>
                    <a:pt x="24" y="58"/>
                  </a:lnTo>
                  <a:lnTo>
                    <a:pt x="18" y="56"/>
                  </a:lnTo>
                  <a:lnTo>
                    <a:pt x="8" y="50"/>
                  </a:lnTo>
                  <a:lnTo>
                    <a:pt x="2" y="40"/>
                  </a:lnTo>
                  <a:lnTo>
                    <a:pt x="0" y="34"/>
                  </a:lnTo>
                  <a:lnTo>
                    <a:pt x="0" y="28"/>
                  </a:lnTo>
                  <a:lnTo>
                    <a:pt x="0" y="28"/>
                  </a:lnTo>
                  <a:lnTo>
                    <a:pt x="0" y="22"/>
                  </a:lnTo>
                  <a:lnTo>
                    <a:pt x="2" y="18"/>
                  </a:lnTo>
                  <a:lnTo>
                    <a:pt x="8" y="8"/>
                  </a:lnTo>
                  <a:lnTo>
                    <a:pt x="18" y="2"/>
                  </a:lnTo>
                  <a:lnTo>
                    <a:pt x="24" y="0"/>
                  </a:lnTo>
                  <a:lnTo>
                    <a:pt x="30" y="0"/>
                  </a:lnTo>
                  <a:lnTo>
                    <a:pt x="30" y="0"/>
                  </a:lnTo>
                  <a:lnTo>
                    <a:pt x="36" y="0"/>
                  </a:lnTo>
                  <a:lnTo>
                    <a:pt x="42" y="2"/>
                  </a:lnTo>
                  <a:lnTo>
                    <a:pt x="50" y="8"/>
                  </a:lnTo>
                  <a:lnTo>
                    <a:pt x="56" y="18"/>
                  </a:lnTo>
                  <a:lnTo>
                    <a:pt x="58" y="22"/>
                  </a:lnTo>
                  <a:lnTo>
                    <a:pt x="58" y="28"/>
                  </a:lnTo>
                  <a:lnTo>
                    <a:pt x="58" y="28"/>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 name="Freeform 11"/>
            <p:cNvSpPr>
              <a:spLocks/>
            </p:cNvSpPr>
            <p:nvPr userDrawn="1"/>
          </p:nvSpPr>
          <p:spPr bwMode="auto">
            <a:xfrm rot="1164575">
              <a:off x="7828761" y="1058320"/>
              <a:ext cx="80298" cy="83067"/>
            </a:xfrm>
            <a:custGeom>
              <a:avLst/>
              <a:gdLst>
                <a:gd name="T0" fmla="*/ 58 w 58"/>
                <a:gd name="T1" fmla="*/ 30 h 60"/>
                <a:gd name="T2" fmla="*/ 58 w 58"/>
                <a:gd name="T3" fmla="*/ 30 h 60"/>
                <a:gd name="T4" fmla="*/ 58 w 58"/>
                <a:gd name="T5" fmla="*/ 36 h 60"/>
                <a:gd name="T6" fmla="*/ 56 w 58"/>
                <a:gd name="T7" fmla="*/ 42 h 60"/>
                <a:gd name="T8" fmla="*/ 50 w 58"/>
                <a:gd name="T9" fmla="*/ 50 h 60"/>
                <a:gd name="T10" fmla="*/ 40 w 58"/>
                <a:gd name="T11" fmla="*/ 58 h 60"/>
                <a:gd name="T12" fmla="*/ 36 w 58"/>
                <a:gd name="T13" fmla="*/ 58 h 60"/>
                <a:gd name="T14" fmla="*/ 30 w 58"/>
                <a:gd name="T15" fmla="*/ 60 h 60"/>
                <a:gd name="T16" fmla="*/ 30 w 58"/>
                <a:gd name="T17" fmla="*/ 60 h 60"/>
                <a:gd name="T18" fmla="*/ 24 w 58"/>
                <a:gd name="T19" fmla="*/ 58 h 60"/>
                <a:gd name="T20" fmla="*/ 18 w 58"/>
                <a:gd name="T21" fmla="*/ 58 h 60"/>
                <a:gd name="T22" fmla="*/ 8 w 58"/>
                <a:gd name="T23" fmla="*/ 50 h 60"/>
                <a:gd name="T24" fmla="*/ 2 w 58"/>
                <a:gd name="T25" fmla="*/ 42 h 60"/>
                <a:gd name="T26" fmla="*/ 0 w 58"/>
                <a:gd name="T27" fmla="*/ 36 h 60"/>
                <a:gd name="T28" fmla="*/ 0 w 58"/>
                <a:gd name="T29" fmla="*/ 30 h 60"/>
                <a:gd name="T30" fmla="*/ 0 w 58"/>
                <a:gd name="T31" fmla="*/ 30 h 60"/>
                <a:gd name="T32" fmla="*/ 0 w 58"/>
                <a:gd name="T33" fmla="*/ 24 h 60"/>
                <a:gd name="T34" fmla="*/ 2 w 58"/>
                <a:gd name="T35" fmla="*/ 18 h 60"/>
                <a:gd name="T36" fmla="*/ 8 w 58"/>
                <a:gd name="T37" fmla="*/ 10 h 60"/>
                <a:gd name="T38" fmla="*/ 18 w 58"/>
                <a:gd name="T39" fmla="*/ 2 h 60"/>
                <a:gd name="T40" fmla="*/ 24 w 58"/>
                <a:gd name="T41" fmla="*/ 2 h 60"/>
                <a:gd name="T42" fmla="*/ 30 w 58"/>
                <a:gd name="T43" fmla="*/ 0 h 60"/>
                <a:gd name="T44" fmla="*/ 30 w 58"/>
                <a:gd name="T45" fmla="*/ 0 h 60"/>
                <a:gd name="T46" fmla="*/ 36 w 58"/>
                <a:gd name="T47" fmla="*/ 2 h 60"/>
                <a:gd name="T48" fmla="*/ 40 w 58"/>
                <a:gd name="T49" fmla="*/ 2 h 60"/>
                <a:gd name="T50" fmla="*/ 50 w 58"/>
                <a:gd name="T51" fmla="*/ 10 h 60"/>
                <a:gd name="T52" fmla="*/ 56 w 58"/>
                <a:gd name="T53" fmla="*/ 18 h 60"/>
                <a:gd name="T54" fmla="*/ 58 w 58"/>
                <a:gd name="T55" fmla="*/ 24 h 60"/>
                <a:gd name="T56" fmla="*/ 58 w 58"/>
                <a:gd name="T57" fmla="*/ 30 h 60"/>
                <a:gd name="T58" fmla="*/ 58 w 58"/>
                <a:gd name="T5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58" y="30"/>
                  </a:moveTo>
                  <a:lnTo>
                    <a:pt x="58" y="30"/>
                  </a:lnTo>
                  <a:lnTo>
                    <a:pt x="58" y="36"/>
                  </a:lnTo>
                  <a:lnTo>
                    <a:pt x="56" y="42"/>
                  </a:lnTo>
                  <a:lnTo>
                    <a:pt x="50" y="50"/>
                  </a:lnTo>
                  <a:lnTo>
                    <a:pt x="40" y="58"/>
                  </a:lnTo>
                  <a:lnTo>
                    <a:pt x="36" y="58"/>
                  </a:lnTo>
                  <a:lnTo>
                    <a:pt x="30" y="60"/>
                  </a:lnTo>
                  <a:lnTo>
                    <a:pt x="30" y="60"/>
                  </a:lnTo>
                  <a:lnTo>
                    <a:pt x="24" y="58"/>
                  </a:lnTo>
                  <a:lnTo>
                    <a:pt x="18" y="58"/>
                  </a:lnTo>
                  <a:lnTo>
                    <a:pt x="8" y="50"/>
                  </a:lnTo>
                  <a:lnTo>
                    <a:pt x="2" y="42"/>
                  </a:lnTo>
                  <a:lnTo>
                    <a:pt x="0" y="36"/>
                  </a:lnTo>
                  <a:lnTo>
                    <a:pt x="0" y="30"/>
                  </a:lnTo>
                  <a:lnTo>
                    <a:pt x="0" y="30"/>
                  </a:lnTo>
                  <a:lnTo>
                    <a:pt x="0" y="24"/>
                  </a:lnTo>
                  <a:lnTo>
                    <a:pt x="2" y="18"/>
                  </a:lnTo>
                  <a:lnTo>
                    <a:pt x="8" y="10"/>
                  </a:lnTo>
                  <a:lnTo>
                    <a:pt x="18" y="2"/>
                  </a:lnTo>
                  <a:lnTo>
                    <a:pt x="24" y="2"/>
                  </a:lnTo>
                  <a:lnTo>
                    <a:pt x="30" y="0"/>
                  </a:lnTo>
                  <a:lnTo>
                    <a:pt x="30" y="0"/>
                  </a:lnTo>
                  <a:lnTo>
                    <a:pt x="36" y="2"/>
                  </a:lnTo>
                  <a:lnTo>
                    <a:pt x="40" y="2"/>
                  </a:lnTo>
                  <a:lnTo>
                    <a:pt x="50" y="10"/>
                  </a:lnTo>
                  <a:lnTo>
                    <a:pt x="56" y="18"/>
                  </a:lnTo>
                  <a:lnTo>
                    <a:pt x="58" y="24"/>
                  </a:lnTo>
                  <a:lnTo>
                    <a:pt x="58" y="30"/>
                  </a:lnTo>
                  <a:lnTo>
                    <a:pt x="58" y="30"/>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grpSp>
      <p:sp>
        <p:nvSpPr>
          <p:cNvPr id="16" name="Text Box 18"/>
          <p:cNvSpPr txBox="1">
            <a:spLocks noChangeArrowheads="1"/>
          </p:cNvSpPr>
          <p:nvPr userDrawn="1"/>
        </p:nvSpPr>
        <p:spPr bwMode="auto">
          <a:xfrm>
            <a:off x="228600" y="6604084"/>
            <a:ext cx="2058577"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defRPr/>
            </a:pPr>
            <a:r>
              <a:rPr lang="en-US" sz="1050" b="1" dirty="0">
                <a:solidFill>
                  <a:srgbClr val="F7D300"/>
                </a:solidFill>
              </a:rPr>
              <a:t>© 2014 W. W. Norton Co., Inc.</a:t>
            </a:r>
          </a:p>
        </p:txBody>
      </p:sp>
    </p:spTree>
    <p:extLst>
      <p:ext uri="{BB962C8B-B14F-4D97-AF65-F5344CB8AC3E}">
        <p14:creationId xmlns:p14="http://schemas.microsoft.com/office/powerpoint/2010/main" val="2299237305"/>
      </p:ext>
    </p:extLst>
  </p:cSld>
  <p:clrMap bg1="lt1" tx1="dk1" bg2="lt2" tx2="dk2" accent1="accent1" accent2="accent2" accent3="accent3" accent4="accent4" accent5="accent5" accent6="accent6" hlink="hlink" folHlink="folHlink"/>
  <p:sldLayoutIdLst>
    <p:sldLayoutId id="2147484047" r:id="rId1"/>
    <p:sldLayoutId id="2147484048" r:id="rId2"/>
    <p:sldLayoutId id="2147484049" r:id="rId3"/>
    <p:sldLayoutId id="2147484050" r:id="rId4"/>
    <p:sldLayoutId id="2147484051" r:id="rId5"/>
    <p:sldLayoutId id="2147484052" r:id="rId6"/>
    <p:sldLayoutId id="2147484053" r:id="rId7"/>
    <p:sldLayoutId id="2147484054" r:id="rId8"/>
    <p:sldLayoutId id="2147484055" r:id="rId9"/>
    <p:sldLayoutId id="2147484056" r:id="rId10"/>
    <p:sldLayoutId id="2147484057" r:id="rId11"/>
    <p:sldLayoutId id="2147484058" r:id="rId12"/>
    <p:sldLayoutId id="2147484059" r:id="rId13"/>
    <p:sldLayoutId id="2147484060" r:id="rId14"/>
  </p:sldLayoutIdLst>
  <p:hf hdr="0" ftr="0" dt="0"/>
  <p:txStyles>
    <p:titleStyle>
      <a:lvl1pPr algn="l" rtl="0" eaLnBrk="0" fontAlgn="base" hangingPunct="0">
        <a:spcBef>
          <a:spcPct val="0"/>
        </a:spcBef>
        <a:spcAft>
          <a:spcPct val="0"/>
        </a:spcAft>
        <a:defRPr sz="4000" b="0">
          <a:solidFill>
            <a:srgbClr val="F7D300"/>
          </a:solidFill>
          <a:latin typeface="Arial"/>
          <a:ea typeface="+mj-ea"/>
          <a:cs typeface="Arial"/>
        </a:defRPr>
      </a:lvl1pPr>
      <a:lvl2pPr algn="l" rtl="0" eaLnBrk="0" fontAlgn="base" hangingPunct="0">
        <a:spcBef>
          <a:spcPct val="0"/>
        </a:spcBef>
        <a:spcAft>
          <a:spcPct val="0"/>
        </a:spcAft>
        <a:defRPr sz="4000" b="1">
          <a:solidFill>
            <a:schemeClr val="bg1"/>
          </a:solidFill>
          <a:latin typeface="Arial" charset="0"/>
          <a:cs typeface="Arial" charset="0"/>
        </a:defRPr>
      </a:lvl2pPr>
      <a:lvl3pPr algn="l" rtl="0" eaLnBrk="0" fontAlgn="base" hangingPunct="0">
        <a:spcBef>
          <a:spcPct val="0"/>
        </a:spcBef>
        <a:spcAft>
          <a:spcPct val="0"/>
        </a:spcAft>
        <a:defRPr sz="4000" b="1">
          <a:solidFill>
            <a:schemeClr val="bg1"/>
          </a:solidFill>
          <a:latin typeface="Arial" charset="0"/>
          <a:cs typeface="Arial" charset="0"/>
        </a:defRPr>
      </a:lvl3pPr>
      <a:lvl4pPr algn="l" rtl="0" eaLnBrk="0" fontAlgn="base" hangingPunct="0">
        <a:spcBef>
          <a:spcPct val="0"/>
        </a:spcBef>
        <a:spcAft>
          <a:spcPct val="0"/>
        </a:spcAft>
        <a:defRPr sz="4000" b="1">
          <a:solidFill>
            <a:schemeClr val="bg1"/>
          </a:solidFill>
          <a:latin typeface="Arial" charset="0"/>
          <a:cs typeface="Arial" charset="0"/>
        </a:defRPr>
      </a:lvl4pPr>
      <a:lvl5pPr algn="l" rtl="0" eaLnBrk="0" fontAlgn="base" hangingPunct="0">
        <a:spcBef>
          <a:spcPct val="0"/>
        </a:spcBef>
        <a:spcAft>
          <a:spcPct val="0"/>
        </a:spcAft>
        <a:defRPr sz="4000" b="1">
          <a:solidFill>
            <a:schemeClr val="bg1"/>
          </a:solidFill>
          <a:latin typeface="Arial" charset="0"/>
          <a:cs typeface="Arial" charset="0"/>
        </a:defRPr>
      </a:lvl5pPr>
      <a:lvl6pPr marL="457200" algn="l" rtl="0" fontAlgn="base">
        <a:spcBef>
          <a:spcPct val="0"/>
        </a:spcBef>
        <a:spcAft>
          <a:spcPct val="0"/>
        </a:spcAft>
        <a:defRPr sz="4000">
          <a:solidFill>
            <a:schemeClr val="tx1"/>
          </a:solidFill>
          <a:latin typeface="Arial Rounded MT Bold" pitchFamily="34" charset="0"/>
          <a:cs typeface="Arial" charset="0"/>
        </a:defRPr>
      </a:lvl6pPr>
      <a:lvl7pPr marL="914400" algn="l" rtl="0" fontAlgn="base">
        <a:spcBef>
          <a:spcPct val="0"/>
        </a:spcBef>
        <a:spcAft>
          <a:spcPct val="0"/>
        </a:spcAft>
        <a:defRPr sz="4000">
          <a:solidFill>
            <a:schemeClr val="tx1"/>
          </a:solidFill>
          <a:latin typeface="Arial Rounded MT Bold" pitchFamily="34" charset="0"/>
          <a:cs typeface="Arial" charset="0"/>
        </a:defRPr>
      </a:lvl7pPr>
      <a:lvl8pPr marL="1371600" algn="l" rtl="0" fontAlgn="base">
        <a:spcBef>
          <a:spcPct val="0"/>
        </a:spcBef>
        <a:spcAft>
          <a:spcPct val="0"/>
        </a:spcAft>
        <a:defRPr sz="4000">
          <a:solidFill>
            <a:schemeClr val="tx1"/>
          </a:solidFill>
          <a:latin typeface="Arial Rounded MT Bold" pitchFamily="34" charset="0"/>
          <a:cs typeface="Arial" charset="0"/>
        </a:defRPr>
      </a:lvl8pPr>
      <a:lvl9pPr marL="1828800" algn="l" rtl="0" fontAlgn="base">
        <a:spcBef>
          <a:spcPct val="0"/>
        </a:spcBef>
        <a:spcAft>
          <a:spcPct val="0"/>
        </a:spcAft>
        <a:defRPr sz="4000">
          <a:solidFill>
            <a:schemeClr val="tx1"/>
          </a:solidFill>
          <a:latin typeface="Arial Rounded MT Bold" pitchFamily="34" charset="0"/>
          <a:cs typeface="Arial" charset="0"/>
        </a:defRPr>
      </a:lvl9pPr>
    </p:titleStyle>
    <p:bodyStyle>
      <a:lvl1pPr marL="342900" indent="-342900" algn="l" rtl="0" eaLnBrk="0" fontAlgn="base" hangingPunct="0">
        <a:spcBef>
          <a:spcPct val="20000"/>
        </a:spcBef>
        <a:spcAft>
          <a:spcPct val="0"/>
        </a:spcAft>
        <a:buClr>
          <a:srgbClr val="335359"/>
        </a:buClr>
        <a:buChar char="•"/>
        <a:defRPr sz="3200" b="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Clr>
          <a:srgbClr val="335359"/>
        </a:buClr>
        <a:buChar char="•"/>
        <a:defRPr sz="2800" b="0">
          <a:solidFill>
            <a:schemeClr val="tx1"/>
          </a:solidFill>
          <a:latin typeface="Arial" pitchFamily="34" charset="0"/>
          <a:cs typeface="Arial" pitchFamily="34" charset="0"/>
        </a:defRPr>
      </a:lvl2pPr>
      <a:lvl3pPr marL="1143000" indent="-228600" algn="l" rtl="0" eaLnBrk="0" fontAlgn="base" hangingPunct="0">
        <a:spcBef>
          <a:spcPct val="20000"/>
        </a:spcBef>
        <a:spcAft>
          <a:spcPct val="0"/>
        </a:spcAft>
        <a:buClr>
          <a:srgbClr val="335359"/>
        </a:buClr>
        <a:buChar char="•"/>
        <a:defRPr sz="2400" b="0">
          <a:solidFill>
            <a:schemeClr val="tx1"/>
          </a:solidFill>
          <a:latin typeface="Arial" pitchFamily="34" charset="0"/>
          <a:cs typeface="Arial" pitchFamily="34" charset="0"/>
        </a:defRPr>
      </a:lvl3pPr>
      <a:lvl4pPr marL="1600200" indent="-228600" algn="l" rtl="0" eaLnBrk="0" fontAlgn="base" hangingPunct="0">
        <a:spcBef>
          <a:spcPct val="20000"/>
        </a:spcBef>
        <a:spcAft>
          <a:spcPct val="0"/>
        </a:spcAft>
        <a:buClr>
          <a:srgbClr val="335359"/>
        </a:buClr>
        <a:buChar char="•"/>
        <a:defRPr sz="2000" b="0">
          <a:solidFill>
            <a:schemeClr val="tx1"/>
          </a:solidFill>
          <a:latin typeface="Arial" pitchFamily="34" charset="0"/>
          <a:cs typeface="Arial" pitchFamily="34" charset="0"/>
        </a:defRPr>
      </a:lvl4pPr>
      <a:lvl5pPr marL="2057400" indent="-228600" algn="l" rtl="0" eaLnBrk="0" fontAlgn="base" hangingPunct="0">
        <a:spcBef>
          <a:spcPct val="20000"/>
        </a:spcBef>
        <a:spcAft>
          <a:spcPct val="0"/>
        </a:spcAft>
        <a:buClr>
          <a:srgbClr val="335359"/>
        </a:buClr>
        <a:buChar char="•"/>
        <a:defRPr sz="2000" b="0">
          <a:solidFill>
            <a:schemeClr val="tx1"/>
          </a:solidFill>
          <a:latin typeface="Arial" pitchFamily="34" charset="0"/>
          <a:cs typeface="Arial" pitchFamily="34" charset="0"/>
        </a:defRPr>
      </a:lvl5pPr>
      <a:lvl6pPr marL="2514600" indent="-228600" algn="l" rtl="0" fontAlgn="base">
        <a:spcBef>
          <a:spcPct val="20000"/>
        </a:spcBef>
        <a:spcAft>
          <a:spcPct val="0"/>
        </a:spcAft>
        <a:buClr>
          <a:srgbClr val="00B2CC"/>
        </a:buClr>
        <a:buChar char="•"/>
        <a:defRPr sz="2000">
          <a:solidFill>
            <a:schemeClr val="tx1"/>
          </a:solidFill>
          <a:latin typeface="+mn-lt"/>
          <a:cs typeface="+mn-cs"/>
        </a:defRPr>
      </a:lvl6pPr>
      <a:lvl7pPr marL="2971800" indent="-228600" algn="l" rtl="0" fontAlgn="base">
        <a:spcBef>
          <a:spcPct val="20000"/>
        </a:spcBef>
        <a:spcAft>
          <a:spcPct val="0"/>
        </a:spcAft>
        <a:buClr>
          <a:srgbClr val="00B2CC"/>
        </a:buClr>
        <a:buChar char="•"/>
        <a:defRPr sz="2000">
          <a:solidFill>
            <a:schemeClr val="tx1"/>
          </a:solidFill>
          <a:latin typeface="+mn-lt"/>
          <a:cs typeface="+mn-cs"/>
        </a:defRPr>
      </a:lvl7pPr>
      <a:lvl8pPr marL="3429000" indent="-228600" algn="l" rtl="0" fontAlgn="base">
        <a:spcBef>
          <a:spcPct val="20000"/>
        </a:spcBef>
        <a:spcAft>
          <a:spcPct val="0"/>
        </a:spcAft>
        <a:buClr>
          <a:srgbClr val="00B2CC"/>
        </a:buClr>
        <a:buChar char="•"/>
        <a:defRPr sz="2000">
          <a:solidFill>
            <a:schemeClr val="tx1"/>
          </a:solidFill>
          <a:latin typeface="+mn-lt"/>
          <a:cs typeface="+mn-cs"/>
        </a:defRPr>
      </a:lvl8pPr>
      <a:lvl9pPr marL="3886200" indent="-228600" algn="l" rtl="0" fontAlgn="base">
        <a:spcBef>
          <a:spcPct val="20000"/>
        </a:spcBef>
        <a:spcAft>
          <a:spcPct val="0"/>
        </a:spcAft>
        <a:buClr>
          <a:srgbClr val="00B2CC"/>
        </a:buClr>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381001"/>
            <a:ext cx="6377940" cy="129302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36880" y="1674029"/>
            <a:ext cx="8321040" cy="477757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solidFill>
                <a:prstClr val="white">
                  <a:tint val="75000"/>
                </a:prstClr>
              </a:solidFill>
            </a:endParaRPr>
          </a:p>
        </p:txBody>
      </p:sp>
      <p:sp>
        <p:nvSpPr>
          <p:cNvPr id="6" name="Slide Number Placeholder 5"/>
          <p:cNvSpPr>
            <a:spLocks noGrp="1"/>
          </p:cNvSpPr>
          <p:nvPr>
            <p:ph type="sldNum" sz="quarter" idx="4"/>
          </p:nvPr>
        </p:nvSpPr>
        <p:spPr>
          <a:xfrm>
            <a:off x="0" y="0"/>
            <a:ext cx="1977390" cy="365125"/>
          </a:xfrm>
          <a:prstGeom prst="rect">
            <a:avLst/>
          </a:prstGeom>
        </p:spPr>
        <p:txBody>
          <a:bodyPr vert="horz" lIns="91440" tIns="45720" rIns="91440" bIns="45720" rtlCol="0" anchor="ctr"/>
          <a:lstStyle>
            <a:lvl1pPr algn="l">
              <a:defRPr sz="1200"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481121721"/>
      </p:ext>
    </p:extLst>
  </p:cSld>
  <p:clrMap bg1="dk1" tx1="lt1" bg2="dk2" tx2="lt2" accent1="accent1" accent2="accent2" accent3="accent3" accent4="accent4" accent5="accent5" accent6="accent6" hlink="hlink" folHlink="folHlink"/>
  <p:sldLayoutIdLst>
    <p:sldLayoutId id="2147484062" r:id="rId1"/>
    <p:sldLayoutId id="2147484063" r:id="rId2"/>
    <p:sldLayoutId id="2147484064" r:id="rId3"/>
    <p:sldLayoutId id="2147484065" r:id="rId4"/>
    <p:sldLayoutId id="2147484066" r:id="rId5"/>
    <p:sldLayoutId id="2147484067" r:id="rId6"/>
    <p:sldLayoutId id="2147484068" r:id="rId7"/>
    <p:sldLayoutId id="2147484069" r:id="rId8"/>
    <p:sldLayoutId id="2147484070" r:id="rId9"/>
    <p:sldLayoutId id="2147484071" r:id="rId10"/>
    <p:sldLayoutId id="2147484072" r:id="rId11"/>
    <p:sldLayoutId id="2147484073" r:id="rId12"/>
    <p:sldLayoutId id="2147484074" r:id="rId13"/>
    <p:sldLayoutId id="2147484075" r:id="rId14"/>
    <p:sldLayoutId id="2147484076" r:id="rId15"/>
    <p:sldLayoutId id="2147484077" r:id="rId16"/>
    <p:sldLayoutId id="2147484078" r:id="rId17"/>
  </p:sldLayoutIdLst>
  <p:hf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33.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oleObject" Target="../embeddings/oleObject1.bin"/><Relationship Id="rId7" Type="http://schemas.openxmlformats.org/officeDocument/2006/relationships/image" Target="../media/image17.gi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2.bin"/><Relationship Id="rId4" Type="http://schemas.openxmlformats.org/officeDocument/2006/relationships/image" Target="../media/image15.wmf"/><Relationship Id="rId9" Type="http://schemas.openxmlformats.org/officeDocument/2006/relationships/image" Target="../media/image19.emf"/></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1.png"/><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33.jpe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680.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28.jpeg"/></Relationships>
</file>

<file path=ppt/slides/_rels/slide1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19.emf"/></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0.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62156" y="1696556"/>
            <a:ext cx="5094514" cy="1825096"/>
          </a:xfrm>
        </p:spPr>
        <p:txBody>
          <a:bodyPr/>
          <a:lstStyle/>
          <a:p>
            <a:r>
              <a:rPr lang="en-US" dirty="0"/>
              <a:t>CHEM 105</a:t>
            </a:r>
            <a:br>
              <a:rPr lang="en-US" dirty="0"/>
            </a:br>
            <a:r>
              <a:rPr lang="en-US" sz="1800" dirty="0"/>
              <a:t>Sections 31-49</a:t>
            </a:r>
          </a:p>
        </p:txBody>
      </p:sp>
      <p:sp>
        <p:nvSpPr>
          <p:cNvPr id="3" name="Subtitle 2"/>
          <p:cNvSpPr>
            <a:spLocks noGrp="1"/>
          </p:cNvSpPr>
          <p:nvPr>
            <p:ph type="subTitle" idx="1"/>
          </p:nvPr>
        </p:nvSpPr>
        <p:spPr>
          <a:xfrm>
            <a:off x="3962156" y="3525352"/>
            <a:ext cx="5094514" cy="685800"/>
          </a:xfrm>
        </p:spPr>
        <p:txBody>
          <a:bodyPr/>
          <a:lstStyle/>
          <a:p>
            <a:pPr>
              <a:spcBef>
                <a:spcPts val="0"/>
              </a:spcBef>
              <a:spcAft>
                <a:spcPts val="0"/>
              </a:spcAft>
            </a:pPr>
            <a:r>
              <a:rPr lang="en-US" dirty="0"/>
              <a:t>Dr. Stacey J. Smith</a:t>
            </a:r>
          </a:p>
          <a:p>
            <a:pPr>
              <a:spcBef>
                <a:spcPts val="0"/>
              </a:spcBef>
              <a:spcAft>
                <a:spcPts val="0"/>
              </a:spcAft>
            </a:pPr>
            <a:r>
              <a:rPr lang="en-US" dirty="0"/>
              <a:t>Fall 2024</a:t>
            </a:r>
          </a:p>
        </p:txBody>
      </p:sp>
      <p:sp>
        <p:nvSpPr>
          <p:cNvPr id="5" name="Slide Number Placeholder 4"/>
          <p:cNvSpPr>
            <a:spLocks noGrp="1"/>
          </p:cNvSpPr>
          <p:nvPr>
            <p:ph type="sldNum" sz="quarter" idx="12"/>
          </p:nvPr>
        </p:nvSpPr>
        <p:spPr>
          <a:xfrm>
            <a:off x="2844800" y="-365125"/>
            <a:ext cx="2171700" cy="365125"/>
          </a:xfrm>
        </p:spPr>
        <p:txBody>
          <a:bodyPr/>
          <a:lstStyle/>
          <a:p>
            <a:fld id="{63C103D7-7FC1-4B9F-A526-BC88A3C4AA47}" type="slidenum">
              <a:rPr lang="en-US" smtClean="0">
                <a:solidFill>
                  <a:prstClr val="white"/>
                </a:solidFill>
                <a:effectLst>
                  <a:outerShdw blurRad="50800" dist="38100" algn="l" rotWithShape="0">
                    <a:prstClr val="black">
                      <a:alpha val="40000"/>
                    </a:prstClr>
                  </a:outerShdw>
                </a:effectLst>
              </a:rPr>
              <a:pPr/>
              <a:t>1</a:t>
            </a:fld>
            <a:endParaRPr lang="en-US">
              <a:solidFill>
                <a:prstClr val="white"/>
              </a:solidFill>
              <a:effectLst>
                <a:outerShdw blurRad="50800" dist="38100" algn="l" rotWithShape="0">
                  <a:prstClr val="black">
                    <a:alpha val="40000"/>
                  </a:prstClr>
                </a:outerShdw>
              </a:effectLst>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656" y="2253918"/>
            <a:ext cx="2095500" cy="1857375"/>
          </a:xfrm>
          <a:prstGeom prst="rect">
            <a:avLst/>
          </a:prstGeom>
        </p:spPr>
      </p:pic>
      <p:sp>
        <p:nvSpPr>
          <p:cNvPr id="14" name="TextBox 13">
            <a:extLst>
              <a:ext uri="{FF2B5EF4-FFF2-40B4-BE49-F238E27FC236}">
                <a16:creationId xmlns:a16="http://schemas.microsoft.com/office/drawing/2014/main" id="{08CAF3D7-F2B8-4273-81A6-F3AE832883C2}"/>
              </a:ext>
            </a:extLst>
          </p:cNvPr>
          <p:cNvSpPr txBox="1"/>
          <p:nvPr/>
        </p:nvSpPr>
        <p:spPr>
          <a:xfrm>
            <a:off x="4799247" y="413506"/>
            <a:ext cx="4166202" cy="1908215"/>
          </a:xfrm>
          <a:prstGeom prst="rect">
            <a:avLst/>
          </a:prstGeom>
          <a:noFill/>
        </p:spPr>
        <p:txBody>
          <a:bodyPr wrap="square">
            <a:spAutoFit/>
          </a:bodyPr>
          <a:lstStyle/>
          <a:p>
            <a:r>
              <a:rPr lang="en-US" dirty="0"/>
              <a:t>“When you stumble in the race of life, don’t crawl away from the very Physician who is unfailingly there to treat your injuries, lift you to your feet and help you finish the course.”</a:t>
            </a:r>
            <a:br>
              <a:rPr lang="en-US" sz="1400" dirty="0"/>
            </a:br>
            <a:endParaRPr lang="en-US" sz="1400" dirty="0"/>
          </a:p>
          <a:p>
            <a:r>
              <a:rPr lang="en-US" sz="1400" dirty="0"/>
              <a:t>- Jeffrey R. Holland, BYU devotional 1/18/2022</a:t>
            </a:r>
          </a:p>
        </p:txBody>
      </p:sp>
      <p:sp>
        <p:nvSpPr>
          <p:cNvPr id="10" name="TextBox 9">
            <a:extLst>
              <a:ext uri="{FF2B5EF4-FFF2-40B4-BE49-F238E27FC236}">
                <a16:creationId xmlns:a16="http://schemas.microsoft.com/office/drawing/2014/main" id="{08CAF3D7-F2B8-4273-81A6-F3AE832883C2}"/>
              </a:ext>
            </a:extLst>
          </p:cNvPr>
          <p:cNvSpPr txBox="1"/>
          <p:nvPr/>
        </p:nvSpPr>
        <p:spPr>
          <a:xfrm>
            <a:off x="1150449" y="4223687"/>
            <a:ext cx="6671763" cy="1277273"/>
          </a:xfrm>
          <a:prstGeom prst="rect">
            <a:avLst/>
          </a:prstGeom>
          <a:noFill/>
        </p:spPr>
        <p:txBody>
          <a:bodyPr wrap="square">
            <a:spAutoFit/>
          </a:bodyPr>
          <a:lstStyle/>
          <a:p>
            <a:r>
              <a:rPr lang="en-US" dirty="0">
                <a:solidFill>
                  <a:srgbClr val="0070C0"/>
                </a:solidFill>
              </a:rPr>
              <a:t>“We can think of The Church using the analogy of a prescription drug capsule. The Church is the capsule, and the Atonement of Jesus Christ is the medicine delivered inside the capsule.”</a:t>
            </a:r>
          </a:p>
          <a:p>
            <a:endParaRPr lang="en-US" sz="900" dirty="0">
              <a:solidFill>
                <a:srgbClr val="0070C0"/>
              </a:solidFill>
            </a:endParaRPr>
          </a:p>
          <a:p>
            <a:r>
              <a:rPr lang="en-US" sz="1400" dirty="0">
                <a:solidFill>
                  <a:srgbClr val="0070C0"/>
                </a:solidFill>
              </a:rPr>
              <a:t>- Kevin S. Hamilton, BYU devotional 1/24/2023</a:t>
            </a:r>
          </a:p>
        </p:txBody>
      </p:sp>
      <p:pic>
        <p:nvPicPr>
          <p:cNvPr id="11" name="Picture 6" descr="5,117 Jesus Healing Stock Photos - Free &amp; Royalty-Free Stock Photos from  Dreamstime">
            <a:extLst>
              <a:ext uri="{FF2B5EF4-FFF2-40B4-BE49-F238E27FC236}">
                <a16:creationId xmlns:a16="http://schemas.microsoft.com/office/drawing/2014/main" id="{17F06BDC-B8E0-2E26-167B-2674DED15133}"/>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 t="6451" r="-962" b="7679"/>
          <a:stretch/>
        </p:blipFill>
        <p:spPr bwMode="auto">
          <a:xfrm>
            <a:off x="1107586" y="2355647"/>
            <a:ext cx="2854570" cy="175564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8281C33-AA9E-7602-F72D-A956ADBC22CB}"/>
              </a:ext>
            </a:extLst>
          </p:cNvPr>
          <p:cNvSpPr txBox="1"/>
          <p:nvPr/>
        </p:nvSpPr>
        <p:spPr>
          <a:xfrm>
            <a:off x="-296282" y="5728719"/>
            <a:ext cx="9391588" cy="861774"/>
          </a:xfrm>
          <a:prstGeom prst="rect">
            <a:avLst/>
          </a:prstGeom>
          <a:noFill/>
        </p:spPr>
        <p:txBody>
          <a:bodyPr wrap="square" rtlCol="0">
            <a:spAutoFit/>
          </a:bodyPr>
          <a:lstStyle/>
          <a:p>
            <a:pPr algn="r"/>
            <a:r>
              <a:rPr lang="en-US" b="1" dirty="0"/>
              <a:t>You don't need to be perfect to be in this church.</a:t>
            </a:r>
            <a:r>
              <a:rPr lang="en-US" dirty="0">
                <a:solidFill>
                  <a:schemeClr val="tx1">
                    <a:lumMod val="50000"/>
                  </a:schemeClr>
                </a:solidFill>
              </a:rPr>
              <a:t> </a:t>
            </a:r>
            <a:r>
              <a:rPr lang="en-US" b="1" dirty="0"/>
              <a:t>You just need to do your best. </a:t>
            </a:r>
            <a:r>
              <a:rPr lang="en-US" dirty="0"/>
              <a:t>Which includes repenting and striving to become something more [through] Jesus Christ.</a:t>
            </a:r>
          </a:p>
          <a:p>
            <a:pPr algn="r"/>
            <a:r>
              <a:rPr lang="en-US" sz="1400" i="1" dirty="0">
                <a:solidFill>
                  <a:schemeClr val="accent5">
                    <a:lumMod val="40000"/>
                    <a:lumOff val="60000"/>
                  </a:schemeClr>
                </a:solidFill>
              </a:rPr>
              <a:t>Clark Gilbert, BYU Devotional 2-8-2022</a:t>
            </a:r>
            <a:endParaRPr lang="en-US" sz="1000" i="1" dirty="0">
              <a:solidFill>
                <a:schemeClr val="accent5">
                  <a:lumMod val="40000"/>
                  <a:lumOff val="60000"/>
                </a:schemeClr>
              </a:solidFill>
            </a:endParaRPr>
          </a:p>
        </p:txBody>
      </p:sp>
      <p:sp>
        <p:nvSpPr>
          <p:cNvPr id="7" name="TextBox 6">
            <a:extLst>
              <a:ext uri="{FF2B5EF4-FFF2-40B4-BE49-F238E27FC236}">
                <a16:creationId xmlns:a16="http://schemas.microsoft.com/office/drawing/2014/main" id="{D7981233-C613-BBC7-AC7C-555A8F1F32A5}"/>
              </a:ext>
            </a:extLst>
          </p:cNvPr>
          <p:cNvSpPr txBox="1"/>
          <p:nvPr/>
        </p:nvSpPr>
        <p:spPr>
          <a:xfrm>
            <a:off x="178551" y="351952"/>
            <a:ext cx="4620696" cy="1969770"/>
          </a:xfrm>
          <a:prstGeom prst="rect">
            <a:avLst/>
          </a:prstGeom>
          <a:noFill/>
        </p:spPr>
        <p:txBody>
          <a:bodyPr wrap="square">
            <a:spAutoFit/>
          </a:bodyPr>
          <a:lstStyle/>
          <a:p>
            <a:r>
              <a:rPr lang="en-US">
                <a:solidFill>
                  <a:srgbClr val="FFFF00"/>
                </a:solidFill>
              </a:rPr>
              <a:t>“Choose </a:t>
            </a:r>
            <a:r>
              <a:rPr lang="en-US" dirty="0">
                <a:solidFill>
                  <a:srgbClr val="FFFF00"/>
                </a:solidFill>
              </a:rPr>
              <a:t>kindness and compassion over criticism and contention.”</a:t>
            </a:r>
          </a:p>
          <a:p>
            <a:r>
              <a:rPr lang="en-US" dirty="0">
                <a:solidFill>
                  <a:srgbClr val="00B050"/>
                </a:solidFill>
              </a:rPr>
              <a:t>“To speed up God’s work and influence in our lives, we may paradoxically need to slow down. Being always </a:t>
            </a:r>
            <a:r>
              <a:rPr lang="en-US" i="1" dirty="0">
                <a:solidFill>
                  <a:srgbClr val="00B050"/>
                </a:solidFill>
              </a:rPr>
              <a:t>in motion </a:t>
            </a:r>
            <a:r>
              <a:rPr lang="en-US" dirty="0">
                <a:solidFill>
                  <a:srgbClr val="00B050"/>
                </a:solidFill>
              </a:rPr>
              <a:t>may be adding to the</a:t>
            </a:r>
            <a:r>
              <a:rPr lang="en-US" i="1" dirty="0">
                <a:solidFill>
                  <a:srgbClr val="00B050"/>
                </a:solidFill>
              </a:rPr>
              <a:t> commotion</a:t>
            </a:r>
            <a:r>
              <a:rPr lang="en-US" dirty="0">
                <a:solidFill>
                  <a:srgbClr val="00B050"/>
                </a:solidFill>
              </a:rPr>
              <a:t> in our lives.”</a:t>
            </a:r>
          </a:p>
          <a:p>
            <a:r>
              <a:rPr lang="en-US" sz="1400" dirty="0"/>
              <a:t>- General Conference Oct 2024</a:t>
            </a:r>
          </a:p>
        </p:txBody>
      </p:sp>
    </p:spTree>
    <p:extLst>
      <p:ext uri="{BB962C8B-B14F-4D97-AF65-F5344CB8AC3E}">
        <p14:creationId xmlns:p14="http://schemas.microsoft.com/office/powerpoint/2010/main" val="3352578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0"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321035" y="503713"/>
            <a:ext cx="3904516" cy="1254759"/>
          </a:xfrm>
        </p:spPr>
        <p:txBody>
          <a:bodyPr vert="horz" lIns="91440" tIns="45720" rIns="91440" bIns="45720" rtlCol="0" anchor="ctr">
            <a:normAutofit fontScale="90000"/>
          </a:bodyPr>
          <a:lstStyle/>
          <a:p>
            <a:r>
              <a:rPr lang="en-US" dirty="0"/>
              <a:t>Lecture 14:</a:t>
            </a:r>
            <a:br>
              <a:rPr lang="en-US" dirty="0"/>
            </a:br>
            <a:r>
              <a:rPr lang="en-US" dirty="0"/>
              <a:t>4.4-4.6</a:t>
            </a:r>
          </a:p>
        </p:txBody>
      </p:sp>
      <p:sp>
        <p:nvSpPr>
          <p:cNvPr id="4" name="Rectangle 3"/>
          <p:cNvSpPr/>
          <p:nvPr/>
        </p:nvSpPr>
        <p:spPr>
          <a:xfrm>
            <a:off x="1275156" y="1322661"/>
            <a:ext cx="3377848" cy="1148712"/>
          </a:xfrm>
          <a:prstGeom prst="rect">
            <a:avLst/>
          </a:prstGeom>
        </p:spPr>
        <p:txBody>
          <a:bodyPr wrap="none">
            <a:spAutoFit/>
          </a:bodyPr>
          <a:lstStyle/>
          <a:p>
            <a:pPr algn="ctr">
              <a:lnSpc>
                <a:spcPct val="70000"/>
              </a:lnSpc>
            </a:pPr>
            <a:r>
              <a:rPr lang="en-US" sz="4800" dirty="0">
                <a:solidFill>
                  <a:prstClr val="black"/>
                </a:solidFill>
                <a:latin typeface="Comic Sans MS"/>
              </a:rPr>
              <a:t>Lewis </a:t>
            </a:r>
            <a:br>
              <a:rPr lang="en-US" sz="4800" dirty="0">
                <a:solidFill>
                  <a:prstClr val="black"/>
                </a:solidFill>
                <a:latin typeface="Comic Sans MS"/>
              </a:rPr>
            </a:br>
            <a:r>
              <a:rPr lang="en-US" sz="4800" dirty="0">
                <a:solidFill>
                  <a:prstClr val="black"/>
                </a:solidFill>
                <a:latin typeface="Comic Sans MS"/>
              </a:rPr>
              <a:t>Structures</a:t>
            </a:r>
            <a:endParaRPr lang="en-US" dirty="0">
              <a:solidFill>
                <a:prstClr val="black"/>
              </a:solidFill>
            </a:endParaRPr>
          </a:p>
        </p:txBody>
      </p:sp>
      <p:sp>
        <p:nvSpPr>
          <p:cNvPr id="2" name="Slide Number Placeholder 1"/>
          <p:cNvSpPr>
            <a:spLocks noGrp="1"/>
          </p:cNvSpPr>
          <p:nvPr>
            <p:ph type="sldNum" sz="quarter" idx="12"/>
          </p:nvPr>
        </p:nvSpPr>
        <p:spPr/>
        <p:txBody>
          <a:bodyPr/>
          <a:lstStyle/>
          <a:p>
            <a:fld id="{63C103D7-7FC1-4B9F-A526-BC88A3C4AA47}" type="slidenum">
              <a:rPr lang="en-US" smtClean="0">
                <a:solidFill>
                  <a:prstClr val="white"/>
                </a:solidFill>
              </a:rPr>
              <a:pPr/>
              <a:t>2</a:t>
            </a:fld>
            <a:endParaRPr lang="en-US" dirty="0">
              <a:solidFill>
                <a:prstClr val="white"/>
              </a:solidFill>
            </a:endParaRPr>
          </a:p>
        </p:txBody>
      </p:sp>
      <p:sp>
        <p:nvSpPr>
          <p:cNvPr id="7" name="Content Placeholder 2"/>
          <p:cNvSpPr txBox="1">
            <a:spLocks/>
          </p:cNvSpPr>
          <p:nvPr/>
        </p:nvSpPr>
        <p:spPr>
          <a:xfrm>
            <a:off x="466808" y="2577420"/>
            <a:ext cx="8372392" cy="39694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None/>
              <a:defRPr/>
            </a:pPr>
            <a:r>
              <a:rPr lang="en-US" sz="2400" dirty="0"/>
              <a:t>4.1	Chemical Bonds and Greenhouse Gases</a:t>
            </a:r>
          </a:p>
          <a:p>
            <a:pPr marL="0" indent="0">
              <a:spcBef>
                <a:spcPts val="0"/>
              </a:spcBef>
              <a:buNone/>
              <a:defRPr/>
            </a:pPr>
            <a:r>
              <a:rPr lang="en-US" sz="2400" dirty="0"/>
              <a:t>4.2	Electronegativity, Unequal Sharing, &amp; Polar Bonds </a:t>
            </a:r>
          </a:p>
          <a:p>
            <a:pPr marL="0" indent="0">
              <a:spcBef>
                <a:spcPts val="0"/>
              </a:spcBef>
              <a:buNone/>
              <a:defRPr/>
            </a:pPr>
            <a:r>
              <a:rPr lang="en-US" sz="2400" dirty="0"/>
              <a:t>4.3	Naming Compounds and Writing Formulas</a:t>
            </a:r>
          </a:p>
          <a:p>
            <a:pPr marL="0" indent="0">
              <a:spcBef>
                <a:spcPts val="0"/>
              </a:spcBef>
              <a:buNone/>
              <a:defRPr/>
            </a:pPr>
            <a:r>
              <a:rPr lang="en-US" sz="2400" dirty="0">
                <a:solidFill>
                  <a:srgbClr val="3366FF"/>
                </a:solidFill>
              </a:rPr>
              <a:t>4.4	Lewis Symbols and Lewis Structures</a:t>
            </a:r>
          </a:p>
          <a:p>
            <a:pPr marL="0" indent="0">
              <a:spcBef>
                <a:spcPts val="0"/>
              </a:spcBef>
              <a:buNone/>
              <a:defRPr/>
            </a:pPr>
            <a:r>
              <a:rPr lang="en-US" sz="2400" dirty="0">
                <a:solidFill>
                  <a:srgbClr val="3366FF"/>
                </a:solidFill>
              </a:rPr>
              <a:t>4.5	Resonance</a:t>
            </a:r>
          </a:p>
          <a:p>
            <a:pPr marL="0" indent="0">
              <a:spcBef>
                <a:spcPts val="0"/>
              </a:spcBef>
              <a:buNone/>
              <a:defRPr/>
            </a:pPr>
            <a:r>
              <a:rPr lang="en-US" sz="2400" dirty="0">
                <a:solidFill>
                  <a:srgbClr val="3366FF"/>
                </a:solidFill>
              </a:rPr>
              <a:t>4.6 	The Lengths and Strengths of Covalent Bonds</a:t>
            </a:r>
          </a:p>
          <a:p>
            <a:pPr marL="0" indent="0">
              <a:spcBef>
                <a:spcPts val="0"/>
              </a:spcBef>
              <a:buNone/>
              <a:defRPr/>
            </a:pPr>
            <a:r>
              <a:rPr lang="en-US" sz="2400" dirty="0"/>
              <a:t>4.7	Formal Charge:  Choosing among Lewis Structures</a:t>
            </a:r>
          </a:p>
          <a:p>
            <a:pPr marL="0" indent="0">
              <a:spcBef>
                <a:spcPts val="0"/>
              </a:spcBef>
              <a:buNone/>
              <a:defRPr/>
            </a:pPr>
            <a:r>
              <a:rPr lang="en-US" sz="2400" dirty="0"/>
              <a:t>4.8	Exceptions to the Octet Rule</a:t>
            </a:r>
          </a:p>
          <a:p>
            <a:pPr marL="0" indent="0">
              <a:spcBef>
                <a:spcPts val="0"/>
              </a:spcBef>
              <a:buNone/>
              <a:defRPr/>
            </a:pPr>
            <a:r>
              <a:rPr lang="en-US" sz="2400" dirty="0"/>
              <a:t>4.9	Vibrating Bonds and the Greenhouse Effect</a:t>
            </a:r>
          </a:p>
          <a:p>
            <a:pPr marL="0" indent="0">
              <a:spcBef>
                <a:spcPts val="0"/>
              </a:spcBef>
              <a:buNone/>
              <a:defRPr/>
            </a:pPr>
            <a:endParaRPr lang="en-US" sz="2400" dirty="0">
              <a:solidFill>
                <a:prstClr val="black"/>
              </a:solidFill>
            </a:endParaRPr>
          </a:p>
          <a:p>
            <a:pPr marL="0" indent="0">
              <a:spcBef>
                <a:spcPts val="0"/>
              </a:spcBef>
              <a:buNone/>
              <a:defRPr/>
            </a:pPr>
            <a:r>
              <a:rPr lang="en-US" sz="2400" dirty="0"/>
              <a:t>5.3	Polar Bonds and Polar Molecules</a:t>
            </a:r>
          </a:p>
        </p:txBody>
      </p:sp>
    </p:spTree>
    <p:extLst>
      <p:ext uri="{BB962C8B-B14F-4D97-AF65-F5344CB8AC3E}">
        <p14:creationId xmlns:p14="http://schemas.microsoft.com/office/powerpoint/2010/main" val="408208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4360" y="1169043"/>
            <a:ext cx="7955280" cy="5254906"/>
          </a:xfrm>
        </p:spPr>
        <p:txBody>
          <a:bodyPr>
            <a:normAutofit fontScale="92500" lnSpcReduction="10000"/>
          </a:bodyPr>
          <a:lstStyle/>
          <a:p>
            <a:pPr marL="0" indent="0" algn="ctr">
              <a:buNone/>
            </a:pPr>
            <a:r>
              <a:rPr lang="en-US" sz="2800" dirty="0"/>
              <a:t>Write the formula for dinitrogen pentoxide.</a:t>
            </a:r>
          </a:p>
          <a:p>
            <a:pPr marL="0" indent="0" algn="ctr">
              <a:buNone/>
            </a:pPr>
            <a:r>
              <a:rPr lang="en-US" sz="4000" dirty="0">
                <a:solidFill>
                  <a:srgbClr val="F0532B"/>
                </a:solidFill>
                <a:ea typeface="ＭＳ Ｐゴシック" charset="0"/>
              </a:rPr>
              <a:t>N</a:t>
            </a:r>
            <a:r>
              <a:rPr lang="en-US" sz="4000" baseline="-25000" dirty="0">
                <a:solidFill>
                  <a:srgbClr val="F0532B"/>
                </a:solidFill>
                <a:ea typeface="ＭＳ Ｐゴシック" charset="0"/>
              </a:rPr>
              <a:t>2</a:t>
            </a:r>
            <a:r>
              <a:rPr lang="en-US" sz="4000" dirty="0">
                <a:solidFill>
                  <a:srgbClr val="F0532B"/>
                </a:solidFill>
                <a:ea typeface="ＭＳ Ｐゴシック" charset="0"/>
              </a:rPr>
              <a:t>O</a:t>
            </a:r>
            <a:r>
              <a:rPr lang="en-US" sz="4000" baseline="-25000" dirty="0">
                <a:solidFill>
                  <a:srgbClr val="F0532B"/>
                </a:solidFill>
                <a:ea typeface="ＭＳ Ｐゴシック" charset="0"/>
              </a:rPr>
              <a:t>5</a:t>
            </a:r>
            <a:endParaRPr lang="en-US" sz="3600" baseline="-25000" dirty="0"/>
          </a:p>
          <a:p>
            <a:pPr marL="0" indent="0" algn="ctr">
              <a:buNone/>
            </a:pPr>
            <a:endParaRPr lang="en-US" dirty="0"/>
          </a:p>
          <a:p>
            <a:pPr marL="0" indent="0" algn="ctr">
              <a:buNone/>
            </a:pPr>
            <a:r>
              <a:rPr lang="en-US" sz="2800" dirty="0"/>
              <a:t>What does it look like? </a:t>
            </a:r>
          </a:p>
          <a:p>
            <a:pPr marL="0" indent="0" algn="ctr">
              <a:buNone/>
            </a:pPr>
            <a:r>
              <a:rPr lang="en-US" sz="2800" dirty="0"/>
              <a:t>How are the atoms connected?</a:t>
            </a:r>
          </a:p>
          <a:p>
            <a:pPr marL="0" indent="0" algn="ctr">
              <a:buNone/>
            </a:pPr>
            <a:r>
              <a:rPr lang="en-US" sz="2800" dirty="0"/>
              <a:t>Is it polar or nonpolar?</a:t>
            </a:r>
          </a:p>
          <a:p>
            <a:pPr marL="0" indent="0" algn="ctr">
              <a:buNone/>
            </a:pPr>
            <a:r>
              <a:rPr lang="en-US" sz="2800" dirty="0"/>
              <a:t>Will it dissolve in water?</a:t>
            </a:r>
          </a:p>
          <a:p>
            <a:pPr marL="0" indent="0" algn="ctr">
              <a:buNone/>
            </a:pPr>
            <a:r>
              <a:rPr lang="en-US" sz="2800" dirty="0"/>
              <a:t> </a:t>
            </a:r>
          </a:p>
          <a:p>
            <a:pPr marL="0" indent="0" algn="ctr">
              <a:buNone/>
            </a:pPr>
            <a:r>
              <a:rPr lang="en-US" sz="2800" i="1" dirty="0"/>
              <a:t>How can we predict the structure &amp; properties of compounds from their formulas?</a:t>
            </a:r>
            <a:endParaRPr lang="en-US" sz="2800" dirty="0">
              <a:solidFill>
                <a:srgbClr val="F0532B"/>
              </a:solidFill>
              <a:ea typeface="ＭＳ Ｐゴシック" charset="0"/>
            </a:endParaRPr>
          </a:p>
          <a:p>
            <a:pPr marL="0" indent="0" algn="ctr">
              <a:buNone/>
            </a:pPr>
            <a:r>
              <a:rPr lang="en-US" sz="3600" dirty="0">
                <a:solidFill>
                  <a:srgbClr val="F0532B"/>
                </a:solidFill>
                <a:ea typeface="ＭＳ Ｐゴシック" charset="0"/>
              </a:rPr>
              <a:t>Lewis Structures!</a:t>
            </a:r>
            <a:endParaRPr lang="en-US" sz="3200" baseline="-25000" dirty="0"/>
          </a:p>
          <a:p>
            <a:pPr marL="0" indent="0" algn="ctr">
              <a:buNone/>
            </a:pPr>
            <a:endParaRPr lang="en-US" sz="2800" dirty="0"/>
          </a:p>
        </p:txBody>
      </p:sp>
      <p:sp>
        <p:nvSpPr>
          <p:cNvPr id="4" name="Slide Number Placeholder 3"/>
          <p:cNvSpPr>
            <a:spLocks noGrp="1"/>
          </p:cNvSpPr>
          <p:nvPr>
            <p:ph type="sldNum" sz="quarter" idx="12"/>
          </p:nvPr>
        </p:nvSpPr>
        <p:spPr/>
        <p:txBody>
          <a:bodyPr/>
          <a:lstStyle/>
          <a:p>
            <a:fld id="{63C103D7-7FC1-4B9F-A526-BC88A3C4AA47}" type="slidenum">
              <a:rPr lang="en-US" smtClean="0"/>
              <a:pPr/>
              <a:t>3</a:t>
            </a:fld>
            <a:endParaRPr lang="en-US" dirty="0"/>
          </a:p>
        </p:txBody>
      </p:sp>
    </p:spTree>
    <p:extLst>
      <p:ext uri="{BB962C8B-B14F-4D97-AF65-F5344CB8AC3E}">
        <p14:creationId xmlns:p14="http://schemas.microsoft.com/office/powerpoint/2010/main" val="3234152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042932" y="640645"/>
            <a:ext cx="6542274" cy="1066800"/>
          </a:xfrm>
          <a:effectLst/>
        </p:spPr>
        <p:txBody>
          <a:bodyPr/>
          <a:lstStyle/>
          <a:p>
            <a:pPr eaLnBrk="1" hangingPunct="1">
              <a:defRPr/>
            </a:pPr>
            <a:r>
              <a:rPr lang="en-US" sz="4400" dirty="0">
                <a:ea typeface="ＭＳ Ｐゴシック" charset="0"/>
              </a:rPr>
              <a:t>Lewis Structures</a:t>
            </a:r>
            <a:endParaRPr lang="en-US" sz="3600" dirty="0">
              <a:ea typeface="ＭＳ Ｐゴシック" charset="0"/>
            </a:endParaRPr>
          </a:p>
        </p:txBody>
      </p:sp>
      <p:sp>
        <p:nvSpPr>
          <p:cNvPr id="12291" name="Rectangle 3"/>
          <p:cNvSpPr>
            <a:spLocks noGrp="1" noChangeArrowheads="1"/>
          </p:cNvSpPr>
          <p:nvPr>
            <p:ph idx="1"/>
          </p:nvPr>
        </p:nvSpPr>
        <p:spPr>
          <a:xfrm>
            <a:off x="3182971" y="1632996"/>
            <a:ext cx="5751648" cy="3455200"/>
          </a:xfrm>
        </p:spPr>
        <p:txBody>
          <a:bodyPr>
            <a:normAutofit/>
          </a:bodyPr>
          <a:lstStyle/>
          <a:p>
            <a:pPr marL="0" indent="0" eaLnBrk="1" hangingPunct="1">
              <a:buFontTx/>
              <a:buNone/>
            </a:pPr>
            <a:r>
              <a:rPr lang="en-US" sz="3200" dirty="0">
                <a:solidFill>
                  <a:schemeClr val="hlink"/>
                </a:solidFill>
                <a:ea typeface="ＭＳ Ｐゴシック" charset="0"/>
              </a:rPr>
              <a:t>Lewis electron dot structures </a:t>
            </a:r>
          </a:p>
          <a:p>
            <a:pPr>
              <a:buClr>
                <a:schemeClr val="tx1"/>
              </a:buClr>
            </a:pPr>
            <a:r>
              <a:rPr lang="en-US" sz="2000" dirty="0">
                <a:ea typeface="ＭＳ Ｐゴシック" charset="0"/>
              </a:rPr>
              <a:t>Systematic way to predict bonding &amp; structure</a:t>
            </a:r>
          </a:p>
          <a:p>
            <a:pPr lvl="1">
              <a:buClr>
                <a:schemeClr val="tx1"/>
              </a:buClr>
            </a:pPr>
            <a:r>
              <a:rPr lang="en-US" sz="1800" dirty="0">
                <a:ea typeface="ＭＳ Ｐゴシック" charset="0"/>
              </a:rPr>
              <a:t>Developed </a:t>
            </a:r>
            <a:r>
              <a:rPr lang="en-US" sz="1800" i="1" dirty="0">
                <a:ea typeface="ＭＳ Ｐゴシック" charset="0"/>
              </a:rPr>
              <a:t>before </a:t>
            </a:r>
            <a:r>
              <a:rPr lang="en-US" sz="1800" dirty="0">
                <a:ea typeface="ＭＳ Ｐゴシック" charset="0"/>
              </a:rPr>
              <a:t>quantum mechanics, but can be rationalized using QM. Is a useful shortcut</a:t>
            </a:r>
          </a:p>
          <a:p>
            <a:pPr>
              <a:buClr>
                <a:schemeClr val="tx1"/>
              </a:buClr>
            </a:pPr>
            <a:r>
              <a:rPr lang="en-US" sz="2000" b="1" dirty="0">
                <a:ea typeface="ＭＳ Ｐゴシック" charset="0"/>
              </a:rPr>
              <a:t>Determine the # of valence electrons then:</a:t>
            </a:r>
          </a:p>
          <a:p>
            <a:pPr lvl="1">
              <a:buClr>
                <a:schemeClr val="tx1"/>
              </a:buClr>
            </a:pPr>
            <a:r>
              <a:rPr lang="en-US" sz="1800" b="1" dirty="0">
                <a:ea typeface="ＭＳ Ｐゴシック" charset="0"/>
              </a:rPr>
              <a:t>Decide which are </a:t>
            </a:r>
            <a:r>
              <a:rPr lang="en-US" b="1" dirty="0">
                <a:solidFill>
                  <a:schemeClr val="hlink"/>
                </a:solidFill>
                <a:ea typeface="ＭＳ Ｐゴシック" charset="0"/>
              </a:rPr>
              <a:t>BONDING ELECTRONS</a:t>
            </a:r>
            <a:endParaRPr lang="en-US" sz="1800" b="1" dirty="0">
              <a:ea typeface="ＭＳ Ｐゴシック" charset="0"/>
            </a:endParaRPr>
          </a:p>
          <a:p>
            <a:pPr lvl="1">
              <a:buClr>
                <a:schemeClr val="tx1"/>
              </a:buClr>
            </a:pPr>
            <a:r>
              <a:rPr lang="en-US" sz="1800" b="1" dirty="0">
                <a:ea typeface="ＭＳ Ｐゴシック" charset="0"/>
              </a:rPr>
              <a:t>Decide which are retained as </a:t>
            </a:r>
            <a:r>
              <a:rPr lang="en-US" b="1" dirty="0">
                <a:solidFill>
                  <a:schemeClr val="hlink"/>
                </a:solidFill>
                <a:ea typeface="ＭＳ Ｐゴシック" charset="0"/>
              </a:rPr>
              <a:t>LONE PAIRS</a:t>
            </a:r>
          </a:p>
          <a:p>
            <a:pPr>
              <a:buClr>
                <a:schemeClr val="tx1"/>
              </a:buClr>
            </a:pPr>
            <a:r>
              <a:rPr lang="en-US" sz="2000" dirty="0">
                <a:ea typeface="ＭＳ Ｐゴシック" charset="0"/>
              </a:rPr>
              <a:t>Later helps us predict molecular shape and properties </a:t>
            </a:r>
          </a:p>
        </p:txBody>
      </p:sp>
      <p:pic>
        <p:nvPicPr>
          <p:cNvPr id="6" name="Content Placeholder 3" descr="GNLewis.jpg"/>
          <p:cNvPicPr>
            <a:picLocks noChangeAspect="1"/>
          </p:cNvPicPr>
          <p:nvPr/>
        </p:nvPicPr>
        <p:blipFill rotWithShape="1">
          <a:blip r:embed="rId3">
            <a:extLst>
              <a:ext uri="{28A0092B-C50C-407E-A947-70E740481C1C}">
                <a14:useLocalDpi xmlns:a14="http://schemas.microsoft.com/office/drawing/2010/main" val="0"/>
              </a:ext>
            </a:extLst>
          </a:blip>
          <a:srcRect l="-809" r="88"/>
          <a:stretch/>
        </p:blipFill>
        <p:spPr>
          <a:xfrm>
            <a:off x="493689" y="1635600"/>
            <a:ext cx="2404872" cy="3020072"/>
          </a:xfrm>
          <a:prstGeom prst="rect">
            <a:avLst/>
          </a:prstGeom>
          <a:ln>
            <a:noFill/>
          </a:ln>
          <a:effectLst>
            <a:outerShdw blurRad="292100" dist="139700" dir="2700000" algn="tl" rotWithShape="0">
              <a:srgbClr val="333333">
                <a:alpha val="65000"/>
              </a:srgbClr>
            </a:outerShdw>
          </a:effectLst>
        </p:spPr>
      </p:pic>
      <p:sp>
        <p:nvSpPr>
          <p:cNvPr id="9" name="Rectangle 8"/>
          <p:cNvSpPr/>
          <p:nvPr/>
        </p:nvSpPr>
        <p:spPr>
          <a:xfrm>
            <a:off x="414661" y="4734251"/>
            <a:ext cx="2562927" cy="1040285"/>
          </a:xfrm>
          <a:prstGeom prst="rect">
            <a:avLst/>
          </a:prstGeom>
        </p:spPr>
        <p:txBody>
          <a:bodyPr wrap="square">
            <a:spAutoFit/>
          </a:bodyPr>
          <a:lstStyle/>
          <a:p>
            <a:pPr algn="ctr"/>
            <a:r>
              <a:rPr lang="en-US" sz="1600" b="1" u="sng" dirty="0"/>
              <a:t>G. N. Lewis </a:t>
            </a:r>
          </a:p>
          <a:p>
            <a:pPr algn="ctr"/>
            <a:r>
              <a:rPr lang="en-US" sz="1200" dirty="0"/>
              <a:t>1875 – 1946</a:t>
            </a:r>
          </a:p>
          <a:p>
            <a:pPr algn="ctr">
              <a:lnSpc>
                <a:spcPct val="80000"/>
              </a:lnSpc>
            </a:pPr>
            <a:r>
              <a:rPr lang="en-US" sz="1400" dirty="0"/>
              <a:t>American chemist</a:t>
            </a:r>
            <a:br>
              <a:rPr lang="en-US" sz="1400" dirty="0"/>
            </a:br>
            <a:r>
              <a:rPr lang="en-US" sz="1400" b="1" dirty="0"/>
              <a:t>1916 = Lewis dot structures</a:t>
            </a:r>
          </a:p>
          <a:p>
            <a:pPr algn="ctr">
              <a:lnSpc>
                <a:spcPct val="80000"/>
              </a:lnSpc>
            </a:pPr>
            <a:endParaRPr lang="en-US" sz="1400" dirty="0"/>
          </a:p>
        </p:txBody>
      </p:sp>
      <p:sp>
        <p:nvSpPr>
          <p:cNvPr id="2" name="Slide Number Placeholder 1"/>
          <p:cNvSpPr>
            <a:spLocks noGrp="1"/>
          </p:cNvSpPr>
          <p:nvPr>
            <p:ph type="sldNum" sz="quarter" idx="12"/>
          </p:nvPr>
        </p:nvSpPr>
        <p:spPr/>
        <p:txBody>
          <a:bodyPr/>
          <a:lstStyle/>
          <a:p>
            <a:fld id="{63C103D7-7FC1-4B9F-A526-BC88A3C4AA47}" type="slidenum">
              <a:rPr lang="en-US" smtClean="0"/>
              <a:pPr/>
              <a:t>4</a:t>
            </a:fld>
            <a:endParaRPr lang="en-US" dirty="0"/>
          </a:p>
        </p:txBody>
      </p:sp>
      <p:sp>
        <p:nvSpPr>
          <p:cNvPr id="7" name="TextBox 6"/>
          <p:cNvSpPr txBox="1"/>
          <p:nvPr/>
        </p:nvSpPr>
        <p:spPr>
          <a:xfrm>
            <a:off x="144274" y="6065759"/>
            <a:ext cx="8790345" cy="748144"/>
          </a:xfrm>
          <a:prstGeom prst="rect">
            <a:avLst/>
          </a:prstGeom>
          <a:noFill/>
        </p:spPr>
        <p:txBody>
          <a:bodyPr wrap="square" rtlCol="0">
            <a:normAutofit fontScale="62500" lnSpcReduction="20000"/>
          </a:bodyPr>
          <a:lstStyle/>
          <a:p>
            <a:pPr>
              <a:lnSpc>
                <a:spcPct val="110000"/>
              </a:lnSpc>
              <a:spcBef>
                <a:spcPts val="1200"/>
              </a:spcBef>
              <a:spcAft>
                <a:spcPts val="600"/>
              </a:spcAft>
            </a:pPr>
            <a:r>
              <a:rPr lang="en-US" sz="2400" dirty="0">
                <a:solidFill>
                  <a:schemeClr val="bg1">
                    <a:lumMod val="65000"/>
                  </a:schemeClr>
                </a:solidFill>
                <a:cs typeface="Times New Roman" pitchFamily="18" charset="0"/>
              </a:rPr>
              <a:t>"I have just returned from a short vacation for which the only books I took were a half-dozen detective stories and your 'Chemical Bond'. I found yours the most exciting of the lot.“</a:t>
            </a:r>
            <a:br>
              <a:rPr lang="en-US" sz="2400" dirty="0">
                <a:solidFill>
                  <a:schemeClr val="bg1">
                    <a:lumMod val="65000"/>
                  </a:schemeClr>
                </a:solidFill>
                <a:cs typeface="Times New Roman" pitchFamily="18" charset="0"/>
              </a:rPr>
            </a:br>
            <a:r>
              <a:rPr lang="en-US" sz="1900" i="1" dirty="0">
                <a:solidFill>
                  <a:schemeClr val="bg1">
                    <a:lumMod val="65000"/>
                  </a:schemeClr>
                </a:solidFill>
                <a:cs typeface="Times New Roman" pitchFamily="18" charset="0"/>
              </a:rPr>
              <a:t>G.N. Lewis. In a letter to Linus Pauling. August 25, 1939.</a:t>
            </a:r>
          </a:p>
        </p:txBody>
      </p:sp>
      <p:sp>
        <p:nvSpPr>
          <p:cNvPr id="10" name="TextBox 9">
            <a:extLst>
              <a:ext uri="{FF2B5EF4-FFF2-40B4-BE49-F238E27FC236}">
                <a16:creationId xmlns:a16="http://schemas.microsoft.com/office/drawing/2014/main" id="{551F9ADE-492F-425F-AE56-8D31C15FCBB8}"/>
              </a:ext>
            </a:extLst>
          </p:cNvPr>
          <p:cNvSpPr txBox="1"/>
          <p:nvPr/>
        </p:nvSpPr>
        <p:spPr>
          <a:xfrm>
            <a:off x="3223583" y="5099924"/>
            <a:ext cx="5670424" cy="954107"/>
          </a:xfrm>
          <a:prstGeom prst="rect">
            <a:avLst/>
          </a:prstGeom>
          <a:noFill/>
        </p:spPr>
        <p:txBody>
          <a:bodyPr wrap="square">
            <a:spAutoFit/>
          </a:bodyPr>
          <a:lstStyle/>
          <a:p>
            <a:r>
              <a:rPr lang="en-US" sz="1400" dirty="0">
                <a:solidFill>
                  <a:schemeClr val="bg1">
                    <a:lumMod val="65000"/>
                  </a:schemeClr>
                </a:solidFill>
              </a:rPr>
              <a:t>"A detective with his murder mystery, a chemist seeking the structure of a new compound… Through a series of intuitions, surmises, fancies, they stumble upon the right explanation, and have a knack of seizing it when it once comes within reach." ~ Gilbert N. Lewis</a:t>
            </a:r>
          </a:p>
        </p:txBody>
      </p:sp>
    </p:spTree>
    <p:extLst>
      <p:ext uri="{BB962C8B-B14F-4D97-AF65-F5344CB8AC3E}">
        <p14:creationId xmlns:p14="http://schemas.microsoft.com/office/powerpoint/2010/main" val="15488803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animEffect transition="in" filter="fade">
                                      <p:cBhvr>
                                        <p:cTn id="7" dur="500"/>
                                        <p:tgtEl>
                                          <p:spTgt spid="122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291">
                                            <p:txEl>
                                              <p:pRg st="2" end="2"/>
                                            </p:txEl>
                                          </p:spTgt>
                                        </p:tgtEl>
                                        <p:attrNameLst>
                                          <p:attrName>style.visibility</p:attrName>
                                        </p:attrNameLst>
                                      </p:cBhvr>
                                      <p:to>
                                        <p:strVal val="visible"/>
                                      </p:to>
                                    </p:set>
                                    <p:animEffect transition="in" filter="fade">
                                      <p:cBhvr>
                                        <p:cTn id="12" dur="500"/>
                                        <p:tgtEl>
                                          <p:spTgt spid="1229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291">
                                            <p:txEl>
                                              <p:pRg st="3" end="3"/>
                                            </p:txEl>
                                          </p:spTgt>
                                        </p:tgtEl>
                                        <p:attrNameLst>
                                          <p:attrName>style.visibility</p:attrName>
                                        </p:attrNameLst>
                                      </p:cBhvr>
                                      <p:to>
                                        <p:strVal val="visible"/>
                                      </p:to>
                                    </p:set>
                                    <p:animEffect transition="in" filter="fade">
                                      <p:cBhvr>
                                        <p:cTn id="27" dur="500"/>
                                        <p:tgtEl>
                                          <p:spTgt spid="12291">
                                            <p:txEl>
                                              <p:pRg st="3" end="3"/>
                                            </p:txEl>
                                          </p:spTgt>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12291">
                                            <p:txEl>
                                              <p:pRg st="4" end="4"/>
                                            </p:txEl>
                                          </p:spTgt>
                                        </p:tgtEl>
                                        <p:attrNameLst>
                                          <p:attrName>style.visibility</p:attrName>
                                        </p:attrNameLst>
                                      </p:cBhvr>
                                      <p:to>
                                        <p:strVal val="visible"/>
                                      </p:to>
                                    </p:set>
                                    <p:animEffect transition="in" filter="fade">
                                      <p:cBhvr>
                                        <p:cTn id="31" dur="500"/>
                                        <p:tgtEl>
                                          <p:spTgt spid="12291">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2291">
                                            <p:txEl>
                                              <p:pRg st="5" end="5"/>
                                            </p:txEl>
                                          </p:spTgt>
                                        </p:tgtEl>
                                        <p:attrNameLst>
                                          <p:attrName>style.visibility</p:attrName>
                                        </p:attrNameLst>
                                      </p:cBhvr>
                                      <p:to>
                                        <p:strVal val="visible"/>
                                      </p:to>
                                    </p:set>
                                    <p:animEffect transition="in" filter="fade">
                                      <p:cBhvr>
                                        <p:cTn id="34" dur="500"/>
                                        <p:tgtEl>
                                          <p:spTgt spid="12291">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291">
                                            <p:txEl>
                                              <p:pRg st="6" end="6"/>
                                            </p:txEl>
                                          </p:spTgt>
                                        </p:tgtEl>
                                        <p:attrNameLst>
                                          <p:attrName>style.visibility</p:attrName>
                                        </p:attrNameLst>
                                      </p:cBhvr>
                                      <p:to>
                                        <p:strVal val="visible"/>
                                      </p:to>
                                    </p:set>
                                    <p:animEffect transition="in" filter="fade">
                                      <p:cBhvr>
                                        <p:cTn id="39" dur="500"/>
                                        <p:tgtEl>
                                          <p:spTgt spid="122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p:cNvSpPr>
            <a:spLocks noGrp="1"/>
          </p:cNvSpPr>
          <p:nvPr>
            <p:ph type="title"/>
          </p:nvPr>
        </p:nvSpPr>
        <p:spPr>
          <a:xfrm>
            <a:off x="404038" y="583073"/>
            <a:ext cx="8229704" cy="1254759"/>
          </a:xfrm>
        </p:spPr>
        <p:txBody>
          <a:bodyPr/>
          <a:lstStyle/>
          <a:p>
            <a:pPr eaLnBrk="1" hangingPunct="1"/>
            <a:r>
              <a:rPr lang="en-US" dirty="0">
                <a:ea typeface="ＭＳ Ｐゴシック" charset="0"/>
              </a:rPr>
              <a:t>Lewis Symbols </a:t>
            </a:r>
            <a:br>
              <a:rPr lang="en-US" dirty="0">
                <a:ea typeface="ＭＳ Ｐゴシック" charset="0"/>
              </a:rPr>
            </a:br>
            <a:r>
              <a:rPr lang="en-US" sz="4400" i="1" dirty="0">
                <a:ea typeface="ＭＳ Ｐゴシック" charset="0"/>
              </a:rPr>
              <a:t>Elements</a:t>
            </a:r>
            <a:endParaRPr lang="en-US" sz="4000" i="1" dirty="0">
              <a:ea typeface="ＭＳ Ｐゴシック" charset="0"/>
            </a:endParaRPr>
          </a:p>
        </p:txBody>
      </p:sp>
      <p:sp>
        <p:nvSpPr>
          <p:cNvPr id="24580" name="Vertical Text Placeholder 5"/>
          <p:cNvSpPr>
            <a:spLocks noGrp="1"/>
          </p:cNvSpPr>
          <p:nvPr>
            <p:ph type="body" orient="vert" idx="4294967295"/>
          </p:nvPr>
        </p:nvSpPr>
        <p:spPr>
          <a:xfrm>
            <a:off x="730955" y="2079978"/>
            <a:ext cx="7986889" cy="4419600"/>
          </a:xfrm>
        </p:spPr>
        <p:txBody>
          <a:bodyPr>
            <a:normAutofit/>
          </a:bodyPr>
          <a:lstStyle/>
          <a:p>
            <a:pPr eaLnBrk="1" hangingPunct="1">
              <a:defRPr/>
            </a:pPr>
            <a:r>
              <a:rPr lang="en-US" sz="2600" b="0" dirty="0">
                <a:ea typeface="ＭＳ Ｐゴシック" charset="0"/>
              </a:rPr>
              <a:t>Element symbol + 1 dot for each </a:t>
            </a:r>
            <a:r>
              <a:rPr lang="en-US" sz="2600" b="0" i="1" dirty="0">
                <a:solidFill>
                  <a:srgbClr val="4A0505"/>
                </a:solidFill>
                <a:ea typeface="ＭＳ Ｐゴシック" charset="0"/>
              </a:rPr>
              <a:t>valence</a:t>
            </a:r>
            <a:r>
              <a:rPr lang="en-US" sz="2600" b="0" dirty="0">
                <a:solidFill>
                  <a:srgbClr val="4A0505"/>
                </a:solidFill>
                <a:ea typeface="ＭＳ Ｐゴシック" charset="0"/>
              </a:rPr>
              <a:t> </a:t>
            </a:r>
            <a:r>
              <a:rPr lang="en-US" sz="2600" b="0" dirty="0">
                <a:ea typeface="ＭＳ Ｐゴシック" charset="0"/>
              </a:rPr>
              <a:t>electron</a:t>
            </a:r>
          </a:p>
          <a:p>
            <a:pPr lvl="1">
              <a:defRPr/>
            </a:pPr>
            <a:r>
              <a:rPr lang="en-US" sz="1800" dirty="0">
                <a:ea typeface="ＭＳ Ｐゴシック" charset="0"/>
              </a:rPr>
              <a:t>Pauli Exclusion Principle: Can put up to 2 dots on each side</a:t>
            </a:r>
            <a:endParaRPr lang="en-US" sz="1800" b="0" dirty="0">
              <a:ea typeface="ＭＳ Ｐゴシック" charset="0"/>
            </a:endParaRPr>
          </a:p>
          <a:p>
            <a:pPr lvl="1">
              <a:defRPr/>
            </a:pPr>
            <a:r>
              <a:rPr lang="en-US" sz="1800" dirty="0">
                <a:ea typeface="ＭＳ Ｐゴシック" charset="0"/>
              </a:rPr>
              <a:t>Hund’s Rule: Place dots individually on all 4 sides before pairing</a:t>
            </a:r>
            <a:endParaRPr lang="en-US" sz="1800" b="0" dirty="0">
              <a:ea typeface="ＭＳ Ｐゴシック" charset="0"/>
            </a:endParaRPr>
          </a:p>
          <a:p>
            <a:pPr lvl="1">
              <a:defRPr/>
            </a:pPr>
            <a:endParaRPr lang="en-US" sz="1800" b="0" dirty="0">
              <a:ea typeface="ＭＳ Ｐゴシック" charset="0"/>
            </a:endParaRPr>
          </a:p>
          <a:p>
            <a:pPr marL="0" indent="0" eaLnBrk="1" hangingPunct="1">
              <a:spcBef>
                <a:spcPts val="1800"/>
              </a:spcBef>
              <a:buFontTx/>
              <a:buNone/>
              <a:defRPr/>
            </a:pPr>
            <a:r>
              <a:rPr lang="en-US" sz="2600" dirty="0">
                <a:ea typeface="ＭＳ Ｐゴシック" charset="0"/>
              </a:rPr>
              <a:t>	</a:t>
            </a:r>
            <a:r>
              <a:rPr lang="en-US" sz="2600" b="0" dirty="0">
                <a:ea typeface="ＭＳ Ｐゴシック" charset="0"/>
              </a:rPr>
              <a:t>Na = [Ne]3s</a:t>
            </a:r>
            <a:r>
              <a:rPr lang="en-US" sz="2600" b="0" baseline="30000" dirty="0">
                <a:ea typeface="ＭＳ Ｐゴシック" charset="0"/>
              </a:rPr>
              <a:t>1</a:t>
            </a:r>
            <a:r>
              <a:rPr lang="en-US" sz="2600" b="0" dirty="0">
                <a:ea typeface="ＭＳ Ｐゴシック" charset="0"/>
              </a:rPr>
              <a:t> =</a:t>
            </a:r>
          </a:p>
          <a:p>
            <a:pPr marL="0" indent="0" eaLnBrk="1" hangingPunct="1">
              <a:buFontTx/>
              <a:buNone/>
              <a:defRPr/>
            </a:pPr>
            <a:endParaRPr lang="en-US" sz="2600" b="0" dirty="0">
              <a:ea typeface="ＭＳ Ｐゴシック" charset="0"/>
            </a:endParaRPr>
          </a:p>
          <a:p>
            <a:pPr marL="0" indent="0" eaLnBrk="1" hangingPunct="1">
              <a:buFontTx/>
              <a:buNone/>
              <a:defRPr/>
            </a:pPr>
            <a:r>
              <a:rPr lang="en-US" sz="2600" b="0" dirty="0">
                <a:ea typeface="ＭＳ Ｐゴシック" charset="0"/>
              </a:rPr>
              <a:t>	N = [He]2s</a:t>
            </a:r>
            <a:r>
              <a:rPr lang="en-US" sz="2600" b="0" baseline="30000" dirty="0">
                <a:ea typeface="ＭＳ Ｐゴシック" charset="0"/>
              </a:rPr>
              <a:t>2</a:t>
            </a:r>
            <a:r>
              <a:rPr lang="en-US" sz="2600" b="0" dirty="0">
                <a:ea typeface="ＭＳ Ｐゴシック" charset="0"/>
              </a:rPr>
              <a:t>2p</a:t>
            </a:r>
            <a:r>
              <a:rPr lang="en-US" sz="2600" b="0" baseline="30000" dirty="0">
                <a:ea typeface="ＭＳ Ｐゴシック" charset="0"/>
              </a:rPr>
              <a:t>3</a:t>
            </a:r>
            <a:r>
              <a:rPr lang="en-US" sz="2600" b="0" dirty="0">
                <a:ea typeface="ＭＳ Ｐゴシック" charset="0"/>
              </a:rPr>
              <a:t> = </a:t>
            </a:r>
          </a:p>
          <a:p>
            <a:pPr marL="0" indent="0" eaLnBrk="1" hangingPunct="1">
              <a:buFontTx/>
              <a:buNone/>
              <a:defRPr/>
            </a:pPr>
            <a:endParaRPr lang="en-US" sz="2600" b="0" dirty="0">
              <a:ea typeface="ＭＳ Ｐゴシック" charset="0"/>
            </a:endParaRPr>
          </a:p>
          <a:p>
            <a:pPr marL="0" indent="0" eaLnBrk="1" hangingPunct="1">
              <a:buFontTx/>
              <a:buNone/>
              <a:defRPr/>
            </a:pPr>
            <a:r>
              <a:rPr lang="en-US" sz="2600" b="0" dirty="0">
                <a:ea typeface="ＭＳ Ｐゴシック" charset="0"/>
              </a:rPr>
              <a:t>	F = [He]2s</a:t>
            </a:r>
            <a:r>
              <a:rPr lang="en-US" sz="2600" b="0" baseline="30000" dirty="0">
                <a:ea typeface="ＭＳ Ｐゴシック" charset="0"/>
              </a:rPr>
              <a:t>2</a:t>
            </a:r>
            <a:r>
              <a:rPr lang="en-US" sz="2600" b="0" dirty="0">
                <a:ea typeface="ＭＳ Ｐゴシック" charset="0"/>
              </a:rPr>
              <a:t>2p</a:t>
            </a:r>
            <a:r>
              <a:rPr lang="en-US" sz="2600" b="0" baseline="30000" dirty="0">
                <a:ea typeface="ＭＳ Ｐゴシック" charset="0"/>
              </a:rPr>
              <a:t>5</a:t>
            </a:r>
            <a:r>
              <a:rPr lang="en-US" sz="2600" b="0" dirty="0">
                <a:ea typeface="ＭＳ Ｐゴシック" charset="0"/>
              </a:rPr>
              <a:t> = </a:t>
            </a:r>
          </a:p>
          <a:p>
            <a:pPr eaLnBrk="1" hangingPunct="1">
              <a:buFontTx/>
              <a:buNone/>
              <a:defRPr/>
            </a:pPr>
            <a:endParaRPr lang="en-US" sz="2600" b="0" dirty="0">
              <a:ea typeface="ＭＳ Ｐゴシック" charset="0"/>
            </a:endParaRPr>
          </a:p>
        </p:txBody>
      </p:sp>
      <p:pic>
        <p:nvPicPr>
          <p:cNvPr id="13317"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98622" y="5349487"/>
            <a:ext cx="884237" cy="85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1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93822" y="3344334"/>
            <a:ext cx="609600" cy="669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19"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07341" y="4345341"/>
            <a:ext cx="792162" cy="762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63C103D7-7FC1-4B9F-A526-BC88A3C4AA47}" type="slidenum">
              <a:rPr lang="en-US" smtClean="0"/>
              <a:pPr/>
              <a:t>5</a:t>
            </a:fld>
            <a:endParaRPr lang="en-US" dirty="0"/>
          </a:p>
        </p:txBody>
      </p:sp>
      <p:sp>
        <p:nvSpPr>
          <p:cNvPr id="4" name="Rectangle 3"/>
          <p:cNvSpPr/>
          <p:nvPr/>
        </p:nvSpPr>
        <p:spPr>
          <a:xfrm>
            <a:off x="1646807" y="4522657"/>
            <a:ext cx="425116" cy="492443"/>
          </a:xfrm>
          <a:prstGeom prst="rect">
            <a:avLst/>
          </a:prstGeom>
        </p:spPr>
        <p:txBody>
          <a:bodyPr wrap="none">
            <a:spAutoFit/>
          </a:bodyPr>
          <a:lstStyle/>
          <a:p>
            <a:r>
              <a:rPr lang="en-US" sz="2600" dirty="0">
                <a:solidFill>
                  <a:prstClr val="black"/>
                </a:solidFill>
                <a:ea typeface="ＭＳ Ｐゴシック" charset="0"/>
              </a:rPr>
              <a:t>N</a:t>
            </a:r>
            <a:endParaRPr lang="en-US" dirty="0"/>
          </a:p>
        </p:txBody>
      </p:sp>
      <p:sp>
        <p:nvSpPr>
          <p:cNvPr id="6" name="Rectangle 5"/>
          <p:cNvSpPr/>
          <p:nvPr/>
        </p:nvSpPr>
        <p:spPr>
          <a:xfrm>
            <a:off x="1646807" y="3557880"/>
            <a:ext cx="611065" cy="492443"/>
          </a:xfrm>
          <a:prstGeom prst="rect">
            <a:avLst/>
          </a:prstGeom>
        </p:spPr>
        <p:txBody>
          <a:bodyPr wrap="none">
            <a:spAutoFit/>
          </a:bodyPr>
          <a:lstStyle/>
          <a:p>
            <a:r>
              <a:rPr lang="en-US" sz="2600" dirty="0">
                <a:solidFill>
                  <a:prstClr val="black"/>
                </a:solidFill>
                <a:ea typeface="ＭＳ Ｐゴシック" charset="0"/>
              </a:rPr>
              <a:t>Na</a:t>
            </a:r>
            <a:endParaRPr lang="en-US" dirty="0"/>
          </a:p>
        </p:txBody>
      </p:sp>
      <p:sp>
        <p:nvSpPr>
          <p:cNvPr id="8" name="Rectangle 7"/>
          <p:cNvSpPr/>
          <p:nvPr/>
        </p:nvSpPr>
        <p:spPr>
          <a:xfrm>
            <a:off x="1646807" y="5494532"/>
            <a:ext cx="388248" cy="492443"/>
          </a:xfrm>
          <a:prstGeom prst="rect">
            <a:avLst/>
          </a:prstGeom>
        </p:spPr>
        <p:txBody>
          <a:bodyPr wrap="none">
            <a:spAutoFit/>
          </a:bodyPr>
          <a:lstStyle/>
          <a:p>
            <a:r>
              <a:rPr lang="en-US" sz="2600" dirty="0">
                <a:solidFill>
                  <a:prstClr val="black"/>
                </a:solidFill>
                <a:ea typeface="ＭＳ Ｐゴシック" charset="0"/>
              </a:rPr>
              <a:t>F</a:t>
            </a:r>
            <a:endParaRPr lang="en-US" dirty="0"/>
          </a:p>
        </p:txBody>
      </p:sp>
      <p:sp>
        <p:nvSpPr>
          <p:cNvPr id="5" name="Rectangle 4"/>
          <p:cNvSpPr/>
          <p:nvPr/>
        </p:nvSpPr>
        <p:spPr>
          <a:xfrm>
            <a:off x="3174800" y="1310876"/>
            <a:ext cx="2208059" cy="461665"/>
          </a:xfrm>
          <a:prstGeom prst="rect">
            <a:avLst/>
          </a:prstGeom>
        </p:spPr>
        <p:txBody>
          <a:bodyPr wrap="square">
            <a:spAutoFit/>
          </a:bodyPr>
          <a:lstStyle/>
          <a:p>
            <a:r>
              <a:rPr lang="en-US" sz="2400" cap="all" dirty="0">
                <a:solidFill>
                  <a:schemeClr val="bg1">
                    <a:lumMod val="75000"/>
                  </a:schemeClr>
                </a:solidFill>
                <a:latin typeface="Comic Sans MS"/>
                <a:ea typeface="ＭＳ Ｐゴシック" charset="0"/>
                <a:cs typeface="+mj-cs"/>
              </a:rPr>
              <a:t>main group</a:t>
            </a:r>
            <a:endParaRPr lang="en-US" sz="1400" dirty="0">
              <a:solidFill>
                <a:schemeClr val="bg1">
                  <a:lumMod val="75000"/>
                </a:schemeClr>
              </a:solidFill>
            </a:endParaRPr>
          </a:p>
        </p:txBody>
      </p:sp>
    </p:spTree>
    <p:extLst>
      <p:ext uri="{BB962C8B-B14F-4D97-AF65-F5344CB8AC3E}">
        <p14:creationId xmlns:p14="http://schemas.microsoft.com/office/powerpoint/2010/main" val="27236127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4580">
                                            <p:txEl>
                                              <p:pRg st="4" end="4"/>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331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580">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580">
                                            <p:txEl>
                                              <p:pRg st="1" end="1"/>
                                            </p:txEl>
                                          </p:spTgt>
                                        </p:tgtEl>
                                        <p:attrNameLst>
                                          <p:attrName>style.visibility</p:attrName>
                                        </p:attrNameLst>
                                      </p:cBhvr>
                                      <p:to>
                                        <p:strVal val="visible"/>
                                      </p:to>
                                    </p:set>
                                    <p:animEffect transition="in" filter="fade">
                                      <p:cBhvr>
                                        <p:cTn id="29" dur="500"/>
                                        <p:tgtEl>
                                          <p:spTgt spid="24580">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4580">
                                            <p:txEl>
                                              <p:pRg st="2" end="2"/>
                                            </p:txEl>
                                          </p:spTgt>
                                        </p:tgtEl>
                                        <p:attrNameLst>
                                          <p:attrName>style.visibility</p:attrName>
                                        </p:attrNameLst>
                                      </p:cBhvr>
                                      <p:to>
                                        <p:strVal val="visible"/>
                                      </p:to>
                                    </p:set>
                                    <p:animEffect transition="in" filter="fade">
                                      <p:cBhvr>
                                        <p:cTn id="34" dur="500"/>
                                        <p:tgtEl>
                                          <p:spTgt spid="24580">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3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4580">
                                            <p:txEl>
                                              <p:pRg st="8" end="8"/>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33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uiExpand="1" build="p"/>
      <p:bldP spid="4" grpId="0"/>
      <p:bldP spid="6"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p:cNvSpPr>
            <a:spLocks noGrp="1"/>
          </p:cNvSpPr>
          <p:nvPr>
            <p:ph type="title"/>
          </p:nvPr>
        </p:nvSpPr>
        <p:spPr>
          <a:xfrm>
            <a:off x="815056" y="583073"/>
            <a:ext cx="7818685" cy="1254759"/>
          </a:xfrm>
        </p:spPr>
        <p:txBody>
          <a:bodyPr/>
          <a:lstStyle/>
          <a:p>
            <a:pPr eaLnBrk="1" hangingPunct="1"/>
            <a:r>
              <a:rPr lang="en-US" dirty="0">
                <a:ea typeface="ＭＳ Ｐゴシック" charset="0"/>
              </a:rPr>
              <a:t>Lewis Symbols </a:t>
            </a:r>
            <a:br>
              <a:rPr lang="en-US" dirty="0">
                <a:ea typeface="ＭＳ Ｐゴシック" charset="0"/>
              </a:rPr>
            </a:br>
            <a:r>
              <a:rPr lang="en-US" i="1" dirty="0">
                <a:ea typeface="ＭＳ Ｐゴシック" charset="0"/>
              </a:rPr>
              <a:t>ions</a:t>
            </a:r>
          </a:p>
        </p:txBody>
      </p:sp>
      <p:sp>
        <p:nvSpPr>
          <p:cNvPr id="24580" name="Vertical Text Placeholder 5"/>
          <p:cNvSpPr>
            <a:spLocks noGrp="1"/>
          </p:cNvSpPr>
          <p:nvPr>
            <p:ph type="body" orient="vert" idx="4294967295"/>
          </p:nvPr>
        </p:nvSpPr>
        <p:spPr>
          <a:xfrm>
            <a:off x="730955" y="2079978"/>
            <a:ext cx="7986889" cy="4163470"/>
          </a:xfrm>
        </p:spPr>
        <p:txBody>
          <a:bodyPr>
            <a:normAutofit lnSpcReduction="10000"/>
          </a:bodyPr>
          <a:lstStyle/>
          <a:p>
            <a:pPr>
              <a:defRPr/>
            </a:pPr>
            <a:r>
              <a:rPr lang="en-US" sz="2800" dirty="0">
                <a:ea typeface="ＭＳ Ｐゴシック" charset="0"/>
              </a:rPr>
              <a:t>Ions: add or remove electrons to achieve 8 valence e- in the ion</a:t>
            </a:r>
          </a:p>
          <a:p>
            <a:pPr>
              <a:defRPr/>
            </a:pPr>
            <a:r>
              <a:rPr lang="en-US" sz="2800" dirty="0">
                <a:ea typeface="ＭＳ Ｐゴシック" charset="0"/>
              </a:rPr>
              <a:t>Write the charge of the species</a:t>
            </a:r>
          </a:p>
          <a:p>
            <a:pPr marL="0" indent="0" eaLnBrk="1" hangingPunct="1">
              <a:spcBef>
                <a:spcPts val="2400"/>
              </a:spcBef>
              <a:buFontTx/>
              <a:buNone/>
              <a:defRPr/>
            </a:pPr>
            <a:endParaRPr lang="en-US" sz="2600" dirty="0">
              <a:ea typeface="ＭＳ Ｐゴシック" charset="0"/>
            </a:endParaRPr>
          </a:p>
          <a:p>
            <a:pPr marL="0" indent="0">
              <a:spcBef>
                <a:spcPts val="600"/>
              </a:spcBef>
              <a:buNone/>
              <a:defRPr/>
            </a:pPr>
            <a:r>
              <a:rPr lang="en-US" sz="2600" b="0" dirty="0">
                <a:ea typeface="ＭＳ Ｐゴシック" charset="0"/>
              </a:rPr>
              <a:t>	Na = [Ne]3s</a:t>
            </a:r>
            <a:r>
              <a:rPr lang="en-US" sz="2600" b="0" baseline="30000" dirty="0">
                <a:ea typeface="ＭＳ Ｐゴシック" charset="0"/>
              </a:rPr>
              <a:t>1</a:t>
            </a:r>
            <a:r>
              <a:rPr lang="en-US" sz="2600" b="0" dirty="0">
                <a:ea typeface="ＭＳ Ｐゴシック" charset="0"/>
              </a:rPr>
              <a:t>     </a:t>
            </a:r>
            <a:r>
              <a:rPr lang="en-US" sz="2600" dirty="0">
                <a:ea typeface="ＭＳ Ｐゴシック" charset="0"/>
                <a:sym typeface="Wingdings" panose="05000000000000000000" pitchFamily="2" charset="2"/>
              </a:rPr>
              <a:t></a:t>
            </a:r>
            <a:endParaRPr lang="en-US" sz="2400" dirty="0">
              <a:ea typeface="ＭＳ Ｐゴシック" charset="0"/>
            </a:endParaRPr>
          </a:p>
          <a:p>
            <a:pPr marL="0" indent="0" eaLnBrk="1" hangingPunct="1">
              <a:buFontTx/>
              <a:buNone/>
              <a:defRPr/>
            </a:pPr>
            <a:endParaRPr lang="en-US" sz="2600" b="0" dirty="0">
              <a:ea typeface="ＭＳ Ｐゴシック" charset="0"/>
            </a:endParaRPr>
          </a:p>
          <a:p>
            <a:pPr marL="0" indent="0">
              <a:buNone/>
              <a:defRPr/>
            </a:pPr>
            <a:r>
              <a:rPr lang="en-US" sz="2600" b="0" dirty="0">
                <a:ea typeface="ＭＳ Ｐゴシック" charset="0"/>
              </a:rPr>
              <a:t>	N = [He]2s</a:t>
            </a:r>
            <a:r>
              <a:rPr lang="en-US" sz="2600" b="0" baseline="30000" dirty="0">
                <a:ea typeface="ＭＳ Ｐゴシック" charset="0"/>
              </a:rPr>
              <a:t>2</a:t>
            </a:r>
            <a:r>
              <a:rPr lang="en-US" sz="2600" b="0" dirty="0">
                <a:ea typeface="ＭＳ Ｐゴシック" charset="0"/>
              </a:rPr>
              <a:t>2p</a:t>
            </a:r>
            <a:r>
              <a:rPr lang="en-US" sz="2600" b="0" baseline="30000" dirty="0">
                <a:ea typeface="ＭＳ Ｐゴシック" charset="0"/>
              </a:rPr>
              <a:t>3</a:t>
            </a:r>
            <a:r>
              <a:rPr lang="en-US" sz="2600" b="0" dirty="0">
                <a:ea typeface="ＭＳ Ｐゴシック" charset="0"/>
              </a:rPr>
              <a:t>  </a:t>
            </a:r>
            <a:r>
              <a:rPr lang="en-US" sz="2600" b="0" dirty="0">
                <a:ea typeface="ＭＳ Ｐゴシック" charset="0"/>
                <a:sym typeface="Wingdings" panose="05000000000000000000" pitchFamily="2" charset="2"/>
              </a:rPr>
              <a:t></a:t>
            </a:r>
            <a:endParaRPr lang="en-US" sz="2400" dirty="0">
              <a:ea typeface="ＭＳ Ｐゴシック" charset="0"/>
            </a:endParaRPr>
          </a:p>
          <a:p>
            <a:pPr marL="0" indent="0" eaLnBrk="1" hangingPunct="1">
              <a:buFontTx/>
              <a:buNone/>
              <a:defRPr/>
            </a:pPr>
            <a:endParaRPr lang="en-US" sz="2600" b="0" dirty="0">
              <a:ea typeface="ＭＳ Ｐゴシック" charset="0"/>
            </a:endParaRPr>
          </a:p>
          <a:p>
            <a:pPr marL="0" indent="0">
              <a:buNone/>
              <a:defRPr/>
            </a:pPr>
            <a:r>
              <a:rPr lang="en-US" sz="2600" b="0" dirty="0">
                <a:ea typeface="ＭＳ Ｐゴシック" charset="0"/>
              </a:rPr>
              <a:t>	F = [He]2s</a:t>
            </a:r>
            <a:r>
              <a:rPr lang="en-US" sz="2600" b="0" baseline="30000" dirty="0">
                <a:ea typeface="ＭＳ Ｐゴシック" charset="0"/>
              </a:rPr>
              <a:t>2</a:t>
            </a:r>
            <a:r>
              <a:rPr lang="en-US" sz="2600" b="0" dirty="0">
                <a:ea typeface="ＭＳ Ｐゴシック" charset="0"/>
              </a:rPr>
              <a:t>2p</a:t>
            </a:r>
            <a:r>
              <a:rPr lang="en-US" sz="2600" b="0" baseline="30000" dirty="0">
                <a:ea typeface="ＭＳ Ｐゴシック" charset="0"/>
              </a:rPr>
              <a:t>5</a:t>
            </a:r>
            <a:r>
              <a:rPr lang="en-US" sz="2600" b="0" dirty="0">
                <a:ea typeface="ＭＳ Ｐゴシック" charset="0"/>
              </a:rPr>
              <a:t>  </a:t>
            </a:r>
            <a:r>
              <a:rPr lang="en-US" sz="2600" b="0" dirty="0">
                <a:ea typeface="ＭＳ Ｐゴシック" charset="0"/>
                <a:sym typeface="Wingdings" panose="05000000000000000000" pitchFamily="2" charset="2"/>
              </a:rPr>
              <a:t></a:t>
            </a:r>
            <a:endParaRPr lang="en-US" sz="2600" b="0" dirty="0">
              <a:ea typeface="ＭＳ Ｐゴシック" charset="0"/>
            </a:endParaRPr>
          </a:p>
          <a:p>
            <a:pPr eaLnBrk="1" hangingPunct="1">
              <a:buFontTx/>
              <a:buNone/>
              <a:defRPr/>
            </a:pPr>
            <a:endParaRPr lang="en-US" sz="2600" b="0" dirty="0">
              <a:ea typeface="ＭＳ Ｐゴシック" charset="0"/>
            </a:endParaRPr>
          </a:p>
        </p:txBody>
      </p:sp>
      <p:pic>
        <p:nvPicPr>
          <p:cNvPr id="14" name="Picture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84248" y="3593915"/>
            <a:ext cx="819142" cy="7897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 name="Picture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99294" y="4411696"/>
            <a:ext cx="989051" cy="989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4" name="Group 3"/>
          <p:cNvGrpSpPr/>
          <p:nvPr/>
        </p:nvGrpSpPr>
        <p:grpSpPr>
          <a:xfrm>
            <a:off x="7017229" y="5561508"/>
            <a:ext cx="989051" cy="883046"/>
            <a:chOff x="4338304" y="5565628"/>
            <a:chExt cx="989051" cy="883046"/>
          </a:xfrm>
        </p:grpSpPr>
        <p:pic>
          <p:nvPicPr>
            <p:cNvPr id="17" name="Picture 8"/>
            <p:cNvPicPr>
              <a:picLocks noChangeAspect="1"/>
            </p:cNvPicPr>
            <p:nvPr/>
          </p:nvPicPr>
          <p:blipFill rotWithShape="1">
            <a:blip r:embed="rId4">
              <a:extLst>
                <a:ext uri="{28A0092B-C50C-407E-A947-70E740481C1C}">
                  <a14:useLocalDpi xmlns:a14="http://schemas.microsoft.com/office/drawing/2010/main" val="0"/>
                </a:ext>
              </a:extLst>
            </a:blip>
            <a:srcRect t="28959"/>
            <a:stretch/>
          </p:blipFill>
          <p:spPr bwMode="auto">
            <a:xfrm>
              <a:off x="4338304" y="5746044"/>
              <a:ext cx="989051" cy="7026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TextBox 2"/>
            <p:cNvSpPr txBox="1"/>
            <p:nvPr/>
          </p:nvSpPr>
          <p:spPr>
            <a:xfrm>
              <a:off x="4509909" y="5877688"/>
              <a:ext cx="365760" cy="365760"/>
            </a:xfrm>
            <a:prstGeom prst="rect">
              <a:avLst/>
            </a:prstGeom>
            <a:solidFill>
              <a:schemeClr val="bg1"/>
            </a:solidFill>
          </p:spPr>
          <p:txBody>
            <a:bodyPr wrap="square" rtlCol="0">
              <a:spAutoFit/>
            </a:bodyPr>
            <a:lstStyle/>
            <a:p>
              <a:r>
                <a:rPr lang="en-US" sz="2400" dirty="0"/>
                <a:t>F</a:t>
              </a:r>
            </a:p>
          </p:txBody>
        </p:sp>
        <p:pic>
          <p:nvPicPr>
            <p:cNvPr id="19" name="Picture 8"/>
            <p:cNvPicPr>
              <a:picLocks noChangeAspect="1"/>
            </p:cNvPicPr>
            <p:nvPr/>
          </p:nvPicPr>
          <p:blipFill rotWithShape="1">
            <a:blip r:embed="rId4">
              <a:extLst>
                <a:ext uri="{28A0092B-C50C-407E-A947-70E740481C1C}">
                  <a14:useLocalDpi xmlns:a14="http://schemas.microsoft.com/office/drawing/2010/main" val="0"/>
                </a:ext>
              </a:extLst>
            </a:blip>
            <a:srcRect l="76703" b="73811"/>
            <a:stretch/>
          </p:blipFill>
          <p:spPr bwMode="auto">
            <a:xfrm>
              <a:off x="4946279" y="5565628"/>
              <a:ext cx="230422" cy="259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2" name="Slide Number Placeholder 1"/>
          <p:cNvSpPr>
            <a:spLocks noGrp="1"/>
          </p:cNvSpPr>
          <p:nvPr>
            <p:ph type="sldNum" sz="quarter" idx="12"/>
          </p:nvPr>
        </p:nvSpPr>
        <p:spPr/>
        <p:txBody>
          <a:bodyPr/>
          <a:lstStyle/>
          <a:p>
            <a:fld id="{63C103D7-7FC1-4B9F-A526-BC88A3C4AA47}" type="slidenum">
              <a:rPr lang="en-US" smtClean="0"/>
              <a:pPr/>
              <a:t>6</a:t>
            </a:fld>
            <a:endParaRPr lang="en-US" dirty="0"/>
          </a:p>
        </p:txBody>
      </p:sp>
      <p:sp>
        <p:nvSpPr>
          <p:cNvPr id="6" name="Rectangle 5"/>
          <p:cNvSpPr/>
          <p:nvPr/>
        </p:nvSpPr>
        <p:spPr>
          <a:xfrm>
            <a:off x="4480655" y="3815494"/>
            <a:ext cx="1612942" cy="461665"/>
          </a:xfrm>
          <a:prstGeom prst="rect">
            <a:avLst/>
          </a:prstGeom>
        </p:spPr>
        <p:txBody>
          <a:bodyPr wrap="none">
            <a:spAutoFit/>
          </a:bodyPr>
          <a:lstStyle/>
          <a:p>
            <a:r>
              <a:rPr lang="en-US" sz="2400" dirty="0">
                <a:solidFill>
                  <a:prstClr val="black"/>
                </a:solidFill>
                <a:ea typeface="ＭＳ Ｐゴシック" charset="0"/>
              </a:rPr>
              <a:t>Na</a:t>
            </a:r>
            <a:r>
              <a:rPr lang="en-US" sz="2400" baseline="30000" dirty="0">
                <a:solidFill>
                  <a:prstClr val="black"/>
                </a:solidFill>
                <a:ea typeface="ＭＳ Ｐゴシック" charset="0"/>
              </a:rPr>
              <a:t>+</a:t>
            </a:r>
            <a:r>
              <a:rPr lang="en-US" sz="2400" dirty="0">
                <a:solidFill>
                  <a:prstClr val="black"/>
                </a:solidFill>
                <a:ea typeface="ＭＳ Ｐゴシック" charset="0"/>
              </a:rPr>
              <a:t> = [Ne]</a:t>
            </a:r>
            <a:endParaRPr lang="en-US" dirty="0"/>
          </a:p>
        </p:txBody>
      </p:sp>
      <p:sp>
        <p:nvSpPr>
          <p:cNvPr id="8" name="Rectangle 7"/>
          <p:cNvSpPr/>
          <p:nvPr/>
        </p:nvSpPr>
        <p:spPr>
          <a:xfrm>
            <a:off x="4480655" y="4754027"/>
            <a:ext cx="2400016" cy="461665"/>
          </a:xfrm>
          <a:prstGeom prst="rect">
            <a:avLst/>
          </a:prstGeom>
        </p:spPr>
        <p:txBody>
          <a:bodyPr wrap="none">
            <a:spAutoFit/>
          </a:bodyPr>
          <a:lstStyle/>
          <a:p>
            <a:r>
              <a:rPr lang="en-US" sz="2400" dirty="0">
                <a:solidFill>
                  <a:prstClr val="black"/>
                </a:solidFill>
                <a:ea typeface="ＭＳ Ｐゴシック" charset="0"/>
              </a:rPr>
              <a:t>N</a:t>
            </a:r>
            <a:r>
              <a:rPr lang="en-US" sz="2400" baseline="30000" dirty="0">
                <a:solidFill>
                  <a:prstClr val="black"/>
                </a:solidFill>
                <a:ea typeface="ＭＳ Ｐゴシック" charset="0"/>
              </a:rPr>
              <a:t>3-</a:t>
            </a:r>
            <a:r>
              <a:rPr lang="en-US" sz="2400" dirty="0">
                <a:solidFill>
                  <a:prstClr val="black"/>
                </a:solidFill>
                <a:ea typeface="ＭＳ Ｐゴシック" charset="0"/>
              </a:rPr>
              <a:t> = [He]2s</a:t>
            </a:r>
            <a:r>
              <a:rPr lang="en-US" sz="2400" baseline="30000" dirty="0">
                <a:solidFill>
                  <a:prstClr val="black"/>
                </a:solidFill>
                <a:ea typeface="ＭＳ Ｐゴシック" charset="0"/>
              </a:rPr>
              <a:t>2</a:t>
            </a:r>
            <a:r>
              <a:rPr lang="en-US" sz="2400" dirty="0">
                <a:solidFill>
                  <a:prstClr val="black"/>
                </a:solidFill>
                <a:ea typeface="ＭＳ Ｐゴシック" charset="0"/>
              </a:rPr>
              <a:t>2p</a:t>
            </a:r>
            <a:r>
              <a:rPr lang="en-US" sz="2400" baseline="30000" dirty="0">
                <a:solidFill>
                  <a:prstClr val="black"/>
                </a:solidFill>
                <a:ea typeface="ＭＳ Ｐゴシック" charset="0"/>
              </a:rPr>
              <a:t>6</a:t>
            </a:r>
            <a:endParaRPr lang="en-US" dirty="0"/>
          </a:p>
        </p:txBody>
      </p:sp>
      <p:sp>
        <p:nvSpPr>
          <p:cNvPr id="10" name="Rectangle 9"/>
          <p:cNvSpPr/>
          <p:nvPr/>
        </p:nvSpPr>
        <p:spPr>
          <a:xfrm>
            <a:off x="4480655" y="5692560"/>
            <a:ext cx="2518638" cy="492443"/>
          </a:xfrm>
          <a:prstGeom prst="rect">
            <a:avLst/>
          </a:prstGeom>
        </p:spPr>
        <p:txBody>
          <a:bodyPr wrap="none">
            <a:spAutoFit/>
          </a:bodyPr>
          <a:lstStyle/>
          <a:p>
            <a:r>
              <a:rPr lang="en-US" sz="2600" dirty="0">
                <a:solidFill>
                  <a:prstClr val="black"/>
                </a:solidFill>
                <a:ea typeface="ＭＳ Ｐゴシック" charset="0"/>
              </a:rPr>
              <a:t>F</a:t>
            </a:r>
            <a:r>
              <a:rPr lang="en-US" sz="2600" baseline="30000" dirty="0">
                <a:solidFill>
                  <a:prstClr val="black"/>
                </a:solidFill>
                <a:ea typeface="ＭＳ Ｐゴシック" charset="0"/>
              </a:rPr>
              <a:t>-</a:t>
            </a:r>
            <a:r>
              <a:rPr lang="en-US" sz="2600" dirty="0">
                <a:solidFill>
                  <a:prstClr val="black"/>
                </a:solidFill>
                <a:ea typeface="ＭＳ Ｐゴシック" charset="0"/>
              </a:rPr>
              <a:t> = [He]2s</a:t>
            </a:r>
            <a:r>
              <a:rPr lang="en-US" sz="2600" baseline="30000" dirty="0">
                <a:solidFill>
                  <a:prstClr val="black"/>
                </a:solidFill>
                <a:ea typeface="ＭＳ Ｐゴシック" charset="0"/>
              </a:rPr>
              <a:t>2</a:t>
            </a:r>
            <a:r>
              <a:rPr lang="en-US" sz="2600" dirty="0">
                <a:solidFill>
                  <a:prstClr val="black"/>
                </a:solidFill>
                <a:ea typeface="ＭＳ Ｐゴシック" charset="0"/>
              </a:rPr>
              <a:t>2p</a:t>
            </a:r>
            <a:r>
              <a:rPr lang="en-US" sz="2600" baseline="30000" dirty="0">
                <a:solidFill>
                  <a:prstClr val="black"/>
                </a:solidFill>
                <a:ea typeface="ＭＳ Ｐゴシック" charset="0"/>
              </a:rPr>
              <a:t>6</a:t>
            </a:r>
            <a:r>
              <a:rPr lang="en-US" sz="2600" dirty="0">
                <a:solidFill>
                  <a:prstClr val="black"/>
                </a:solidFill>
                <a:ea typeface="ＭＳ Ｐゴシック" charset="0"/>
                <a:sym typeface="Wingdings" panose="05000000000000000000" pitchFamily="2" charset="2"/>
              </a:rPr>
              <a:t> </a:t>
            </a:r>
            <a:endParaRPr lang="en-US" dirty="0"/>
          </a:p>
        </p:txBody>
      </p:sp>
      <p:sp>
        <p:nvSpPr>
          <p:cNvPr id="16" name="Rectangle 15"/>
          <p:cNvSpPr/>
          <p:nvPr/>
        </p:nvSpPr>
        <p:spPr>
          <a:xfrm>
            <a:off x="4480655" y="1266408"/>
            <a:ext cx="2208059" cy="461665"/>
          </a:xfrm>
          <a:prstGeom prst="rect">
            <a:avLst/>
          </a:prstGeom>
        </p:spPr>
        <p:txBody>
          <a:bodyPr wrap="square">
            <a:spAutoFit/>
          </a:bodyPr>
          <a:lstStyle/>
          <a:p>
            <a:r>
              <a:rPr lang="en-US" sz="2400" cap="all" dirty="0">
                <a:solidFill>
                  <a:schemeClr val="bg1">
                    <a:lumMod val="75000"/>
                  </a:schemeClr>
                </a:solidFill>
                <a:latin typeface="Comic Sans MS"/>
                <a:ea typeface="ＭＳ Ｐゴシック" charset="0"/>
                <a:cs typeface="+mj-cs"/>
              </a:rPr>
              <a:t>main group</a:t>
            </a:r>
            <a:endParaRPr lang="en-US" sz="1400" dirty="0">
              <a:solidFill>
                <a:schemeClr val="bg1">
                  <a:lumMod val="75000"/>
                </a:schemeClr>
              </a:solidFill>
            </a:endParaRPr>
          </a:p>
        </p:txBody>
      </p:sp>
    </p:spTree>
    <p:extLst>
      <p:ext uri="{BB962C8B-B14F-4D97-AF65-F5344CB8AC3E}">
        <p14:creationId xmlns:p14="http://schemas.microsoft.com/office/powerpoint/2010/main" val="39016737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580">
                                            <p:txEl>
                                              <p:pRg st="0" end="0"/>
                                            </p:txEl>
                                          </p:spTgt>
                                        </p:tgtEl>
                                        <p:attrNameLst>
                                          <p:attrName>style.visibility</p:attrName>
                                        </p:attrNameLst>
                                      </p:cBhvr>
                                      <p:to>
                                        <p:strVal val="visible"/>
                                      </p:to>
                                    </p:set>
                                    <p:animEffect transition="in" filter="fade">
                                      <p:cBhvr>
                                        <p:cTn id="7" dur="500"/>
                                        <p:tgtEl>
                                          <p:spTgt spid="245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580">
                                            <p:txEl>
                                              <p:pRg st="1" end="1"/>
                                            </p:txEl>
                                          </p:spTgt>
                                        </p:tgtEl>
                                        <p:attrNameLst>
                                          <p:attrName>style.visibility</p:attrName>
                                        </p:attrNameLst>
                                      </p:cBhvr>
                                      <p:to>
                                        <p:strVal val="visible"/>
                                      </p:to>
                                    </p:set>
                                    <p:animEffect transition="in" filter="fade">
                                      <p:cBhvr>
                                        <p:cTn id="22" dur="500"/>
                                        <p:tgtEl>
                                          <p:spTgt spid="2458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uiExpand="1" build="p"/>
      <p:bldP spid="6" grpId="0"/>
      <p:bldP spid="8"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8" name="Picture 4" descr="http://dujthep.files.wordpress.com/2011/01/methan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2955" y="4708911"/>
            <a:ext cx="1826292" cy="189295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2551814" y="550334"/>
            <a:ext cx="6122004" cy="1254759"/>
          </a:xfrm>
        </p:spPr>
        <p:txBody>
          <a:bodyPr/>
          <a:lstStyle/>
          <a:p>
            <a:r>
              <a:rPr lang="en-US" dirty="0">
                <a:ea typeface="ＭＳ Ｐゴシック" charset="0"/>
              </a:rPr>
              <a:t>Lewis Symbols </a:t>
            </a:r>
            <a:br>
              <a:rPr lang="en-US" dirty="0">
                <a:ea typeface="ＭＳ Ｐゴシック" charset="0"/>
              </a:rPr>
            </a:br>
            <a:r>
              <a:rPr lang="en-US" sz="4400" i="1" dirty="0">
                <a:ea typeface="ＭＳ Ｐゴシック" charset="0"/>
              </a:rPr>
              <a:t>compounds</a:t>
            </a:r>
            <a:endParaRPr lang="en-US" sz="7200" i="1" dirty="0"/>
          </a:p>
        </p:txBody>
      </p:sp>
      <p:sp>
        <p:nvSpPr>
          <p:cNvPr id="3" name="Content Placeholder 2"/>
          <p:cNvSpPr>
            <a:spLocks noGrp="1"/>
          </p:cNvSpPr>
          <p:nvPr>
            <p:ph idx="1"/>
          </p:nvPr>
        </p:nvSpPr>
        <p:spPr>
          <a:xfrm>
            <a:off x="338849" y="2877350"/>
            <a:ext cx="8666928" cy="3980650"/>
          </a:xfrm>
        </p:spPr>
        <p:txBody>
          <a:bodyPr>
            <a:normAutofit/>
          </a:bodyPr>
          <a:lstStyle/>
          <a:p>
            <a:r>
              <a:rPr lang="en-US" dirty="0"/>
              <a:t>Write the Lewis symbol for magnesium fluoride.</a:t>
            </a:r>
          </a:p>
          <a:p>
            <a:pPr marL="2834640"/>
            <a:r>
              <a:rPr lang="en-US" dirty="0">
                <a:solidFill>
                  <a:srgbClr val="FF0000"/>
                </a:solidFill>
              </a:rPr>
              <a:t>Ionic compounds </a:t>
            </a:r>
            <a:r>
              <a:rPr lang="en-US" dirty="0">
                <a:sym typeface="Wingdings" panose="05000000000000000000" pitchFamily="2" charset="2"/>
              </a:rPr>
              <a:t>atoms </a:t>
            </a:r>
            <a:r>
              <a:rPr lang="en-US" dirty="0">
                <a:solidFill>
                  <a:srgbClr val="FF0000"/>
                </a:solidFill>
                <a:sym typeface="Wingdings" panose="05000000000000000000" pitchFamily="2" charset="2"/>
              </a:rPr>
              <a:t>lose or gain e- </a:t>
            </a:r>
            <a:r>
              <a:rPr lang="en-US" dirty="0">
                <a:sym typeface="Wingdings" panose="05000000000000000000" pitchFamily="2" charset="2"/>
              </a:rPr>
              <a:t>until each has an octet </a:t>
            </a:r>
            <a:r>
              <a:rPr lang="en-US" sz="1600" i="1" dirty="0">
                <a:solidFill>
                  <a:schemeClr val="bg1">
                    <a:lumMod val="75000"/>
                  </a:schemeClr>
                </a:solidFill>
                <a:sym typeface="Wingdings" panose="05000000000000000000" pitchFamily="2" charset="2"/>
              </a:rPr>
              <a:t>(elements in the compound have a large difference in electronegativity, more than ~2.0)</a:t>
            </a:r>
            <a:endParaRPr lang="en-US" sz="2000" i="1" dirty="0">
              <a:solidFill>
                <a:schemeClr val="bg1">
                  <a:lumMod val="75000"/>
                </a:schemeClr>
              </a:solidFill>
            </a:endParaRPr>
          </a:p>
          <a:p>
            <a:r>
              <a:rPr lang="en-US" dirty="0"/>
              <a:t>Write the Lewis symbol for methane, CH</a:t>
            </a:r>
            <a:r>
              <a:rPr lang="en-US" baseline="-25000" dirty="0"/>
              <a:t>4</a:t>
            </a:r>
            <a:r>
              <a:rPr lang="en-US" dirty="0"/>
              <a:t>.</a:t>
            </a:r>
          </a:p>
          <a:p>
            <a:pPr marL="2834640"/>
            <a:r>
              <a:rPr lang="en-US" dirty="0">
                <a:solidFill>
                  <a:srgbClr val="3300FF"/>
                </a:solidFill>
              </a:rPr>
              <a:t>Covalent compounds </a:t>
            </a:r>
            <a:r>
              <a:rPr lang="en-US" dirty="0">
                <a:sym typeface="Wingdings" panose="05000000000000000000" pitchFamily="2" charset="2"/>
              </a:rPr>
              <a:t> atoms </a:t>
            </a:r>
            <a:r>
              <a:rPr lang="en-US" dirty="0">
                <a:solidFill>
                  <a:srgbClr val="3300FF"/>
                </a:solidFill>
                <a:sym typeface="Wingdings" panose="05000000000000000000" pitchFamily="2" charset="2"/>
              </a:rPr>
              <a:t>share </a:t>
            </a:r>
            <a:r>
              <a:rPr lang="en-US" u="sng" dirty="0">
                <a:solidFill>
                  <a:srgbClr val="3300FF"/>
                </a:solidFill>
                <a:sym typeface="Wingdings" panose="05000000000000000000" pitchFamily="2" charset="2"/>
              </a:rPr>
              <a:t>e- pairs</a:t>
            </a:r>
            <a:r>
              <a:rPr lang="en-US" dirty="0">
                <a:solidFill>
                  <a:srgbClr val="3300FF"/>
                </a:solidFill>
                <a:sym typeface="Wingdings" panose="05000000000000000000" pitchFamily="2" charset="2"/>
              </a:rPr>
              <a:t> </a:t>
            </a:r>
            <a:r>
              <a:rPr lang="en-US" dirty="0">
                <a:sym typeface="Wingdings" panose="05000000000000000000" pitchFamily="2" charset="2"/>
              </a:rPr>
              <a:t>in covalent bonds until each has an octet</a:t>
            </a:r>
            <a:r>
              <a:rPr lang="en-US" sz="1600" dirty="0">
                <a:solidFill>
                  <a:schemeClr val="bg1">
                    <a:lumMod val="65000"/>
                  </a:schemeClr>
                </a:solidFill>
                <a:sym typeface="Wingdings" panose="05000000000000000000" pitchFamily="2" charset="2"/>
              </a:rPr>
              <a:t> (except H, which only needs a duet, or 2 e-) </a:t>
            </a:r>
            <a:br>
              <a:rPr lang="en-US" sz="1600" dirty="0">
                <a:solidFill>
                  <a:schemeClr val="bg1">
                    <a:lumMod val="65000"/>
                  </a:schemeClr>
                </a:solidFill>
                <a:sym typeface="Wingdings" panose="05000000000000000000" pitchFamily="2" charset="2"/>
              </a:rPr>
            </a:br>
            <a:r>
              <a:rPr lang="en-US" sz="1600" i="1" dirty="0">
                <a:solidFill>
                  <a:schemeClr val="bg1">
                    <a:lumMod val="75000"/>
                  </a:schemeClr>
                </a:solidFill>
                <a:sym typeface="Wingdings" panose="05000000000000000000" pitchFamily="2" charset="2"/>
              </a:rPr>
              <a:t>(elements in the compound have a small difference in electronegativity; less than a difference of ~2.0)</a:t>
            </a:r>
            <a:endParaRPr lang="en-US" sz="1600" dirty="0">
              <a:solidFill>
                <a:schemeClr val="bg1">
                  <a:lumMod val="65000"/>
                </a:schemeClr>
              </a:solidFill>
              <a:sym typeface="Wingdings" panose="05000000000000000000" pitchFamily="2" charset="2"/>
            </a:endParaRPr>
          </a:p>
          <a:p>
            <a:pPr marL="2834640"/>
            <a:r>
              <a:rPr lang="en-US" dirty="0">
                <a:solidFill>
                  <a:prstClr val="black"/>
                </a:solidFill>
                <a:sym typeface="Wingdings" panose="05000000000000000000" pitchFamily="2" charset="2"/>
              </a:rPr>
              <a:t>Represent bonding pairs as a line ( – )</a:t>
            </a:r>
            <a:endParaRPr lang="en-US" dirty="0">
              <a:solidFill>
                <a:schemeClr val="bg1">
                  <a:lumMod val="65000"/>
                </a:schemeClr>
              </a:solidFill>
              <a:sym typeface="Wingdings" panose="05000000000000000000" pitchFamily="2" charset="2"/>
            </a:endParaRPr>
          </a:p>
          <a:p>
            <a:pPr marL="2834640"/>
            <a:endParaRPr lang="en-US" dirty="0">
              <a:solidFill>
                <a:schemeClr val="bg1">
                  <a:lumMod val="65000"/>
                </a:schemeClr>
              </a:solidFill>
              <a:sym typeface="Wingdings" panose="05000000000000000000" pitchFamily="2" charset="2"/>
            </a:endParaRPr>
          </a:p>
        </p:txBody>
      </p:sp>
      <p:sp>
        <p:nvSpPr>
          <p:cNvPr id="4" name="Slide Number Placeholder 3"/>
          <p:cNvSpPr>
            <a:spLocks noGrp="1"/>
          </p:cNvSpPr>
          <p:nvPr>
            <p:ph type="sldNum" sz="quarter" idx="12"/>
          </p:nvPr>
        </p:nvSpPr>
        <p:spPr/>
        <p:txBody>
          <a:bodyPr/>
          <a:lstStyle/>
          <a:p>
            <a:fld id="{63C103D7-7FC1-4B9F-A526-BC88A3C4AA47}" type="slidenum">
              <a:rPr lang="en-US" smtClean="0"/>
              <a:pPr/>
              <a:t>7</a:t>
            </a:fld>
            <a:endParaRPr lang="en-US" dirty="0"/>
          </a:p>
        </p:txBody>
      </p:sp>
      <p:pic>
        <p:nvPicPr>
          <p:cNvPr id="16386" name="Picture 2" descr="http://sci10-2012.wikispaces.com/file/view/MgFLewisStruc.jpg/428695196/MgFLewisStruc.jpg"/>
          <p:cNvPicPr>
            <a:picLocks noChangeAspect="1" noChangeArrowheads="1"/>
          </p:cNvPicPr>
          <p:nvPr/>
        </p:nvPicPr>
        <p:blipFill rotWithShape="1">
          <a:blip r:embed="rId4">
            <a:extLst>
              <a:ext uri="{28A0092B-C50C-407E-A947-70E740481C1C}">
                <a14:useLocalDpi xmlns:a14="http://schemas.microsoft.com/office/drawing/2010/main" val="0"/>
              </a:ext>
            </a:extLst>
          </a:blip>
          <a:srcRect l="47436" b="73871"/>
          <a:stretch/>
        </p:blipFill>
        <p:spPr bwMode="auto">
          <a:xfrm>
            <a:off x="338849" y="3287713"/>
            <a:ext cx="2698975" cy="8315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1" descr="http://www.shodor.org/unchem/basic/lewis/4hC.png"/>
          <p:cNvPicPr>
            <a:picLocks noChangeAspect="1" noChangeArrowheads="1"/>
          </p:cNvPicPr>
          <p:nvPr/>
        </p:nvPicPr>
        <p:blipFill rotWithShape="1">
          <a:blip r:embed="rId5">
            <a:extLst>
              <a:ext uri="{28A0092B-C50C-407E-A947-70E740481C1C}">
                <a14:useLocalDpi xmlns:a14="http://schemas.microsoft.com/office/drawing/2010/main" val="0"/>
              </a:ext>
            </a:extLst>
          </a:blip>
          <a:srcRect l="3173" t="991" r="2442" b="-1"/>
          <a:stretch/>
        </p:blipFill>
        <p:spPr bwMode="auto">
          <a:xfrm>
            <a:off x="755159" y="4822655"/>
            <a:ext cx="1631824" cy="162050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338849" y="1918836"/>
            <a:ext cx="8538505" cy="958513"/>
          </a:xfrm>
          <a:prstGeom prst="rect">
            <a:avLst/>
          </a:prstGeom>
        </p:spPr>
        <p:txBody>
          <a:bodyPr wrap="square">
            <a:normAutofit fontScale="62500" lnSpcReduction="20000"/>
          </a:bodyPr>
          <a:lstStyle/>
          <a:p>
            <a:pPr lvl="0">
              <a:lnSpc>
                <a:spcPct val="90000"/>
              </a:lnSpc>
              <a:spcBef>
                <a:spcPts val="1000"/>
              </a:spcBef>
              <a:defRPr/>
            </a:pPr>
            <a:r>
              <a:rPr lang="en-US" sz="4200" u="sng" dirty="0">
                <a:solidFill>
                  <a:srgbClr val="FE801A"/>
                </a:solidFill>
                <a:effectLst>
                  <a:outerShdw blurRad="38100" dist="38100" dir="2700000" algn="tl">
                    <a:srgbClr val="000000">
                      <a:alpha val="43137"/>
                    </a:srgbClr>
                  </a:outerShdw>
                </a:effectLst>
                <a:ea typeface="ＭＳ Ｐゴシック" charset="0"/>
              </a:rPr>
              <a:t>OCTET RULE</a:t>
            </a:r>
            <a:r>
              <a:rPr lang="en-US" sz="4200" dirty="0">
                <a:solidFill>
                  <a:prstClr val="black"/>
                </a:solidFill>
                <a:ea typeface="ＭＳ Ｐゴシック" charset="0"/>
              </a:rPr>
              <a:t>: atoms in main group compounds tend to </a:t>
            </a:r>
            <a:r>
              <a:rPr lang="en-US" sz="4200" dirty="0">
                <a:solidFill>
                  <a:srgbClr val="FF0000"/>
                </a:solidFill>
                <a:ea typeface="ＭＳ Ｐゴシック" charset="0"/>
              </a:rPr>
              <a:t>lose, gain, </a:t>
            </a:r>
            <a:r>
              <a:rPr lang="en-US" sz="4200" dirty="0">
                <a:solidFill>
                  <a:prstClr val="black"/>
                </a:solidFill>
                <a:ea typeface="ＭＳ Ｐゴシック" charset="0"/>
              </a:rPr>
              <a:t>or </a:t>
            </a:r>
            <a:r>
              <a:rPr lang="en-US" sz="4200" dirty="0">
                <a:solidFill>
                  <a:srgbClr val="3300FF"/>
                </a:solidFill>
                <a:ea typeface="ＭＳ Ｐゴシック" charset="0"/>
              </a:rPr>
              <a:t>share</a:t>
            </a:r>
            <a:r>
              <a:rPr lang="en-US" sz="4200" dirty="0">
                <a:solidFill>
                  <a:prstClr val="black"/>
                </a:solidFill>
                <a:ea typeface="ＭＳ Ｐゴシック" charset="0"/>
              </a:rPr>
              <a:t> e- until they are surrounded by </a:t>
            </a:r>
            <a:br>
              <a:rPr lang="en-US" sz="4200" dirty="0">
                <a:solidFill>
                  <a:prstClr val="black"/>
                </a:solidFill>
                <a:ea typeface="ＭＳ Ｐゴシック" charset="0"/>
              </a:rPr>
            </a:br>
            <a:r>
              <a:rPr lang="en-US" sz="4200" dirty="0">
                <a:solidFill>
                  <a:prstClr val="black"/>
                </a:solidFill>
                <a:ea typeface="ＭＳ Ｐゴシック" charset="0"/>
              </a:rPr>
              <a:t>8 valence e- </a:t>
            </a:r>
            <a:r>
              <a:rPr lang="en-US" sz="2300" dirty="0">
                <a:solidFill>
                  <a:prstClr val="white">
                    <a:lumMod val="65000"/>
                  </a:prstClr>
                </a:solidFill>
                <a:ea typeface="ＭＳ Ｐゴシック" charset="0"/>
              </a:rPr>
              <a:t>(Corresponds to full s + p subshells like a noble gas </a:t>
            </a:r>
            <a:r>
              <a:rPr lang="en-US" sz="2300" dirty="0">
                <a:solidFill>
                  <a:prstClr val="white">
                    <a:lumMod val="65000"/>
                  </a:prstClr>
                </a:solidFill>
                <a:ea typeface="ＭＳ Ｐゴシック" charset="0"/>
                <a:sym typeface="Wingdings" panose="05000000000000000000" pitchFamily="2" charset="2"/>
              </a:rPr>
              <a:t> 2s + 6p = 8 valence e-)</a:t>
            </a:r>
          </a:p>
        </p:txBody>
      </p:sp>
      <p:pic>
        <p:nvPicPr>
          <p:cNvPr id="9" name="Picture 11" descr="http://www.shodor.org/unchem/basic/lewis/4hC.png"/>
          <p:cNvPicPr>
            <a:picLocks noChangeAspect="1" noChangeArrowheads="1"/>
          </p:cNvPicPr>
          <p:nvPr/>
        </p:nvPicPr>
        <p:blipFill rotWithShape="1">
          <a:blip r:embed="rId5">
            <a:extLst>
              <a:ext uri="{28A0092B-C50C-407E-A947-70E740481C1C}">
                <a14:useLocalDpi xmlns:a14="http://schemas.microsoft.com/office/drawing/2010/main" val="0"/>
              </a:ext>
            </a:extLst>
          </a:blip>
          <a:srcRect l="31677" t="33447" r="36243" b="30834"/>
          <a:stretch/>
        </p:blipFill>
        <p:spPr bwMode="auto">
          <a:xfrm>
            <a:off x="1267831" y="5340597"/>
            <a:ext cx="554636" cy="58461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696335" y="1248827"/>
            <a:ext cx="2208059" cy="461665"/>
          </a:xfrm>
          <a:prstGeom prst="rect">
            <a:avLst/>
          </a:prstGeom>
        </p:spPr>
        <p:txBody>
          <a:bodyPr wrap="square">
            <a:spAutoFit/>
          </a:bodyPr>
          <a:lstStyle/>
          <a:p>
            <a:r>
              <a:rPr lang="en-US" sz="2400" cap="all" dirty="0">
                <a:solidFill>
                  <a:schemeClr val="bg1">
                    <a:lumMod val="75000"/>
                  </a:schemeClr>
                </a:solidFill>
                <a:latin typeface="Comic Sans MS"/>
                <a:ea typeface="ＭＳ Ｐゴシック" charset="0"/>
                <a:cs typeface="+mj-cs"/>
              </a:rPr>
              <a:t>main group</a:t>
            </a:r>
            <a:endParaRPr lang="en-US" sz="1400" dirty="0">
              <a:solidFill>
                <a:schemeClr val="bg1">
                  <a:lumMod val="75000"/>
                </a:schemeClr>
              </a:solidFill>
            </a:endParaRPr>
          </a:p>
        </p:txBody>
      </p:sp>
    </p:spTree>
    <p:extLst>
      <p:ext uri="{BB962C8B-B14F-4D97-AF65-F5344CB8AC3E}">
        <p14:creationId xmlns:p14="http://schemas.microsoft.com/office/powerpoint/2010/main" val="3338937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386"/>
                                        </p:tgtEl>
                                        <p:attrNameLst>
                                          <p:attrName>style.visibility</p:attrName>
                                        </p:attrNameLst>
                                      </p:cBhvr>
                                      <p:to>
                                        <p:strVal val="visible"/>
                                      </p:to>
                                    </p:set>
                                    <p:animEffect transition="in" filter="fade">
                                      <p:cBhvr>
                                        <p:cTn id="27" dur="500"/>
                                        <p:tgtEl>
                                          <p:spTgt spid="1638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9"/>
                                        </p:tgtEl>
                                      </p:cBhvr>
                                    </p:animEffect>
                                    <p:set>
                                      <p:cBhvr>
                                        <p:cTn id="42" dur="1" fill="hold">
                                          <p:stCondLst>
                                            <p:cond delay="499"/>
                                          </p:stCondLst>
                                        </p:cTn>
                                        <p:tgtEl>
                                          <p:spTgt spid="9"/>
                                        </p:tgtEl>
                                        <p:attrNameLst>
                                          <p:attrName>style.visibility</p:attrName>
                                        </p:attrNameLst>
                                      </p:cBhvr>
                                      <p:to>
                                        <p:strVal val="hidden"/>
                                      </p:to>
                                    </p:set>
                                  </p:childTnLst>
                                </p:cTn>
                              </p:par>
                              <p:par>
                                <p:cTn id="43" presetID="10" presetClass="entr" presetSubtype="0" fill="hold"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5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500"/>
                                        <p:tgtEl>
                                          <p:spTgt spid="6"/>
                                        </p:tgtEl>
                                      </p:cBhvr>
                                    </p:animEffect>
                                    <p:set>
                                      <p:cBhvr>
                                        <p:cTn id="50" dur="1" fill="hold">
                                          <p:stCondLst>
                                            <p:cond delay="499"/>
                                          </p:stCondLst>
                                        </p:cTn>
                                        <p:tgtEl>
                                          <p:spTgt spid="6"/>
                                        </p:tgtEl>
                                        <p:attrNameLst>
                                          <p:attrName>style.visibility</p:attrName>
                                        </p:attrNameLst>
                                      </p:cBhvr>
                                      <p:to>
                                        <p:strVal val="hidden"/>
                                      </p:to>
                                    </p:set>
                                  </p:childTnLst>
                                </p:cTn>
                              </p:par>
                              <p:par>
                                <p:cTn id="51" presetID="10" presetClass="entr" presetSubtype="0" fill="hold" nodeType="withEffect">
                                  <p:stCondLst>
                                    <p:cond delay="0"/>
                                  </p:stCondLst>
                                  <p:childTnLst>
                                    <p:set>
                                      <p:cBhvr>
                                        <p:cTn id="52" dur="1" fill="hold">
                                          <p:stCondLst>
                                            <p:cond delay="0"/>
                                          </p:stCondLst>
                                        </p:cTn>
                                        <p:tgtEl>
                                          <p:spTgt spid="16388"/>
                                        </p:tgtEl>
                                        <p:attrNameLst>
                                          <p:attrName>style.visibility</p:attrName>
                                        </p:attrNameLst>
                                      </p:cBhvr>
                                      <p:to>
                                        <p:strVal val="visible"/>
                                      </p:to>
                                    </p:set>
                                    <p:animEffect transition="in" filter="fade">
                                      <p:cBhvr>
                                        <p:cTn id="53" dur="500"/>
                                        <p:tgtEl>
                                          <p:spTgt spid="16388"/>
                                        </p:tgtEl>
                                      </p:cBhvr>
                                    </p:animEffect>
                                  </p:childTnLst>
                                </p:cTn>
                              </p:par>
                            </p:childTnLst>
                          </p:cTn>
                        </p:par>
                        <p:par>
                          <p:cTn id="54" fill="hold">
                            <p:stCondLst>
                              <p:cond delay="500"/>
                            </p:stCondLst>
                            <p:childTnLst>
                              <p:par>
                                <p:cTn id="55" presetID="10" presetClass="entr" presetSubtype="0" fill="hold" nodeType="after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animEffect transition="in" filter="fade">
                                      <p:cBhvr>
                                        <p:cTn id="5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p:cNvSpPr>
            <a:spLocks noGrp="1"/>
          </p:cNvSpPr>
          <p:nvPr>
            <p:ph type="title"/>
          </p:nvPr>
        </p:nvSpPr>
        <p:spPr>
          <a:xfrm>
            <a:off x="899160" y="577492"/>
            <a:ext cx="7818685" cy="1254759"/>
          </a:xfrm>
        </p:spPr>
        <p:txBody>
          <a:bodyPr/>
          <a:lstStyle/>
          <a:p>
            <a:pPr eaLnBrk="1" hangingPunct="1"/>
            <a:r>
              <a:rPr lang="en-US" dirty="0">
                <a:ea typeface="ＭＳ Ｐゴシック" charset="0"/>
              </a:rPr>
              <a:t>Lewis Symbols: </a:t>
            </a:r>
            <a:br>
              <a:rPr lang="en-US" dirty="0">
                <a:ea typeface="ＭＳ Ｐゴシック" charset="0"/>
              </a:rPr>
            </a:br>
            <a:r>
              <a:rPr lang="en-US" sz="3200" dirty="0">
                <a:ea typeface="ＭＳ Ｐゴシック" charset="0"/>
              </a:rPr>
              <a:t>Bonding Pairs vs. lone pairs</a:t>
            </a:r>
            <a:endParaRPr lang="en-US" u="sng" dirty="0">
              <a:ea typeface="ＭＳ Ｐゴシック" charset="0"/>
            </a:endParaRPr>
          </a:p>
        </p:txBody>
      </p:sp>
      <p:sp>
        <p:nvSpPr>
          <p:cNvPr id="24580" name="Vertical Text Placeholder 5"/>
          <p:cNvSpPr>
            <a:spLocks noGrp="1"/>
          </p:cNvSpPr>
          <p:nvPr>
            <p:ph type="body" orient="vert" idx="4294967295"/>
          </p:nvPr>
        </p:nvSpPr>
        <p:spPr>
          <a:xfrm>
            <a:off x="207818" y="2092037"/>
            <a:ext cx="8936182" cy="3883462"/>
          </a:xfrm>
        </p:spPr>
        <p:txBody>
          <a:bodyPr>
            <a:normAutofit fontScale="70000" lnSpcReduction="20000"/>
          </a:bodyPr>
          <a:lstStyle/>
          <a:p>
            <a:pPr>
              <a:spcBef>
                <a:spcPts val="600"/>
              </a:spcBef>
            </a:pPr>
            <a:r>
              <a:rPr lang="en-US" sz="3400" dirty="0">
                <a:solidFill>
                  <a:srgbClr val="0000FF"/>
                </a:solidFill>
                <a:latin typeface="Arial" charset="0"/>
                <a:cs typeface="Arial" charset="0"/>
              </a:rPr>
              <a:t>Single Bond:</a:t>
            </a:r>
          </a:p>
          <a:p>
            <a:pPr marL="685800" lvl="2">
              <a:spcBef>
                <a:spcPts val="600"/>
              </a:spcBef>
            </a:pPr>
            <a:r>
              <a:rPr lang="en-US" sz="2900" u="sng" dirty="0"/>
              <a:t>One</a:t>
            </a:r>
            <a:r>
              <a:rPr lang="en-US" sz="2900" dirty="0"/>
              <a:t> </a:t>
            </a:r>
            <a:r>
              <a:rPr lang="en-US" sz="2900" u="sng" dirty="0"/>
              <a:t>pair</a:t>
            </a:r>
            <a:r>
              <a:rPr lang="en-US" sz="2900" dirty="0"/>
              <a:t> of e- shared by two atoms</a:t>
            </a:r>
          </a:p>
          <a:p>
            <a:pPr marL="685800" lvl="2">
              <a:spcBef>
                <a:spcPts val="600"/>
              </a:spcBef>
            </a:pPr>
            <a:r>
              <a:rPr lang="en-US" sz="2900" dirty="0"/>
              <a:t>Represented as a single line (–)</a:t>
            </a:r>
          </a:p>
          <a:p>
            <a:pPr marL="685800" lvl="2">
              <a:spcBef>
                <a:spcPts val="600"/>
              </a:spcBef>
            </a:pPr>
            <a:r>
              <a:rPr lang="en-US" sz="2900" dirty="0"/>
              <a:t>Example: </a:t>
            </a:r>
            <a:r>
              <a:rPr lang="en-US" sz="2900" dirty="0" err="1"/>
              <a:t>HCl</a:t>
            </a:r>
            <a:endParaRPr lang="en-US" sz="2900" dirty="0"/>
          </a:p>
          <a:p>
            <a:pPr>
              <a:spcBef>
                <a:spcPts val="1200"/>
              </a:spcBef>
            </a:pPr>
            <a:r>
              <a:rPr lang="en-US" sz="3400" dirty="0">
                <a:solidFill>
                  <a:srgbClr val="0000FF"/>
                </a:solidFill>
                <a:latin typeface="Arial" charset="0"/>
                <a:cs typeface="Arial" charset="0"/>
              </a:rPr>
              <a:t>Double Bond:</a:t>
            </a:r>
          </a:p>
          <a:p>
            <a:pPr lvl="1"/>
            <a:r>
              <a:rPr lang="en-US" sz="2800" u="sng" dirty="0"/>
              <a:t>Two</a:t>
            </a:r>
            <a:r>
              <a:rPr lang="en-US" sz="2800" dirty="0"/>
              <a:t> </a:t>
            </a:r>
            <a:r>
              <a:rPr lang="en-US" sz="2800" u="sng" dirty="0"/>
              <a:t>pairs</a:t>
            </a:r>
            <a:r>
              <a:rPr lang="en-US" sz="2800" dirty="0"/>
              <a:t> of e- shared by two atoms</a:t>
            </a:r>
          </a:p>
          <a:p>
            <a:pPr lvl="1"/>
            <a:r>
              <a:rPr lang="en-US" sz="2800" dirty="0"/>
              <a:t>Represented as a double line ( = )</a:t>
            </a:r>
          </a:p>
          <a:p>
            <a:pPr lvl="1"/>
            <a:r>
              <a:rPr lang="en-US" sz="2800" dirty="0"/>
              <a:t>Example:  O</a:t>
            </a:r>
            <a:r>
              <a:rPr lang="en-US" sz="2800" baseline="-25000" dirty="0"/>
              <a:t>2</a:t>
            </a:r>
            <a:r>
              <a:rPr lang="en-US" sz="2800" dirty="0"/>
              <a:t>  →  	</a:t>
            </a:r>
          </a:p>
          <a:p>
            <a:pPr>
              <a:spcBef>
                <a:spcPts val="1200"/>
              </a:spcBef>
            </a:pPr>
            <a:r>
              <a:rPr lang="en-US" sz="3400" dirty="0">
                <a:solidFill>
                  <a:srgbClr val="0000FF"/>
                </a:solidFill>
                <a:latin typeface="Arial" charset="0"/>
                <a:cs typeface="Arial" charset="0"/>
              </a:rPr>
              <a:t>Triple Bond:</a:t>
            </a:r>
          </a:p>
          <a:p>
            <a:pPr lvl="1"/>
            <a:r>
              <a:rPr lang="en-US" sz="2800" u="sng" dirty="0"/>
              <a:t>Three</a:t>
            </a:r>
            <a:r>
              <a:rPr lang="en-US" sz="2800" dirty="0"/>
              <a:t> </a:t>
            </a:r>
            <a:r>
              <a:rPr lang="en-US" sz="2800" u="sng" dirty="0"/>
              <a:t>pairs</a:t>
            </a:r>
            <a:r>
              <a:rPr lang="en-US" sz="2800" dirty="0"/>
              <a:t> of e- shared by two atoms</a:t>
            </a:r>
          </a:p>
          <a:p>
            <a:pPr lvl="1"/>
            <a:r>
              <a:rPr lang="en-US" sz="2800" dirty="0"/>
              <a:t>Represented as triple line ( </a:t>
            </a:r>
            <a:r>
              <a:rPr lang="en-US" sz="2800" dirty="0">
                <a:sym typeface="Symbol" pitchFamily="18" charset="2"/>
              </a:rPr>
              <a:t> )</a:t>
            </a:r>
          </a:p>
          <a:p>
            <a:pPr lvl="1"/>
            <a:r>
              <a:rPr lang="en-US" sz="2800" dirty="0">
                <a:sym typeface="Symbol" pitchFamily="18" charset="2"/>
              </a:rPr>
              <a:t>Example:  N</a:t>
            </a:r>
            <a:r>
              <a:rPr lang="en-US" sz="2800" baseline="-25000" dirty="0">
                <a:sym typeface="Symbol" pitchFamily="18" charset="2"/>
              </a:rPr>
              <a:t>2</a:t>
            </a:r>
            <a:r>
              <a:rPr lang="en-US" sz="2800" dirty="0">
                <a:sym typeface="Symbol" pitchFamily="18" charset="2"/>
              </a:rPr>
              <a:t>  →</a:t>
            </a:r>
          </a:p>
          <a:p>
            <a:pPr lvl="1"/>
            <a:endParaRPr lang="en-US" sz="2800" dirty="0">
              <a:sym typeface="Symbol" pitchFamily="18" charset="2"/>
            </a:endParaRPr>
          </a:p>
        </p:txBody>
      </p:sp>
      <p:sp>
        <p:nvSpPr>
          <p:cNvPr id="2" name="Slide Number Placeholder 1"/>
          <p:cNvSpPr>
            <a:spLocks noGrp="1"/>
          </p:cNvSpPr>
          <p:nvPr>
            <p:ph type="sldNum" sz="quarter" idx="12"/>
          </p:nvPr>
        </p:nvSpPr>
        <p:spPr/>
        <p:txBody>
          <a:bodyPr/>
          <a:lstStyle/>
          <a:p>
            <a:fld id="{63C103D7-7FC1-4B9F-A526-BC88A3C4AA47}" type="slidenum">
              <a:rPr lang="en-US" smtClean="0"/>
              <a:pPr/>
              <a:t>8</a:t>
            </a:fld>
            <a:endParaRPr lang="en-US" dirty="0"/>
          </a:p>
        </p:txBody>
      </p:sp>
      <p:graphicFrame>
        <p:nvGraphicFramePr>
          <p:cNvPr id="11" name="Object 20"/>
          <p:cNvGraphicFramePr>
            <a:graphicFrameLocks noChangeAspect="1"/>
          </p:cNvGraphicFramePr>
          <p:nvPr/>
        </p:nvGraphicFramePr>
        <p:xfrm>
          <a:off x="5419267" y="3380576"/>
          <a:ext cx="2654265" cy="894597"/>
        </p:xfrm>
        <a:graphic>
          <a:graphicData uri="http://schemas.openxmlformats.org/presentationml/2006/ole">
            <mc:AlternateContent xmlns:mc="http://schemas.openxmlformats.org/markup-compatibility/2006">
              <mc:Choice xmlns:v="urn:schemas-microsoft-com:vml" Requires="v">
                <p:oleObj name="Equation" r:id="rId3" imgW="1091878" imgH="368185" progId="">
                  <p:embed/>
                </p:oleObj>
              </mc:Choice>
              <mc:Fallback>
                <p:oleObj name="Equation" r:id="rId3" imgW="1091878" imgH="368185" progId="">
                  <p:embed/>
                  <p:pic>
                    <p:nvPicPr>
                      <p:cNvPr id="11"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9267" y="3380576"/>
                        <a:ext cx="2654265" cy="894597"/>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2" name="Object 21"/>
          <p:cNvGraphicFramePr>
            <a:graphicFrameLocks noChangeAspect="1"/>
          </p:cNvGraphicFramePr>
          <p:nvPr/>
        </p:nvGraphicFramePr>
        <p:xfrm>
          <a:off x="5439000" y="4838537"/>
          <a:ext cx="3071140" cy="520532"/>
        </p:xfrm>
        <a:graphic>
          <a:graphicData uri="http://schemas.openxmlformats.org/presentationml/2006/ole">
            <mc:AlternateContent xmlns:mc="http://schemas.openxmlformats.org/markup-compatibility/2006">
              <mc:Choice xmlns:v="urn:schemas-microsoft-com:vml" Requires="v">
                <p:oleObj name="Equation" r:id="rId5" imgW="1358647" imgH="203384" progId="Equation.3">
                  <p:embed/>
                </p:oleObj>
              </mc:Choice>
              <mc:Fallback>
                <p:oleObj name="Equation" r:id="rId5" imgW="1358647" imgH="203384" progId="Equation.3">
                  <p:embed/>
                  <p:pic>
                    <p:nvPicPr>
                      <p:cNvPr id="12"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9000" y="4838537"/>
                        <a:ext cx="3071140" cy="520532"/>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7" dir="2700000" algn="ctr" rotWithShape="0">
                                <a:srgbClr val="000000">
                                  <a:alpha val="74997"/>
                                </a:srgbClr>
                              </a:outerShdw>
                            </a:effectLst>
                          </a14:hiddenEffects>
                        </a:ext>
                      </a:extLst>
                    </p:spPr>
                  </p:pic>
                </p:oleObj>
              </mc:Fallback>
            </mc:AlternateContent>
          </a:graphicData>
        </a:graphic>
      </p:graphicFrame>
      <p:grpSp>
        <p:nvGrpSpPr>
          <p:cNvPr id="6" name="Group 5"/>
          <p:cNvGrpSpPr/>
          <p:nvPr/>
        </p:nvGrpSpPr>
        <p:grpSpPr>
          <a:xfrm>
            <a:off x="5439000" y="2195055"/>
            <a:ext cx="2548421" cy="676276"/>
            <a:chOff x="6085320" y="3035443"/>
            <a:chExt cx="2548421" cy="676276"/>
          </a:xfrm>
        </p:grpSpPr>
        <p:pic>
          <p:nvPicPr>
            <p:cNvPr id="10244" name="Picture 4" descr="http://users.humboldt.edu/rpaselk/ChemSupp/LewisStructures/HCl.gif"/>
            <p:cNvPicPr>
              <a:picLocks noChangeAspect="1" noChangeArrowheads="1"/>
            </p:cNvPicPr>
            <p:nvPr/>
          </p:nvPicPr>
          <p:blipFill rotWithShape="1">
            <a:blip r:embed="rId7">
              <a:extLst>
                <a:ext uri="{28A0092B-C50C-407E-A947-70E740481C1C}">
                  <a14:useLocalDpi xmlns:a14="http://schemas.microsoft.com/office/drawing/2010/main" val="0"/>
                </a:ext>
              </a:extLst>
            </a:blip>
            <a:srcRect t="21225" b="24372"/>
            <a:stretch/>
          </p:blipFill>
          <p:spPr bwMode="auto">
            <a:xfrm>
              <a:off x="6085320" y="3089563"/>
              <a:ext cx="911225" cy="568037"/>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http://o.quizlet.com/TH5DDurdbXXg2JntupbF1Q_m.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81216" y="3035443"/>
              <a:ext cx="1152525" cy="67627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rotWithShape="1">
            <a:blip r:embed="rId9"/>
            <a:srcRect l="42238" t="36295" r="42723" b="26193"/>
            <a:stretch/>
          </p:blipFill>
          <p:spPr>
            <a:xfrm>
              <a:off x="6996545" y="3193472"/>
              <a:ext cx="429491" cy="360218"/>
            </a:xfrm>
            <a:prstGeom prst="rect">
              <a:avLst/>
            </a:prstGeom>
          </p:spPr>
        </p:pic>
      </p:grpSp>
      <p:sp>
        <p:nvSpPr>
          <p:cNvPr id="3" name="Rectangle 2"/>
          <p:cNvSpPr/>
          <p:nvPr/>
        </p:nvSpPr>
        <p:spPr>
          <a:xfrm>
            <a:off x="292434" y="5856165"/>
            <a:ext cx="8319937" cy="707886"/>
          </a:xfrm>
          <a:prstGeom prst="rect">
            <a:avLst/>
          </a:prstGeom>
        </p:spPr>
        <p:txBody>
          <a:bodyPr wrap="square">
            <a:spAutoFit/>
          </a:bodyPr>
          <a:lstStyle/>
          <a:p>
            <a:pPr lvl="0" indent="0">
              <a:buNone/>
              <a:defRPr/>
            </a:pPr>
            <a:r>
              <a:rPr lang="en-US" sz="2000" u="sng" dirty="0">
                <a:solidFill>
                  <a:srgbClr val="FE801A"/>
                </a:solidFill>
                <a:effectLst>
                  <a:outerShdw blurRad="38100" dist="38100" dir="2700000" algn="tl">
                    <a:srgbClr val="000000">
                      <a:alpha val="43137"/>
                    </a:srgbClr>
                  </a:outerShdw>
                </a:effectLst>
                <a:ea typeface="ＭＳ Ｐゴシック" charset="0"/>
              </a:rPr>
              <a:t>BONDING PAIRS</a:t>
            </a:r>
            <a:r>
              <a:rPr lang="en-US" sz="2000" dirty="0">
                <a:solidFill>
                  <a:prstClr val="black"/>
                </a:solidFill>
                <a:ea typeface="ＭＳ Ｐゴシック" charset="0"/>
              </a:rPr>
              <a:t>: pairs of e- shared in a bond</a:t>
            </a:r>
          </a:p>
          <a:p>
            <a:pPr lvl="0" indent="0">
              <a:buNone/>
              <a:defRPr/>
            </a:pPr>
            <a:r>
              <a:rPr lang="en-US" sz="2000" u="sng" dirty="0">
                <a:solidFill>
                  <a:srgbClr val="FE801A"/>
                </a:solidFill>
                <a:effectLst>
                  <a:outerShdw blurRad="38100" dist="38100" dir="2700000" algn="tl">
                    <a:srgbClr val="000000">
                      <a:alpha val="43137"/>
                    </a:srgbClr>
                  </a:outerShdw>
                </a:effectLst>
                <a:ea typeface="ＭＳ Ｐゴシック" charset="0"/>
              </a:rPr>
              <a:t>LONE PAIRS</a:t>
            </a:r>
            <a:r>
              <a:rPr lang="en-US" sz="2000" dirty="0">
                <a:solidFill>
                  <a:prstClr val="black"/>
                </a:solidFill>
                <a:ea typeface="ＭＳ Ｐゴシック" charset="0"/>
              </a:rPr>
              <a:t>: pairs of e- </a:t>
            </a:r>
            <a:r>
              <a:rPr lang="en-US" sz="2000" i="1" dirty="0">
                <a:solidFill>
                  <a:prstClr val="black"/>
                </a:solidFill>
                <a:ea typeface="ＭＳ Ｐゴシック" charset="0"/>
              </a:rPr>
              <a:t>not </a:t>
            </a:r>
            <a:r>
              <a:rPr lang="en-US" sz="2000" dirty="0">
                <a:solidFill>
                  <a:prstClr val="black"/>
                </a:solidFill>
                <a:ea typeface="ＭＳ Ｐゴシック" charset="0"/>
              </a:rPr>
              <a:t>shared in a bond </a:t>
            </a:r>
            <a:r>
              <a:rPr lang="en-US" sz="1400" dirty="0">
                <a:solidFill>
                  <a:schemeClr val="bg1">
                    <a:lumMod val="65000"/>
                  </a:schemeClr>
                </a:solidFill>
                <a:ea typeface="ＭＳ Ｐゴシック" charset="0"/>
              </a:rPr>
              <a:t>(left alone on their original atom)</a:t>
            </a:r>
            <a:endParaRPr lang="en-US" sz="2000" dirty="0"/>
          </a:p>
        </p:txBody>
      </p:sp>
      <p:sp>
        <p:nvSpPr>
          <p:cNvPr id="4" name="Rectangle 3"/>
          <p:cNvSpPr/>
          <p:nvPr/>
        </p:nvSpPr>
        <p:spPr>
          <a:xfrm>
            <a:off x="5497478" y="5255374"/>
            <a:ext cx="3380708" cy="646331"/>
          </a:xfrm>
          <a:prstGeom prst="rect">
            <a:avLst/>
          </a:prstGeom>
        </p:spPr>
        <p:txBody>
          <a:bodyPr wrap="square">
            <a:spAutoFit/>
          </a:bodyPr>
          <a:lstStyle/>
          <a:p>
            <a:r>
              <a:rPr lang="en-US" dirty="0">
                <a:solidFill>
                  <a:srgbClr val="FE801A"/>
                </a:solidFill>
                <a:effectLst>
                  <a:outerShdw blurRad="38100" dist="38100" dir="2700000" algn="tl">
                    <a:srgbClr val="000000">
                      <a:alpha val="43137"/>
                    </a:srgbClr>
                  </a:outerShdw>
                </a:effectLst>
                <a:ea typeface="ＭＳ Ｐゴシック" charset="0"/>
              </a:rPr>
              <a:t>Note how many bonds each atom formed…</a:t>
            </a:r>
            <a:endParaRPr lang="en-US" sz="1100" dirty="0">
              <a:solidFill>
                <a:schemeClr val="bg1">
                  <a:lumMod val="65000"/>
                </a:schemeClr>
              </a:solidFill>
              <a:ea typeface="ＭＳ Ｐゴシック" charset="0"/>
              <a:sym typeface="Wingdings" panose="05000000000000000000" pitchFamily="2" charset="2"/>
            </a:endParaRPr>
          </a:p>
        </p:txBody>
      </p:sp>
    </p:spTree>
    <p:extLst>
      <p:ext uri="{BB962C8B-B14F-4D97-AF65-F5344CB8AC3E}">
        <p14:creationId xmlns:p14="http://schemas.microsoft.com/office/powerpoint/2010/main" val="41776757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4580">
                                            <p:txEl>
                                              <p:pRg st="0" end="0"/>
                                            </p:txEl>
                                          </p:spTgt>
                                        </p:tgtEl>
                                        <p:attrNameLst>
                                          <p:attrName>style.visibility</p:attrName>
                                        </p:attrNameLst>
                                      </p:cBhvr>
                                      <p:to>
                                        <p:strVal val="visible"/>
                                      </p:to>
                                    </p:set>
                                    <p:animEffect transition="in" filter="fade">
                                      <p:cBhvr>
                                        <p:cTn id="7" dur="500"/>
                                        <p:tgtEl>
                                          <p:spTgt spid="2458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4580">
                                            <p:txEl>
                                              <p:pRg st="1" end="1"/>
                                            </p:txEl>
                                          </p:spTgt>
                                        </p:tgtEl>
                                        <p:attrNameLst>
                                          <p:attrName>style.visibility</p:attrName>
                                        </p:attrNameLst>
                                      </p:cBhvr>
                                      <p:to>
                                        <p:strVal val="visible"/>
                                      </p:to>
                                    </p:set>
                                    <p:animEffect transition="in" filter="fade">
                                      <p:cBhvr>
                                        <p:cTn id="10" dur="500"/>
                                        <p:tgtEl>
                                          <p:spTgt spid="24580">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4580">
                                            <p:txEl>
                                              <p:pRg st="2" end="2"/>
                                            </p:txEl>
                                          </p:spTgt>
                                        </p:tgtEl>
                                        <p:attrNameLst>
                                          <p:attrName>style.visibility</p:attrName>
                                        </p:attrNameLst>
                                      </p:cBhvr>
                                      <p:to>
                                        <p:strVal val="visible"/>
                                      </p:to>
                                    </p:set>
                                    <p:animEffect transition="in" filter="fade">
                                      <p:cBhvr>
                                        <p:cTn id="13" dur="500"/>
                                        <p:tgtEl>
                                          <p:spTgt spid="24580">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4580">
                                            <p:txEl>
                                              <p:pRg st="3" end="3"/>
                                            </p:txEl>
                                          </p:spTgt>
                                        </p:tgtEl>
                                        <p:attrNameLst>
                                          <p:attrName>style.visibility</p:attrName>
                                        </p:attrNameLst>
                                      </p:cBhvr>
                                      <p:to>
                                        <p:strVal val="visible"/>
                                      </p:to>
                                    </p:set>
                                    <p:animEffect transition="in" filter="fade">
                                      <p:cBhvr>
                                        <p:cTn id="16" dur="500"/>
                                        <p:tgtEl>
                                          <p:spTgt spid="24580">
                                            <p:txEl>
                                              <p:pRg st="3" end="3"/>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500"/>
                                        <p:tgtEl>
                                          <p:spTgt spid="3">
                                            <p:txEl>
                                              <p:pRg st="0" end="0"/>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500"/>
                                        <p:tgtEl>
                                          <p:spTgt spid="3">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4580">
                                            <p:txEl>
                                              <p:pRg st="4" end="4"/>
                                            </p:txEl>
                                          </p:spTgt>
                                        </p:tgtEl>
                                        <p:attrNameLst>
                                          <p:attrName>style.visibility</p:attrName>
                                        </p:attrNameLst>
                                      </p:cBhvr>
                                      <p:to>
                                        <p:strVal val="visible"/>
                                      </p:to>
                                    </p:set>
                                    <p:animEffect transition="in" filter="fade">
                                      <p:cBhvr>
                                        <p:cTn id="33" dur="500"/>
                                        <p:tgtEl>
                                          <p:spTgt spid="24580">
                                            <p:txEl>
                                              <p:pRg st="4" end="4"/>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4580">
                                            <p:txEl>
                                              <p:pRg st="5" end="5"/>
                                            </p:txEl>
                                          </p:spTgt>
                                        </p:tgtEl>
                                        <p:attrNameLst>
                                          <p:attrName>style.visibility</p:attrName>
                                        </p:attrNameLst>
                                      </p:cBhvr>
                                      <p:to>
                                        <p:strVal val="visible"/>
                                      </p:to>
                                    </p:set>
                                    <p:animEffect transition="in" filter="fade">
                                      <p:cBhvr>
                                        <p:cTn id="36" dur="500"/>
                                        <p:tgtEl>
                                          <p:spTgt spid="24580">
                                            <p:txEl>
                                              <p:pRg st="5" end="5"/>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24580">
                                            <p:txEl>
                                              <p:pRg st="6" end="6"/>
                                            </p:txEl>
                                          </p:spTgt>
                                        </p:tgtEl>
                                        <p:attrNameLst>
                                          <p:attrName>style.visibility</p:attrName>
                                        </p:attrNameLst>
                                      </p:cBhvr>
                                      <p:to>
                                        <p:strVal val="visible"/>
                                      </p:to>
                                    </p:set>
                                    <p:animEffect transition="in" filter="fade">
                                      <p:cBhvr>
                                        <p:cTn id="39" dur="500"/>
                                        <p:tgtEl>
                                          <p:spTgt spid="24580">
                                            <p:txEl>
                                              <p:pRg st="6" end="6"/>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24580">
                                            <p:txEl>
                                              <p:pRg st="7" end="7"/>
                                            </p:txEl>
                                          </p:spTgt>
                                        </p:tgtEl>
                                        <p:attrNameLst>
                                          <p:attrName>style.visibility</p:attrName>
                                        </p:attrNameLst>
                                      </p:cBhvr>
                                      <p:to>
                                        <p:strVal val="visible"/>
                                      </p:to>
                                    </p:set>
                                    <p:animEffect transition="in" filter="fade">
                                      <p:cBhvr>
                                        <p:cTn id="42" dur="500"/>
                                        <p:tgtEl>
                                          <p:spTgt spid="24580">
                                            <p:txEl>
                                              <p:pRg st="7" end="7"/>
                                            </p:txEl>
                                          </p:spTgt>
                                        </p:tgtEl>
                                      </p:cBhvr>
                                    </p:animEffect>
                                  </p:childTnLst>
                                </p:cTn>
                              </p:par>
                            </p:childTnLst>
                          </p:cTn>
                        </p:par>
                        <p:par>
                          <p:cTn id="43" fill="hold">
                            <p:stCondLst>
                              <p:cond delay="500"/>
                            </p:stCondLst>
                            <p:childTnLst>
                              <p:par>
                                <p:cTn id="44" presetID="10" presetClass="entr" presetSubtype="0" fill="hold"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4580">
                                            <p:txEl>
                                              <p:pRg st="8" end="8"/>
                                            </p:txEl>
                                          </p:spTgt>
                                        </p:tgtEl>
                                        <p:attrNameLst>
                                          <p:attrName>style.visibility</p:attrName>
                                        </p:attrNameLst>
                                      </p:cBhvr>
                                      <p:to>
                                        <p:strVal val="visible"/>
                                      </p:to>
                                    </p:set>
                                    <p:animEffect transition="in" filter="fade">
                                      <p:cBhvr>
                                        <p:cTn id="51" dur="500"/>
                                        <p:tgtEl>
                                          <p:spTgt spid="24580">
                                            <p:txEl>
                                              <p:pRg st="8" end="8"/>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24580">
                                            <p:txEl>
                                              <p:pRg st="9" end="9"/>
                                            </p:txEl>
                                          </p:spTgt>
                                        </p:tgtEl>
                                        <p:attrNameLst>
                                          <p:attrName>style.visibility</p:attrName>
                                        </p:attrNameLst>
                                      </p:cBhvr>
                                      <p:to>
                                        <p:strVal val="visible"/>
                                      </p:to>
                                    </p:set>
                                    <p:animEffect transition="in" filter="fade">
                                      <p:cBhvr>
                                        <p:cTn id="54" dur="500"/>
                                        <p:tgtEl>
                                          <p:spTgt spid="24580">
                                            <p:txEl>
                                              <p:pRg st="9" end="9"/>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24580">
                                            <p:txEl>
                                              <p:pRg st="10" end="10"/>
                                            </p:txEl>
                                          </p:spTgt>
                                        </p:tgtEl>
                                        <p:attrNameLst>
                                          <p:attrName>style.visibility</p:attrName>
                                        </p:attrNameLst>
                                      </p:cBhvr>
                                      <p:to>
                                        <p:strVal val="visible"/>
                                      </p:to>
                                    </p:set>
                                    <p:animEffect transition="in" filter="fade">
                                      <p:cBhvr>
                                        <p:cTn id="57" dur="500"/>
                                        <p:tgtEl>
                                          <p:spTgt spid="24580">
                                            <p:txEl>
                                              <p:pRg st="10" end="10"/>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24580">
                                            <p:txEl>
                                              <p:pRg st="11" end="11"/>
                                            </p:txEl>
                                          </p:spTgt>
                                        </p:tgtEl>
                                        <p:attrNameLst>
                                          <p:attrName>style.visibility</p:attrName>
                                        </p:attrNameLst>
                                      </p:cBhvr>
                                      <p:to>
                                        <p:strVal val="visible"/>
                                      </p:to>
                                    </p:set>
                                    <p:animEffect transition="in" filter="fade">
                                      <p:cBhvr>
                                        <p:cTn id="60" dur="500"/>
                                        <p:tgtEl>
                                          <p:spTgt spid="24580">
                                            <p:txEl>
                                              <p:pRg st="11" end="11"/>
                                            </p:txEl>
                                          </p:spTgt>
                                        </p:tgtEl>
                                      </p:cBhvr>
                                    </p:animEffect>
                                  </p:childTnLst>
                                </p:cTn>
                              </p:par>
                            </p:childTnLst>
                          </p:cTn>
                        </p:par>
                        <p:par>
                          <p:cTn id="61" fill="hold">
                            <p:stCondLst>
                              <p:cond delay="500"/>
                            </p:stCondLst>
                            <p:childTnLst>
                              <p:par>
                                <p:cTn id="62" presetID="10" presetClass="entr" presetSubtype="0" fill="hold" nodeType="after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500"/>
                                        <p:tgtEl>
                                          <p:spTgt spid="12"/>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fade">
                                      <p:cBhvr>
                                        <p:cTn id="6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p:cNvSpPr>
            <a:spLocks noGrp="1"/>
          </p:cNvSpPr>
          <p:nvPr>
            <p:ph type="title"/>
          </p:nvPr>
        </p:nvSpPr>
        <p:spPr>
          <a:xfrm>
            <a:off x="0" y="577492"/>
            <a:ext cx="8995144" cy="1254759"/>
          </a:xfrm>
        </p:spPr>
        <p:txBody>
          <a:bodyPr/>
          <a:lstStyle/>
          <a:p>
            <a:pPr eaLnBrk="1" hangingPunct="1"/>
            <a:r>
              <a:rPr lang="en-US" sz="4700" dirty="0">
                <a:ea typeface="ＭＳ Ｐゴシック" charset="0"/>
              </a:rPr>
              <a:t>Lewis Symbols:</a:t>
            </a:r>
            <a:br>
              <a:rPr lang="en-US" sz="4700" dirty="0">
                <a:ea typeface="ＭＳ Ｐゴシック" charset="0"/>
              </a:rPr>
            </a:br>
            <a:r>
              <a:rPr lang="en-US" sz="4700" dirty="0">
                <a:ea typeface="ＭＳ Ｐゴシック" charset="0"/>
              </a:rPr>
              <a:t>Predicting Bond #’s</a:t>
            </a:r>
          </a:p>
        </p:txBody>
      </p:sp>
      <p:sp>
        <p:nvSpPr>
          <p:cNvPr id="24580" name="Vertical Text Placeholder 5"/>
          <p:cNvSpPr>
            <a:spLocks noGrp="1"/>
          </p:cNvSpPr>
          <p:nvPr>
            <p:ph type="body" orient="vert" idx="4294967295"/>
          </p:nvPr>
        </p:nvSpPr>
        <p:spPr>
          <a:xfrm>
            <a:off x="207818" y="2179674"/>
            <a:ext cx="8787326" cy="2870792"/>
          </a:xfrm>
        </p:spPr>
        <p:txBody>
          <a:bodyPr>
            <a:normAutofit fontScale="55000" lnSpcReduction="20000"/>
          </a:bodyPr>
          <a:lstStyle/>
          <a:p>
            <a:pPr>
              <a:lnSpc>
                <a:spcPct val="110000"/>
              </a:lnSpc>
              <a:defRPr/>
            </a:pPr>
            <a:r>
              <a:rPr lang="en-US" sz="3800" dirty="0">
                <a:solidFill>
                  <a:prstClr val="black"/>
                </a:solidFill>
                <a:ea typeface="ＭＳ Ｐゴシック" charset="0"/>
              </a:rPr>
              <a:t>The # of unpaired dots in an element’s Lewis symbol</a:t>
            </a:r>
            <a:r>
              <a:rPr lang="en-US" sz="3800" dirty="0">
                <a:solidFill>
                  <a:schemeClr val="bg1">
                    <a:lumMod val="65000"/>
                  </a:schemeClr>
                </a:solidFill>
                <a:ea typeface="ＭＳ Ｐゴシック" charset="0"/>
              </a:rPr>
              <a:t> (for main group nonmetals)</a:t>
            </a:r>
            <a:r>
              <a:rPr lang="en-US" sz="3800" dirty="0">
                <a:solidFill>
                  <a:prstClr val="black"/>
                </a:solidFill>
                <a:ea typeface="ＭＳ Ｐゴシック" charset="0"/>
              </a:rPr>
              <a:t> predicts the typical # of covalent bonds that element forms </a:t>
            </a:r>
            <a:r>
              <a:rPr lang="en-US" dirty="0">
                <a:solidFill>
                  <a:prstClr val="white">
                    <a:lumMod val="75000"/>
                  </a:prstClr>
                </a:solidFill>
                <a:ea typeface="ＭＳ Ｐゴシック" charset="0"/>
              </a:rPr>
              <a:t>(especially in period 2)</a:t>
            </a:r>
            <a:endParaRPr lang="en-US" sz="2300" dirty="0">
              <a:solidFill>
                <a:schemeClr val="bg1">
                  <a:lumMod val="65000"/>
                </a:schemeClr>
              </a:solidFill>
              <a:ea typeface="ＭＳ Ｐゴシック" charset="0"/>
              <a:sym typeface="Wingdings" panose="05000000000000000000" pitchFamily="2" charset="2"/>
            </a:endParaRPr>
          </a:p>
          <a:p>
            <a:pPr lvl="0">
              <a:lnSpc>
                <a:spcPct val="110000"/>
              </a:lnSpc>
              <a:defRPr/>
            </a:pPr>
            <a:endParaRPr lang="en-US" sz="3800" dirty="0">
              <a:solidFill>
                <a:prstClr val="black"/>
              </a:solidFill>
              <a:ea typeface="ＭＳ Ｐゴシック" charset="0"/>
            </a:endParaRPr>
          </a:p>
          <a:p>
            <a:pPr lvl="0" indent="0">
              <a:buNone/>
              <a:defRPr/>
            </a:pPr>
            <a:endParaRPr lang="en-US" sz="2000" i="1" dirty="0">
              <a:solidFill>
                <a:schemeClr val="accent2">
                  <a:lumMod val="75000"/>
                </a:schemeClr>
              </a:solidFill>
              <a:ea typeface="ＭＳ Ｐゴシック" charset="0"/>
              <a:sym typeface="Wingdings" panose="05000000000000000000" pitchFamily="2" charset="2"/>
            </a:endParaRPr>
          </a:p>
          <a:p>
            <a:pPr lvl="0" indent="0">
              <a:buNone/>
              <a:defRPr/>
            </a:pPr>
            <a:endParaRPr lang="en-US" sz="2000" i="1" dirty="0">
              <a:solidFill>
                <a:schemeClr val="accent2">
                  <a:lumMod val="75000"/>
                </a:schemeClr>
              </a:solidFill>
              <a:ea typeface="ＭＳ Ｐゴシック" charset="0"/>
              <a:sym typeface="Wingdings" panose="05000000000000000000" pitchFamily="2" charset="2"/>
            </a:endParaRPr>
          </a:p>
          <a:p>
            <a:pPr lvl="0" indent="0">
              <a:buNone/>
              <a:defRPr/>
            </a:pPr>
            <a:endParaRPr lang="en-US" sz="2000" i="1" dirty="0">
              <a:solidFill>
                <a:schemeClr val="accent2">
                  <a:lumMod val="75000"/>
                </a:schemeClr>
              </a:solidFill>
              <a:ea typeface="ＭＳ Ｐゴシック" charset="0"/>
              <a:sym typeface="Wingdings" panose="05000000000000000000" pitchFamily="2" charset="2"/>
            </a:endParaRPr>
          </a:p>
          <a:p>
            <a:pPr lvl="0" indent="0">
              <a:buNone/>
              <a:defRPr/>
            </a:pPr>
            <a:endParaRPr lang="en-US" sz="2000" i="1" dirty="0">
              <a:solidFill>
                <a:schemeClr val="accent2">
                  <a:lumMod val="75000"/>
                </a:schemeClr>
              </a:solidFill>
              <a:ea typeface="ＭＳ Ｐゴシック" charset="0"/>
              <a:sym typeface="Wingdings" panose="05000000000000000000" pitchFamily="2" charset="2"/>
            </a:endParaRPr>
          </a:p>
          <a:p>
            <a:pPr lvl="0" indent="0">
              <a:buNone/>
              <a:defRPr/>
            </a:pPr>
            <a:r>
              <a:rPr lang="en-US" sz="3200" i="1" dirty="0">
                <a:solidFill>
                  <a:schemeClr val="accent2">
                    <a:lumMod val="75000"/>
                  </a:schemeClr>
                </a:solidFill>
                <a:ea typeface="ＭＳ Ｐゴシック" charset="0"/>
                <a:sym typeface="Wingdings" panose="05000000000000000000" pitchFamily="2" charset="2"/>
              </a:rPr>
              <a:t>We can use this to predict which atoms are bonded in covalent compounds &amp; how many e- they share!</a:t>
            </a:r>
          </a:p>
          <a:p>
            <a:pPr lvl="0" indent="0">
              <a:buNone/>
              <a:defRPr/>
            </a:pPr>
            <a:endParaRPr lang="en-US" sz="3200" i="1" dirty="0">
              <a:solidFill>
                <a:schemeClr val="accent2">
                  <a:lumMod val="75000"/>
                </a:schemeClr>
              </a:solidFill>
              <a:ea typeface="ＭＳ Ｐゴシック" charset="0"/>
              <a:sym typeface="Wingdings" panose="05000000000000000000" pitchFamily="2" charset="2"/>
            </a:endParaRPr>
          </a:p>
          <a:p>
            <a:pPr marL="457200" lvl="1" indent="0">
              <a:buNone/>
              <a:defRPr/>
            </a:pPr>
            <a:endParaRPr lang="en-US" dirty="0">
              <a:solidFill>
                <a:prstClr val="white">
                  <a:lumMod val="65000"/>
                </a:prstClr>
              </a:solidFill>
              <a:ea typeface="ＭＳ Ｐゴシック" charset="0"/>
              <a:sym typeface="Wingdings" panose="05000000000000000000" pitchFamily="2" charset="2"/>
            </a:endParaRPr>
          </a:p>
        </p:txBody>
      </p:sp>
      <p:sp>
        <p:nvSpPr>
          <p:cNvPr id="2" name="Slide Number Placeholder 1"/>
          <p:cNvSpPr>
            <a:spLocks noGrp="1"/>
          </p:cNvSpPr>
          <p:nvPr>
            <p:ph type="sldNum" sz="quarter" idx="12"/>
          </p:nvPr>
        </p:nvSpPr>
        <p:spPr/>
        <p:txBody>
          <a:bodyPr/>
          <a:lstStyle/>
          <a:p>
            <a:fld id="{63C103D7-7FC1-4B9F-A526-BC88A3C4AA47}" type="slidenum">
              <a:rPr lang="en-US" smtClean="0"/>
              <a:pPr/>
              <a:t>9</a:t>
            </a:fld>
            <a:endParaRPr lang="en-US" dirty="0"/>
          </a:p>
        </p:txBody>
      </p:sp>
      <p:pic>
        <p:nvPicPr>
          <p:cNvPr id="13321" name="Picture 9" descr="http://www.shodor.org/unchem/basic/lewis/3fB.png"/>
          <p:cNvPicPr>
            <a:picLocks noChangeAspect="1" noChangeArrowheads="1"/>
          </p:cNvPicPr>
          <p:nvPr/>
        </p:nvPicPr>
        <p:blipFill rotWithShape="1">
          <a:blip r:embed="rId3">
            <a:extLst>
              <a:ext uri="{28A0092B-C50C-407E-A947-70E740481C1C}">
                <a14:useLocalDpi xmlns:a14="http://schemas.microsoft.com/office/drawing/2010/main" val="0"/>
              </a:ext>
            </a:extLst>
          </a:blip>
          <a:srcRect l="34044" t="51278" r="36435" b="11226"/>
          <a:stretch/>
        </p:blipFill>
        <p:spPr bwMode="auto">
          <a:xfrm>
            <a:off x="2194629" y="3148575"/>
            <a:ext cx="767644" cy="632178"/>
          </a:xfrm>
          <a:prstGeom prst="rect">
            <a:avLst/>
          </a:prstGeom>
          <a:noFill/>
          <a:extLst>
            <a:ext uri="{909E8E84-426E-40DD-AFC4-6F175D3DCCD1}">
              <a14:hiddenFill xmlns:a14="http://schemas.microsoft.com/office/drawing/2010/main">
                <a:solidFill>
                  <a:srgbClr val="FFFFFF"/>
                </a:solidFill>
              </a14:hiddenFill>
            </a:ext>
          </a:extLst>
        </p:spPr>
      </p:pic>
      <p:pic>
        <p:nvPicPr>
          <p:cNvPr id="13323" name="Picture 11" descr="http://www.shodor.org/unchem/basic/lewis/4hC.png"/>
          <p:cNvPicPr>
            <a:picLocks noChangeAspect="1" noChangeArrowheads="1"/>
          </p:cNvPicPr>
          <p:nvPr/>
        </p:nvPicPr>
        <p:blipFill rotWithShape="1">
          <a:blip r:embed="rId4">
            <a:extLst>
              <a:ext uri="{28A0092B-C50C-407E-A947-70E740481C1C}">
                <a14:useLocalDpi xmlns:a14="http://schemas.microsoft.com/office/drawing/2010/main" val="0"/>
              </a:ext>
            </a:extLst>
          </a:blip>
          <a:srcRect l="41201" t="72135" r="44050"/>
          <a:stretch/>
        </p:blipFill>
        <p:spPr bwMode="auto">
          <a:xfrm>
            <a:off x="1260650" y="3163938"/>
            <a:ext cx="316089" cy="5653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1" descr="http://www.shodor.org/unchem/basic/lewis/4hC.png"/>
          <p:cNvPicPr>
            <a:picLocks noChangeAspect="1" noChangeArrowheads="1"/>
          </p:cNvPicPr>
          <p:nvPr/>
        </p:nvPicPr>
        <p:blipFill rotWithShape="1">
          <a:blip r:embed="rId4">
            <a:extLst>
              <a:ext uri="{28A0092B-C50C-407E-A947-70E740481C1C}">
                <a14:useLocalDpi xmlns:a14="http://schemas.microsoft.com/office/drawing/2010/main" val="0"/>
              </a:ext>
            </a:extLst>
          </a:blip>
          <a:srcRect l="32679" t="34875" r="37823" b="32274"/>
          <a:stretch/>
        </p:blipFill>
        <p:spPr bwMode="auto">
          <a:xfrm>
            <a:off x="3580163" y="3163938"/>
            <a:ext cx="632178" cy="666485"/>
          </a:xfrm>
          <a:prstGeom prst="rect">
            <a:avLst/>
          </a:prstGeom>
          <a:noFill/>
          <a:extLst>
            <a:ext uri="{909E8E84-426E-40DD-AFC4-6F175D3DCCD1}">
              <a14:hiddenFill xmlns:a14="http://schemas.microsoft.com/office/drawing/2010/main">
                <a:solidFill>
                  <a:srgbClr val="FFFFFF"/>
                </a:solidFill>
              </a14:hiddenFill>
            </a:ext>
          </a:extLst>
        </p:spPr>
      </p:pic>
      <p:pic>
        <p:nvPicPr>
          <p:cNvPr id="13325" name="Picture 13" descr="http://i1.ytimg.com/vi/rcmyt4F_IOA/maxresdefault.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3457" t="44472" r="34157" b="11064"/>
          <a:stretch/>
        </p:blipFill>
        <p:spPr bwMode="auto">
          <a:xfrm>
            <a:off x="4830231" y="3186197"/>
            <a:ext cx="640080" cy="644668"/>
          </a:xfrm>
          <a:prstGeom prst="rect">
            <a:avLst/>
          </a:prstGeom>
          <a:noFill/>
          <a:extLst>
            <a:ext uri="{909E8E84-426E-40DD-AFC4-6F175D3DCCD1}">
              <a14:hiddenFill xmlns:a14="http://schemas.microsoft.com/office/drawing/2010/main">
                <a:solidFill>
                  <a:srgbClr val="FFFFFF"/>
                </a:solidFill>
              </a14:hiddenFill>
            </a:ext>
          </a:extLst>
        </p:spPr>
      </p:pic>
      <p:pic>
        <p:nvPicPr>
          <p:cNvPr id="13327" name="Picture 15" descr="https://dr282zn36sxxg.cloudfront.net/datastreams/f-d%3A299e926881bc39a1923084781655a801a5c07de3182c5322882cb164%2BIMAGE%2BIMAGE.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88201" y="3232113"/>
            <a:ext cx="54864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3329" name="Picture 17" descr="http://i.ytimg.com/vi/GU3YbxtOIug/hqdefault.jp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33388" t="42742" r="32785" b="12485"/>
          <a:stretch/>
        </p:blipFill>
        <p:spPr bwMode="auto">
          <a:xfrm>
            <a:off x="7250064" y="3198687"/>
            <a:ext cx="640080" cy="63540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988695" y="3889634"/>
            <a:ext cx="696024" cy="292388"/>
          </a:xfrm>
          <a:prstGeom prst="rect">
            <a:avLst/>
          </a:prstGeom>
        </p:spPr>
        <p:txBody>
          <a:bodyPr wrap="none">
            <a:spAutoFit/>
          </a:bodyPr>
          <a:lstStyle/>
          <a:p>
            <a:pPr lvl="0" indent="0">
              <a:buNone/>
              <a:defRPr/>
            </a:pPr>
            <a:r>
              <a:rPr lang="en-US" sz="1300" i="1" dirty="0">
                <a:ea typeface="ＭＳ Ｐゴシック" charset="0"/>
                <a:sym typeface="Wingdings" panose="05000000000000000000" pitchFamily="2" charset="2"/>
              </a:rPr>
              <a:t>1 bond</a:t>
            </a:r>
          </a:p>
        </p:txBody>
      </p:sp>
      <p:sp>
        <p:nvSpPr>
          <p:cNvPr id="22" name="Rectangle 21"/>
          <p:cNvSpPr/>
          <p:nvPr/>
        </p:nvSpPr>
        <p:spPr>
          <a:xfrm>
            <a:off x="2194629" y="3893434"/>
            <a:ext cx="779381" cy="292388"/>
          </a:xfrm>
          <a:prstGeom prst="rect">
            <a:avLst/>
          </a:prstGeom>
        </p:spPr>
        <p:txBody>
          <a:bodyPr wrap="none">
            <a:spAutoFit/>
          </a:bodyPr>
          <a:lstStyle/>
          <a:p>
            <a:pPr lvl="0" indent="0">
              <a:buNone/>
              <a:defRPr/>
            </a:pPr>
            <a:r>
              <a:rPr lang="en-US" sz="1300" i="1" dirty="0">
                <a:ea typeface="ＭＳ Ｐゴシック" charset="0"/>
                <a:sym typeface="Wingdings" panose="05000000000000000000" pitchFamily="2" charset="2"/>
              </a:rPr>
              <a:t>3 bonds</a:t>
            </a:r>
          </a:p>
        </p:txBody>
      </p:sp>
      <p:sp>
        <p:nvSpPr>
          <p:cNvPr id="23" name="Rectangle 22"/>
          <p:cNvSpPr/>
          <p:nvPr/>
        </p:nvSpPr>
        <p:spPr>
          <a:xfrm>
            <a:off x="3477604" y="3893434"/>
            <a:ext cx="779381" cy="292388"/>
          </a:xfrm>
          <a:prstGeom prst="rect">
            <a:avLst/>
          </a:prstGeom>
        </p:spPr>
        <p:txBody>
          <a:bodyPr wrap="none">
            <a:spAutoFit/>
          </a:bodyPr>
          <a:lstStyle/>
          <a:p>
            <a:pPr lvl="0" indent="0">
              <a:buNone/>
              <a:defRPr/>
            </a:pPr>
            <a:r>
              <a:rPr lang="en-US" sz="1300" i="1" dirty="0">
                <a:ea typeface="ＭＳ Ｐゴシック" charset="0"/>
                <a:sym typeface="Wingdings" panose="05000000000000000000" pitchFamily="2" charset="2"/>
              </a:rPr>
              <a:t>4 bonds</a:t>
            </a:r>
          </a:p>
        </p:txBody>
      </p:sp>
      <p:sp>
        <p:nvSpPr>
          <p:cNvPr id="24" name="Rectangle 23"/>
          <p:cNvSpPr/>
          <p:nvPr/>
        </p:nvSpPr>
        <p:spPr>
          <a:xfrm>
            <a:off x="4760580" y="3893434"/>
            <a:ext cx="779381" cy="292388"/>
          </a:xfrm>
          <a:prstGeom prst="rect">
            <a:avLst/>
          </a:prstGeom>
        </p:spPr>
        <p:txBody>
          <a:bodyPr wrap="none">
            <a:spAutoFit/>
          </a:bodyPr>
          <a:lstStyle/>
          <a:p>
            <a:pPr lvl="0" indent="0">
              <a:buNone/>
              <a:defRPr/>
            </a:pPr>
            <a:r>
              <a:rPr lang="en-US" sz="1300" i="1" dirty="0">
                <a:ea typeface="ＭＳ Ｐゴシック" charset="0"/>
                <a:sym typeface="Wingdings" panose="05000000000000000000" pitchFamily="2" charset="2"/>
              </a:rPr>
              <a:t>3 bonds</a:t>
            </a:r>
          </a:p>
        </p:txBody>
      </p:sp>
      <p:sp>
        <p:nvSpPr>
          <p:cNvPr id="25" name="Rectangle 24"/>
          <p:cNvSpPr/>
          <p:nvPr/>
        </p:nvSpPr>
        <p:spPr>
          <a:xfrm>
            <a:off x="5972830" y="3901625"/>
            <a:ext cx="779381" cy="292388"/>
          </a:xfrm>
          <a:prstGeom prst="rect">
            <a:avLst/>
          </a:prstGeom>
        </p:spPr>
        <p:txBody>
          <a:bodyPr wrap="none">
            <a:spAutoFit/>
          </a:bodyPr>
          <a:lstStyle/>
          <a:p>
            <a:pPr lvl="0" indent="0">
              <a:buNone/>
              <a:defRPr/>
            </a:pPr>
            <a:r>
              <a:rPr lang="en-US" sz="1300" i="1" dirty="0">
                <a:ea typeface="ＭＳ Ｐゴシック" charset="0"/>
                <a:sym typeface="Wingdings" panose="05000000000000000000" pitchFamily="2" charset="2"/>
              </a:rPr>
              <a:t>2 bonds</a:t>
            </a:r>
          </a:p>
        </p:txBody>
      </p:sp>
      <p:sp>
        <p:nvSpPr>
          <p:cNvPr id="26" name="Rectangle 25"/>
          <p:cNvSpPr/>
          <p:nvPr/>
        </p:nvSpPr>
        <p:spPr>
          <a:xfrm>
            <a:off x="7202921" y="3893434"/>
            <a:ext cx="696024" cy="292388"/>
          </a:xfrm>
          <a:prstGeom prst="rect">
            <a:avLst/>
          </a:prstGeom>
        </p:spPr>
        <p:txBody>
          <a:bodyPr wrap="none">
            <a:spAutoFit/>
          </a:bodyPr>
          <a:lstStyle/>
          <a:p>
            <a:pPr lvl="0" indent="0">
              <a:buNone/>
              <a:defRPr/>
            </a:pPr>
            <a:r>
              <a:rPr lang="en-US" sz="1300" i="1" dirty="0">
                <a:ea typeface="ＭＳ Ｐゴシック" charset="0"/>
                <a:sym typeface="Wingdings" panose="05000000000000000000" pitchFamily="2" charset="2"/>
              </a:rPr>
              <a:t>1 bond</a:t>
            </a:r>
          </a:p>
        </p:txBody>
      </p:sp>
      <p:sp>
        <p:nvSpPr>
          <p:cNvPr id="5" name="Rectangle 4"/>
          <p:cNvSpPr/>
          <p:nvPr/>
        </p:nvSpPr>
        <p:spPr>
          <a:xfrm>
            <a:off x="488178" y="5050466"/>
            <a:ext cx="4880343" cy="646331"/>
          </a:xfrm>
          <a:prstGeom prst="rect">
            <a:avLst/>
          </a:prstGeom>
        </p:spPr>
        <p:txBody>
          <a:bodyPr wrap="square">
            <a:spAutoFit/>
          </a:bodyPr>
          <a:lstStyle/>
          <a:p>
            <a:pPr lvl="0" indent="0">
              <a:buNone/>
              <a:defRPr/>
            </a:pPr>
            <a:r>
              <a:rPr lang="en-US" dirty="0">
                <a:ea typeface="ＭＳ Ｐゴシック" charset="0"/>
                <a:sym typeface="Wingdings" panose="05000000000000000000" pitchFamily="2" charset="2"/>
              </a:rPr>
              <a:t>Let’s practice:</a:t>
            </a:r>
          </a:p>
          <a:p>
            <a:pPr lvl="0" indent="0">
              <a:buNone/>
              <a:defRPr/>
            </a:pPr>
            <a:r>
              <a:rPr lang="en-US" dirty="0">
                <a:ea typeface="ＭＳ Ｐゴシック" charset="0"/>
                <a:sym typeface="Wingdings" panose="05000000000000000000" pitchFamily="2" charset="2"/>
              </a:rPr>
              <a:t>Draw the Lewis structure for ammonia, NH</a:t>
            </a:r>
            <a:r>
              <a:rPr lang="en-US" baseline="-25000" dirty="0">
                <a:ea typeface="ＭＳ Ｐゴシック" charset="0"/>
                <a:sym typeface="Wingdings" panose="05000000000000000000" pitchFamily="2" charset="2"/>
              </a:rPr>
              <a:t>3</a:t>
            </a:r>
            <a:endParaRPr lang="en-US" sz="2400" baseline="-25000" dirty="0">
              <a:ea typeface="ＭＳ Ｐゴシック" charset="0"/>
              <a:sym typeface="Wingdings" panose="05000000000000000000" pitchFamily="2" charset="2"/>
            </a:endParaRPr>
          </a:p>
        </p:txBody>
      </p:sp>
      <p:sp>
        <p:nvSpPr>
          <p:cNvPr id="7" name="Rectangle 6"/>
          <p:cNvSpPr/>
          <p:nvPr/>
        </p:nvSpPr>
        <p:spPr>
          <a:xfrm>
            <a:off x="436385" y="6085351"/>
            <a:ext cx="5536445" cy="369332"/>
          </a:xfrm>
          <a:prstGeom prst="rect">
            <a:avLst/>
          </a:prstGeom>
        </p:spPr>
        <p:txBody>
          <a:bodyPr wrap="square">
            <a:spAutoFit/>
          </a:bodyPr>
          <a:lstStyle/>
          <a:p>
            <a:r>
              <a:rPr lang="en-US" dirty="0">
                <a:solidFill>
                  <a:srgbClr val="00B0F0"/>
                </a:solidFill>
              </a:rPr>
              <a:t>There is a systematic way to apply these ideas…</a:t>
            </a:r>
          </a:p>
        </p:txBody>
      </p:sp>
      <p:pic>
        <p:nvPicPr>
          <p:cNvPr id="4098" name="Picture 2" descr="Image result for lewis structure for ammonia"/>
          <p:cNvPicPr>
            <a:picLocks noChangeAspect="1" noChangeArrowheads="1"/>
          </p:cNvPicPr>
          <p:nvPr/>
        </p:nvPicPr>
        <p:blipFill rotWithShape="1">
          <a:blip r:embed="rId8">
            <a:extLst>
              <a:ext uri="{28A0092B-C50C-407E-A947-70E740481C1C}">
                <a14:useLocalDpi xmlns:a14="http://schemas.microsoft.com/office/drawing/2010/main" val="0"/>
              </a:ext>
            </a:extLst>
          </a:blip>
          <a:srcRect t="31729"/>
          <a:stretch/>
        </p:blipFill>
        <p:spPr bwMode="auto">
          <a:xfrm>
            <a:off x="5873727" y="5124995"/>
            <a:ext cx="2016417" cy="1255159"/>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p:cNvCxnSpPr/>
          <p:nvPr/>
        </p:nvCxnSpPr>
        <p:spPr>
          <a:xfrm>
            <a:off x="6251944" y="5477450"/>
            <a:ext cx="384897" cy="0"/>
          </a:xfrm>
          <a:prstGeom prst="line">
            <a:avLst/>
          </a:prstGeom>
          <a:ln w="57150"/>
        </p:spPr>
        <p:style>
          <a:lnRef idx="3">
            <a:schemeClr val="dk1"/>
          </a:lnRef>
          <a:fillRef idx="0">
            <a:schemeClr val="dk1"/>
          </a:fillRef>
          <a:effectRef idx="2">
            <a:schemeClr val="dk1"/>
          </a:effectRef>
          <a:fontRef idx="minor">
            <a:schemeClr val="tx1"/>
          </a:fontRef>
        </p:style>
      </p:cxnSp>
      <p:cxnSp>
        <p:nvCxnSpPr>
          <p:cNvPr id="28" name="Straight Connector 27"/>
          <p:cNvCxnSpPr/>
          <p:nvPr/>
        </p:nvCxnSpPr>
        <p:spPr>
          <a:xfrm>
            <a:off x="7068248" y="5477450"/>
            <a:ext cx="384897" cy="0"/>
          </a:xfrm>
          <a:prstGeom prst="line">
            <a:avLst/>
          </a:prstGeom>
          <a:ln w="57150"/>
        </p:spPr>
        <p:style>
          <a:lnRef idx="3">
            <a:schemeClr val="dk1"/>
          </a:lnRef>
          <a:fillRef idx="0">
            <a:schemeClr val="dk1"/>
          </a:fillRef>
          <a:effectRef idx="2">
            <a:schemeClr val="dk1"/>
          </a:effectRef>
          <a:fontRef idx="minor">
            <a:schemeClr val="tx1"/>
          </a:fontRef>
        </p:style>
      </p:cxnSp>
      <p:cxnSp>
        <p:nvCxnSpPr>
          <p:cNvPr id="29" name="Straight Connector 28"/>
          <p:cNvCxnSpPr/>
          <p:nvPr/>
        </p:nvCxnSpPr>
        <p:spPr>
          <a:xfrm rot="5400000">
            <a:off x="6691690" y="5832641"/>
            <a:ext cx="384897" cy="0"/>
          </a:xfrm>
          <a:prstGeom prst="line">
            <a:avLst/>
          </a:prstGeom>
          <a:ln w="5715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0752110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580">
                                            <p:txEl>
                                              <p:pRg st="0" end="0"/>
                                            </p:txEl>
                                          </p:spTgt>
                                        </p:tgtEl>
                                        <p:attrNameLst>
                                          <p:attrName>style.visibility</p:attrName>
                                        </p:attrNameLst>
                                      </p:cBhvr>
                                      <p:to>
                                        <p:strVal val="visible"/>
                                      </p:to>
                                    </p:set>
                                    <p:animEffect transition="in" filter="fade">
                                      <p:cBhvr>
                                        <p:cTn id="7" dur="500"/>
                                        <p:tgtEl>
                                          <p:spTgt spid="245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323"/>
                                        </p:tgtEl>
                                        <p:attrNameLst>
                                          <p:attrName>style.visibility</p:attrName>
                                        </p:attrNameLst>
                                      </p:cBhvr>
                                      <p:to>
                                        <p:strVal val="visible"/>
                                      </p:to>
                                    </p:set>
                                    <p:animEffect transition="in" filter="fade">
                                      <p:cBhvr>
                                        <p:cTn id="12" dur="500"/>
                                        <p:tgtEl>
                                          <p:spTgt spid="133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321"/>
                                        </p:tgtEl>
                                        <p:attrNameLst>
                                          <p:attrName>style.visibility</p:attrName>
                                        </p:attrNameLst>
                                      </p:cBhvr>
                                      <p:to>
                                        <p:strVal val="visible"/>
                                      </p:to>
                                    </p:set>
                                    <p:animEffect transition="in" filter="fade">
                                      <p:cBhvr>
                                        <p:cTn id="22" dur="500"/>
                                        <p:tgtEl>
                                          <p:spTgt spid="133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325"/>
                                        </p:tgtEl>
                                        <p:attrNameLst>
                                          <p:attrName>style.visibility</p:attrName>
                                        </p:attrNameLst>
                                      </p:cBhvr>
                                      <p:to>
                                        <p:strVal val="visible"/>
                                      </p:to>
                                    </p:set>
                                    <p:animEffect transition="in" filter="fade">
                                      <p:cBhvr>
                                        <p:cTn id="42" dur="500"/>
                                        <p:tgtEl>
                                          <p:spTgt spid="133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327"/>
                                        </p:tgtEl>
                                        <p:attrNameLst>
                                          <p:attrName>style.visibility</p:attrName>
                                        </p:attrNameLst>
                                      </p:cBhvr>
                                      <p:to>
                                        <p:strVal val="visible"/>
                                      </p:to>
                                    </p:set>
                                    <p:animEffect transition="in" filter="fade">
                                      <p:cBhvr>
                                        <p:cTn id="52" dur="500"/>
                                        <p:tgtEl>
                                          <p:spTgt spid="1332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3329"/>
                                        </p:tgtEl>
                                        <p:attrNameLst>
                                          <p:attrName>style.visibility</p:attrName>
                                        </p:attrNameLst>
                                      </p:cBhvr>
                                      <p:to>
                                        <p:strVal val="visible"/>
                                      </p:to>
                                    </p:set>
                                    <p:animEffect transition="in" filter="fade">
                                      <p:cBhvr>
                                        <p:cTn id="62" dur="500"/>
                                        <p:tgtEl>
                                          <p:spTgt spid="1332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4580">
                                            <p:txEl>
                                              <p:pRg st="6" end="6"/>
                                            </p:txEl>
                                          </p:spTgt>
                                        </p:tgtEl>
                                        <p:attrNameLst>
                                          <p:attrName>style.visibility</p:attrName>
                                        </p:attrNameLst>
                                      </p:cBhvr>
                                      <p:to>
                                        <p:strVal val="visible"/>
                                      </p:to>
                                    </p:set>
                                    <p:animEffect transition="in" filter="fade">
                                      <p:cBhvr>
                                        <p:cTn id="72" dur="500"/>
                                        <p:tgtEl>
                                          <p:spTgt spid="24580">
                                            <p:txEl>
                                              <p:pRg st="6" end="6"/>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5"/>
                                        </p:tgtEl>
                                        <p:attrNameLst>
                                          <p:attrName>style.visibility</p:attrName>
                                        </p:attrNameLst>
                                      </p:cBhvr>
                                      <p:to>
                                        <p:strVal val="visible"/>
                                      </p:to>
                                    </p:set>
                                    <p:animEffect transition="in" filter="fade">
                                      <p:cBhvr>
                                        <p:cTn id="77" dur="500"/>
                                        <p:tgtEl>
                                          <p:spTgt spid="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4098"/>
                                        </p:tgtEl>
                                        <p:attrNameLst>
                                          <p:attrName>style.visibility</p:attrName>
                                        </p:attrNameLst>
                                      </p:cBhvr>
                                      <p:to>
                                        <p:strVal val="visible"/>
                                      </p:to>
                                    </p:set>
                                    <p:animEffect transition="in" filter="fade">
                                      <p:cBhvr>
                                        <p:cTn id="82" dur="500"/>
                                        <p:tgtEl>
                                          <p:spTgt spid="4098"/>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0"/>
                                        </p:tgtEl>
                                        <p:attrNameLst>
                                          <p:attrName>style.visibility</p:attrName>
                                        </p:attrNameLst>
                                      </p:cBhvr>
                                      <p:to>
                                        <p:strVal val="visible"/>
                                      </p:to>
                                    </p:set>
                                    <p:animEffect transition="in" filter="fade">
                                      <p:cBhvr>
                                        <p:cTn id="87" dur="500"/>
                                        <p:tgtEl>
                                          <p:spTgt spid="10"/>
                                        </p:tgtEl>
                                      </p:cBhvr>
                                    </p:animEffect>
                                  </p:childTnLst>
                                </p:cTn>
                              </p:par>
                              <p:par>
                                <p:cTn id="88" presetID="10" presetClass="entr" presetSubtype="0" fill="hold"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fade">
                                      <p:cBhvr>
                                        <p:cTn id="90" dur="500"/>
                                        <p:tgtEl>
                                          <p:spTgt spid="29"/>
                                        </p:tgtEl>
                                      </p:cBhvr>
                                    </p:animEffect>
                                  </p:childTnLst>
                                </p:cTn>
                              </p:par>
                              <p:par>
                                <p:cTn id="91" presetID="10" presetClass="entr" presetSubtype="0" fill="hold" nodeType="withEffect">
                                  <p:stCondLst>
                                    <p:cond delay="0"/>
                                  </p:stCondLst>
                                  <p:childTnLst>
                                    <p:set>
                                      <p:cBhvr>
                                        <p:cTn id="92" dur="1" fill="hold">
                                          <p:stCondLst>
                                            <p:cond delay="0"/>
                                          </p:stCondLst>
                                        </p:cTn>
                                        <p:tgtEl>
                                          <p:spTgt spid="28"/>
                                        </p:tgtEl>
                                        <p:attrNameLst>
                                          <p:attrName>style.visibility</p:attrName>
                                        </p:attrNameLst>
                                      </p:cBhvr>
                                      <p:to>
                                        <p:strVal val="visible"/>
                                      </p:to>
                                    </p:set>
                                    <p:animEffect transition="in" filter="fade">
                                      <p:cBhvr>
                                        <p:cTn id="93" dur="500"/>
                                        <p:tgtEl>
                                          <p:spTgt spid="28"/>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7"/>
                                        </p:tgtEl>
                                        <p:attrNameLst>
                                          <p:attrName>style.visibility</p:attrName>
                                        </p:attrNameLst>
                                      </p:cBhvr>
                                      <p:to>
                                        <p:strVal val="visible"/>
                                      </p:to>
                                    </p:set>
                                    <p:animEffect transition="in" filter="fade">
                                      <p:cBhvr>
                                        <p:cTn id="9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2" grpId="0"/>
      <p:bldP spid="23" grpId="0"/>
      <p:bldP spid="24" grpId="0"/>
      <p:bldP spid="25" grpId="0"/>
      <p:bldP spid="26" grpId="0"/>
      <p:bldP spid="5"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1700" y="366424"/>
            <a:ext cx="6377940" cy="1254759"/>
          </a:xfrm>
        </p:spPr>
        <p:txBody>
          <a:bodyPr>
            <a:normAutofit/>
          </a:bodyPr>
          <a:lstStyle/>
          <a:p>
            <a:r>
              <a:rPr lang="en-US" dirty="0"/>
              <a:t>Lewis recipe </a:t>
            </a:r>
            <a:endParaRPr lang="en-US" sz="2800" cap="none" dirty="0"/>
          </a:p>
        </p:txBody>
      </p:sp>
      <p:sp>
        <p:nvSpPr>
          <p:cNvPr id="3" name="Content Placeholder 2"/>
          <p:cNvSpPr>
            <a:spLocks noGrp="1"/>
          </p:cNvSpPr>
          <p:nvPr>
            <p:ph idx="1"/>
          </p:nvPr>
        </p:nvSpPr>
        <p:spPr>
          <a:xfrm>
            <a:off x="159284" y="1400271"/>
            <a:ext cx="5741785" cy="5020934"/>
          </a:xfrm>
        </p:spPr>
        <p:txBody>
          <a:bodyPr>
            <a:normAutofit fontScale="77500" lnSpcReduction="20000"/>
          </a:bodyPr>
          <a:lstStyle/>
          <a:p>
            <a:pPr marL="457200" indent="-457200">
              <a:buFont typeface="+mj-lt"/>
              <a:buAutoNum type="arabicParenR"/>
            </a:pPr>
            <a:r>
              <a:rPr lang="en-US" dirty="0">
                <a:solidFill>
                  <a:srgbClr val="CC00CC"/>
                </a:solidFill>
              </a:rPr>
              <a:t>Count the total valence e- present</a:t>
            </a:r>
          </a:p>
          <a:p>
            <a:pPr marL="457200" indent="-457200">
              <a:buFont typeface="+mj-lt"/>
              <a:buAutoNum type="arabicParenR"/>
            </a:pPr>
            <a:r>
              <a:rPr lang="en-US" dirty="0">
                <a:solidFill>
                  <a:schemeClr val="accent6"/>
                </a:solidFill>
              </a:rPr>
              <a:t>Predict the connectivity of the atoms </a:t>
            </a:r>
          </a:p>
          <a:p>
            <a:pPr lvl="1"/>
            <a:r>
              <a:rPr lang="en-US" sz="1700" dirty="0">
                <a:solidFill>
                  <a:srgbClr val="69ACE2"/>
                </a:solidFill>
              </a:rPr>
              <a:t>Central atom = atom that can form the most bonds and/or</a:t>
            </a:r>
            <a:br>
              <a:rPr lang="en-US" sz="1700" dirty="0">
                <a:solidFill>
                  <a:srgbClr val="69ACE2"/>
                </a:solidFill>
              </a:rPr>
            </a:br>
            <a:r>
              <a:rPr lang="en-US" sz="1700" dirty="0">
                <a:solidFill>
                  <a:srgbClr val="69ACE2"/>
                </a:solidFill>
              </a:rPr>
              <a:t> is the least electronegative atom</a:t>
            </a:r>
          </a:p>
          <a:p>
            <a:pPr lvl="1"/>
            <a:r>
              <a:rPr lang="en-US" sz="1700" dirty="0">
                <a:solidFill>
                  <a:srgbClr val="69ACE2"/>
                </a:solidFill>
              </a:rPr>
              <a:t>Order of atoms in formula is often indicative</a:t>
            </a:r>
          </a:p>
          <a:p>
            <a:pPr lvl="1"/>
            <a:r>
              <a:rPr lang="en-US" sz="1700" dirty="0">
                <a:solidFill>
                  <a:srgbClr val="69ACE2"/>
                </a:solidFill>
              </a:rPr>
              <a:t>Often use the most symmetric structure possible</a:t>
            </a:r>
          </a:p>
          <a:p>
            <a:pPr marL="457200" indent="-457200">
              <a:buFont typeface="+mj-lt"/>
              <a:buAutoNum type="arabicParenR"/>
            </a:pPr>
            <a:r>
              <a:rPr lang="en-US" dirty="0">
                <a:solidFill>
                  <a:srgbClr val="92D050"/>
                </a:solidFill>
              </a:rPr>
              <a:t>Draw single bonds to connect all atoms</a:t>
            </a:r>
          </a:p>
          <a:p>
            <a:pPr marL="457200" indent="-457200">
              <a:buFont typeface="+mj-lt"/>
              <a:buAutoNum type="arabicParenR"/>
            </a:pPr>
            <a:r>
              <a:rPr lang="en-US" dirty="0">
                <a:solidFill>
                  <a:schemeClr val="accent2"/>
                </a:solidFill>
              </a:rPr>
              <a:t>Use remaining e- as lone pairs to complete octets of all atoms (most electronegative atoms first) </a:t>
            </a:r>
            <a:endParaRPr lang="en-US" i="1" dirty="0">
              <a:solidFill>
                <a:schemeClr val="accent2"/>
              </a:solidFill>
            </a:endParaRPr>
          </a:p>
          <a:p>
            <a:pPr lvl="1"/>
            <a:r>
              <a:rPr lang="en-US" sz="1700" dirty="0">
                <a:solidFill>
                  <a:schemeClr val="accent2"/>
                </a:solidFill>
              </a:rPr>
              <a:t>If there are not enough e- to go around, convert some lone pairs to bonding pairs</a:t>
            </a:r>
          </a:p>
          <a:p>
            <a:pPr lvl="1"/>
            <a:r>
              <a:rPr lang="en-US" sz="1700" dirty="0">
                <a:solidFill>
                  <a:schemeClr val="accent2"/>
                </a:solidFill>
              </a:rPr>
              <a:t>If there are more e- than needed, put remaining e- on the central atom as lone pairs </a:t>
            </a:r>
          </a:p>
          <a:p>
            <a:pPr lvl="2"/>
            <a:r>
              <a:rPr lang="en-US" sz="1500" dirty="0">
                <a:solidFill>
                  <a:schemeClr val="accent2"/>
                </a:solidFill>
              </a:rPr>
              <a:t>(if the central atom is from period 3 or higher)</a:t>
            </a:r>
          </a:p>
          <a:p>
            <a:pPr marL="457200" indent="-457200">
              <a:buFont typeface="+mj-lt"/>
              <a:buAutoNum type="arabicParenR"/>
            </a:pPr>
            <a:r>
              <a:rPr lang="en-US" dirty="0">
                <a:solidFill>
                  <a:srgbClr val="C00000"/>
                </a:solidFill>
              </a:rPr>
              <a:t>Check that the # of e- in your Lewis structure matches the # in step 1</a:t>
            </a:r>
          </a:p>
          <a:p>
            <a:pPr marL="457200" indent="-457200">
              <a:buFont typeface="+mj-lt"/>
              <a:buAutoNum type="arabicParenR"/>
            </a:pPr>
            <a:r>
              <a:rPr lang="en-US" dirty="0">
                <a:solidFill>
                  <a:schemeClr val="bg1">
                    <a:lumMod val="65000"/>
                  </a:schemeClr>
                </a:solidFill>
              </a:rPr>
              <a:t>Check that the # of bonds makes sense</a:t>
            </a:r>
          </a:p>
          <a:p>
            <a:pPr lvl="1"/>
            <a:r>
              <a:rPr lang="en-US" sz="1800" i="1" dirty="0">
                <a:solidFill>
                  <a:schemeClr val="bg1">
                    <a:lumMod val="65000"/>
                  </a:schemeClr>
                </a:solidFill>
              </a:rPr>
              <a:t>Ensure each atom type forms its typical # of bonds</a:t>
            </a:r>
          </a:p>
          <a:p>
            <a:pPr lvl="1"/>
            <a:r>
              <a:rPr lang="en-US" sz="1800" i="1" dirty="0">
                <a:solidFill>
                  <a:schemeClr val="bg1">
                    <a:lumMod val="65000"/>
                  </a:schemeClr>
                </a:solidFill>
              </a:rPr>
              <a:t>AND/OR: apply the following formula:</a:t>
            </a:r>
            <a:br>
              <a:rPr lang="en-US" sz="1800" i="1" dirty="0">
                <a:solidFill>
                  <a:schemeClr val="bg1">
                    <a:lumMod val="65000"/>
                  </a:schemeClr>
                </a:solidFill>
              </a:rPr>
            </a:br>
            <a:r>
              <a:rPr lang="en-US" sz="1800" i="1" dirty="0">
                <a:solidFill>
                  <a:schemeClr val="bg1">
                    <a:lumMod val="65000"/>
                  </a:schemeClr>
                </a:solidFill>
              </a:rPr>
              <a:t>Count the total e- needed for each atom to have its own octet </a:t>
            </a:r>
          </a:p>
          <a:p>
            <a:pPr lvl="2"/>
            <a:r>
              <a:rPr lang="en-US" sz="1500" i="1" dirty="0">
                <a:solidFill>
                  <a:schemeClr val="bg1">
                    <a:lumMod val="65000"/>
                  </a:schemeClr>
                </a:solidFill>
              </a:rPr>
              <a:t>Each atom needs 8 for an octet (H needs 2)</a:t>
            </a:r>
          </a:p>
          <a:p>
            <a:pPr lvl="1"/>
            <a:r>
              <a:rPr lang="en-US" sz="1800" i="1" dirty="0">
                <a:solidFill>
                  <a:schemeClr val="bg1">
                    <a:lumMod val="65000"/>
                  </a:schemeClr>
                </a:solidFill>
              </a:rPr>
              <a:t>Find the difference (needed – present)</a:t>
            </a:r>
            <a:endParaRPr lang="en-US" i="1" dirty="0">
              <a:solidFill>
                <a:schemeClr val="bg1">
                  <a:lumMod val="65000"/>
                </a:schemeClr>
              </a:solidFill>
            </a:endParaRPr>
          </a:p>
          <a:p>
            <a:pPr lvl="1"/>
            <a:r>
              <a:rPr lang="en-US" sz="1800" i="1" dirty="0">
                <a:solidFill>
                  <a:schemeClr val="bg1">
                    <a:lumMod val="65000"/>
                  </a:schemeClr>
                </a:solidFill>
              </a:rPr>
              <a:t>Divide by two.  </a:t>
            </a:r>
            <a:r>
              <a:rPr lang="en-US" sz="1700" i="1" dirty="0">
                <a:solidFill>
                  <a:schemeClr val="bg1">
                    <a:lumMod val="65000"/>
                  </a:schemeClr>
                </a:solidFill>
              </a:rPr>
              <a:t>This is the total number of bonds to make </a:t>
            </a:r>
          </a:p>
          <a:p>
            <a:pPr marL="457200" indent="-457200">
              <a:buFont typeface="+mj-lt"/>
              <a:buAutoNum type="arabicParenR"/>
            </a:pPr>
            <a:endParaRPr lang="en-US" dirty="0">
              <a:solidFill>
                <a:srgbClr val="C00000"/>
              </a:solidFill>
            </a:endParaRPr>
          </a:p>
          <a:p>
            <a:pPr marL="457200" indent="-457200">
              <a:buFont typeface="+mj-lt"/>
              <a:buAutoNum type="arabicParenR"/>
            </a:pPr>
            <a:endParaRPr lang="en-US" dirty="0"/>
          </a:p>
          <a:p>
            <a:endParaRPr lang="en-US" dirty="0"/>
          </a:p>
        </p:txBody>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446" t="3841" r="14222"/>
          <a:stretch/>
        </p:blipFill>
        <p:spPr>
          <a:xfrm>
            <a:off x="5982652" y="1457559"/>
            <a:ext cx="2566988" cy="4350512"/>
          </a:xfrm>
          <a:prstGeom prst="rect">
            <a:avLst/>
          </a:prstGeom>
        </p:spPr>
      </p:pic>
      <p:sp>
        <p:nvSpPr>
          <p:cNvPr id="5" name="Slide Number Placeholder 4"/>
          <p:cNvSpPr>
            <a:spLocks noGrp="1"/>
          </p:cNvSpPr>
          <p:nvPr>
            <p:ph type="sldNum" sz="quarter" idx="12"/>
          </p:nvPr>
        </p:nvSpPr>
        <p:spPr/>
        <p:txBody>
          <a:bodyPr/>
          <a:lstStyle/>
          <a:p>
            <a:fld id="{63C103D7-7FC1-4B9F-A526-BC88A3C4AA47}" type="slidenum">
              <a:rPr lang="en-US" smtClean="0"/>
              <a:pPr/>
              <a:t>10</a:t>
            </a:fld>
            <a:endParaRPr lang="en-US" dirty="0"/>
          </a:p>
        </p:txBody>
      </p:sp>
      <p:sp>
        <p:nvSpPr>
          <p:cNvPr id="6" name="Rectangle 5"/>
          <p:cNvSpPr/>
          <p:nvPr/>
        </p:nvSpPr>
        <p:spPr>
          <a:xfrm>
            <a:off x="5597236" y="5808071"/>
            <a:ext cx="3420081" cy="923330"/>
          </a:xfrm>
          <a:prstGeom prst="rect">
            <a:avLst/>
          </a:prstGeom>
        </p:spPr>
        <p:txBody>
          <a:bodyPr wrap="square">
            <a:spAutoFit/>
          </a:bodyPr>
          <a:lstStyle/>
          <a:p>
            <a:r>
              <a:rPr lang="en-US" u="sng" dirty="0">
                <a:solidFill>
                  <a:srgbClr val="FE801A"/>
                </a:solidFill>
                <a:effectLst>
                  <a:outerShdw blurRad="38100" dist="38100" dir="2700000" algn="tl">
                    <a:srgbClr val="000000">
                      <a:alpha val="43137"/>
                    </a:srgbClr>
                  </a:outerShdw>
                </a:effectLst>
                <a:ea typeface="ＭＳ Ｐゴシック" charset="0"/>
              </a:rPr>
              <a:t>OCTET RULE</a:t>
            </a:r>
            <a:r>
              <a:rPr lang="en-US" dirty="0">
                <a:ea typeface="ＭＳ Ｐゴシック" charset="0"/>
              </a:rPr>
              <a:t>: atoms tend to gain, lose, or share e- until they are surrounded by 8 valence e-</a:t>
            </a:r>
            <a:endParaRPr lang="en-US" dirty="0"/>
          </a:p>
        </p:txBody>
      </p:sp>
      <p:sp>
        <p:nvSpPr>
          <p:cNvPr id="8" name="Rectangle 7"/>
          <p:cNvSpPr/>
          <p:nvPr/>
        </p:nvSpPr>
        <p:spPr>
          <a:xfrm>
            <a:off x="594360" y="938606"/>
            <a:ext cx="2307042" cy="461665"/>
          </a:xfrm>
          <a:prstGeom prst="rect">
            <a:avLst/>
          </a:prstGeom>
        </p:spPr>
        <p:txBody>
          <a:bodyPr wrap="none">
            <a:spAutoFit/>
          </a:bodyPr>
          <a:lstStyle/>
          <a:p>
            <a:r>
              <a:rPr lang="en-US" sz="2400" b="1" dirty="0"/>
              <a:t>Example: HCN</a:t>
            </a:r>
          </a:p>
        </p:txBody>
      </p:sp>
      <p:pic>
        <p:nvPicPr>
          <p:cNvPr id="17410" name="Picture 2" descr="https://sp.yimg.com/xj/th?id=JN.Z%2fbNIDb7PM5Sg0PIQMUFMw&amp;pid=15.1&amp;P=0&amp;w=300&amp;h=300"/>
          <p:cNvPicPr>
            <a:picLocks noChangeAspect="1" noChangeArrowheads="1"/>
          </p:cNvPicPr>
          <p:nvPr/>
        </p:nvPicPr>
        <p:blipFill rotWithShape="1">
          <a:blip r:embed="rId4">
            <a:extLst>
              <a:ext uri="{28A0092B-C50C-407E-A947-70E740481C1C}">
                <a14:useLocalDpi xmlns:a14="http://schemas.microsoft.com/office/drawing/2010/main" val="0"/>
              </a:ext>
            </a:extLst>
          </a:blip>
          <a:srcRect l="24069" t="28231" r="18355" b="25837"/>
          <a:stretch/>
        </p:blipFill>
        <p:spPr bwMode="auto">
          <a:xfrm>
            <a:off x="1884793" y="6341338"/>
            <a:ext cx="1710950" cy="540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8760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Effect transition="in" filter="fade">
                                      <p:cBhvr>
                                        <p:cTn id="51" dur="500"/>
                                        <p:tgtEl>
                                          <p:spTgt spid="3">
                                            <p:txEl>
                                              <p:pRg st="9" end="9"/>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
                                            <p:txEl>
                                              <p:pRg st="10" end="10"/>
                                            </p:txEl>
                                          </p:spTgt>
                                        </p:tgtEl>
                                        <p:attrNameLst>
                                          <p:attrName>style.visibility</p:attrName>
                                        </p:attrNameLst>
                                      </p:cBhvr>
                                      <p:to>
                                        <p:strVal val="visible"/>
                                      </p:to>
                                    </p:set>
                                    <p:animEffect transition="in" filter="fade">
                                      <p:cBhvr>
                                        <p:cTn id="56" dur="500"/>
                                        <p:tgtEl>
                                          <p:spTgt spid="3">
                                            <p:txEl>
                                              <p:pRg st="10" end="1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7410"/>
                                        </p:tgtEl>
                                        <p:attrNameLst>
                                          <p:attrName>style.visibility</p:attrName>
                                        </p:attrNameLst>
                                      </p:cBhvr>
                                      <p:to>
                                        <p:strVal val="visible"/>
                                      </p:to>
                                    </p:set>
                                    <p:animEffect transition="in" filter="fade">
                                      <p:cBhvr>
                                        <p:cTn id="61" dur="500"/>
                                        <p:tgtEl>
                                          <p:spTgt spid="1741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3">
                                            <p:txEl>
                                              <p:pRg st="11" end="11"/>
                                            </p:txEl>
                                          </p:spTgt>
                                        </p:tgtEl>
                                        <p:attrNameLst>
                                          <p:attrName>style.visibility</p:attrName>
                                        </p:attrNameLst>
                                      </p:cBhvr>
                                      <p:to>
                                        <p:strVal val="visible"/>
                                      </p:to>
                                    </p:set>
                                    <p:animEffect transition="in" filter="fade">
                                      <p:cBhvr>
                                        <p:cTn id="66" dur="500"/>
                                        <p:tgtEl>
                                          <p:spTgt spid="3">
                                            <p:txEl>
                                              <p:pRg st="11" end="11"/>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3">
                                            <p:txEl>
                                              <p:pRg st="12" end="12"/>
                                            </p:txEl>
                                          </p:spTgt>
                                        </p:tgtEl>
                                        <p:attrNameLst>
                                          <p:attrName>style.visibility</p:attrName>
                                        </p:attrNameLst>
                                      </p:cBhvr>
                                      <p:to>
                                        <p:strVal val="visible"/>
                                      </p:to>
                                    </p:set>
                                    <p:animEffect transition="in" filter="fade">
                                      <p:cBhvr>
                                        <p:cTn id="71" dur="500"/>
                                        <p:tgtEl>
                                          <p:spTgt spid="3">
                                            <p:txEl>
                                              <p:pRg st="12" end="12"/>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3">
                                            <p:txEl>
                                              <p:pRg st="13" end="13"/>
                                            </p:txEl>
                                          </p:spTgt>
                                        </p:tgtEl>
                                        <p:attrNameLst>
                                          <p:attrName>style.visibility</p:attrName>
                                        </p:attrNameLst>
                                      </p:cBhvr>
                                      <p:to>
                                        <p:strVal val="visible"/>
                                      </p:to>
                                    </p:set>
                                    <p:animEffect transition="in" filter="fade">
                                      <p:cBhvr>
                                        <p:cTn id="76" dur="500"/>
                                        <p:tgtEl>
                                          <p:spTgt spid="3">
                                            <p:txEl>
                                              <p:pRg st="13" end="13"/>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3">
                                            <p:txEl>
                                              <p:pRg st="14" end="14"/>
                                            </p:txEl>
                                          </p:spTgt>
                                        </p:tgtEl>
                                        <p:attrNameLst>
                                          <p:attrName>style.visibility</p:attrName>
                                        </p:attrNameLst>
                                      </p:cBhvr>
                                      <p:to>
                                        <p:strVal val="visible"/>
                                      </p:to>
                                    </p:set>
                                    <p:animEffect transition="in" filter="fade">
                                      <p:cBhvr>
                                        <p:cTn id="81" dur="500"/>
                                        <p:tgtEl>
                                          <p:spTgt spid="3">
                                            <p:txEl>
                                              <p:pRg st="14" end="14"/>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
                                            <p:txEl>
                                              <p:pRg st="15" end="15"/>
                                            </p:txEl>
                                          </p:spTgt>
                                        </p:tgtEl>
                                        <p:attrNameLst>
                                          <p:attrName>style.visibility</p:attrName>
                                        </p:attrNameLst>
                                      </p:cBhvr>
                                      <p:to>
                                        <p:strVal val="visible"/>
                                      </p:to>
                                    </p:set>
                                    <p:animEffect transition="in" filter="fade">
                                      <p:cBhvr>
                                        <p:cTn id="86" dur="500"/>
                                        <p:tgtEl>
                                          <p:spTgt spid="3">
                                            <p:txEl>
                                              <p:pRg st="15" end="15"/>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3">
                                            <p:txEl>
                                              <p:pRg st="16" end="16"/>
                                            </p:txEl>
                                          </p:spTgt>
                                        </p:tgtEl>
                                        <p:attrNameLst>
                                          <p:attrName>style.visibility</p:attrName>
                                        </p:attrNameLst>
                                      </p:cBhvr>
                                      <p:to>
                                        <p:strVal val="visible"/>
                                      </p:to>
                                    </p:set>
                                    <p:animEffect transition="in" filter="fade">
                                      <p:cBhvr>
                                        <p:cTn id="91" dur="5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a:xfrm>
            <a:off x="1977390" y="650184"/>
            <a:ext cx="6377940" cy="1254759"/>
          </a:xfrm>
        </p:spPr>
        <p:txBody>
          <a:bodyPr/>
          <a:lstStyle/>
          <a:p>
            <a:r>
              <a:rPr lang="en-US" dirty="0"/>
              <a:t>Practice Drawing Lewis Structures</a:t>
            </a:r>
          </a:p>
        </p:txBody>
      </p:sp>
      <p:sp>
        <p:nvSpPr>
          <p:cNvPr id="60418" name="Rectangle 3"/>
          <p:cNvSpPr>
            <a:spLocks noGrp="1" noChangeArrowheads="1"/>
          </p:cNvSpPr>
          <p:nvPr>
            <p:ph idx="1"/>
          </p:nvPr>
        </p:nvSpPr>
        <p:spPr>
          <a:xfrm>
            <a:off x="446953" y="2466775"/>
            <a:ext cx="3575484" cy="3646513"/>
          </a:xfrm>
        </p:spPr>
        <p:txBody>
          <a:bodyPr/>
          <a:lstStyle/>
          <a:p>
            <a:r>
              <a:rPr lang="en-US" dirty="0"/>
              <a:t>Draw Lewis diagrams of these molecules (covalent compounds):</a:t>
            </a:r>
          </a:p>
          <a:p>
            <a:pPr lvl="1"/>
            <a:r>
              <a:rPr lang="en-US" dirty="0"/>
              <a:t>CHCl</a:t>
            </a:r>
            <a:r>
              <a:rPr lang="en-US" baseline="-25000" dirty="0"/>
              <a:t>3</a:t>
            </a:r>
          </a:p>
          <a:p>
            <a:pPr lvl="1"/>
            <a:r>
              <a:rPr lang="en-US" dirty="0"/>
              <a:t>CH</a:t>
            </a:r>
            <a:r>
              <a:rPr lang="en-US" baseline="-25000" dirty="0"/>
              <a:t>2</a:t>
            </a:r>
            <a:r>
              <a:rPr lang="en-US" dirty="0"/>
              <a:t>O</a:t>
            </a:r>
          </a:p>
          <a:p>
            <a:endParaRPr lang="en-US" dirty="0"/>
          </a:p>
        </p:txBody>
      </p:sp>
      <p:sp>
        <p:nvSpPr>
          <p:cNvPr id="4" name="Slide Number Placeholder 3"/>
          <p:cNvSpPr>
            <a:spLocks noGrp="1"/>
          </p:cNvSpPr>
          <p:nvPr>
            <p:ph type="sldNum" sz="quarter" idx="12"/>
          </p:nvPr>
        </p:nvSpPr>
        <p:spPr/>
        <p:txBody>
          <a:bodyPr/>
          <a:lstStyle/>
          <a:p>
            <a:fld id="{63C103D7-7FC1-4B9F-A526-BC88A3C4AA47}" type="slidenum">
              <a:rPr lang="en-US" smtClean="0"/>
              <a:pPr/>
              <a:t>11</a:t>
            </a:fld>
            <a:endParaRPr lang="en-US" dirty="0"/>
          </a:p>
        </p:txBody>
      </p:sp>
      <p:pic>
        <p:nvPicPr>
          <p:cNvPr id="5" name="Picture 2" descr="http://www.chemeddl.org/alfresco/d/d/workspace/SpacesStore/3709939e-0669-463e-b544-7373bc5553f2/chcl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0410" y="4758691"/>
            <a:ext cx="1624917" cy="164946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http://wiki.chemprime.chemeddl.org/images/f/f0/Formaldehyd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7832" y="4883849"/>
            <a:ext cx="1669460" cy="1494751"/>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p:cNvSpPr txBox="1">
            <a:spLocks/>
          </p:cNvSpPr>
          <p:nvPr/>
        </p:nvSpPr>
        <p:spPr>
          <a:xfrm>
            <a:off x="3959499" y="2392547"/>
            <a:ext cx="4957554" cy="269822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457200" indent="-457200">
              <a:buFont typeface="+mj-lt"/>
              <a:buAutoNum type="arabicParenR"/>
            </a:pPr>
            <a:r>
              <a:rPr lang="en-US" dirty="0">
                <a:solidFill>
                  <a:srgbClr val="CC00CC"/>
                </a:solidFill>
              </a:rPr>
              <a:t>Count the valence e- present</a:t>
            </a:r>
          </a:p>
          <a:p>
            <a:pPr marL="457200" indent="-457200">
              <a:buFont typeface="+mj-lt"/>
              <a:buAutoNum type="arabicParenR"/>
            </a:pPr>
            <a:r>
              <a:rPr lang="en-US" dirty="0">
                <a:solidFill>
                  <a:schemeClr val="accent6"/>
                </a:solidFill>
              </a:rPr>
              <a:t>Predict the connectivity of the atoms </a:t>
            </a:r>
          </a:p>
          <a:p>
            <a:pPr marL="457200" lvl="1" indent="0">
              <a:buNone/>
            </a:pPr>
            <a:r>
              <a:rPr lang="en-US" dirty="0">
                <a:solidFill>
                  <a:srgbClr val="69ACE2"/>
                </a:solidFill>
              </a:rPr>
              <a:t>Central atom = atom that can form the most bonds and/or is the least electronegative atom</a:t>
            </a:r>
            <a:endParaRPr lang="en-US" dirty="0">
              <a:solidFill>
                <a:schemeClr val="accent6"/>
              </a:solidFill>
            </a:endParaRPr>
          </a:p>
          <a:p>
            <a:pPr marL="457200" indent="-457200">
              <a:buFont typeface="+mj-lt"/>
              <a:buAutoNum type="arabicParenR"/>
            </a:pPr>
            <a:r>
              <a:rPr lang="en-US" dirty="0">
                <a:solidFill>
                  <a:srgbClr val="92D050"/>
                </a:solidFill>
              </a:rPr>
              <a:t>Draw single bonds to connect all atoms</a:t>
            </a:r>
          </a:p>
          <a:p>
            <a:pPr marL="457200" indent="-457200">
              <a:buFont typeface="+mj-lt"/>
              <a:buAutoNum type="arabicParenR"/>
            </a:pPr>
            <a:r>
              <a:rPr lang="en-US" dirty="0">
                <a:solidFill>
                  <a:schemeClr val="accent2"/>
                </a:solidFill>
              </a:rPr>
              <a:t>Use remaining e- as lone pairs to complete octets of all atoms </a:t>
            </a:r>
            <a:r>
              <a:rPr lang="en-US" sz="2000" i="1" dirty="0">
                <a:solidFill>
                  <a:schemeClr val="accent2"/>
                </a:solidFill>
              </a:rPr>
              <a:t>(give e- to most electronegative atoms first)</a:t>
            </a:r>
          </a:p>
          <a:p>
            <a:pPr lvl="1"/>
            <a:r>
              <a:rPr lang="en-US" sz="1700" dirty="0">
                <a:solidFill>
                  <a:schemeClr val="accent2"/>
                </a:solidFill>
              </a:rPr>
              <a:t>If there are not enough e- to go around, convert some lone pairs to bonding pairs</a:t>
            </a:r>
          </a:p>
          <a:p>
            <a:pPr lvl="1"/>
            <a:r>
              <a:rPr lang="en-US" sz="1700" dirty="0">
                <a:solidFill>
                  <a:schemeClr val="accent2"/>
                </a:solidFill>
              </a:rPr>
              <a:t>If there are more e- than needed, put remaining e- on the central atom as lone pairs </a:t>
            </a:r>
            <a:r>
              <a:rPr lang="en-US" sz="1500" dirty="0">
                <a:solidFill>
                  <a:schemeClr val="accent2"/>
                </a:solidFill>
              </a:rPr>
              <a:t>(if the central atom is from period 3 or higher)</a:t>
            </a:r>
          </a:p>
          <a:p>
            <a:pPr marL="457200" indent="-457200">
              <a:buFont typeface="+mj-lt"/>
              <a:buAutoNum type="arabicParenR"/>
            </a:pPr>
            <a:r>
              <a:rPr lang="en-US" dirty="0">
                <a:solidFill>
                  <a:srgbClr val="C00000"/>
                </a:solidFill>
              </a:rPr>
              <a:t>Check that the # of e- in your structure matches the # in step 1</a:t>
            </a:r>
          </a:p>
          <a:p>
            <a:pPr marL="457200" indent="-457200">
              <a:buFont typeface="+mj-lt"/>
              <a:buAutoNum type="arabicParenR"/>
            </a:pPr>
            <a:r>
              <a:rPr lang="en-US" dirty="0"/>
              <a:t>Check the # of bonds (total + individual)</a:t>
            </a:r>
          </a:p>
          <a:p>
            <a:endParaRPr lang="en-US" dirty="0"/>
          </a:p>
        </p:txBody>
      </p:sp>
    </p:spTree>
    <p:extLst>
      <p:ext uri="{BB962C8B-B14F-4D97-AF65-F5344CB8AC3E}">
        <p14:creationId xmlns:p14="http://schemas.microsoft.com/office/powerpoint/2010/main" val="22036149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000"/>
                            </p:stCondLst>
                            <p:childTnLst>
                              <p:par>
                                <p:cTn id="5" presetID="10"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500"/>
                                        <p:tgtEl>
                                          <p:spTgt spid="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fade">
                                      <p:cBhvr>
                                        <p:cTn id="13" dur="500"/>
                                        <p:tgtEl>
                                          <p:spTgt spid="9">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fade">
                                      <p:cBhvr>
                                        <p:cTn id="16" dur="500"/>
                                        <p:tgtEl>
                                          <p:spTgt spid="9">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fade">
                                      <p:cBhvr>
                                        <p:cTn id="19" dur="500"/>
                                        <p:tgtEl>
                                          <p:spTgt spid="9">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fade">
                                      <p:cBhvr>
                                        <p:cTn id="22" dur="500"/>
                                        <p:tgtEl>
                                          <p:spTgt spid="9">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animEffect transition="in" filter="fade">
                                      <p:cBhvr>
                                        <p:cTn id="25" dur="500"/>
                                        <p:tgtEl>
                                          <p:spTgt spid="9">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9">
                                            <p:txEl>
                                              <p:pRg st="7" end="7"/>
                                            </p:txEl>
                                          </p:spTgt>
                                        </p:tgtEl>
                                        <p:attrNameLst>
                                          <p:attrName>style.visibility</p:attrName>
                                        </p:attrNameLst>
                                      </p:cBhvr>
                                      <p:to>
                                        <p:strVal val="visible"/>
                                      </p:to>
                                    </p:set>
                                    <p:animEffect transition="in" filter="fade">
                                      <p:cBhvr>
                                        <p:cTn id="28" dur="500"/>
                                        <p:tgtEl>
                                          <p:spTgt spid="9">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animEffect transition="in" filter="fade">
                                      <p:cBhvr>
                                        <p:cTn id="31" dur="500"/>
                                        <p:tgtEl>
                                          <p:spTgt spid="9">
                                            <p:txEl>
                                              <p:pRg st="8" end="8"/>
                                            </p:txEl>
                                          </p:spTgt>
                                        </p:tgtEl>
                                      </p:cBhvr>
                                    </p:animEffect>
                                  </p:childTnLst>
                                </p:cTn>
                              </p:par>
                            </p:childTnLst>
                          </p:cTn>
                        </p:par>
                        <p:par>
                          <p:cTn id="32" fill="hold">
                            <p:stCondLst>
                              <p:cond delay="1500"/>
                            </p:stCondLst>
                            <p:childTnLst>
                              <p:par>
                                <p:cTn id="33" presetID="10" presetClass="entr" presetSubtype="0" fill="hold" nodeType="afterEffect">
                                  <p:stCondLst>
                                    <p:cond delay="0"/>
                                  </p:stCondLst>
                                  <p:childTnLst>
                                    <p:set>
                                      <p:cBhvr>
                                        <p:cTn id="34" dur="1" fill="hold">
                                          <p:stCondLst>
                                            <p:cond delay="0"/>
                                          </p:stCondLst>
                                        </p:cTn>
                                        <p:tgtEl>
                                          <p:spTgt spid="60418">
                                            <p:txEl>
                                              <p:pRg st="1" end="1"/>
                                            </p:txEl>
                                          </p:spTgt>
                                        </p:tgtEl>
                                        <p:attrNameLst>
                                          <p:attrName>style.visibility</p:attrName>
                                        </p:attrNameLst>
                                      </p:cBhvr>
                                      <p:to>
                                        <p:strVal val="visible"/>
                                      </p:to>
                                    </p:set>
                                    <p:animEffect transition="in" filter="fade">
                                      <p:cBhvr>
                                        <p:cTn id="35" dur="500"/>
                                        <p:tgtEl>
                                          <p:spTgt spid="60418">
                                            <p:txEl>
                                              <p:pRg st="1" end="1"/>
                                            </p:txEl>
                                          </p:spTgt>
                                        </p:tgtEl>
                                      </p:cBhvr>
                                    </p:animEffect>
                                  </p:childTnLst>
                                </p:cTn>
                              </p:par>
                            </p:childTnLst>
                          </p:cTn>
                        </p:par>
                        <p:par>
                          <p:cTn id="36" fill="hold">
                            <p:stCondLst>
                              <p:cond delay="2000"/>
                            </p:stCondLst>
                            <p:childTnLst>
                              <p:par>
                                <p:cTn id="37" presetID="10" presetClass="entr" presetSubtype="0" fill="hold" nodeType="afterEffect">
                                  <p:stCondLst>
                                    <p:cond delay="0"/>
                                  </p:stCondLst>
                                  <p:childTnLst>
                                    <p:set>
                                      <p:cBhvr>
                                        <p:cTn id="38" dur="1" fill="hold">
                                          <p:stCondLst>
                                            <p:cond delay="0"/>
                                          </p:stCondLst>
                                        </p:cTn>
                                        <p:tgtEl>
                                          <p:spTgt spid="60418">
                                            <p:txEl>
                                              <p:pRg st="2" end="2"/>
                                            </p:txEl>
                                          </p:spTgt>
                                        </p:tgtEl>
                                        <p:attrNameLst>
                                          <p:attrName>style.visibility</p:attrName>
                                        </p:attrNameLst>
                                      </p:cBhvr>
                                      <p:to>
                                        <p:strVal val="visible"/>
                                      </p:to>
                                    </p:set>
                                    <p:animEffect transition="in" filter="fade">
                                      <p:cBhvr>
                                        <p:cTn id="39" dur="500"/>
                                        <p:tgtEl>
                                          <p:spTgt spid="60418">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500"/>
                                        <p:tgtEl>
                                          <p:spTgt spid="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fade">
                                      <p:cBhvr>
                                        <p:cTn id="4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305456" y="4023002"/>
            <a:ext cx="5898977" cy="402715"/>
          </a:xfrm>
          <a:prstGeom prst="rect">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81922" name="Rectangle 1027"/>
          <p:cNvSpPr>
            <a:spLocks noGrp="1" noChangeArrowheads="1"/>
          </p:cNvSpPr>
          <p:nvPr>
            <p:ph type="body" idx="1"/>
          </p:nvPr>
        </p:nvSpPr>
        <p:spPr>
          <a:xfrm>
            <a:off x="498969" y="1908788"/>
            <a:ext cx="8410222" cy="4228428"/>
          </a:xfrm>
        </p:spPr>
        <p:txBody>
          <a:bodyPr>
            <a:normAutofit/>
          </a:bodyPr>
          <a:lstStyle/>
          <a:p>
            <a:pPr marL="0" indent="0">
              <a:buNone/>
              <a:defRPr/>
            </a:pPr>
            <a:r>
              <a:rPr lang="en-US" sz="2800" dirty="0">
                <a:solidFill>
                  <a:srgbClr val="000000"/>
                </a:solidFill>
              </a:rPr>
              <a:t>Draw a Lewis structure for </a:t>
            </a:r>
            <a:r>
              <a:rPr lang="en-US" sz="2800" dirty="0" err="1">
                <a:solidFill>
                  <a:srgbClr val="000000"/>
                </a:solidFill>
              </a:rPr>
              <a:t>thioformaldehyde</a:t>
            </a:r>
            <a:r>
              <a:rPr lang="en-US" sz="2800" dirty="0">
                <a:solidFill>
                  <a:srgbClr val="000000"/>
                </a:solidFill>
              </a:rPr>
              <a:t>, CH</a:t>
            </a:r>
            <a:r>
              <a:rPr lang="en-US" sz="2800" baseline="-25000" dirty="0">
                <a:solidFill>
                  <a:srgbClr val="000000"/>
                </a:solidFill>
              </a:rPr>
              <a:t>2</a:t>
            </a:r>
            <a:r>
              <a:rPr lang="en-US" sz="2800" dirty="0">
                <a:solidFill>
                  <a:srgbClr val="000000"/>
                </a:solidFill>
              </a:rPr>
              <a:t>S.  </a:t>
            </a:r>
          </a:p>
          <a:p>
            <a:pPr marL="0" indent="0">
              <a:buNone/>
              <a:defRPr/>
            </a:pPr>
            <a:r>
              <a:rPr lang="en-US" sz="2800" dirty="0">
                <a:solidFill>
                  <a:srgbClr val="000000"/>
                </a:solidFill>
              </a:rPr>
              <a:t>How many single and double bonds does C have?</a:t>
            </a:r>
          </a:p>
          <a:p>
            <a:pPr marL="0" indent="0">
              <a:buNone/>
              <a:defRPr/>
            </a:pPr>
            <a:endParaRPr lang="en-US" sz="2800" dirty="0">
              <a:solidFill>
                <a:srgbClr val="000000"/>
              </a:solidFill>
            </a:endParaRPr>
          </a:p>
          <a:p>
            <a:pPr marL="514350" indent="-514350">
              <a:buFont typeface="+mj-lt"/>
              <a:buAutoNum type="alphaUcPeriod"/>
              <a:defRPr/>
            </a:pPr>
            <a:r>
              <a:rPr lang="en-US" sz="2800" dirty="0">
                <a:solidFill>
                  <a:srgbClr val="000000"/>
                </a:solidFill>
              </a:rPr>
              <a:t>3 single bonds, 0 double bonds</a:t>
            </a:r>
          </a:p>
          <a:p>
            <a:pPr marL="514350" indent="-514350">
              <a:buFont typeface="+mj-lt"/>
              <a:buAutoNum type="alphaUcPeriod"/>
              <a:defRPr/>
            </a:pPr>
            <a:r>
              <a:rPr lang="en-US" sz="2800" dirty="0">
                <a:solidFill>
                  <a:srgbClr val="000000"/>
                </a:solidFill>
              </a:rPr>
              <a:t>2 single bonds, 1 double bond</a:t>
            </a:r>
          </a:p>
          <a:p>
            <a:pPr marL="514350" indent="-514350">
              <a:buFont typeface="+mj-lt"/>
              <a:buAutoNum type="alphaUcPeriod"/>
              <a:defRPr/>
            </a:pPr>
            <a:r>
              <a:rPr lang="en-US" sz="2800" dirty="0">
                <a:solidFill>
                  <a:srgbClr val="000000"/>
                </a:solidFill>
              </a:rPr>
              <a:t>1 single bond, 2 double bonds</a:t>
            </a:r>
          </a:p>
          <a:p>
            <a:pPr marL="514350" indent="-514350">
              <a:buFont typeface="+mj-lt"/>
              <a:buAutoNum type="alphaUcPeriod"/>
              <a:defRPr/>
            </a:pPr>
            <a:r>
              <a:rPr lang="en-US" sz="2800" dirty="0">
                <a:solidFill>
                  <a:srgbClr val="000000"/>
                </a:solidFill>
              </a:rPr>
              <a:t>0 single bonds, 3 double bonds</a:t>
            </a:r>
          </a:p>
          <a:p>
            <a:pPr marL="514350" indent="-514350">
              <a:buFont typeface="+mj-lt"/>
              <a:buAutoNum type="alphaUcPeriod"/>
              <a:defRPr/>
            </a:pPr>
            <a:r>
              <a:rPr lang="en-US" sz="2800" dirty="0">
                <a:solidFill>
                  <a:srgbClr val="000000"/>
                </a:solidFill>
              </a:rPr>
              <a:t>None of the above</a:t>
            </a:r>
          </a:p>
          <a:p>
            <a:pPr marL="966788" lvl="1" indent="-509588">
              <a:buFontTx/>
              <a:buAutoNum type="alphaUcPeriod"/>
              <a:defRPr/>
            </a:pPr>
            <a:endParaRPr lang="en-US" sz="2800" baseline="30000" dirty="0">
              <a:solidFill>
                <a:srgbClr val="000000"/>
              </a:solidFill>
            </a:endParaRPr>
          </a:p>
          <a:p>
            <a:pPr marL="762000" lvl="1" indent="-304800">
              <a:buFontTx/>
              <a:buAutoNum type="alphaUcPeriod"/>
              <a:defRPr/>
            </a:pPr>
            <a:endParaRPr lang="en-US" sz="2800" baseline="30000" dirty="0">
              <a:solidFill>
                <a:srgbClr val="000000"/>
              </a:solidFill>
            </a:endParaRPr>
          </a:p>
        </p:txBody>
      </p:sp>
      <p:sp>
        <p:nvSpPr>
          <p:cNvPr id="88066" name="Rectangle 1026"/>
          <p:cNvSpPr>
            <a:spLocks noGrp="1" noChangeArrowheads="1"/>
          </p:cNvSpPr>
          <p:nvPr>
            <p:ph type="title"/>
          </p:nvPr>
        </p:nvSpPr>
        <p:spPr>
          <a:xfrm>
            <a:off x="2821577" y="381001"/>
            <a:ext cx="5355771" cy="1254759"/>
          </a:xfrm>
        </p:spPr>
        <p:txBody>
          <a:bodyPr/>
          <a:lstStyle/>
          <a:p>
            <a:pPr>
              <a:defRPr/>
            </a:pPr>
            <a:r>
              <a:rPr lang="en-US" cap="none" dirty="0" err="1">
                <a:latin typeface="Comic Sans MS" charset="0"/>
                <a:ea typeface="ＭＳ Ｐゴシック" charset="0"/>
                <a:cs typeface="ＭＳ Ｐゴシック" charset="0"/>
              </a:rPr>
              <a:t>i</a:t>
            </a:r>
            <a:r>
              <a:rPr lang="en-US" dirty="0" err="1">
                <a:latin typeface="Comic Sans MS" charset="0"/>
                <a:ea typeface="ＭＳ Ｐゴシック" charset="0"/>
                <a:cs typeface="ＭＳ Ｐゴシック" charset="0"/>
              </a:rPr>
              <a:t>Clicker</a:t>
            </a:r>
            <a:r>
              <a:rPr lang="en-US" dirty="0">
                <a:latin typeface="Comic Sans MS" charset="0"/>
                <a:ea typeface="ＭＳ Ｐゴシック" charset="0"/>
                <a:cs typeface="ＭＳ Ｐゴシック" charset="0"/>
              </a:rPr>
              <a:t> Quiz</a:t>
            </a:r>
          </a:p>
        </p:txBody>
      </p:sp>
      <p:sp>
        <p:nvSpPr>
          <p:cNvPr id="5" name="Slide Number Placeholder 4"/>
          <p:cNvSpPr>
            <a:spLocks noGrp="1"/>
          </p:cNvSpPr>
          <p:nvPr>
            <p:ph type="sldNum" sz="quarter" idx="12"/>
          </p:nvPr>
        </p:nvSpPr>
        <p:spPr/>
        <p:txBody>
          <a:bodyPr/>
          <a:lstStyle/>
          <a:p>
            <a:fld id="{63C103D7-7FC1-4B9F-A526-BC88A3C4AA47}" type="slidenum">
              <a:rPr lang="en-US" smtClean="0"/>
              <a:pPr/>
              <a:t>12</a:t>
            </a:fld>
            <a:endParaRPr lang="en-US" dirty="0"/>
          </a:p>
        </p:txBody>
      </p:sp>
      <p:pic>
        <p:nvPicPr>
          <p:cNvPr id="19458" name="Picture 2" descr="Image result for thioformaldehyd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0987" y="3511317"/>
            <a:ext cx="1562793" cy="18288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Student iClicker Information - Canvas | Colorado State University"/>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0284" r="78997" b="11252"/>
          <a:stretch/>
        </p:blipFill>
        <p:spPr bwMode="auto">
          <a:xfrm>
            <a:off x="185095" y="114496"/>
            <a:ext cx="715651" cy="802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2446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1922">
                                            <p:txEl>
                                              <p:pRg st="0" end="0"/>
                                            </p:txEl>
                                          </p:spTgt>
                                        </p:tgtEl>
                                        <p:attrNameLst>
                                          <p:attrName>style.visibility</p:attrName>
                                        </p:attrNameLst>
                                      </p:cBhvr>
                                      <p:to>
                                        <p:strVal val="visible"/>
                                      </p:to>
                                    </p:set>
                                    <p:animEffect transition="in" filter="fade">
                                      <p:cBhvr>
                                        <p:cTn id="7" dur="500"/>
                                        <p:tgtEl>
                                          <p:spTgt spid="819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1922">
                                            <p:txEl>
                                              <p:pRg st="1" end="1"/>
                                            </p:txEl>
                                          </p:spTgt>
                                        </p:tgtEl>
                                        <p:attrNameLst>
                                          <p:attrName>style.visibility</p:attrName>
                                        </p:attrNameLst>
                                      </p:cBhvr>
                                      <p:to>
                                        <p:strVal val="visible"/>
                                      </p:to>
                                    </p:set>
                                    <p:animEffect transition="in" filter="fade">
                                      <p:cBhvr>
                                        <p:cTn id="12" dur="500"/>
                                        <p:tgtEl>
                                          <p:spTgt spid="81922">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1922">
                                            <p:txEl>
                                              <p:pRg st="3" end="3"/>
                                            </p:txEl>
                                          </p:spTgt>
                                        </p:tgtEl>
                                        <p:attrNameLst>
                                          <p:attrName>style.visibility</p:attrName>
                                        </p:attrNameLst>
                                      </p:cBhvr>
                                      <p:to>
                                        <p:strVal val="visible"/>
                                      </p:to>
                                    </p:set>
                                    <p:animEffect transition="in" filter="fade">
                                      <p:cBhvr>
                                        <p:cTn id="15" dur="500"/>
                                        <p:tgtEl>
                                          <p:spTgt spid="81922">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1922">
                                            <p:txEl>
                                              <p:pRg st="4" end="4"/>
                                            </p:txEl>
                                          </p:spTgt>
                                        </p:tgtEl>
                                        <p:attrNameLst>
                                          <p:attrName>style.visibility</p:attrName>
                                        </p:attrNameLst>
                                      </p:cBhvr>
                                      <p:to>
                                        <p:strVal val="visible"/>
                                      </p:to>
                                    </p:set>
                                    <p:animEffect transition="in" filter="fade">
                                      <p:cBhvr>
                                        <p:cTn id="18" dur="500"/>
                                        <p:tgtEl>
                                          <p:spTgt spid="81922">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81922">
                                            <p:txEl>
                                              <p:pRg st="5" end="5"/>
                                            </p:txEl>
                                          </p:spTgt>
                                        </p:tgtEl>
                                        <p:attrNameLst>
                                          <p:attrName>style.visibility</p:attrName>
                                        </p:attrNameLst>
                                      </p:cBhvr>
                                      <p:to>
                                        <p:strVal val="visible"/>
                                      </p:to>
                                    </p:set>
                                    <p:animEffect transition="in" filter="fade">
                                      <p:cBhvr>
                                        <p:cTn id="21" dur="500"/>
                                        <p:tgtEl>
                                          <p:spTgt spid="81922">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81922">
                                            <p:txEl>
                                              <p:pRg st="6" end="6"/>
                                            </p:txEl>
                                          </p:spTgt>
                                        </p:tgtEl>
                                        <p:attrNameLst>
                                          <p:attrName>style.visibility</p:attrName>
                                        </p:attrNameLst>
                                      </p:cBhvr>
                                      <p:to>
                                        <p:strVal val="visible"/>
                                      </p:to>
                                    </p:set>
                                    <p:animEffect transition="in" filter="fade">
                                      <p:cBhvr>
                                        <p:cTn id="24" dur="500"/>
                                        <p:tgtEl>
                                          <p:spTgt spid="81922">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81922">
                                            <p:txEl>
                                              <p:pRg st="7" end="7"/>
                                            </p:txEl>
                                          </p:spTgt>
                                        </p:tgtEl>
                                        <p:attrNameLst>
                                          <p:attrName>style.visibility</p:attrName>
                                        </p:attrNameLst>
                                      </p:cBhvr>
                                      <p:to>
                                        <p:strVal val="visible"/>
                                      </p:to>
                                    </p:set>
                                    <p:animEffect transition="in" filter="fade">
                                      <p:cBhvr>
                                        <p:cTn id="27" dur="500"/>
                                        <p:tgtEl>
                                          <p:spTgt spid="81922">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8"/>
                                        </p:tgtEl>
                                        <p:attrNameLst>
                                          <p:attrName>style.visibility</p:attrName>
                                        </p:attrNameLst>
                                      </p:cBhvr>
                                      <p:to>
                                        <p:strVal val="visible"/>
                                      </p:to>
                                    </p:set>
                                    <p:animEffect transition="in" filter="fade">
                                      <p:cBhvr>
                                        <p:cTn id="32" dur="500"/>
                                        <p:tgtEl>
                                          <p:spTgt spid="1945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3"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47446" y="1524001"/>
            <a:ext cx="6740769" cy="5140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194" name="Rectangle 3"/>
          <p:cNvSpPr>
            <a:spLocks noChangeArrowheads="1"/>
          </p:cNvSpPr>
          <p:nvPr/>
        </p:nvSpPr>
        <p:spPr bwMode="auto">
          <a:xfrm>
            <a:off x="1203082" y="1006666"/>
            <a:ext cx="7346558" cy="5822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square" lIns="90487" tIns="44450" rIns="90487" bIns="44450">
            <a:spAutoFit/>
          </a:bodyPr>
          <a:lstStyle/>
          <a:p>
            <a:pPr algn="r"/>
            <a:r>
              <a:rPr lang="en-US" sz="3200" dirty="0">
                <a:solidFill>
                  <a:schemeClr val="hlink"/>
                </a:solidFill>
                <a:latin typeface="Gill Sans"/>
                <a:cs typeface="Gill Sans"/>
              </a:rPr>
              <a:t># of bonds between a pair of atoms</a:t>
            </a:r>
          </a:p>
        </p:txBody>
      </p:sp>
      <p:grpSp>
        <p:nvGrpSpPr>
          <p:cNvPr id="2" name="Group 4"/>
          <p:cNvGrpSpPr>
            <a:grpSpLocks/>
          </p:cNvGrpSpPr>
          <p:nvPr/>
        </p:nvGrpSpPr>
        <p:grpSpPr bwMode="auto">
          <a:xfrm>
            <a:off x="1547446" y="2286000"/>
            <a:ext cx="2512638" cy="1524000"/>
            <a:chOff x="672" y="1296"/>
            <a:chExt cx="1583" cy="960"/>
          </a:xfrm>
        </p:grpSpPr>
        <p:sp>
          <p:nvSpPr>
            <p:cNvPr id="100357" name="Text Box 5"/>
            <p:cNvSpPr txBox="1">
              <a:spLocks noChangeArrowheads="1"/>
            </p:cNvSpPr>
            <p:nvPr/>
          </p:nvSpPr>
          <p:spPr bwMode="auto">
            <a:xfrm>
              <a:off x="672" y="1296"/>
              <a:ext cx="1583" cy="368"/>
            </a:xfrm>
            <a:prstGeom prst="rect">
              <a:avLst/>
            </a:prstGeom>
            <a:noFill/>
            <a:ln w="12700">
              <a:noFill/>
              <a:miter lim="800000"/>
              <a:headEnd/>
              <a:tailEnd/>
            </a:ln>
            <a:effectLst>
              <a:outerShdw blurRad="63500" dist="38099" dir="2700000" algn="ctr" rotWithShape="0">
                <a:schemeClr val="bg2">
                  <a:alpha val="74998"/>
                </a:schemeClr>
              </a:outerShdw>
            </a:effectLst>
          </p:spPr>
          <p:txBody>
            <a:bodyPr wrap="none">
              <a:spAutoFit/>
            </a:bodyPr>
            <a:lstStyle/>
            <a:p>
              <a:pPr>
                <a:defRPr/>
              </a:pPr>
              <a:r>
                <a:rPr lang="en-US" sz="3200" dirty="0">
                  <a:solidFill>
                    <a:schemeClr val="tx1"/>
                  </a:solidFill>
                  <a:latin typeface="Arial" pitchFamily="-112" charset="0"/>
                  <a:ea typeface="+mn-ea"/>
                  <a:cs typeface="+mn-cs"/>
                </a:rPr>
                <a:t>Double bond</a:t>
              </a:r>
            </a:p>
          </p:txBody>
        </p:sp>
        <p:sp>
          <p:nvSpPr>
            <p:cNvPr id="100358" name="Line 6"/>
            <p:cNvSpPr>
              <a:spLocks noChangeShapeType="1"/>
            </p:cNvSpPr>
            <p:nvPr/>
          </p:nvSpPr>
          <p:spPr bwMode="auto">
            <a:xfrm>
              <a:off x="1632" y="1728"/>
              <a:ext cx="432" cy="528"/>
            </a:xfrm>
            <a:prstGeom prst="line">
              <a:avLst/>
            </a:prstGeom>
            <a:noFill/>
            <a:ln w="38100">
              <a:solidFill>
                <a:srgbClr val="000000"/>
              </a:solidFill>
              <a:round/>
              <a:headEnd/>
              <a:tailEnd type="triangle" w="med" len="med"/>
            </a:ln>
            <a:effectLst>
              <a:outerShdw blurRad="63500" dist="17961"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latin typeface="Arial" pitchFamily="-112" charset="0"/>
                <a:ea typeface="+mn-ea"/>
                <a:cs typeface="+mn-cs"/>
              </a:endParaRPr>
            </a:p>
          </p:txBody>
        </p:sp>
      </p:grpSp>
      <p:grpSp>
        <p:nvGrpSpPr>
          <p:cNvPr id="3" name="Group 7"/>
          <p:cNvGrpSpPr>
            <a:grpSpLocks/>
          </p:cNvGrpSpPr>
          <p:nvPr/>
        </p:nvGrpSpPr>
        <p:grpSpPr bwMode="auto">
          <a:xfrm>
            <a:off x="5279782" y="2454276"/>
            <a:ext cx="2351707" cy="1508125"/>
            <a:chOff x="3254" y="1450"/>
            <a:chExt cx="1481" cy="950"/>
          </a:xfrm>
        </p:grpSpPr>
        <p:sp>
          <p:nvSpPr>
            <p:cNvPr id="100360" name="Text Box 8"/>
            <p:cNvSpPr txBox="1">
              <a:spLocks noChangeArrowheads="1"/>
            </p:cNvSpPr>
            <p:nvPr/>
          </p:nvSpPr>
          <p:spPr bwMode="auto">
            <a:xfrm>
              <a:off x="3254" y="1450"/>
              <a:ext cx="1481" cy="368"/>
            </a:xfrm>
            <a:prstGeom prst="rect">
              <a:avLst/>
            </a:prstGeom>
            <a:noFill/>
            <a:ln w="12700">
              <a:noFill/>
              <a:miter lim="800000"/>
              <a:headEnd/>
              <a:tailEnd/>
            </a:ln>
            <a:effectLst>
              <a:outerShdw blurRad="63500" dist="38099" dir="2700000" algn="ctr" rotWithShape="0">
                <a:schemeClr val="bg2">
                  <a:alpha val="74998"/>
                </a:schemeClr>
              </a:outerShdw>
            </a:effectLst>
          </p:spPr>
          <p:txBody>
            <a:bodyPr wrap="none">
              <a:spAutoFit/>
            </a:bodyPr>
            <a:lstStyle/>
            <a:p>
              <a:pPr>
                <a:defRPr/>
              </a:pPr>
              <a:r>
                <a:rPr lang="en-US" sz="3200" dirty="0">
                  <a:solidFill>
                    <a:schemeClr val="tx1"/>
                  </a:solidFill>
                  <a:latin typeface="Arial" pitchFamily="-112" charset="0"/>
                  <a:ea typeface="+mn-ea"/>
                  <a:cs typeface="+mn-cs"/>
                </a:rPr>
                <a:t>Single bond</a:t>
              </a:r>
            </a:p>
          </p:txBody>
        </p:sp>
        <p:sp>
          <p:nvSpPr>
            <p:cNvPr id="100361" name="Line 9"/>
            <p:cNvSpPr>
              <a:spLocks noChangeShapeType="1"/>
            </p:cNvSpPr>
            <p:nvPr/>
          </p:nvSpPr>
          <p:spPr bwMode="auto">
            <a:xfrm flipH="1">
              <a:off x="3456" y="1872"/>
              <a:ext cx="192" cy="528"/>
            </a:xfrm>
            <a:prstGeom prst="line">
              <a:avLst/>
            </a:prstGeom>
            <a:noFill/>
            <a:ln w="38100">
              <a:solidFill>
                <a:schemeClr val="tx1"/>
              </a:solidFill>
              <a:round/>
              <a:headEnd/>
              <a:tailEnd type="triangle" w="med" len="med"/>
            </a:ln>
            <a:effectLst>
              <a:outerShdw blurRad="63500" dist="17961"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latin typeface="Arial" pitchFamily="-112" charset="0"/>
                <a:ea typeface="+mn-ea"/>
                <a:cs typeface="+mn-cs"/>
              </a:endParaRPr>
            </a:p>
          </p:txBody>
        </p:sp>
      </p:grpSp>
      <p:grpSp>
        <p:nvGrpSpPr>
          <p:cNvPr id="4" name="Group 10"/>
          <p:cNvGrpSpPr>
            <a:grpSpLocks/>
          </p:cNvGrpSpPr>
          <p:nvPr/>
        </p:nvGrpSpPr>
        <p:grpSpPr bwMode="auto">
          <a:xfrm>
            <a:off x="4923692" y="5486401"/>
            <a:ext cx="1754066" cy="1077913"/>
            <a:chOff x="3168" y="3408"/>
            <a:chExt cx="1104" cy="679"/>
          </a:xfrm>
        </p:grpSpPr>
        <p:sp>
          <p:nvSpPr>
            <p:cNvPr id="100363" name="Text Box 11"/>
            <p:cNvSpPr txBox="1">
              <a:spLocks noChangeArrowheads="1"/>
            </p:cNvSpPr>
            <p:nvPr/>
          </p:nvSpPr>
          <p:spPr bwMode="auto">
            <a:xfrm>
              <a:off x="3168" y="3408"/>
              <a:ext cx="1066" cy="679"/>
            </a:xfrm>
            <a:prstGeom prst="rect">
              <a:avLst/>
            </a:prstGeom>
            <a:noFill/>
            <a:ln w="12700">
              <a:noFill/>
              <a:miter lim="800000"/>
              <a:headEnd/>
              <a:tailEnd/>
            </a:ln>
            <a:effectLst>
              <a:outerShdw blurRad="63500" dist="38099" dir="2700000" algn="ctr" rotWithShape="0">
                <a:schemeClr val="bg2">
                  <a:alpha val="74998"/>
                </a:schemeClr>
              </a:outerShdw>
            </a:effectLst>
          </p:spPr>
          <p:txBody>
            <a:bodyPr>
              <a:spAutoFit/>
            </a:bodyPr>
            <a:lstStyle/>
            <a:p>
              <a:pPr>
                <a:defRPr/>
              </a:pPr>
              <a:r>
                <a:rPr lang="en-US" sz="3200" dirty="0">
                  <a:solidFill>
                    <a:schemeClr val="tx1"/>
                  </a:solidFill>
                  <a:latin typeface="Arial" pitchFamily="-112" charset="0"/>
                  <a:ea typeface="+mn-ea"/>
                  <a:cs typeface="+mn-cs"/>
                </a:rPr>
                <a:t>Triple bond</a:t>
              </a:r>
            </a:p>
          </p:txBody>
        </p:sp>
        <p:sp>
          <p:nvSpPr>
            <p:cNvPr id="100364" name="Line 12"/>
            <p:cNvSpPr>
              <a:spLocks noChangeShapeType="1"/>
            </p:cNvSpPr>
            <p:nvPr/>
          </p:nvSpPr>
          <p:spPr bwMode="auto">
            <a:xfrm flipV="1">
              <a:off x="3984" y="3408"/>
              <a:ext cx="288" cy="336"/>
            </a:xfrm>
            <a:prstGeom prst="line">
              <a:avLst/>
            </a:prstGeom>
            <a:noFill/>
            <a:ln w="38100">
              <a:solidFill>
                <a:schemeClr val="tx1"/>
              </a:solidFill>
              <a:round/>
              <a:headEnd/>
              <a:tailEnd type="triangle" w="med" len="med"/>
            </a:ln>
            <a:effectLst>
              <a:outerShdw blurRad="63500" dist="127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latin typeface="Arial" pitchFamily="-112" charset="0"/>
                <a:ea typeface="+mn-ea"/>
                <a:cs typeface="+mn-cs"/>
              </a:endParaRPr>
            </a:p>
          </p:txBody>
        </p:sp>
      </p:grpSp>
      <p:sp>
        <p:nvSpPr>
          <p:cNvPr id="100365" name="Text Box 13"/>
          <p:cNvSpPr txBox="1">
            <a:spLocks noChangeArrowheads="1"/>
          </p:cNvSpPr>
          <p:nvPr/>
        </p:nvSpPr>
        <p:spPr bwMode="auto">
          <a:xfrm>
            <a:off x="1" y="6172200"/>
            <a:ext cx="2820404" cy="584776"/>
          </a:xfrm>
          <a:prstGeom prst="rect">
            <a:avLst/>
          </a:prstGeom>
          <a:noFill/>
          <a:ln w="12700">
            <a:noFill/>
            <a:miter lim="800000"/>
            <a:headEnd/>
            <a:tailEnd/>
          </a:ln>
          <a:effectLst>
            <a:outerShdw blurRad="63500" dist="38099" dir="2700000" algn="ctr" rotWithShape="0">
              <a:schemeClr val="bg2">
                <a:alpha val="74998"/>
              </a:schemeClr>
            </a:outerShdw>
          </a:effec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37931725" indent="-37474525">
              <a:defRPr sz="2800" b="1">
                <a:solidFill>
                  <a:srgbClr val="FAFD00"/>
                </a:solidFill>
                <a:latin typeface="Arial" charset="0"/>
                <a:ea typeface="ＭＳ Ｐゴシック" charset="0"/>
              </a:defRPr>
            </a:lvl2pPr>
            <a:lvl3pPr>
              <a:defRPr sz="2800" b="1">
                <a:solidFill>
                  <a:srgbClr val="FAFD00"/>
                </a:solidFill>
                <a:latin typeface="Arial" charset="0"/>
                <a:ea typeface="ＭＳ Ｐゴシック" charset="0"/>
              </a:defRPr>
            </a:lvl3pPr>
            <a:lvl4pPr>
              <a:defRPr sz="2800" b="1">
                <a:solidFill>
                  <a:srgbClr val="FAFD00"/>
                </a:solidFill>
                <a:latin typeface="Arial" charset="0"/>
                <a:ea typeface="ＭＳ Ｐゴシック" charset="0"/>
              </a:defRPr>
            </a:lvl4pPr>
            <a:lvl5pPr>
              <a:defRPr sz="2800" b="1">
                <a:solidFill>
                  <a:srgbClr val="FAFD00"/>
                </a:solidFill>
                <a:latin typeface="Arial" charset="0"/>
                <a:ea typeface="ＭＳ Ｐゴシック" charset="0"/>
              </a:defRPr>
            </a:lvl5pPr>
            <a:lvl6pPr marL="457200" eaLnBrk="0" fontAlgn="base" hangingPunct="0">
              <a:spcBef>
                <a:spcPct val="0"/>
              </a:spcBef>
              <a:spcAft>
                <a:spcPct val="0"/>
              </a:spcAft>
              <a:defRPr sz="2800" b="1">
                <a:solidFill>
                  <a:srgbClr val="FAFD00"/>
                </a:solidFill>
                <a:latin typeface="Arial" charset="0"/>
                <a:ea typeface="ＭＳ Ｐゴシック" charset="0"/>
              </a:defRPr>
            </a:lvl6pPr>
            <a:lvl7pPr marL="914400" eaLnBrk="0" fontAlgn="base" hangingPunct="0">
              <a:spcBef>
                <a:spcPct val="0"/>
              </a:spcBef>
              <a:spcAft>
                <a:spcPct val="0"/>
              </a:spcAft>
              <a:defRPr sz="2800" b="1">
                <a:solidFill>
                  <a:srgbClr val="FAFD00"/>
                </a:solidFill>
                <a:latin typeface="Arial" charset="0"/>
                <a:ea typeface="ＭＳ Ｐゴシック" charset="0"/>
              </a:defRPr>
            </a:lvl7pPr>
            <a:lvl8pPr marL="1371600" eaLnBrk="0" fontAlgn="base" hangingPunct="0">
              <a:spcBef>
                <a:spcPct val="0"/>
              </a:spcBef>
              <a:spcAft>
                <a:spcPct val="0"/>
              </a:spcAft>
              <a:defRPr sz="2800" b="1">
                <a:solidFill>
                  <a:srgbClr val="FAFD00"/>
                </a:solidFill>
                <a:latin typeface="Arial" charset="0"/>
                <a:ea typeface="ＭＳ Ｐゴシック" charset="0"/>
              </a:defRPr>
            </a:lvl8pPr>
            <a:lvl9pPr marL="1828800" eaLnBrk="0" fontAlgn="base" hangingPunct="0">
              <a:spcBef>
                <a:spcPct val="0"/>
              </a:spcBef>
              <a:spcAft>
                <a:spcPct val="0"/>
              </a:spcAft>
              <a:defRPr sz="2800" b="1">
                <a:solidFill>
                  <a:srgbClr val="FAFD00"/>
                </a:solidFill>
                <a:latin typeface="Arial" charset="0"/>
                <a:ea typeface="ＭＳ Ｐゴシック" charset="0"/>
              </a:defRPr>
            </a:lvl9pPr>
          </a:lstStyle>
          <a:p>
            <a:pPr>
              <a:defRPr/>
            </a:pPr>
            <a:r>
              <a:rPr lang="en-US" sz="3200" dirty="0">
                <a:solidFill>
                  <a:schemeClr val="hlink"/>
                </a:solidFill>
                <a:latin typeface="Gill Sans"/>
                <a:cs typeface="Gill Sans"/>
              </a:rPr>
              <a:t>Acrylonitrile</a:t>
            </a:r>
            <a:endParaRPr lang="en-US" dirty="0">
              <a:solidFill>
                <a:schemeClr val="hlink"/>
              </a:solidFill>
              <a:latin typeface="Gill Sans"/>
              <a:cs typeface="Gill Sans"/>
            </a:endParaRPr>
          </a:p>
        </p:txBody>
      </p:sp>
      <p:sp>
        <p:nvSpPr>
          <p:cNvPr id="5" name="Title 4"/>
          <p:cNvSpPr>
            <a:spLocks noGrp="1"/>
          </p:cNvSpPr>
          <p:nvPr>
            <p:ph type="title"/>
          </p:nvPr>
        </p:nvSpPr>
        <p:spPr>
          <a:xfrm>
            <a:off x="2171700" y="154772"/>
            <a:ext cx="6377940" cy="1293028"/>
          </a:xfrm>
        </p:spPr>
        <p:txBody>
          <a:bodyPr>
            <a:normAutofit/>
          </a:bodyPr>
          <a:lstStyle/>
          <a:p>
            <a:r>
              <a:rPr lang="en-US" sz="4800" dirty="0">
                <a:solidFill>
                  <a:srgbClr val="3300FF"/>
                </a:solidFill>
              </a:rPr>
              <a:t>Bond Order</a:t>
            </a:r>
          </a:p>
        </p:txBody>
      </p:sp>
      <p:sp>
        <p:nvSpPr>
          <p:cNvPr id="15" name="Text Box 11"/>
          <p:cNvSpPr txBox="1">
            <a:spLocks noChangeArrowheads="1"/>
          </p:cNvSpPr>
          <p:nvPr/>
        </p:nvSpPr>
        <p:spPr bwMode="auto">
          <a:xfrm>
            <a:off x="7966462" y="3476051"/>
            <a:ext cx="1166356" cy="1077218"/>
          </a:xfrm>
          <a:prstGeom prst="rect">
            <a:avLst/>
          </a:prstGeom>
          <a:noFill/>
          <a:ln w="12700">
            <a:noFill/>
            <a:miter lim="800000"/>
            <a:headEnd/>
            <a:tailEnd/>
          </a:ln>
          <a:effectLst>
            <a:outerShdw blurRad="63500" dist="38099" dir="2700000" algn="ctr" rotWithShape="0">
              <a:schemeClr val="bg2">
                <a:alpha val="74998"/>
              </a:schemeClr>
            </a:outerShdw>
          </a:effectLst>
        </p:spPr>
        <p:txBody>
          <a:bodyPr wrap="square">
            <a:spAutoFit/>
          </a:bodyPr>
          <a:lstStyle/>
          <a:p>
            <a:pPr>
              <a:defRPr/>
            </a:pPr>
            <a:r>
              <a:rPr lang="en-US" sz="3200" dirty="0">
                <a:solidFill>
                  <a:schemeClr val="tx1"/>
                </a:solidFill>
                <a:latin typeface="Arial" pitchFamily="-112" charset="0"/>
                <a:ea typeface="+mn-ea"/>
                <a:cs typeface="+mn-cs"/>
              </a:rPr>
              <a:t>Lone Pair</a:t>
            </a:r>
          </a:p>
        </p:txBody>
      </p:sp>
      <p:sp>
        <p:nvSpPr>
          <p:cNvPr id="16" name="Line 9"/>
          <p:cNvSpPr>
            <a:spLocks noChangeShapeType="1"/>
          </p:cNvSpPr>
          <p:nvPr/>
        </p:nvSpPr>
        <p:spPr bwMode="auto">
          <a:xfrm flipH="1">
            <a:off x="8195733" y="4553269"/>
            <a:ext cx="270934" cy="854109"/>
          </a:xfrm>
          <a:prstGeom prst="line">
            <a:avLst/>
          </a:prstGeom>
          <a:noFill/>
          <a:ln w="38100">
            <a:solidFill>
              <a:schemeClr val="tx1"/>
            </a:solidFill>
            <a:round/>
            <a:headEnd/>
            <a:tailEnd type="triangle" w="med" len="med"/>
          </a:ln>
          <a:effectLst>
            <a:outerShdw blurRad="63500" dist="17961"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latin typeface="Arial" pitchFamily="-112" charset="0"/>
              <a:ea typeface="+mn-ea"/>
              <a:cs typeface="+mn-cs"/>
            </a:endParaRPr>
          </a:p>
        </p:txBody>
      </p:sp>
      <p:sp>
        <p:nvSpPr>
          <p:cNvPr id="17" name="Text Box 5"/>
          <p:cNvSpPr txBox="1">
            <a:spLocks noChangeArrowheads="1"/>
          </p:cNvSpPr>
          <p:nvPr/>
        </p:nvSpPr>
        <p:spPr bwMode="auto">
          <a:xfrm>
            <a:off x="2658927" y="1852535"/>
            <a:ext cx="412292" cy="584775"/>
          </a:xfrm>
          <a:prstGeom prst="rect">
            <a:avLst/>
          </a:prstGeom>
          <a:noFill/>
          <a:ln w="12700">
            <a:noFill/>
            <a:miter lim="800000"/>
            <a:headEnd/>
            <a:tailEnd/>
          </a:ln>
          <a:effectLst>
            <a:outerShdw blurRad="63500" dist="38099" dir="2700000" algn="ctr" rotWithShape="0">
              <a:schemeClr val="bg2">
                <a:alpha val="74998"/>
              </a:schemeClr>
            </a:outerShdw>
          </a:effectLst>
        </p:spPr>
        <p:txBody>
          <a:bodyPr wrap="none">
            <a:spAutoFit/>
          </a:bodyPr>
          <a:lstStyle/>
          <a:p>
            <a:pPr>
              <a:defRPr/>
            </a:pPr>
            <a:r>
              <a:rPr lang="en-US" sz="3200" dirty="0">
                <a:solidFill>
                  <a:srgbClr val="3300FF"/>
                </a:solidFill>
                <a:latin typeface="Arial" pitchFamily="-112" charset="0"/>
                <a:ea typeface="+mn-ea"/>
                <a:cs typeface="+mn-cs"/>
              </a:rPr>
              <a:t>2</a:t>
            </a:r>
          </a:p>
        </p:txBody>
      </p:sp>
      <p:sp>
        <p:nvSpPr>
          <p:cNvPr id="18" name="Text Box 5"/>
          <p:cNvSpPr txBox="1">
            <a:spLocks noChangeArrowheads="1"/>
          </p:cNvSpPr>
          <p:nvPr/>
        </p:nvSpPr>
        <p:spPr bwMode="auto">
          <a:xfrm>
            <a:off x="6358820" y="2020811"/>
            <a:ext cx="412292" cy="584775"/>
          </a:xfrm>
          <a:prstGeom prst="rect">
            <a:avLst/>
          </a:prstGeom>
          <a:noFill/>
          <a:ln w="12700">
            <a:noFill/>
            <a:miter lim="800000"/>
            <a:headEnd/>
            <a:tailEnd/>
          </a:ln>
          <a:effectLst>
            <a:outerShdw blurRad="63500" dist="38099" dir="2700000" algn="ctr" rotWithShape="0">
              <a:schemeClr val="bg2">
                <a:alpha val="74998"/>
              </a:schemeClr>
            </a:outerShdw>
          </a:effectLst>
        </p:spPr>
        <p:txBody>
          <a:bodyPr wrap="none">
            <a:spAutoFit/>
          </a:bodyPr>
          <a:lstStyle/>
          <a:p>
            <a:pPr>
              <a:defRPr/>
            </a:pPr>
            <a:r>
              <a:rPr lang="en-US" sz="3200" dirty="0">
                <a:solidFill>
                  <a:srgbClr val="3300FF"/>
                </a:solidFill>
                <a:latin typeface="Arial" pitchFamily="-112" charset="0"/>
                <a:ea typeface="+mn-ea"/>
                <a:cs typeface="+mn-cs"/>
              </a:rPr>
              <a:t>1</a:t>
            </a:r>
          </a:p>
        </p:txBody>
      </p:sp>
      <p:sp>
        <p:nvSpPr>
          <p:cNvPr id="19" name="Text Box 5"/>
          <p:cNvSpPr txBox="1">
            <a:spLocks noChangeArrowheads="1"/>
          </p:cNvSpPr>
          <p:nvPr/>
        </p:nvSpPr>
        <p:spPr bwMode="auto">
          <a:xfrm>
            <a:off x="5131868" y="4985967"/>
            <a:ext cx="412292" cy="584775"/>
          </a:xfrm>
          <a:prstGeom prst="rect">
            <a:avLst/>
          </a:prstGeom>
          <a:noFill/>
          <a:ln w="12700">
            <a:noFill/>
            <a:miter lim="800000"/>
            <a:headEnd/>
            <a:tailEnd/>
          </a:ln>
          <a:effectLst>
            <a:outerShdw blurRad="63500" dist="38099" dir="2700000" algn="ctr" rotWithShape="0">
              <a:schemeClr val="bg2">
                <a:alpha val="74998"/>
              </a:schemeClr>
            </a:outerShdw>
          </a:effectLst>
        </p:spPr>
        <p:txBody>
          <a:bodyPr wrap="none">
            <a:spAutoFit/>
          </a:bodyPr>
          <a:lstStyle/>
          <a:p>
            <a:pPr>
              <a:defRPr/>
            </a:pPr>
            <a:r>
              <a:rPr lang="en-US" sz="3200" dirty="0">
                <a:solidFill>
                  <a:srgbClr val="3300FF"/>
                </a:solidFill>
                <a:latin typeface="Arial" pitchFamily="-112" charset="0"/>
                <a:ea typeface="+mn-ea"/>
                <a:cs typeface="+mn-cs"/>
              </a:rPr>
              <a:t>3</a:t>
            </a:r>
          </a:p>
        </p:txBody>
      </p:sp>
      <p:sp>
        <p:nvSpPr>
          <p:cNvPr id="6" name="Slide Number Placeholder 5"/>
          <p:cNvSpPr>
            <a:spLocks noGrp="1"/>
          </p:cNvSpPr>
          <p:nvPr>
            <p:ph type="sldNum" sz="quarter" idx="12"/>
          </p:nvPr>
        </p:nvSpPr>
        <p:spPr/>
        <p:txBody>
          <a:bodyPr/>
          <a:lstStyle/>
          <a:p>
            <a:fld id="{63C103D7-7FC1-4B9F-A526-BC88A3C4AA47}" type="slidenum">
              <a:rPr lang="en-US" smtClean="0"/>
              <a:pPr/>
              <a:t>13</a:t>
            </a:fld>
            <a:endParaRPr lang="en-US"/>
          </a:p>
        </p:txBody>
      </p:sp>
      <p:sp>
        <p:nvSpPr>
          <p:cNvPr id="21" name="Rectangle 2"/>
          <p:cNvSpPr txBox="1">
            <a:spLocks noChangeArrowheads="1"/>
          </p:cNvSpPr>
          <p:nvPr/>
        </p:nvSpPr>
        <p:spPr>
          <a:xfrm>
            <a:off x="87506" y="4718776"/>
            <a:ext cx="2422519" cy="1535250"/>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en-US" sz="1800" cap="none" dirty="0"/>
              <a:t>Double and even triple bonds are commonly observed for C, N, P, O, and S</a:t>
            </a:r>
          </a:p>
        </p:txBody>
      </p:sp>
    </p:spTree>
    <p:extLst>
      <p:ext uri="{BB962C8B-B14F-4D97-AF65-F5344CB8AC3E}">
        <p14:creationId xmlns:p14="http://schemas.microsoft.com/office/powerpoint/2010/main" val="35591431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7" grpId="0"/>
      <p:bldP spid="18" grpId="0"/>
      <p:bldP spid="19"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8238" y="542793"/>
            <a:ext cx="6377940" cy="1295400"/>
          </a:xfrm>
        </p:spPr>
        <p:txBody>
          <a:bodyPr>
            <a:noAutofit/>
          </a:bodyPr>
          <a:lstStyle/>
          <a:p>
            <a:r>
              <a:rPr lang="en-US" sz="4400" dirty="0"/>
              <a:t>Bond Length &amp; Strength</a:t>
            </a:r>
          </a:p>
        </p:txBody>
      </p:sp>
      <p:sp>
        <p:nvSpPr>
          <p:cNvPr id="4" name="Text Placeholder 3"/>
          <p:cNvSpPr>
            <a:spLocks noGrp="1"/>
          </p:cNvSpPr>
          <p:nvPr>
            <p:ph type="body" idx="1"/>
          </p:nvPr>
        </p:nvSpPr>
        <p:spPr>
          <a:xfrm>
            <a:off x="593189" y="3453760"/>
            <a:ext cx="3683659" cy="823912"/>
          </a:xfrm>
        </p:spPr>
        <p:txBody>
          <a:bodyPr>
            <a:normAutofit/>
          </a:bodyPr>
          <a:lstStyle/>
          <a:p>
            <a:pPr algn="ctr"/>
            <a:r>
              <a:rPr lang="en-US" sz="3400" dirty="0">
                <a:solidFill>
                  <a:srgbClr val="0000FF"/>
                </a:solidFill>
                <a:latin typeface="Arial" charset="0"/>
                <a:cs typeface="Arial" charset="0"/>
              </a:rPr>
              <a:t>Bond Length</a:t>
            </a:r>
          </a:p>
        </p:txBody>
      </p:sp>
      <mc:AlternateContent xmlns:mc="http://schemas.openxmlformats.org/markup-compatibility/2006" xmlns:a14="http://schemas.microsoft.com/office/drawing/2010/main">
        <mc:Choice Requires="a14">
          <p:sp>
            <p:nvSpPr>
              <p:cNvPr id="5" name="Content Placeholder 4"/>
              <p:cNvSpPr>
                <a:spLocks noGrp="1"/>
              </p:cNvSpPr>
              <p:nvPr>
                <p:ph sz="half" idx="2"/>
              </p:nvPr>
            </p:nvSpPr>
            <p:spPr>
              <a:xfrm>
                <a:off x="263237" y="4277672"/>
                <a:ext cx="4238662" cy="2242349"/>
              </a:xfrm>
            </p:spPr>
            <p:txBody>
              <a:bodyPr>
                <a:normAutofit lnSpcReduction="10000"/>
              </a:bodyPr>
              <a:lstStyle/>
              <a:p>
                <a:pPr marL="0" indent="0" algn="ctr">
                  <a:buNone/>
                </a:pPr>
                <a:r>
                  <a:rPr lang="en-US" dirty="0"/>
                  <a:t>Higher bond order </a:t>
                </a:r>
                <a:br>
                  <a:rPr lang="en-US" dirty="0"/>
                </a:br>
                <a:r>
                  <a:rPr lang="en-US" dirty="0"/>
                  <a:t>= shorter length</a:t>
                </a:r>
              </a:p>
              <a:p>
                <a:r>
                  <a:rPr lang="en-US" dirty="0"/>
                  <a:t>More e- density between the atoms pulls the nuclei closer together</a:t>
                </a:r>
              </a:p>
              <a:p>
                <a:pPr marL="0" indent="0" algn="ctr">
                  <a:buNone/>
                </a:pPr>
                <a:r>
                  <a:rPr lang="en-US" dirty="0"/>
                  <a:t>Smaller atoms </a:t>
                </a:r>
                <a:br>
                  <a:rPr lang="en-US" dirty="0"/>
                </a:b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shorter length</a:t>
                </a:r>
              </a:p>
            </p:txBody>
          </p:sp>
        </mc:Choice>
        <mc:Fallback xmlns="">
          <p:sp>
            <p:nvSpPr>
              <p:cNvPr id="5" name="Content Placeholder 4"/>
              <p:cNvSpPr>
                <a:spLocks noGrp="1" noRot="1" noChangeAspect="1" noMove="1" noResize="1" noEditPoints="1" noAdjustHandles="1" noChangeArrowheads="1" noChangeShapeType="1" noTextEdit="1"/>
              </p:cNvSpPr>
              <p:nvPr>
                <p:ph sz="half" idx="2"/>
              </p:nvPr>
            </p:nvSpPr>
            <p:spPr>
              <a:xfrm>
                <a:off x="263237" y="4277672"/>
                <a:ext cx="4238662" cy="2242349"/>
              </a:xfrm>
              <a:blipFill rotWithShape="0">
                <a:blip r:embed="rId2"/>
                <a:stretch>
                  <a:fillRect l="-1580" t="-4620" b="-4620"/>
                </a:stretch>
              </a:blipFill>
            </p:spPr>
            <p:txBody>
              <a:bodyPr/>
              <a:lstStyle/>
              <a:p>
                <a:r>
                  <a:rPr lang="en-US">
                    <a:noFill/>
                  </a:rPr>
                  <a:t> </a:t>
                </a:r>
              </a:p>
            </p:txBody>
          </p:sp>
        </mc:Fallback>
      </mc:AlternateContent>
      <p:sp>
        <p:nvSpPr>
          <p:cNvPr id="6" name="Text Placeholder 5"/>
          <p:cNvSpPr>
            <a:spLocks noGrp="1"/>
          </p:cNvSpPr>
          <p:nvPr>
            <p:ph type="body" sz="quarter" idx="3"/>
          </p:nvPr>
        </p:nvSpPr>
        <p:spPr>
          <a:xfrm>
            <a:off x="5074212" y="2978082"/>
            <a:ext cx="3680621" cy="823912"/>
          </a:xfrm>
        </p:spPr>
        <p:txBody>
          <a:bodyPr>
            <a:normAutofit/>
          </a:bodyPr>
          <a:lstStyle/>
          <a:p>
            <a:r>
              <a:rPr lang="en-US" sz="3400" dirty="0">
                <a:solidFill>
                  <a:srgbClr val="0000FF"/>
                </a:solidFill>
                <a:latin typeface="Arial" charset="0"/>
                <a:cs typeface="Arial" charset="0"/>
              </a:rPr>
              <a:t>Bond Strength</a:t>
            </a:r>
          </a:p>
        </p:txBody>
      </p:sp>
      <mc:AlternateContent xmlns:mc="http://schemas.openxmlformats.org/markup-compatibility/2006" xmlns:a14="http://schemas.microsoft.com/office/drawing/2010/main">
        <mc:Choice Requires="a14">
          <p:sp>
            <p:nvSpPr>
              <p:cNvPr id="8" name="Content Placeholder 7"/>
              <p:cNvSpPr>
                <a:spLocks noGrp="1"/>
              </p:cNvSpPr>
              <p:nvPr>
                <p:ph sz="quarter" idx="4"/>
              </p:nvPr>
            </p:nvSpPr>
            <p:spPr>
              <a:xfrm>
                <a:off x="4642098" y="3791817"/>
                <a:ext cx="4323322" cy="2728204"/>
              </a:xfrm>
            </p:spPr>
            <p:txBody>
              <a:bodyPr>
                <a:normAutofit fontScale="92500"/>
              </a:bodyPr>
              <a:lstStyle/>
              <a:p>
                <a:pPr marL="0" lvl="0" indent="0" algn="ctr">
                  <a:buNone/>
                </a:pPr>
                <a:r>
                  <a:rPr lang="en-US" dirty="0">
                    <a:solidFill>
                      <a:prstClr val="black"/>
                    </a:solidFill>
                  </a:rPr>
                  <a:t>Higher bond order </a:t>
                </a:r>
                <a:br>
                  <a:rPr lang="en-US" dirty="0">
                    <a:solidFill>
                      <a:prstClr val="black"/>
                    </a:solidFill>
                  </a:rPr>
                </a:br>
                <a:r>
                  <a:rPr lang="en-US" dirty="0">
                    <a:solidFill>
                      <a:prstClr val="black"/>
                    </a:solidFill>
                  </a:rPr>
                  <a:t>= stronger bond</a:t>
                </a:r>
              </a:p>
              <a:p>
                <a:pPr>
                  <a:defRPr/>
                </a:pPr>
                <a:r>
                  <a:rPr lang="en-US" dirty="0">
                    <a:cs typeface="Arial"/>
                  </a:rPr>
                  <a:t>Takes more energy to break</a:t>
                </a:r>
              </a:p>
              <a:p>
                <a:pPr>
                  <a:defRPr/>
                </a:pPr>
                <a:r>
                  <a:rPr lang="en-US" b="1" u="sng" dirty="0">
                    <a:cs typeface="Arial"/>
                  </a:rPr>
                  <a:t>Bond Energy</a:t>
                </a:r>
                <a:r>
                  <a:rPr lang="en-US" dirty="0">
                    <a:cs typeface="Arial"/>
                  </a:rPr>
                  <a:t> = energy needed to break 1 mole of covalent bonds in the gas phase</a:t>
                </a:r>
              </a:p>
              <a:p>
                <a:pPr marL="0" indent="0" algn="ctr">
                  <a:buNone/>
                  <a:defRPr/>
                </a:pPr>
                <a:r>
                  <a:rPr lang="en-US" dirty="0">
                    <a:cs typeface="Arial"/>
                  </a:rPr>
                  <a:t>Smaller atoms </a:t>
                </a:r>
                <a:br>
                  <a:rPr lang="en-US" dirty="0">
                    <a:cs typeface="Arial"/>
                  </a:rPr>
                </a:b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cs typeface="Arial"/>
                  </a:rPr>
                  <a:t> stronger bond</a:t>
                </a:r>
              </a:p>
              <a:p>
                <a:endParaRPr lang="en-US" dirty="0"/>
              </a:p>
            </p:txBody>
          </p:sp>
        </mc:Choice>
        <mc:Fallback xmlns="">
          <p:sp>
            <p:nvSpPr>
              <p:cNvPr id="8" name="Content Placeholder 7"/>
              <p:cNvSpPr>
                <a:spLocks noGrp="1" noRot="1" noChangeAspect="1" noMove="1" noResize="1" noEditPoints="1" noAdjustHandles="1" noChangeArrowheads="1" noChangeShapeType="1" noTextEdit="1"/>
              </p:cNvSpPr>
              <p:nvPr>
                <p:ph sz="quarter" idx="4"/>
              </p:nvPr>
            </p:nvSpPr>
            <p:spPr>
              <a:xfrm>
                <a:off x="4642098" y="3791817"/>
                <a:ext cx="4323322" cy="2728204"/>
              </a:xfrm>
              <a:blipFill rotWithShape="0">
                <a:blip r:embed="rId3"/>
                <a:stretch>
                  <a:fillRect l="-1268" t="-2009" r="-1549" b="-1786"/>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63C103D7-7FC1-4B9F-A526-BC88A3C4AA47}" type="slidenum">
              <a:rPr lang="en-US" smtClean="0"/>
              <a:pPr/>
              <a:t>14</a:t>
            </a:fld>
            <a:endParaRPr lang="en-US"/>
          </a:p>
        </p:txBody>
      </p:sp>
      <p:pic>
        <p:nvPicPr>
          <p:cNvPr id="7" name="Picture 2"/>
          <p:cNvPicPr>
            <a:picLocks noChangeAspect="1"/>
          </p:cNvPicPr>
          <p:nvPr/>
        </p:nvPicPr>
        <p:blipFill rotWithShape="1">
          <a:blip r:embed="rId4"/>
          <a:srcRect b="24109"/>
          <a:stretch/>
        </p:blipFill>
        <p:spPr bwMode="auto">
          <a:xfrm>
            <a:off x="637789" y="1103509"/>
            <a:ext cx="3810000" cy="1639692"/>
          </a:xfrm>
          <a:prstGeom prst="rect">
            <a:avLst/>
          </a:prstGeom>
          <a:noFill/>
          <a:ln w="9525">
            <a:noFill/>
            <a:miter lim="800000"/>
            <a:headEnd/>
            <a:tailEnd/>
          </a:ln>
        </p:spPr>
      </p:pic>
      <p:sp>
        <p:nvSpPr>
          <p:cNvPr id="9" name="Content Placeholder 4"/>
          <p:cNvSpPr txBox="1">
            <a:spLocks/>
          </p:cNvSpPr>
          <p:nvPr/>
        </p:nvSpPr>
        <p:spPr>
          <a:xfrm>
            <a:off x="5247208" y="1860604"/>
            <a:ext cx="3718212" cy="10128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a:lnSpc>
                <a:spcPct val="100000"/>
              </a:lnSpc>
            </a:pPr>
            <a:r>
              <a:rPr lang="en-US" sz="3400" dirty="0">
                <a:solidFill>
                  <a:srgbClr val="0000FF"/>
                </a:solidFill>
                <a:latin typeface="Arial" charset="0"/>
                <a:cs typeface="Arial" charset="0"/>
              </a:rPr>
              <a:t>Depend On</a:t>
            </a:r>
            <a:r>
              <a:rPr lang="en-US" dirty="0">
                <a:solidFill>
                  <a:srgbClr val="0000FF"/>
                </a:solidFill>
                <a:latin typeface="Arial" charset="0"/>
                <a:cs typeface="Arial" charset="0"/>
              </a:rPr>
              <a:t> </a:t>
            </a:r>
            <a:br>
              <a:rPr lang="en-US" dirty="0">
                <a:solidFill>
                  <a:srgbClr val="0000FF"/>
                </a:solidFill>
                <a:latin typeface="Arial" charset="0"/>
                <a:cs typeface="Arial" charset="0"/>
              </a:rPr>
            </a:br>
            <a:r>
              <a:rPr lang="en-US" sz="3000" dirty="0">
                <a:latin typeface="Arial" charset="0"/>
                <a:cs typeface="Arial" charset="0"/>
              </a:rPr>
              <a:t>(1) Bond order </a:t>
            </a:r>
            <a:br>
              <a:rPr lang="en-US" sz="3000" dirty="0">
                <a:latin typeface="Arial" charset="0"/>
                <a:cs typeface="Arial" charset="0"/>
              </a:rPr>
            </a:br>
            <a:r>
              <a:rPr lang="en-US" sz="3000" dirty="0">
                <a:latin typeface="Arial" charset="0"/>
                <a:cs typeface="Arial" charset="0"/>
              </a:rPr>
              <a:t>(2) Size of the atoms</a:t>
            </a:r>
          </a:p>
          <a:p>
            <a:endParaRPr lang="en-US" dirty="0"/>
          </a:p>
        </p:txBody>
      </p:sp>
      <p:sp>
        <p:nvSpPr>
          <p:cNvPr id="10" name="TextBox 9"/>
          <p:cNvSpPr txBox="1"/>
          <p:nvPr/>
        </p:nvSpPr>
        <p:spPr>
          <a:xfrm>
            <a:off x="2444896" y="2531233"/>
            <a:ext cx="1638353" cy="461665"/>
          </a:xfrm>
          <a:prstGeom prst="rect">
            <a:avLst/>
          </a:prstGeom>
          <a:noFill/>
        </p:spPr>
        <p:txBody>
          <a:bodyPr wrap="square" rtlCol="0">
            <a:spAutoFit/>
          </a:bodyPr>
          <a:lstStyle/>
          <a:p>
            <a:r>
              <a:rPr lang="en-US" sz="2400" b="1" dirty="0">
                <a:solidFill>
                  <a:schemeClr val="bg1">
                    <a:lumMod val="50000"/>
                  </a:schemeClr>
                </a:solidFill>
                <a:latin typeface="Times New Roman" panose="02020603050405020304" pitchFamily="18" charset="0"/>
                <a:cs typeface="Times New Roman" panose="02020603050405020304" pitchFamily="18" charset="0"/>
              </a:rPr>
              <a:t>146 kJ/</a:t>
            </a:r>
            <a:r>
              <a:rPr lang="en-US" sz="2400" b="1" dirty="0" err="1">
                <a:solidFill>
                  <a:schemeClr val="bg1">
                    <a:lumMod val="50000"/>
                  </a:schemeClr>
                </a:solidFill>
                <a:latin typeface="Times New Roman" panose="02020603050405020304" pitchFamily="18" charset="0"/>
                <a:cs typeface="Times New Roman" panose="02020603050405020304" pitchFamily="18" charset="0"/>
              </a:rPr>
              <a:t>mol</a:t>
            </a:r>
            <a:endParaRPr lang="en-US" sz="2400" b="1"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442004" y="2548752"/>
            <a:ext cx="163835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498 kJ/</a:t>
            </a:r>
            <a:r>
              <a:rPr lang="en-US" sz="2400" b="1" dirty="0" err="1">
                <a:latin typeface="Times New Roman" panose="02020603050405020304" pitchFamily="18" charset="0"/>
                <a:cs typeface="Times New Roman" panose="02020603050405020304" pitchFamily="18" charset="0"/>
              </a:rPr>
              <a:t>mol</a:t>
            </a:r>
            <a:endParaRPr lang="en-US" sz="2400" b="1" dirty="0">
              <a:latin typeface="Times New Roman" panose="02020603050405020304" pitchFamily="18" charset="0"/>
              <a:cs typeface="Times New Roman" panose="02020603050405020304" pitchFamily="18" charset="0"/>
            </a:endParaRPr>
          </a:p>
        </p:txBody>
      </p:sp>
      <p:pic>
        <p:nvPicPr>
          <p:cNvPr id="12" name="Picture 2"/>
          <p:cNvPicPr>
            <a:picLocks noChangeAspect="1"/>
          </p:cNvPicPr>
          <p:nvPr/>
        </p:nvPicPr>
        <p:blipFill rotWithShape="1">
          <a:blip r:embed="rId4"/>
          <a:srcRect l="7260" t="77816" r="12012" b="4872"/>
          <a:stretch/>
        </p:blipFill>
        <p:spPr bwMode="auto">
          <a:xfrm>
            <a:off x="882721" y="2258214"/>
            <a:ext cx="3075709" cy="374072"/>
          </a:xfrm>
          <a:prstGeom prst="rect">
            <a:avLst/>
          </a:prstGeom>
          <a:noFill/>
          <a:ln w="9525">
            <a:noFill/>
            <a:miter lim="800000"/>
            <a:headEnd/>
            <a:tailEnd/>
          </a:ln>
        </p:spPr>
      </p:pic>
    </p:spTree>
    <p:extLst>
      <p:ext uri="{BB962C8B-B14F-4D97-AF65-F5344CB8AC3E}">
        <p14:creationId xmlns:p14="http://schemas.microsoft.com/office/powerpoint/2010/main" val="4825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Effect transition="in" filter="fade">
                                      <p:cBhvr>
                                        <p:cTn id="24" dur="500"/>
                                        <p:tgtEl>
                                          <p:spTgt spid="5">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animEffect transition="in" filter="fade">
                                      <p:cBhvr>
                                        <p:cTn id="29" dur="500"/>
                                        <p:tgtEl>
                                          <p:spTgt spid="5">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6">
                                            <p:txEl>
                                              <p:pRg st="0" end="0"/>
                                            </p:txEl>
                                          </p:spTgt>
                                        </p:tgtEl>
                                        <p:attrNameLst>
                                          <p:attrName>style.visibility</p:attrName>
                                        </p:attrNameLst>
                                      </p:cBhvr>
                                      <p:to>
                                        <p:strVal val="visible"/>
                                      </p:to>
                                    </p:set>
                                    <p:animEffect transition="in" filter="fade">
                                      <p:cBhvr>
                                        <p:cTn id="34" dur="500"/>
                                        <p:tgtEl>
                                          <p:spTgt spid="6">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
                                            <p:txEl>
                                              <p:pRg st="0" end="0"/>
                                            </p:txEl>
                                          </p:spTgt>
                                        </p:tgtEl>
                                        <p:attrNameLst>
                                          <p:attrName>style.visibility</p:attrName>
                                        </p:attrNameLst>
                                      </p:cBhvr>
                                      <p:to>
                                        <p:strVal val="visible"/>
                                      </p:to>
                                    </p:set>
                                    <p:animEffect transition="in" filter="fade">
                                      <p:cBhvr>
                                        <p:cTn id="39" dur="500"/>
                                        <p:tgtEl>
                                          <p:spTgt spid="8">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8">
                                            <p:txEl>
                                              <p:pRg st="1" end="1"/>
                                            </p:txEl>
                                          </p:spTgt>
                                        </p:tgtEl>
                                        <p:attrNameLst>
                                          <p:attrName>style.visibility</p:attrName>
                                        </p:attrNameLst>
                                      </p:cBhvr>
                                      <p:to>
                                        <p:strVal val="visible"/>
                                      </p:to>
                                    </p:set>
                                    <p:animEffect transition="in" filter="fade">
                                      <p:cBhvr>
                                        <p:cTn id="44" dur="500"/>
                                        <p:tgtEl>
                                          <p:spTgt spid="8">
                                            <p:txEl>
                                              <p:pRg st="1" end="1"/>
                                            </p:txEl>
                                          </p:spTgt>
                                        </p:tgtEl>
                                      </p:cBhvr>
                                    </p:animEffect>
                                  </p:childTnLst>
                                </p:cTn>
                              </p:par>
                            </p:childTnLst>
                          </p:cTn>
                        </p:par>
                        <p:par>
                          <p:cTn id="45" fill="hold">
                            <p:stCondLst>
                              <p:cond delay="500"/>
                            </p:stCondLst>
                            <p:childTnLst>
                              <p:par>
                                <p:cTn id="46" presetID="10" presetClass="entr" presetSubtype="0"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500"/>
                                        <p:tgtEl>
                                          <p:spTgt spid="10"/>
                                        </p:tgtEl>
                                      </p:cBhvr>
                                    </p:animEffect>
                                  </p:childTnLst>
                                </p:cTn>
                              </p:par>
                            </p:childTnLst>
                          </p:cTn>
                        </p:par>
                        <p:par>
                          <p:cTn id="49" fill="hold">
                            <p:stCondLst>
                              <p:cond delay="1000"/>
                            </p:stCondLst>
                            <p:childTnLst>
                              <p:par>
                                <p:cTn id="50" presetID="10" presetClass="entr" presetSubtype="0" fill="hold" grpId="0" nodeType="after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
                                            <p:txEl>
                                              <p:pRg st="2" end="2"/>
                                            </p:txEl>
                                          </p:spTgt>
                                        </p:tgtEl>
                                        <p:attrNameLst>
                                          <p:attrName>style.visibility</p:attrName>
                                        </p:attrNameLst>
                                      </p:cBhvr>
                                      <p:to>
                                        <p:strVal val="visible"/>
                                      </p:to>
                                    </p:set>
                                    <p:animEffect transition="in" filter="fade">
                                      <p:cBhvr>
                                        <p:cTn id="57" dur="500"/>
                                        <p:tgtEl>
                                          <p:spTgt spid="8">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8">
                                            <p:txEl>
                                              <p:pRg st="3" end="3"/>
                                            </p:txEl>
                                          </p:spTgt>
                                        </p:tgtEl>
                                        <p:attrNameLst>
                                          <p:attrName>style.visibility</p:attrName>
                                        </p:attrNameLst>
                                      </p:cBhvr>
                                      <p:to>
                                        <p:strVal val="visible"/>
                                      </p:to>
                                    </p:set>
                                    <p:animEffect transition="in" filter="fade">
                                      <p:cBhvr>
                                        <p:cTn id="6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build="p"/>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548640" y="3336736"/>
            <a:ext cx="8027324" cy="402715"/>
          </a:xfrm>
          <a:prstGeom prst="rect">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b="1">
              <a:solidFill>
                <a:prstClr val="black"/>
              </a:solidFill>
            </a:endParaRPr>
          </a:p>
        </p:txBody>
      </p:sp>
      <mc:AlternateContent xmlns:mc="http://schemas.openxmlformats.org/markup-compatibility/2006" xmlns:a14="http://schemas.microsoft.com/office/drawing/2010/main">
        <mc:Choice Requires="a14">
          <p:sp>
            <p:nvSpPr>
              <p:cNvPr id="81922" name="Rectangle 1027"/>
              <p:cNvSpPr>
                <a:spLocks noGrp="1" noChangeArrowheads="1"/>
              </p:cNvSpPr>
              <p:nvPr>
                <p:ph type="body" idx="1"/>
              </p:nvPr>
            </p:nvSpPr>
            <p:spPr>
              <a:xfrm>
                <a:off x="643467" y="1756737"/>
                <a:ext cx="8278464" cy="3771228"/>
              </a:xfrm>
            </p:spPr>
            <p:txBody>
              <a:bodyPr>
                <a:normAutofit fontScale="85000" lnSpcReduction="10000"/>
              </a:bodyPr>
              <a:lstStyle/>
              <a:p>
                <a:pPr marL="0" indent="0">
                  <a:buNone/>
                  <a:defRPr/>
                </a:pPr>
                <a:r>
                  <a:rPr lang="en-US" sz="2800" dirty="0">
                    <a:solidFill>
                      <a:srgbClr val="000000"/>
                    </a:solidFill>
                  </a:rPr>
                  <a:t>Which of the following statements is true?</a:t>
                </a:r>
              </a:p>
              <a:p>
                <a:pPr marL="0" indent="0">
                  <a:buNone/>
                  <a:defRPr/>
                </a:pPr>
                <a:endParaRPr lang="en-US" sz="1600" dirty="0">
                  <a:solidFill>
                    <a:srgbClr val="800000"/>
                  </a:solidFill>
                  <a:latin typeface="Arial" charset="0"/>
                  <a:ea typeface="ＭＳ Ｐゴシック" charset="0"/>
                  <a:cs typeface="ＭＳ Ｐゴシック" charset="0"/>
                </a:endParaRPr>
              </a:p>
              <a:p>
                <a:pPr marL="609600" lvl="0" indent="-609600" defTabSz="457200">
                  <a:lnSpc>
                    <a:spcPct val="100000"/>
                  </a:lnSpc>
                  <a:spcBef>
                    <a:spcPct val="20000"/>
                  </a:spcBef>
                  <a:spcAft>
                    <a:spcPts val="13"/>
                  </a:spcAft>
                  <a:buFontTx/>
                  <a:buAutoNum type="alphaUcPeriod"/>
                  <a:defRPr/>
                </a:pPr>
                <a:r>
                  <a:rPr lang="en-US" sz="3200" dirty="0">
                    <a:solidFill>
                      <a:prstClr val="black"/>
                    </a:solidFill>
                    <a:latin typeface="Calibri"/>
                    <a:ea typeface="ＭＳ Ｐゴシック" charset="0"/>
                  </a:rPr>
                  <a:t>A N=N bond is longer and stronger than a N</a:t>
                </a:r>
                <a14:m>
                  <m:oMath xmlns:m="http://schemas.openxmlformats.org/officeDocument/2006/math">
                    <m:r>
                      <a:rPr lang="en-US" sz="3200" i="1" smtClean="0">
                        <a:solidFill>
                          <a:prstClr val="black"/>
                        </a:solidFill>
                        <a:latin typeface="Cambria Math" panose="02040503050406030204" pitchFamily="18" charset="0"/>
                        <a:ea typeface="Cambria Math" panose="02040503050406030204" pitchFamily="18" charset="0"/>
                      </a:rPr>
                      <m:t>≡</m:t>
                    </m:r>
                  </m:oMath>
                </a14:m>
                <a:r>
                  <a:rPr lang="en-US" sz="3200" dirty="0">
                    <a:solidFill>
                      <a:prstClr val="black"/>
                    </a:solidFill>
                    <a:latin typeface="Calibri"/>
                    <a:ea typeface="ＭＳ Ｐゴシック" charset="0"/>
                  </a:rPr>
                  <a:t>N bond</a:t>
                </a:r>
              </a:p>
              <a:p>
                <a:pPr marL="609600" indent="-609600" defTabSz="457200">
                  <a:lnSpc>
                    <a:spcPct val="100000"/>
                  </a:lnSpc>
                  <a:spcBef>
                    <a:spcPct val="20000"/>
                  </a:spcBef>
                  <a:spcAft>
                    <a:spcPts val="13"/>
                  </a:spcAft>
                  <a:buFontTx/>
                  <a:buAutoNum type="alphaUcPeriod"/>
                  <a:defRPr/>
                </a:pPr>
                <a:r>
                  <a:rPr lang="en-US" sz="3200" dirty="0">
                    <a:solidFill>
                      <a:prstClr val="black"/>
                    </a:solidFill>
                    <a:latin typeface="Calibri"/>
                    <a:ea typeface="ＭＳ Ｐゴシック" charset="0"/>
                  </a:rPr>
                  <a:t>A N=N bond is shorter and stronger than a N</a:t>
                </a:r>
                <a14:m>
                  <m:oMath xmlns:m="http://schemas.openxmlformats.org/officeDocument/2006/math">
                    <m:r>
                      <a:rPr lang="en-US" sz="3200" i="1">
                        <a:solidFill>
                          <a:prstClr val="black"/>
                        </a:solidFill>
                        <a:latin typeface="Cambria Math" panose="02040503050406030204" pitchFamily="18" charset="0"/>
                        <a:ea typeface="Cambria Math" panose="02040503050406030204" pitchFamily="18" charset="0"/>
                      </a:rPr>
                      <m:t>≡</m:t>
                    </m:r>
                  </m:oMath>
                </a14:m>
                <a:r>
                  <a:rPr lang="en-US" sz="3200" dirty="0">
                    <a:solidFill>
                      <a:prstClr val="black"/>
                    </a:solidFill>
                    <a:latin typeface="Calibri"/>
                    <a:ea typeface="ＭＳ Ｐゴシック" charset="0"/>
                  </a:rPr>
                  <a:t>N bond</a:t>
                </a:r>
              </a:p>
              <a:p>
                <a:pPr marL="609600" lvl="0" indent="-609600" defTabSz="457200">
                  <a:lnSpc>
                    <a:spcPct val="100000"/>
                  </a:lnSpc>
                  <a:spcBef>
                    <a:spcPct val="20000"/>
                  </a:spcBef>
                  <a:spcAft>
                    <a:spcPts val="13"/>
                  </a:spcAft>
                  <a:buFontTx/>
                  <a:buAutoNum type="alphaUcPeriod"/>
                  <a:defRPr/>
                </a:pPr>
                <a:r>
                  <a:rPr lang="en-US" sz="3200" dirty="0">
                    <a:solidFill>
                      <a:prstClr val="black"/>
                    </a:solidFill>
                    <a:latin typeface="Calibri"/>
                    <a:ea typeface="ＭＳ Ｐゴシック" charset="0"/>
                  </a:rPr>
                  <a:t>A N=N bond is longer and weaker than a N</a:t>
                </a:r>
                <a14:m>
                  <m:oMath xmlns:m="http://schemas.openxmlformats.org/officeDocument/2006/math">
                    <m:r>
                      <a:rPr lang="en-US" sz="3200" i="1">
                        <a:solidFill>
                          <a:prstClr val="black"/>
                        </a:solidFill>
                        <a:latin typeface="Cambria Math" panose="02040503050406030204" pitchFamily="18" charset="0"/>
                        <a:ea typeface="Cambria Math" panose="02040503050406030204" pitchFamily="18" charset="0"/>
                      </a:rPr>
                      <m:t>≡</m:t>
                    </m:r>
                  </m:oMath>
                </a14:m>
                <a:r>
                  <a:rPr lang="en-US" sz="3200" dirty="0">
                    <a:solidFill>
                      <a:prstClr val="black"/>
                    </a:solidFill>
                    <a:latin typeface="Calibri"/>
                    <a:ea typeface="ＭＳ Ｐゴシック" charset="0"/>
                  </a:rPr>
                  <a:t>N bond</a:t>
                </a:r>
              </a:p>
              <a:p>
                <a:pPr marL="609600" indent="-609600" defTabSz="457200">
                  <a:lnSpc>
                    <a:spcPct val="100000"/>
                  </a:lnSpc>
                  <a:spcBef>
                    <a:spcPct val="20000"/>
                  </a:spcBef>
                  <a:spcAft>
                    <a:spcPts val="13"/>
                  </a:spcAft>
                  <a:buFontTx/>
                  <a:buAutoNum type="alphaUcPeriod"/>
                  <a:defRPr/>
                </a:pPr>
                <a:r>
                  <a:rPr lang="en-US" sz="3200" dirty="0">
                    <a:solidFill>
                      <a:prstClr val="black"/>
                    </a:solidFill>
                    <a:latin typeface="Calibri"/>
                    <a:ea typeface="ＭＳ Ｐゴシック" charset="0"/>
                  </a:rPr>
                  <a:t>A N=N bond is shorter and weaker than a N</a:t>
                </a:r>
                <a14:m>
                  <m:oMath xmlns:m="http://schemas.openxmlformats.org/officeDocument/2006/math">
                    <m:r>
                      <a:rPr lang="en-US" sz="3200" i="1">
                        <a:solidFill>
                          <a:prstClr val="black"/>
                        </a:solidFill>
                        <a:latin typeface="Cambria Math" panose="02040503050406030204" pitchFamily="18" charset="0"/>
                        <a:ea typeface="Cambria Math" panose="02040503050406030204" pitchFamily="18" charset="0"/>
                      </a:rPr>
                      <m:t>≡</m:t>
                    </m:r>
                  </m:oMath>
                </a14:m>
                <a:r>
                  <a:rPr lang="en-US" sz="3200" dirty="0">
                    <a:solidFill>
                      <a:prstClr val="black"/>
                    </a:solidFill>
                    <a:latin typeface="Calibri"/>
                    <a:ea typeface="ＭＳ Ｐゴシック" charset="0"/>
                  </a:rPr>
                  <a:t>N bond</a:t>
                </a:r>
              </a:p>
              <a:p>
                <a:pPr marL="966788" lvl="1" indent="-509588">
                  <a:buFontTx/>
                  <a:buAutoNum type="alphaUcPeriod"/>
                  <a:defRPr/>
                </a:pPr>
                <a:endParaRPr lang="en-US" sz="2800" baseline="30000" dirty="0">
                  <a:solidFill>
                    <a:srgbClr val="000000"/>
                  </a:solidFill>
                </a:endParaRPr>
              </a:p>
              <a:p>
                <a:pPr marL="762000" lvl="1" indent="-304800">
                  <a:buFontTx/>
                  <a:buAutoNum type="alphaUcPeriod"/>
                  <a:defRPr/>
                </a:pPr>
                <a:endParaRPr lang="en-US" sz="2800" baseline="30000" dirty="0">
                  <a:solidFill>
                    <a:srgbClr val="000000"/>
                  </a:solidFill>
                </a:endParaRPr>
              </a:p>
            </p:txBody>
          </p:sp>
        </mc:Choice>
        <mc:Fallback xmlns="">
          <p:sp>
            <p:nvSpPr>
              <p:cNvPr id="81922" name="Rectangle 1027"/>
              <p:cNvSpPr>
                <a:spLocks noGrp="1" noRot="1" noChangeAspect="1" noMove="1" noResize="1" noEditPoints="1" noAdjustHandles="1" noChangeArrowheads="1" noChangeShapeType="1" noTextEdit="1"/>
              </p:cNvSpPr>
              <p:nvPr>
                <p:ph type="body" idx="1"/>
              </p:nvPr>
            </p:nvSpPr>
            <p:spPr>
              <a:xfrm>
                <a:off x="643467" y="1756737"/>
                <a:ext cx="8278464" cy="3771228"/>
              </a:xfrm>
              <a:blipFill rotWithShape="0">
                <a:blip r:embed="rId3"/>
                <a:stretch>
                  <a:fillRect l="-1473" t="-3069" r="-736"/>
                </a:stretch>
              </a:blipFill>
            </p:spPr>
            <p:txBody>
              <a:bodyPr/>
              <a:lstStyle/>
              <a:p>
                <a:r>
                  <a:rPr lang="en-US">
                    <a:noFill/>
                  </a:rPr>
                  <a:t> </a:t>
                </a:r>
              </a:p>
            </p:txBody>
          </p:sp>
        </mc:Fallback>
      </mc:AlternateContent>
      <p:sp>
        <p:nvSpPr>
          <p:cNvPr id="88066" name="Rectangle 1026"/>
          <p:cNvSpPr>
            <a:spLocks noGrp="1" noChangeArrowheads="1"/>
          </p:cNvSpPr>
          <p:nvPr>
            <p:ph type="title"/>
          </p:nvPr>
        </p:nvSpPr>
        <p:spPr>
          <a:xfrm>
            <a:off x="2821577" y="381001"/>
            <a:ext cx="5355771" cy="1254759"/>
          </a:xfrm>
        </p:spPr>
        <p:txBody>
          <a:bodyPr/>
          <a:lstStyle/>
          <a:p>
            <a:pPr>
              <a:defRPr/>
            </a:pPr>
            <a:r>
              <a:rPr lang="en-US" cap="none" dirty="0" err="1">
                <a:latin typeface="Comic Sans MS" charset="0"/>
                <a:ea typeface="ＭＳ Ｐゴシック" charset="0"/>
                <a:cs typeface="ＭＳ Ｐゴシック" charset="0"/>
              </a:rPr>
              <a:t>i</a:t>
            </a:r>
            <a:r>
              <a:rPr lang="en-US" dirty="0" err="1">
                <a:latin typeface="Comic Sans MS" charset="0"/>
                <a:ea typeface="ＭＳ Ｐゴシック" charset="0"/>
                <a:cs typeface="ＭＳ Ｐゴシック" charset="0"/>
              </a:rPr>
              <a:t>Clicker</a:t>
            </a:r>
            <a:r>
              <a:rPr lang="en-US" dirty="0">
                <a:latin typeface="Comic Sans MS" charset="0"/>
                <a:ea typeface="ＭＳ Ｐゴシック" charset="0"/>
                <a:cs typeface="ＭＳ Ｐゴシック" charset="0"/>
              </a:rPr>
              <a:t> Quiz</a:t>
            </a:r>
          </a:p>
        </p:txBody>
      </p:sp>
      <p:sp>
        <p:nvSpPr>
          <p:cNvPr id="5" name="Slide Number Placeholder 4"/>
          <p:cNvSpPr>
            <a:spLocks noGrp="1"/>
          </p:cNvSpPr>
          <p:nvPr>
            <p:ph type="sldNum" sz="quarter" idx="12"/>
          </p:nvPr>
        </p:nvSpPr>
        <p:spPr/>
        <p:txBody>
          <a:bodyPr/>
          <a:lstStyle/>
          <a:p>
            <a:fld id="{63C103D7-7FC1-4B9F-A526-BC88A3C4AA47}" type="slidenum">
              <a:rPr lang="en-US" smtClean="0">
                <a:solidFill>
                  <a:prstClr val="white"/>
                </a:solidFill>
              </a:rPr>
              <a:pPr/>
              <a:t>15</a:t>
            </a:fld>
            <a:endParaRPr lang="en-US" dirty="0">
              <a:solidFill>
                <a:prstClr val="white"/>
              </a:solidFill>
            </a:endParaRPr>
          </a:p>
        </p:txBody>
      </p:sp>
      <p:sp>
        <p:nvSpPr>
          <p:cNvPr id="6" name="Rectangle 5"/>
          <p:cNvSpPr/>
          <p:nvPr/>
        </p:nvSpPr>
        <p:spPr>
          <a:xfrm>
            <a:off x="1977390" y="6148315"/>
            <a:ext cx="5260917" cy="369332"/>
          </a:xfrm>
          <a:prstGeom prst="rect">
            <a:avLst/>
          </a:prstGeom>
        </p:spPr>
        <p:txBody>
          <a:bodyPr wrap="square">
            <a:spAutoFit/>
          </a:bodyPr>
          <a:lstStyle/>
          <a:p>
            <a:pPr lvl="0" algn="ctr"/>
            <a:r>
              <a:rPr lang="en-US" dirty="0">
                <a:solidFill>
                  <a:prstClr val="black"/>
                </a:solidFill>
                <a:latin typeface="Calibri" panose="020F0502020204030204"/>
              </a:rPr>
              <a:t>Bond length is inversely proportional to bond strength </a:t>
            </a:r>
          </a:p>
        </p:txBody>
      </p:sp>
      <p:pic>
        <p:nvPicPr>
          <p:cNvPr id="21506" name="Picture 2" descr="Image result for comparing double and triple bonds for N"/>
          <p:cNvPicPr>
            <a:picLocks noChangeAspect="1" noChangeArrowheads="1"/>
          </p:cNvPicPr>
          <p:nvPr/>
        </p:nvPicPr>
        <p:blipFill rotWithShape="1">
          <a:blip r:embed="rId4">
            <a:extLst>
              <a:ext uri="{28A0092B-C50C-407E-A947-70E740481C1C}">
                <a14:useLocalDpi xmlns:a14="http://schemas.microsoft.com/office/drawing/2010/main" val="0"/>
              </a:ext>
            </a:extLst>
          </a:blip>
          <a:srcRect l="3378" t="25531" r="5449" b="4749"/>
          <a:stretch/>
        </p:blipFill>
        <p:spPr bwMode="auto">
          <a:xfrm>
            <a:off x="3306965" y="4359801"/>
            <a:ext cx="2951468" cy="169450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Student iClicker Information - Canvas | Colorado State University"/>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0284" r="78997" b="11252"/>
          <a:stretch/>
        </p:blipFill>
        <p:spPr bwMode="auto">
          <a:xfrm>
            <a:off x="185095" y="114496"/>
            <a:ext cx="715651" cy="802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2991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fade">
                                      <p:cBhvr>
                                        <p:cTn id="11" dur="500"/>
                                        <p:tgtEl>
                                          <p:spTgt spid="6">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21506"/>
                                        </p:tgtEl>
                                        <p:attrNameLst>
                                          <p:attrName>style.visibility</p:attrName>
                                        </p:attrNameLst>
                                      </p:cBhvr>
                                      <p:to>
                                        <p:strVal val="visible"/>
                                      </p:to>
                                    </p:set>
                                    <p:animEffect transition="in" filter="fade">
                                      <p:cBhvr>
                                        <p:cTn id="14" dur="500"/>
                                        <p:tgtEl>
                                          <p:spTgt spid="21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497" name="Picture 2"/>
          <p:cNvPicPr>
            <a:picLocks noChangeAspect="1"/>
          </p:cNvPicPr>
          <p:nvPr/>
        </p:nvPicPr>
        <p:blipFill>
          <a:blip r:embed="rId3"/>
          <a:srcRect/>
          <a:stretch>
            <a:fillRect/>
          </a:stretch>
        </p:blipFill>
        <p:spPr bwMode="auto">
          <a:xfrm>
            <a:off x="0" y="1867694"/>
            <a:ext cx="9144000" cy="4852987"/>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2" name="Title 1"/>
              <p:cNvSpPr>
                <a:spLocks noGrp="1"/>
              </p:cNvSpPr>
              <p:nvPr>
                <p:ph type="title"/>
              </p:nvPr>
            </p:nvSpPr>
            <p:spPr>
              <a:xfrm>
                <a:off x="1551710" y="538009"/>
                <a:ext cx="7288876" cy="1293028"/>
              </a:xfrm>
            </p:spPr>
            <p:txBody>
              <a:bodyPr>
                <a:norm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𝐵𝑜𝑛𝑑</m:t>
                      </m:r>
                      <m:r>
                        <a:rPr lang="en-US" b="0" i="1" smtClean="0">
                          <a:latin typeface="Cambria Math" panose="02040503050406030204" pitchFamily="18" charset="0"/>
                        </a:rPr>
                        <m:t> </m:t>
                      </m:r>
                      <m:r>
                        <a:rPr lang="en-US" b="0" i="1" smtClean="0">
                          <a:latin typeface="Cambria Math" panose="02040503050406030204" pitchFamily="18" charset="0"/>
                        </a:rPr>
                        <m:t>𝑆𝑡𝑟𝑒𝑛𝑔𝑡h</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𝐵𝑜𝑛𝑑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𝐿𝑒𝑛𝑔𝑡h</m:t>
                          </m:r>
                        </m:den>
                      </m:f>
                    </m:oMath>
                  </m:oMathPara>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1551710" y="538009"/>
                <a:ext cx="7288876" cy="1293028"/>
              </a:xfrm>
              <a:blipFill rotWithShape="0">
                <a:blip r:embed="rId4"/>
                <a:stretch>
                  <a:fillRect/>
                </a:stretch>
              </a:blipFill>
            </p:spPr>
            <p:txBody>
              <a:bodyPr/>
              <a:lstStyle/>
              <a:p>
                <a:r>
                  <a:rPr lang="en-US">
                    <a:noFill/>
                  </a:rPr>
                  <a:t> </a:t>
                </a:r>
              </a:p>
            </p:txBody>
          </p:sp>
        </mc:Fallback>
      </mc:AlternateContent>
      <p:sp>
        <p:nvSpPr>
          <p:cNvPr id="234498" name="Slide Number Placeholder 3"/>
          <p:cNvSpPr>
            <a:spLocks noGrp="1"/>
          </p:cNvSpPr>
          <p:nvPr>
            <p:ph type="sldNum" sz="quarter" idx="12"/>
          </p:nvPr>
        </p:nvSpPr>
        <p:spPr>
          <a:noFill/>
          <a:ln>
            <a:miter lim="800000"/>
            <a:headEnd/>
            <a:tailEnd/>
          </a:ln>
        </p:spPr>
        <p:txBody>
          <a:bodyPr/>
          <a:lstStyle/>
          <a:p>
            <a:fld id="{8D97F8CF-7217-4D86-8398-83AC9CC91848}" type="slidenum">
              <a:rPr lang="en-US" sz="1800">
                <a:latin typeface="Calibri" pitchFamily="34" charset="0"/>
                <a:ea typeface="ＭＳ Ｐゴシック" charset="-128"/>
              </a:rPr>
              <a:pPr/>
              <a:t>16</a:t>
            </a:fld>
            <a:endParaRPr lang="en-US" sz="1800" dirty="0">
              <a:latin typeface="Calibri" pitchFamily="34" charset="0"/>
              <a:ea typeface="ＭＳ Ｐゴシック" charset="-128"/>
            </a:endParaRPr>
          </a:p>
        </p:txBody>
      </p:sp>
    </p:spTree>
    <p:extLst>
      <p:ext uri="{BB962C8B-B14F-4D97-AF65-F5344CB8AC3E}">
        <p14:creationId xmlns:p14="http://schemas.microsoft.com/office/powerpoint/2010/main" val="2932968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a:xfrm>
            <a:off x="1977390" y="650184"/>
            <a:ext cx="6377940" cy="1254759"/>
          </a:xfrm>
        </p:spPr>
        <p:txBody>
          <a:bodyPr/>
          <a:lstStyle/>
          <a:p>
            <a:r>
              <a:rPr lang="en-US" dirty="0"/>
              <a:t>Practice Drawing Lewis Structures</a:t>
            </a:r>
          </a:p>
        </p:txBody>
      </p:sp>
      <p:sp>
        <p:nvSpPr>
          <p:cNvPr id="60418" name="Rectangle 3"/>
          <p:cNvSpPr>
            <a:spLocks noGrp="1" noChangeArrowheads="1"/>
          </p:cNvSpPr>
          <p:nvPr>
            <p:ph idx="1"/>
          </p:nvPr>
        </p:nvSpPr>
        <p:spPr>
          <a:xfrm>
            <a:off x="446953" y="2466775"/>
            <a:ext cx="3575484" cy="3646513"/>
          </a:xfrm>
        </p:spPr>
        <p:txBody>
          <a:bodyPr/>
          <a:lstStyle/>
          <a:p>
            <a:r>
              <a:rPr lang="en-US" dirty="0"/>
              <a:t>Draw Lewis diagrams of these molecules (covalent compounds):</a:t>
            </a:r>
          </a:p>
          <a:p>
            <a:pPr lvl="1"/>
            <a:r>
              <a:rPr lang="en-US" dirty="0"/>
              <a:t>CHCl</a:t>
            </a:r>
            <a:r>
              <a:rPr lang="en-US" baseline="-25000" dirty="0"/>
              <a:t>3</a:t>
            </a:r>
          </a:p>
          <a:p>
            <a:pPr lvl="1"/>
            <a:r>
              <a:rPr lang="en-US" dirty="0"/>
              <a:t>CH</a:t>
            </a:r>
            <a:r>
              <a:rPr lang="en-US" baseline="-25000" dirty="0"/>
              <a:t>2</a:t>
            </a:r>
            <a:r>
              <a:rPr lang="en-US" dirty="0"/>
              <a:t>O</a:t>
            </a:r>
          </a:p>
          <a:p>
            <a:pPr lvl="1"/>
            <a:r>
              <a:rPr lang="en-US" dirty="0"/>
              <a:t>acetic acid, CH</a:t>
            </a:r>
            <a:r>
              <a:rPr lang="en-US" baseline="-25000" dirty="0"/>
              <a:t>3</a:t>
            </a:r>
            <a:r>
              <a:rPr lang="en-US" dirty="0"/>
              <a:t>COOH</a:t>
            </a:r>
          </a:p>
          <a:p>
            <a:endParaRPr lang="en-US" dirty="0"/>
          </a:p>
        </p:txBody>
      </p:sp>
      <p:sp>
        <p:nvSpPr>
          <p:cNvPr id="4" name="Slide Number Placeholder 3"/>
          <p:cNvSpPr>
            <a:spLocks noGrp="1"/>
          </p:cNvSpPr>
          <p:nvPr>
            <p:ph type="sldNum" sz="quarter" idx="12"/>
          </p:nvPr>
        </p:nvSpPr>
        <p:spPr/>
        <p:txBody>
          <a:bodyPr/>
          <a:lstStyle/>
          <a:p>
            <a:fld id="{63C103D7-7FC1-4B9F-A526-BC88A3C4AA47}" type="slidenum">
              <a:rPr lang="en-US" smtClean="0"/>
              <a:pPr/>
              <a:t>17</a:t>
            </a:fld>
            <a:endParaRPr lang="en-US" dirty="0"/>
          </a:p>
        </p:txBody>
      </p:sp>
      <p:pic>
        <p:nvPicPr>
          <p:cNvPr id="5" name="Picture 2" descr="http://www.chemeddl.org/alfresco/d/d/workspace/SpacesStore/3709939e-0669-463e-b544-7373bc5553f2/chcl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0410" y="4758691"/>
            <a:ext cx="1624917" cy="164946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http://wiki.chemprime.chemeddl.org/images/f/f0/Formaldehyd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7832" y="4883849"/>
            <a:ext cx="1669460" cy="14947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rotWithShape="1">
          <a:blip r:embed="rId5"/>
          <a:srcRect l="45667" t="20701"/>
          <a:stretch/>
        </p:blipFill>
        <p:spPr>
          <a:xfrm>
            <a:off x="5798841" y="4851078"/>
            <a:ext cx="2506662" cy="1467185"/>
          </a:xfrm>
          <a:prstGeom prst="rect">
            <a:avLst/>
          </a:prstGeom>
        </p:spPr>
      </p:pic>
      <p:sp>
        <p:nvSpPr>
          <p:cNvPr id="9" name="Content Placeholder 2"/>
          <p:cNvSpPr txBox="1">
            <a:spLocks/>
          </p:cNvSpPr>
          <p:nvPr/>
        </p:nvSpPr>
        <p:spPr>
          <a:xfrm>
            <a:off x="3959499" y="2392547"/>
            <a:ext cx="4957554" cy="269822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457200" indent="-457200">
              <a:buFont typeface="+mj-lt"/>
              <a:buAutoNum type="arabicParenR"/>
            </a:pPr>
            <a:r>
              <a:rPr lang="en-US" dirty="0">
                <a:solidFill>
                  <a:srgbClr val="CC00CC"/>
                </a:solidFill>
              </a:rPr>
              <a:t>Count the valence e- present</a:t>
            </a:r>
          </a:p>
          <a:p>
            <a:pPr marL="457200" indent="-457200">
              <a:buFont typeface="+mj-lt"/>
              <a:buAutoNum type="arabicParenR"/>
            </a:pPr>
            <a:r>
              <a:rPr lang="en-US" dirty="0">
                <a:solidFill>
                  <a:schemeClr val="accent6"/>
                </a:solidFill>
              </a:rPr>
              <a:t>Predict the connectivity of the atoms </a:t>
            </a:r>
          </a:p>
          <a:p>
            <a:pPr marL="457200" lvl="1" indent="0">
              <a:buNone/>
            </a:pPr>
            <a:r>
              <a:rPr lang="en-US" dirty="0">
                <a:solidFill>
                  <a:srgbClr val="69ACE2"/>
                </a:solidFill>
              </a:rPr>
              <a:t>Central atom = atom that can form the most bonds and/or is the least electronegative atom</a:t>
            </a:r>
            <a:endParaRPr lang="en-US" dirty="0">
              <a:solidFill>
                <a:schemeClr val="accent6"/>
              </a:solidFill>
            </a:endParaRPr>
          </a:p>
          <a:p>
            <a:pPr marL="457200" indent="-457200">
              <a:buFont typeface="+mj-lt"/>
              <a:buAutoNum type="arabicParenR"/>
            </a:pPr>
            <a:r>
              <a:rPr lang="en-US" dirty="0">
                <a:solidFill>
                  <a:srgbClr val="92D050"/>
                </a:solidFill>
              </a:rPr>
              <a:t>Draw single bonds to connect all atoms</a:t>
            </a:r>
          </a:p>
          <a:p>
            <a:pPr marL="457200" indent="-457200">
              <a:buFont typeface="+mj-lt"/>
              <a:buAutoNum type="arabicParenR"/>
            </a:pPr>
            <a:r>
              <a:rPr lang="en-US" dirty="0">
                <a:solidFill>
                  <a:schemeClr val="accent2"/>
                </a:solidFill>
              </a:rPr>
              <a:t>Use remaining e- as lone pairs to complete octets of all atoms </a:t>
            </a:r>
            <a:r>
              <a:rPr lang="en-US" sz="2000" i="1" dirty="0">
                <a:solidFill>
                  <a:schemeClr val="accent2"/>
                </a:solidFill>
              </a:rPr>
              <a:t>(give e- to most electronegative atoms first)</a:t>
            </a:r>
          </a:p>
          <a:p>
            <a:pPr lvl="1"/>
            <a:r>
              <a:rPr lang="en-US" sz="1700" dirty="0">
                <a:solidFill>
                  <a:schemeClr val="accent2"/>
                </a:solidFill>
              </a:rPr>
              <a:t>If there are not enough e- to go around, convert some lone pairs to bonding pairs</a:t>
            </a:r>
          </a:p>
          <a:p>
            <a:pPr lvl="1"/>
            <a:r>
              <a:rPr lang="en-US" sz="1700" dirty="0">
                <a:solidFill>
                  <a:schemeClr val="accent2"/>
                </a:solidFill>
              </a:rPr>
              <a:t>If there are more e- than needed, put remaining e- on the central atom as lone pairs </a:t>
            </a:r>
            <a:r>
              <a:rPr lang="en-US" sz="1500" dirty="0">
                <a:solidFill>
                  <a:schemeClr val="accent2"/>
                </a:solidFill>
              </a:rPr>
              <a:t>(if the central atom is from period 3 or higher)</a:t>
            </a:r>
          </a:p>
          <a:p>
            <a:pPr marL="457200" indent="-457200">
              <a:buFont typeface="+mj-lt"/>
              <a:buAutoNum type="arabicParenR"/>
            </a:pPr>
            <a:r>
              <a:rPr lang="en-US" dirty="0">
                <a:solidFill>
                  <a:srgbClr val="C00000"/>
                </a:solidFill>
              </a:rPr>
              <a:t>Check that the # of e- in your structure matches the # in step 1</a:t>
            </a:r>
          </a:p>
          <a:p>
            <a:pPr marL="457200" indent="-457200">
              <a:buFont typeface="+mj-lt"/>
              <a:buAutoNum type="arabicParenR"/>
            </a:pPr>
            <a:r>
              <a:rPr lang="en-US" dirty="0"/>
              <a:t>Check the # of bonds (total + individual)</a:t>
            </a:r>
          </a:p>
          <a:p>
            <a:endParaRPr lang="en-US" dirty="0"/>
          </a:p>
        </p:txBody>
      </p:sp>
    </p:spTree>
    <p:extLst>
      <p:ext uri="{BB962C8B-B14F-4D97-AF65-F5344CB8AC3E}">
        <p14:creationId xmlns:p14="http://schemas.microsoft.com/office/powerpoint/2010/main" val="4809824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500"/>
                                        <p:tgtEl>
                                          <p:spTgt spid="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fade">
                                      <p:cBhvr>
                                        <p:cTn id="13" dur="500"/>
                                        <p:tgtEl>
                                          <p:spTgt spid="9">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fade">
                                      <p:cBhvr>
                                        <p:cTn id="16" dur="500"/>
                                        <p:tgtEl>
                                          <p:spTgt spid="9">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fade">
                                      <p:cBhvr>
                                        <p:cTn id="19" dur="500"/>
                                        <p:tgtEl>
                                          <p:spTgt spid="9">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fade">
                                      <p:cBhvr>
                                        <p:cTn id="22" dur="500"/>
                                        <p:tgtEl>
                                          <p:spTgt spid="9">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animEffect transition="in" filter="fade">
                                      <p:cBhvr>
                                        <p:cTn id="25" dur="500"/>
                                        <p:tgtEl>
                                          <p:spTgt spid="9">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9">
                                            <p:txEl>
                                              <p:pRg st="7" end="7"/>
                                            </p:txEl>
                                          </p:spTgt>
                                        </p:tgtEl>
                                        <p:attrNameLst>
                                          <p:attrName>style.visibility</p:attrName>
                                        </p:attrNameLst>
                                      </p:cBhvr>
                                      <p:to>
                                        <p:strVal val="visible"/>
                                      </p:to>
                                    </p:set>
                                    <p:animEffect transition="in" filter="fade">
                                      <p:cBhvr>
                                        <p:cTn id="28" dur="500"/>
                                        <p:tgtEl>
                                          <p:spTgt spid="9">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animEffect transition="in" filter="fade">
                                      <p:cBhvr>
                                        <p:cTn id="31" dur="500"/>
                                        <p:tgtEl>
                                          <p:spTgt spid="9">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60418">
                                            <p:txEl>
                                              <p:pRg st="1" end="1"/>
                                            </p:txEl>
                                          </p:spTgt>
                                        </p:tgtEl>
                                        <p:attrNameLst>
                                          <p:attrName>style.visibility</p:attrName>
                                        </p:attrNameLst>
                                      </p:cBhvr>
                                      <p:to>
                                        <p:strVal val="visible"/>
                                      </p:to>
                                    </p:set>
                                    <p:animEffect transition="in" filter="fade">
                                      <p:cBhvr>
                                        <p:cTn id="34" dur="500"/>
                                        <p:tgtEl>
                                          <p:spTgt spid="60418">
                                            <p:txEl>
                                              <p:pRg st="1" end="1"/>
                                            </p:txEl>
                                          </p:spTgt>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par>
                                <p:cTn id="39" presetID="10" presetClass="entr" presetSubtype="0" fill="hold" nodeType="withEffect">
                                  <p:stCondLst>
                                    <p:cond delay="0"/>
                                  </p:stCondLst>
                                  <p:childTnLst>
                                    <p:set>
                                      <p:cBhvr>
                                        <p:cTn id="40" dur="1" fill="hold">
                                          <p:stCondLst>
                                            <p:cond delay="0"/>
                                          </p:stCondLst>
                                        </p:cTn>
                                        <p:tgtEl>
                                          <p:spTgt spid="60418">
                                            <p:txEl>
                                              <p:pRg st="2" end="2"/>
                                            </p:txEl>
                                          </p:spTgt>
                                        </p:tgtEl>
                                        <p:attrNameLst>
                                          <p:attrName>style.visibility</p:attrName>
                                        </p:attrNameLst>
                                      </p:cBhvr>
                                      <p:to>
                                        <p:strVal val="visible"/>
                                      </p:to>
                                    </p:set>
                                    <p:animEffect transition="in" filter="fade">
                                      <p:cBhvr>
                                        <p:cTn id="41" dur="500"/>
                                        <p:tgtEl>
                                          <p:spTgt spid="60418">
                                            <p:txEl>
                                              <p:pRg st="2" end="2"/>
                                            </p:txEl>
                                          </p:spTgt>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60418">
                                            <p:txEl>
                                              <p:pRg st="3" end="3"/>
                                            </p:txEl>
                                          </p:spTgt>
                                        </p:tgtEl>
                                        <p:attrNameLst>
                                          <p:attrName>style.visibility</p:attrName>
                                        </p:attrNameLst>
                                      </p:cBhvr>
                                      <p:to>
                                        <p:strVal val="visible"/>
                                      </p:to>
                                    </p:set>
                                    <p:animEffect transition="in" filter="fade">
                                      <p:cBhvr>
                                        <p:cTn id="50" dur="500"/>
                                        <p:tgtEl>
                                          <p:spTgt spid="60418">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0941" y="1343891"/>
            <a:ext cx="8640501" cy="5182786"/>
          </a:xfrm>
        </p:spPr>
        <p:txBody>
          <a:bodyPr>
            <a:normAutofit fontScale="92500" lnSpcReduction="20000"/>
          </a:bodyPr>
          <a:lstStyle/>
          <a:p>
            <a:r>
              <a:rPr lang="en-US" dirty="0"/>
              <a:t>Draw the Lewis structure for ozone, O</a:t>
            </a:r>
            <a:r>
              <a:rPr lang="en-US" baseline="-25000" dirty="0"/>
              <a:t>3</a:t>
            </a:r>
          </a:p>
          <a:p>
            <a:endParaRPr lang="en-US" dirty="0"/>
          </a:p>
          <a:p>
            <a:endParaRPr lang="en-US" dirty="0"/>
          </a:p>
          <a:p>
            <a:pPr marL="0" indent="0" algn="ctr">
              <a:spcBef>
                <a:spcPts val="1800"/>
              </a:spcBef>
              <a:spcAft>
                <a:spcPts val="600"/>
              </a:spcAft>
              <a:buNone/>
            </a:pPr>
            <a:r>
              <a:rPr lang="en-US" dirty="0"/>
              <a:t>2 possible Lewis structures for O</a:t>
            </a:r>
            <a:r>
              <a:rPr lang="en-US" baseline="-25000" dirty="0"/>
              <a:t>3</a:t>
            </a:r>
            <a:r>
              <a:rPr lang="en-US" dirty="0"/>
              <a:t>!</a:t>
            </a:r>
          </a:p>
          <a:p>
            <a:pPr marL="0" indent="0" algn="ctr">
              <a:buNone/>
            </a:pPr>
            <a:r>
              <a:rPr lang="en-US" i="1" dirty="0">
                <a:solidFill>
                  <a:srgbClr val="C00000"/>
                </a:solidFill>
              </a:rPr>
              <a:t>Which one do you draw?</a:t>
            </a:r>
          </a:p>
          <a:p>
            <a:pPr marL="0" indent="0" algn="ctr">
              <a:buNone/>
            </a:pPr>
            <a:r>
              <a:rPr lang="en-US" i="1" dirty="0">
                <a:solidFill>
                  <a:srgbClr val="3300FF"/>
                </a:solidFill>
              </a:rPr>
              <a:t>Both of them!</a:t>
            </a:r>
          </a:p>
          <a:p>
            <a:r>
              <a:rPr lang="en-US" dirty="0"/>
              <a:t>When more than 1 arrangement of ELECTRONS (with the same atom configuration) is plausible, we draw all plausible </a:t>
            </a:r>
            <a:r>
              <a:rPr lang="en-US" dirty="0">
                <a:sym typeface="Wingdings" panose="05000000000000000000" pitchFamily="2" charset="2"/>
              </a:rPr>
              <a:t>“</a:t>
            </a:r>
            <a:r>
              <a:rPr lang="en-US" b="1" u="sng" dirty="0">
                <a:sym typeface="Wingdings" panose="05000000000000000000" pitchFamily="2" charset="2"/>
              </a:rPr>
              <a:t>resonance structures</a:t>
            </a:r>
            <a:r>
              <a:rPr lang="en-US" b="1" dirty="0">
                <a:sym typeface="Wingdings" panose="05000000000000000000" pitchFamily="2" charset="2"/>
              </a:rPr>
              <a:t>” </a:t>
            </a:r>
            <a:r>
              <a:rPr lang="en-US" dirty="0">
                <a:sym typeface="Wingdings" panose="05000000000000000000" pitchFamily="2" charset="2"/>
              </a:rPr>
              <a:t>with a double-sided arrow between them</a:t>
            </a:r>
          </a:p>
          <a:p>
            <a:pPr lvl="1"/>
            <a:r>
              <a:rPr lang="en-US" sz="1800" dirty="0"/>
              <a:t>Follow normal rules for drawing Lewis structures</a:t>
            </a:r>
          </a:p>
          <a:p>
            <a:pPr lvl="1"/>
            <a:r>
              <a:rPr lang="en-US" sz="1800" b="1" dirty="0"/>
              <a:t>Keep atoms in each resonance structure in the same place—</a:t>
            </a:r>
            <a:br>
              <a:rPr lang="en-US" sz="1800" b="1" dirty="0"/>
            </a:br>
            <a:r>
              <a:rPr lang="en-US" sz="1800" b="1" dirty="0"/>
              <a:t>rearrange electrons, NOT ATOMS</a:t>
            </a:r>
          </a:p>
          <a:p>
            <a:pPr lvl="1"/>
            <a:r>
              <a:rPr lang="en-US" sz="1800" dirty="0"/>
              <a:t>Make sure each resonance structure has the </a:t>
            </a:r>
            <a:r>
              <a:rPr lang="en-US" sz="1800" b="1" dirty="0"/>
              <a:t>same net charge  </a:t>
            </a:r>
          </a:p>
          <a:p>
            <a:pPr lvl="0"/>
            <a:r>
              <a:rPr lang="en-US" sz="2000" dirty="0">
                <a:sym typeface="Wingdings" panose="05000000000000000000" pitchFamily="2" charset="2"/>
              </a:rPr>
              <a:t>NOTE: resonance structures are NOT real</a:t>
            </a:r>
          </a:p>
          <a:p>
            <a:pPr lvl="0"/>
            <a:r>
              <a:rPr lang="en-US" sz="2000" dirty="0">
                <a:solidFill>
                  <a:prstClr val="black"/>
                </a:solidFill>
              </a:rPr>
              <a:t>The actual molecule is a weighted average of all the resonance structures and is more stable than any of the individual fictional resonance structures (though we still call it “resonance stabilized”)</a:t>
            </a:r>
            <a:endParaRPr lang="en-US" dirty="0"/>
          </a:p>
          <a:p>
            <a:pPr lvl="1"/>
            <a:endParaRPr lang="en-US" sz="1800" b="1" dirty="0"/>
          </a:p>
        </p:txBody>
      </p:sp>
      <p:pic>
        <p:nvPicPr>
          <p:cNvPr id="11" name="Picture 10" descr="Resonance"/>
          <p:cNvPicPr>
            <a:picLocks noChangeAspect="1" noChangeArrowheads="1"/>
          </p:cNvPicPr>
          <p:nvPr/>
        </p:nvPicPr>
        <p:blipFill rotWithShape="1">
          <a:blip r:embed="rId2">
            <a:extLst>
              <a:ext uri="{28A0092B-C50C-407E-A947-70E740481C1C}">
                <a14:useLocalDpi xmlns:a14="http://schemas.microsoft.com/office/drawing/2010/main" val="0"/>
              </a:ext>
            </a:extLst>
          </a:blip>
          <a:srcRect t="43959"/>
          <a:stretch/>
        </p:blipFill>
        <p:spPr>
          <a:xfrm>
            <a:off x="2518071" y="1624939"/>
            <a:ext cx="4206240" cy="831498"/>
          </a:xfrm>
          <a:prstGeom prst="rect">
            <a:avLst/>
          </a:prstGeom>
        </p:spPr>
      </p:pic>
      <p:sp>
        <p:nvSpPr>
          <p:cNvPr id="2" name="Title 1"/>
          <p:cNvSpPr>
            <a:spLocks noGrp="1"/>
          </p:cNvSpPr>
          <p:nvPr>
            <p:ph type="title"/>
          </p:nvPr>
        </p:nvSpPr>
        <p:spPr/>
        <p:txBody>
          <a:bodyPr/>
          <a:lstStyle/>
          <a:p>
            <a:r>
              <a:rPr lang="en-US" dirty="0"/>
              <a:t>Resonance</a:t>
            </a:r>
          </a:p>
        </p:txBody>
      </p:sp>
      <p:sp>
        <p:nvSpPr>
          <p:cNvPr id="5" name="Slide Number Placeholder 4"/>
          <p:cNvSpPr>
            <a:spLocks noGrp="1"/>
          </p:cNvSpPr>
          <p:nvPr>
            <p:ph type="sldNum" sz="quarter" idx="12"/>
          </p:nvPr>
        </p:nvSpPr>
        <p:spPr/>
        <p:txBody>
          <a:bodyPr/>
          <a:lstStyle/>
          <a:p>
            <a:fld id="{63C103D7-7FC1-4B9F-A526-BC88A3C4AA47}" type="slidenum">
              <a:rPr lang="en-US" smtClean="0"/>
              <a:pPr/>
              <a:t>18</a:t>
            </a:fld>
            <a:endParaRPr lang="en-US" dirty="0"/>
          </a:p>
        </p:txBody>
      </p:sp>
      <p:grpSp>
        <p:nvGrpSpPr>
          <p:cNvPr id="12" name="Group 11"/>
          <p:cNvGrpSpPr/>
          <p:nvPr/>
        </p:nvGrpSpPr>
        <p:grpSpPr>
          <a:xfrm>
            <a:off x="4286319" y="1833679"/>
            <a:ext cx="719343" cy="360218"/>
            <a:chOff x="5544482" y="2052092"/>
            <a:chExt cx="719343" cy="360218"/>
          </a:xfrm>
        </p:grpSpPr>
        <p:pic>
          <p:nvPicPr>
            <p:cNvPr id="13" name="Picture 12"/>
            <p:cNvPicPr>
              <a:picLocks noChangeAspect="1"/>
            </p:cNvPicPr>
            <p:nvPr/>
          </p:nvPicPr>
          <p:blipFill rotWithShape="1">
            <a:blip r:embed="rId3"/>
            <a:srcRect l="42238" t="36295" r="42723" b="26193"/>
            <a:stretch/>
          </p:blipFill>
          <p:spPr>
            <a:xfrm>
              <a:off x="5834334" y="2052092"/>
              <a:ext cx="429491" cy="360218"/>
            </a:xfrm>
            <a:prstGeom prst="rect">
              <a:avLst/>
            </a:prstGeom>
          </p:spPr>
        </p:pic>
        <p:pic>
          <p:nvPicPr>
            <p:cNvPr id="14" name="Picture 13"/>
            <p:cNvPicPr>
              <a:picLocks noChangeAspect="1"/>
            </p:cNvPicPr>
            <p:nvPr/>
          </p:nvPicPr>
          <p:blipFill rotWithShape="1">
            <a:blip r:embed="rId3"/>
            <a:srcRect l="42238" t="36295" r="42723" b="26193"/>
            <a:stretch/>
          </p:blipFill>
          <p:spPr>
            <a:xfrm flipH="1">
              <a:off x="5544482" y="2052092"/>
              <a:ext cx="429491" cy="360218"/>
            </a:xfrm>
            <a:prstGeom prst="rect">
              <a:avLst/>
            </a:prstGeom>
          </p:spPr>
        </p:pic>
      </p:grpSp>
      <p:sp>
        <p:nvSpPr>
          <p:cNvPr id="9" name="Rectangle 8"/>
          <p:cNvSpPr/>
          <p:nvPr/>
        </p:nvSpPr>
        <p:spPr>
          <a:xfrm>
            <a:off x="3847623" y="6276944"/>
            <a:ext cx="1736373" cy="400110"/>
          </a:xfrm>
          <a:prstGeom prst="rect">
            <a:avLst/>
          </a:prstGeom>
        </p:spPr>
        <p:txBody>
          <a:bodyPr wrap="none">
            <a:spAutoFit/>
          </a:bodyPr>
          <a:lstStyle/>
          <a:p>
            <a:r>
              <a:rPr lang="en-US" sz="2000" i="1" dirty="0">
                <a:solidFill>
                  <a:srgbClr val="C00000"/>
                </a:solidFill>
              </a:rPr>
              <a:t>What IS real?</a:t>
            </a:r>
            <a:endParaRPr lang="en-US" sz="2000" dirty="0"/>
          </a:p>
        </p:txBody>
      </p:sp>
    </p:spTree>
    <p:extLst>
      <p:ext uri="{BB962C8B-B14F-4D97-AF65-F5344CB8AC3E}">
        <p14:creationId xmlns:p14="http://schemas.microsoft.com/office/powerpoint/2010/main" val="3254513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fade">
                                      <p:cBhvr>
                                        <p:cTn id="11" dur="500"/>
                                        <p:tgtEl>
                                          <p:spTgt spid="3">
                                            <p:txEl>
                                              <p:pRg st="3" end="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500"/>
                                        <p:tgtEl>
                                          <p:spTgt spid="2"/>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fade">
                                      <p:cBhvr>
                                        <p:cTn id="51" dur="500"/>
                                        <p:tgtEl>
                                          <p:spTgt spid="3">
                                            <p:txEl>
                                              <p:pRg st="10" end="10"/>
                                            </p:txEl>
                                          </p:spTgt>
                                        </p:tgtEl>
                                      </p:cBhvr>
                                    </p:animEffect>
                                  </p:childTnLst>
                                </p:cTn>
                              </p:par>
                            </p:childTnLst>
                          </p:cTn>
                        </p:par>
                        <p:par>
                          <p:cTn id="52" fill="hold">
                            <p:stCondLst>
                              <p:cond delay="500"/>
                            </p:stCondLst>
                            <p:childTnLst>
                              <p:par>
                                <p:cTn id="53" presetID="10" presetClass="entr" presetSubtype="0" fill="hold" nodeType="after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Effect transition="in" filter="fade">
                                      <p:cBhvr>
                                        <p:cTn id="55" dur="500"/>
                                        <p:tgtEl>
                                          <p:spTgt spid="3">
                                            <p:txEl>
                                              <p:pRg st="11" end="1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7746" y="643314"/>
            <a:ext cx="6377940" cy="1254759"/>
          </a:xfrm>
        </p:spPr>
        <p:txBody>
          <a:bodyPr/>
          <a:lstStyle/>
          <a:p>
            <a:r>
              <a:rPr lang="en-US" dirty="0"/>
              <a:t>Delocalization:</a:t>
            </a:r>
            <a:br>
              <a:rPr lang="en-US" dirty="0"/>
            </a:br>
            <a:r>
              <a:rPr lang="en-US" sz="2000" dirty="0"/>
              <a:t>Spreading e- over more than 1 bond</a:t>
            </a:r>
            <a:endParaRPr lang="en-US" dirty="0"/>
          </a:p>
        </p:txBody>
      </p:sp>
      <p:sp>
        <p:nvSpPr>
          <p:cNvPr id="3" name="Content Placeholder 2"/>
          <p:cNvSpPr>
            <a:spLocks noGrp="1"/>
          </p:cNvSpPr>
          <p:nvPr>
            <p:ph idx="1"/>
          </p:nvPr>
        </p:nvSpPr>
        <p:spPr>
          <a:xfrm>
            <a:off x="3358182" y="2990538"/>
            <a:ext cx="5541659" cy="3492632"/>
          </a:xfrm>
        </p:spPr>
        <p:txBody>
          <a:bodyPr>
            <a:normAutofit/>
          </a:bodyPr>
          <a:lstStyle/>
          <a:p>
            <a:r>
              <a:rPr lang="en-US" sz="2400" dirty="0"/>
              <a:t>The e- in ozone are “delocalized” across both bonds</a:t>
            </a:r>
          </a:p>
          <a:p>
            <a:r>
              <a:rPr lang="en-US" dirty="0"/>
              <a:t>The observed structure of ozone has 2 equivalent O-O bonds: </a:t>
            </a:r>
          </a:p>
          <a:p>
            <a:pPr lvl="2"/>
            <a:r>
              <a:rPr lang="en-US" dirty="0"/>
              <a:t>same length</a:t>
            </a:r>
          </a:p>
          <a:p>
            <a:pPr lvl="2"/>
            <a:r>
              <a:rPr lang="en-US" dirty="0"/>
              <a:t>identical bond order between 1-2</a:t>
            </a:r>
          </a:p>
          <a:p>
            <a:pPr lvl="2"/>
            <a:r>
              <a:rPr lang="en-US" dirty="0"/>
              <a:t>charge of –½ on both outer O atoms</a:t>
            </a:r>
          </a:p>
          <a:p>
            <a:pPr lvl="2"/>
            <a:endParaRPr lang="en-US" dirty="0"/>
          </a:p>
          <a:p>
            <a:r>
              <a:rPr lang="en-US" sz="2000" i="1" dirty="0">
                <a:solidFill>
                  <a:schemeClr val="accent1">
                    <a:lumMod val="75000"/>
                  </a:schemeClr>
                </a:solidFill>
              </a:rPr>
              <a:t>Ozone does NOT have 1 single and 1 double bond rapidly switching back and forth</a:t>
            </a:r>
          </a:p>
          <a:p>
            <a:pPr lvl="1"/>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2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200" b="1" i="0" u="none" strike="noStrike" kern="1200" cap="none" spc="0" normalizeH="0" baseline="0" noProof="0" dirty="0">
              <a:ln>
                <a:noFill/>
              </a:ln>
              <a:solidFill>
                <a:prstClr val="white"/>
              </a:solidFill>
              <a:effectLst/>
              <a:uLnTx/>
              <a:uFillTx/>
              <a:latin typeface="Arial"/>
              <a:ea typeface="+mn-ea"/>
              <a:cs typeface="+mn-cs"/>
            </a:endParaRPr>
          </a:p>
        </p:txBody>
      </p:sp>
      <p:pic>
        <p:nvPicPr>
          <p:cNvPr id="5" name="Picture 5" descr="08_11"/>
          <p:cNvPicPr>
            <a:picLocks noChangeAspect="1" noChangeArrowheads="1"/>
          </p:cNvPicPr>
          <p:nvPr/>
        </p:nvPicPr>
        <p:blipFill>
          <a:blip r:embed="rId2" cstate="print">
            <a:extLst>
              <a:ext uri="{28A0092B-C50C-407E-A947-70E740481C1C}">
                <a14:useLocalDpi xmlns:a14="http://schemas.microsoft.com/office/drawing/2010/main" val="0"/>
              </a:ext>
            </a:extLst>
          </a:blip>
          <a:srcRect b="3076"/>
          <a:stretch>
            <a:fillRect/>
          </a:stretch>
        </p:blipFill>
        <p:spPr>
          <a:xfrm>
            <a:off x="335377" y="1783746"/>
            <a:ext cx="2850981" cy="4593246"/>
          </a:xfrm>
          <a:prstGeom prst="rect">
            <a:avLst/>
          </a:prstGeom>
        </p:spPr>
      </p:pic>
      <p:pic>
        <p:nvPicPr>
          <p:cNvPr id="11" name="Picture 2" descr="https://upload.wikimedia.org/wikipedia/commons/thumb/8/8c/Ozon.svg/220px-Ozon.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8272" y="1898073"/>
            <a:ext cx="2095500" cy="933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5800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6506" y="388604"/>
            <a:ext cx="7955280" cy="1254759"/>
          </a:xfrm>
        </p:spPr>
        <p:txBody>
          <a:bodyPr/>
          <a:lstStyle/>
          <a:p>
            <a:r>
              <a:rPr lang="en-US" dirty="0"/>
              <a:t>Resonance</a:t>
            </a:r>
            <a:br>
              <a:rPr lang="en-US" dirty="0"/>
            </a:br>
            <a:r>
              <a:rPr lang="en-US" dirty="0"/>
              <a:t>&amp; Bond order</a:t>
            </a:r>
          </a:p>
        </p:txBody>
      </p:sp>
      <p:sp>
        <p:nvSpPr>
          <p:cNvPr id="3" name="Content Placeholder 2"/>
          <p:cNvSpPr>
            <a:spLocks noGrp="1"/>
          </p:cNvSpPr>
          <p:nvPr>
            <p:ph idx="1"/>
          </p:nvPr>
        </p:nvSpPr>
        <p:spPr>
          <a:xfrm>
            <a:off x="442652" y="4887002"/>
            <a:ext cx="8382693" cy="1799504"/>
          </a:xfrm>
        </p:spPr>
        <p:txBody>
          <a:bodyPr>
            <a:normAutofit/>
          </a:bodyPr>
          <a:lstStyle/>
          <a:p>
            <a:r>
              <a:rPr lang="en-US" dirty="0"/>
              <a:t>Why draw resonance structures if they’re not real?</a:t>
            </a:r>
          </a:p>
          <a:p>
            <a:r>
              <a:rPr lang="en-US" dirty="0"/>
              <a:t>Electron bookkeeping! It’s much easier to keep track of electrons &amp; determine bond order from resonance structures than from delocalized structures</a:t>
            </a:r>
          </a:p>
          <a:p>
            <a:pPr lvl="1"/>
            <a:endParaRPr lang="en-US" dirty="0"/>
          </a:p>
          <a:p>
            <a:endParaRPr lang="en-US" dirty="0"/>
          </a:p>
        </p:txBody>
      </p:sp>
      <p:sp>
        <p:nvSpPr>
          <p:cNvPr id="4" name="Slide Number Placeholder 3"/>
          <p:cNvSpPr>
            <a:spLocks noGrp="1"/>
          </p:cNvSpPr>
          <p:nvPr>
            <p:ph type="sldNum" sz="quarter" idx="12"/>
          </p:nvPr>
        </p:nvSpPr>
        <p:spPr/>
        <p:txBody>
          <a:bodyPr/>
          <a:lstStyle/>
          <a:p>
            <a:fld id="{63C103D7-7FC1-4B9F-A526-BC88A3C4AA47}" type="slidenum">
              <a:rPr lang="en-US" smtClean="0"/>
              <a:pPr/>
              <a:t>20</a:t>
            </a:fld>
            <a:endParaRPr lang="en-US" dirty="0"/>
          </a:p>
        </p:txBody>
      </p:sp>
      <mc:AlternateContent xmlns:mc="http://schemas.openxmlformats.org/markup-compatibility/2006" xmlns:a14="http://schemas.microsoft.com/office/drawing/2010/main">
        <mc:Choice Requires="a14">
          <p:sp>
            <p:nvSpPr>
              <p:cNvPr id="5" name="Rectangle 4"/>
              <p:cNvSpPr/>
              <p:nvPr/>
            </p:nvSpPr>
            <p:spPr>
              <a:xfrm>
                <a:off x="442652" y="3114841"/>
                <a:ext cx="8590512" cy="1382494"/>
              </a:xfrm>
              <a:prstGeom prst="rect">
                <a:avLst/>
              </a:prstGeom>
            </p:spPr>
            <p:txBody>
              <a:bodyPr wrap="square">
                <a:spAutoFit/>
              </a:bodyPr>
              <a:lstStyle/>
              <a:p>
                <a:pPr algn="ctr">
                  <a:spcAft>
                    <a:spcPts val="1200"/>
                  </a:spcAft>
                </a:pPr>
                <a:r>
                  <a:rPr lang="en-US" sz="2400" b="1" dirty="0">
                    <a:solidFill>
                      <a:srgbClr val="3300FF"/>
                    </a:solidFill>
                  </a:rPr>
                  <a:t>Bond order of delocalized (resonance-equivalent) bonds:</a:t>
                </a:r>
                <a:endParaRPr lang="en-US" sz="2400" dirty="0">
                  <a:solidFill>
                    <a:srgbClr val="3300FF"/>
                  </a:solidFill>
                </a:endParaRPr>
              </a:p>
              <a:p>
                <a:pPr algn="ctr"/>
                <a14:m>
                  <m:oMathPara xmlns:m="http://schemas.openxmlformats.org/officeDocument/2006/math">
                    <m:oMathParaPr>
                      <m:jc m:val="left"/>
                    </m:oMathParaPr>
                    <m:oMath xmlns:m="http://schemas.openxmlformats.org/officeDocument/2006/math">
                      <m:f>
                        <m:fPr>
                          <m:ctrlPr>
                            <a:rPr lang="en-US" sz="2400" b="0" i="1" smtClean="0">
                              <a:solidFill>
                                <a:srgbClr val="3300FF"/>
                              </a:solidFill>
                              <a:latin typeface="Cambria Math" panose="02040503050406030204" pitchFamily="18" charset="0"/>
                            </a:rPr>
                          </m:ctrlPr>
                        </m:fPr>
                        <m:num>
                          <m:r>
                            <a:rPr lang="en-US" sz="2400" i="1">
                              <a:solidFill>
                                <a:srgbClr val="3300FF"/>
                              </a:solidFill>
                              <a:latin typeface="Cambria Math" panose="02040503050406030204" pitchFamily="18" charset="0"/>
                            </a:rPr>
                            <m:t>#</m:t>
                          </m:r>
                          <m:r>
                            <a:rPr lang="en-US" sz="2400" i="1">
                              <a:solidFill>
                                <a:srgbClr val="3300FF"/>
                              </a:solidFill>
                              <a:latin typeface="Cambria Math" panose="02040503050406030204" pitchFamily="18" charset="0"/>
                            </a:rPr>
                            <m:t>𝑝𝑎𝑖𝑟𝑠</m:t>
                          </m:r>
                          <m:r>
                            <a:rPr lang="en-US" sz="2400" i="1">
                              <a:solidFill>
                                <a:srgbClr val="3300FF"/>
                              </a:solidFill>
                              <a:latin typeface="Cambria Math" panose="02040503050406030204" pitchFamily="18" charset="0"/>
                            </a:rPr>
                            <m:t> </m:t>
                          </m:r>
                          <m:r>
                            <a:rPr lang="en-US" sz="2400" i="1">
                              <a:solidFill>
                                <a:srgbClr val="3300FF"/>
                              </a:solidFill>
                              <a:latin typeface="Cambria Math" panose="02040503050406030204" pitchFamily="18" charset="0"/>
                            </a:rPr>
                            <m:t>𝑜𝑓</m:t>
                          </m:r>
                          <m:r>
                            <a:rPr lang="en-US" sz="2400" i="1">
                              <a:solidFill>
                                <a:srgbClr val="3300FF"/>
                              </a:solidFill>
                              <a:latin typeface="Cambria Math" panose="02040503050406030204" pitchFamily="18" charset="0"/>
                            </a:rPr>
                            <m:t> </m:t>
                          </m:r>
                          <m:r>
                            <a:rPr lang="en-US" sz="2400" i="1">
                              <a:solidFill>
                                <a:srgbClr val="3300FF"/>
                              </a:solidFill>
                              <a:latin typeface="Cambria Math" panose="02040503050406030204" pitchFamily="18" charset="0"/>
                            </a:rPr>
                            <m:t>𝑏𝑜𝑛𝑑𝑖𝑛𝑔</m:t>
                          </m:r>
                          <m:r>
                            <a:rPr lang="en-US" sz="2400" i="1">
                              <a:solidFill>
                                <a:srgbClr val="3300FF"/>
                              </a:solidFill>
                              <a:latin typeface="Cambria Math" panose="02040503050406030204" pitchFamily="18" charset="0"/>
                            </a:rPr>
                            <m:t> </m:t>
                          </m:r>
                          <m:r>
                            <a:rPr lang="en-US" sz="2400" i="1">
                              <a:solidFill>
                                <a:srgbClr val="3300FF"/>
                              </a:solidFill>
                              <a:latin typeface="Cambria Math" panose="02040503050406030204" pitchFamily="18" charset="0"/>
                            </a:rPr>
                            <m:t>𝑒</m:t>
                          </m:r>
                          <m:r>
                            <a:rPr lang="en-US" sz="2400" i="1">
                              <a:solidFill>
                                <a:srgbClr val="3300FF"/>
                              </a:solidFill>
                              <a:latin typeface="Cambria Math" panose="02040503050406030204" pitchFamily="18" charset="0"/>
                            </a:rPr>
                            <m:t>−</m:t>
                          </m:r>
                        </m:num>
                        <m:den>
                          <m:r>
                            <a:rPr lang="en-US" sz="2400" b="0" i="1" smtClean="0">
                              <a:solidFill>
                                <a:srgbClr val="3300FF"/>
                              </a:solidFill>
                              <a:latin typeface="Cambria Math" panose="02040503050406030204" pitchFamily="18" charset="0"/>
                            </a:rPr>
                            <m:t># </m:t>
                          </m:r>
                          <m:r>
                            <a:rPr lang="en-US" sz="2400" b="0" i="1" smtClean="0">
                              <a:solidFill>
                                <a:srgbClr val="3300FF"/>
                              </a:solidFill>
                              <a:latin typeface="Cambria Math" panose="02040503050406030204" pitchFamily="18" charset="0"/>
                            </a:rPr>
                            <m:t>𝑜𝑓</m:t>
                          </m:r>
                          <m:r>
                            <a:rPr lang="en-US" sz="2400" b="0" i="1" smtClean="0">
                              <a:solidFill>
                                <a:srgbClr val="3300FF"/>
                              </a:solidFill>
                              <a:latin typeface="Cambria Math" panose="02040503050406030204" pitchFamily="18" charset="0"/>
                            </a:rPr>
                            <m:t> </m:t>
                          </m:r>
                          <m:r>
                            <a:rPr lang="en-US" sz="2400" b="0" i="1" smtClean="0">
                              <a:solidFill>
                                <a:srgbClr val="3300FF"/>
                              </a:solidFill>
                              <a:latin typeface="Cambria Math" panose="02040503050406030204" pitchFamily="18" charset="0"/>
                            </a:rPr>
                            <m:t>𝑏𝑜𝑛𝑑𝑖𝑛𝑔</m:t>
                          </m:r>
                          <m:r>
                            <a:rPr lang="en-US" sz="2400" b="0" i="1" smtClean="0">
                              <a:solidFill>
                                <a:srgbClr val="3300FF"/>
                              </a:solidFill>
                              <a:latin typeface="Cambria Math" panose="02040503050406030204" pitchFamily="18" charset="0"/>
                            </a:rPr>
                            <m:t> </m:t>
                          </m:r>
                          <m:r>
                            <a:rPr lang="en-US" sz="2400" b="0" i="1" smtClean="0">
                              <a:solidFill>
                                <a:srgbClr val="3300FF"/>
                              </a:solidFill>
                              <a:latin typeface="Cambria Math" panose="02040503050406030204" pitchFamily="18" charset="0"/>
                            </a:rPr>
                            <m:t>𝑝𝑜𝑠𝑖𝑡𝑖𝑜𝑛𝑠</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3 </m:t>
                          </m:r>
                          <m:r>
                            <a:rPr lang="en-US" sz="2400" b="0" i="1" smtClean="0">
                              <a:latin typeface="Cambria Math" panose="02040503050406030204" pitchFamily="18" charset="0"/>
                            </a:rPr>
                            <m:t>𝑝𝑎𝑖𝑟𝑠</m:t>
                          </m:r>
                        </m:num>
                        <m:den>
                          <m:r>
                            <a:rPr lang="en-US" sz="2400" b="0" i="1" smtClean="0">
                              <a:latin typeface="Cambria Math" panose="02040503050406030204" pitchFamily="18" charset="0"/>
                            </a:rPr>
                            <m:t>2 </m:t>
                          </m:r>
                          <m:r>
                            <a:rPr lang="en-US" sz="2400" b="0" i="1" smtClean="0">
                              <a:latin typeface="Cambria Math" panose="02040503050406030204" pitchFamily="18" charset="0"/>
                            </a:rPr>
                            <m:t>𝑝𝑜𝑠𝑖𝑡𝑖𝑜𝑛𝑠</m:t>
                          </m:r>
                        </m:den>
                      </m:f>
                      <m:r>
                        <a:rPr lang="en-US" sz="2400" b="0" i="1" smtClean="0">
                          <a:latin typeface="Cambria Math" panose="02040503050406030204" pitchFamily="18" charset="0"/>
                        </a:rPr>
                        <m:t>=1.5</m:t>
                      </m:r>
                    </m:oMath>
                  </m:oMathPara>
                </a14:m>
                <a:endParaRPr lang="en-US" sz="2400" dirty="0"/>
              </a:p>
            </p:txBody>
          </p:sp>
        </mc:Choice>
        <mc:Fallback xmlns="">
          <p:sp>
            <p:nvSpPr>
              <p:cNvPr id="5" name="Rectangle 4"/>
              <p:cNvSpPr>
                <a:spLocks noRot="1" noChangeAspect="1" noMove="1" noResize="1" noEditPoints="1" noAdjustHandles="1" noChangeArrowheads="1" noChangeShapeType="1" noTextEdit="1"/>
              </p:cNvSpPr>
              <p:nvPr/>
            </p:nvSpPr>
            <p:spPr>
              <a:xfrm>
                <a:off x="442652" y="3114841"/>
                <a:ext cx="8590512" cy="1382494"/>
              </a:xfrm>
              <a:prstGeom prst="rect">
                <a:avLst/>
              </a:prstGeom>
              <a:blipFill rotWithShape="0">
                <a:blip r:embed="rId2"/>
                <a:stretch>
                  <a:fillRect l="-355" t="-3084" r="-213"/>
                </a:stretch>
              </a:blipFill>
            </p:spPr>
            <p:txBody>
              <a:bodyPr/>
              <a:lstStyle/>
              <a:p>
                <a:r>
                  <a:rPr lang="en-US">
                    <a:noFill/>
                  </a:rPr>
                  <a:t> </a:t>
                </a:r>
              </a:p>
            </p:txBody>
          </p:sp>
        </mc:Fallback>
      </mc:AlternateContent>
      <p:pic>
        <p:nvPicPr>
          <p:cNvPr id="6" name="Picture 5" descr="Resonance"/>
          <p:cNvPicPr>
            <a:picLocks noChangeAspect="1" noChangeArrowheads="1"/>
          </p:cNvPicPr>
          <p:nvPr/>
        </p:nvPicPr>
        <p:blipFill rotWithShape="1">
          <a:blip r:embed="rId3">
            <a:extLst>
              <a:ext uri="{28A0092B-C50C-407E-A947-70E740481C1C}">
                <a14:useLocalDpi xmlns:a14="http://schemas.microsoft.com/office/drawing/2010/main" val="0"/>
              </a:ext>
            </a:extLst>
          </a:blip>
          <a:srcRect t="43959"/>
          <a:stretch/>
        </p:blipFill>
        <p:spPr>
          <a:xfrm>
            <a:off x="3977640" y="1835111"/>
            <a:ext cx="4572000" cy="959757"/>
          </a:xfrm>
          <a:prstGeom prst="rect">
            <a:avLst/>
          </a:prstGeom>
        </p:spPr>
      </p:pic>
      <p:grpSp>
        <p:nvGrpSpPr>
          <p:cNvPr id="7" name="Group 6"/>
          <p:cNvGrpSpPr/>
          <p:nvPr/>
        </p:nvGrpSpPr>
        <p:grpSpPr>
          <a:xfrm>
            <a:off x="5903968" y="2033030"/>
            <a:ext cx="719343" cy="360218"/>
            <a:chOff x="5544482" y="2052092"/>
            <a:chExt cx="719343" cy="360218"/>
          </a:xfrm>
        </p:grpSpPr>
        <p:pic>
          <p:nvPicPr>
            <p:cNvPr id="8" name="Picture 7"/>
            <p:cNvPicPr>
              <a:picLocks noChangeAspect="1"/>
            </p:cNvPicPr>
            <p:nvPr/>
          </p:nvPicPr>
          <p:blipFill rotWithShape="1">
            <a:blip r:embed="rId4"/>
            <a:srcRect l="42238" t="36295" r="42723" b="26193"/>
            <a:stretch/>
          </p:blipFill>
          <p:spPr>
            <a:xfrm>
              <a:off x="5834334" y="2052092"/>
              <a:ext cx="429491" cy="360218"/>
            </a:xfrm>
            <a:prstGeom prst="rect">
              <a:avLst/>
            </a:prstGeom>
          </p:spPr>
        </p:pic>
        <p:pic>
          <p:nvPicPr>
            <p:cNvPr id="9" name="Picture 8"/>
            <p:cNvPicPr>
              <a:picLocks noChangeAspect="1"/>
            </p:cNvPicPr>
            <p:nvPr/>
          </p:nvPicPr>
          <p:blipFill rotWithShape="1">
            <a:blip r:embed="rId4"/>
            <a:srcRect l="42238" t="36295" r="42723" b="26193"/>
            <a:stretch/>
          </p:blipFill>
          <p:spPr>
            <a:xfrm flipH="1">
              <a:off x="5544482" y="2052092"/>
              <a:ext cx="429491" cy="360218"/>
            </a:xfrm>
            <a:prstGeom prst="rect">
              <a:avLst/>
            </a:prstGeom>
          </p:spPr>
        </p:pic>
      </p:grpSp>
      <p:sp>
        <p:nvSpPr>
          <p:cNvPr id="11" name="Rectangle 10"/>
          <p:cNvSpPr/>
          <p:nvPr/>
        </p:nvSpPr>
        <p:spPr>
          <a:xfrm>
            <a:off x="988695" y="1955733"/>
            <a:ext cx="2938549" cy="769441"/>
          </a:xfrm>
          <a:prstGeom prst="rect">
            <a:avLst/>
          </a:prstGeom>
        </p:spPr>
        <p:txBody>
          <a:bodyPr wrap="square">
            <a:spAutoFit/>
          </a:bodyPr>
          <a:lstStyle/>
          <a:p>
            <a:r>
              <a:rPr lang="en-US" sz="2200" dirty="0">
                <a:solidFill>
                  <a:prstClr val="black"/>
                </a:solidFill>
              </a:rPr>
              <a:t>So what is the bond order in ozone?</a:t>
            </a:r>
            <a:endParaRPr lang="en-US" dirty="0"/>
          </a:p>
        </p:txBody>
      </p:sp>
      <p:pic>
        <p:nvPicPr>
          <p:cNvPr id="12" name="Picture 2" descr="https://upload.wikimedia.org/wikipedia/commons/thumb/8/8c/Ozon.svg/220px-Ozon.sv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9924" y="3747096"/>
            <a:ext cx="1397458" cy="622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7843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104034" y="511753"/>
            <a:ext cx="7772400" cy="1143000"/>
          </a:xfrm>
        </p:spPr>
        <p:txBody>
          <a:bodyPr>
            <a:noAutofit/>
          </a:bodyPr>
          <a:lstStyle/>
          <a:p>
            <a:r>
              <a:rPr lang="en-US" dirty="0"/>
              <a:t>Why draw </a:t>
            </a:r>
            <a:br>
              <a:rPr lang="en-US" dirty="0"/>
            </a:br>
            <a:r>
              <a:rPr lang="en-US" dirty="0"/>
              <a:t>resonance structures</a:t>
            </a:r>
          </a:p>
        </p:txBody>
      </p:sp>
      <p:sp>
        <p:nvSpPr>
          <p:cNvPr id="156676" name="Rectangle 4"/>
          <p:cNvSpPr>
            <a:spLocks noGrp="1" noChangeArrowheads="1"/>
          </p:cNvSpPr>
          <p:nvPr>
            <p:ph type="body" sz="half" idx="2"/>
          </p:nvPr>
        </p:nvSpPr>
        <p:spPr>
          <a:xfrm>
            <a:off x="355889" y="2091172"/>
            <a:ext cx="8520545" cy="2328428"/>
          </a:xfrm>
        </p:spPr>
        <p:txBody>
          <a:bodyPr>
            <a:normAutofit/>
          </a:bodyPr>
          <a:lstStyle/>
          <a:p>
            <a:endParaRPr lang="en-US" b="1" dirty="0"/>
          </a:p>
          <a:p>
            <a:pPr marL="0" indent="0" algn="ctr">
              <a:spcBef>
                <a:spcPts val="1800"/>
              </a:spcBef>
              <a:buNone/>
            </a:pPr>
            <a:r>
              <a:rPr lang="en-US" i="1" dirty="0">
                <a:solidFill>
                  <a:srgbClr val="0070C0"/>
                </a:solidFill>
              </a:rPr>
              <a:t>For example: Draw the Lewis structure for carbonate (CO</a:t>
            </a:r>
            <a:r>
              <a:rPr lang="en-US" i="1" baseline="-25000" dirty="0">
                <a:solidFill>
                  <a:srgbClr val="0070C0"/>
                </a:solidFill>
              </a:rPr>
              <a:t>3</a:t>
            </a:r>
            <a:r>
              <a:rPr lang="en-US" i="1" baseline="30000" dirty="0">
                <a:solidFill>
                  <a:srgbClr val="0070C0"/>
                </a:solidFill>
              </a:rPr>
              <a:t>2–</a:t>
            </a:r>
            <a:r>
              <a:rPr lang="en-US" i="1" dirty="0">
                <a:solidFill>
                  <a:srgbClr val="0070C0"/>
                </a:solidFill>
              </a:rPr>
              <a:t>). </a:t>
            </a:r>
            <a:br>
              <a:rPr lang="en-US" i="1" dirty="0">
                <a:solidFill>
                  <a:srgbClr val="0070C0"/>
                </a:solidFill>
              </a:rPr>
            </a:br>
            <a:r>
              <a:rPr lang="en-US" i="1" dirty="0">
                <a:solidFill>
                  <a:srgbClr val="0070C0"/>
                </a:solidFill>
              </a:rPr>
              <a:t>Include all equivalent resonance structures</a:t>
            </a:r>
          </a:p>
        </p:txBody>
      </p:sp>
      <p:sp>
        <p:nvSpPr>
          <p:cNvPr id="2" name="Slide Number Placeholder 1"/>
          <p:cNvSpPr>
            <a:spLocks noGrp="1"/>
          </p:cNvSpPr>
          <p:nvPr>
            <p:ph type="sldNum" sz="quarter" idx="12"/>
          </p:nvPr>
        </p:nvSpPr>
        <p:spPr/>
        <p:txBody>
          <a:bodyPr/>
          <a:lstStyle/>
          <a:p>
            <a:fld id="{582DC2F3-420B-174D-855B-5F9B79DF9807}" type="slidenum">
              <a:rPr lang="en-US" smtClean="0"/>
              <a:pPr/>
              <a:t>21</a:t>
            </a:fld>
            <a:endParaRPr lang="en-US"/>
          </a:p>
        </p:txBody>
      </p:sp>
      <p:sp>
        <p:nvSpPr>
          <p:cNvPr id="8" name="AutoShape 2" descr="data:image/jpeg;base64,/9j/4AAQSkZJRgABAQAAAQABAAD/2wCEAAkGBxQRBhUREhEUEBAQGBYSFBgUFxEWFRcVFBIYFxgVFxUeHCshGyYlGxQUIz0tMSorOjIuGys/OD8sNzQtLisBCgoKDAwMDwwMDisZHxksNysrKysrKysrKysrLDcrKysrKysrKysrKywrKysrKysrKysrKysrKysrKysrKysrK//AABEIAGQB9wMBIgACEQEDEQH/xAAbAAEBAAMBAQEAAAAAAAAAAAAABQMEBgIBB//EAD8QAAICAgAEAwMJBwQBBAMAAAECAAMEEQUSITEGE0Eic7IUMjU2UWFxgbMVNEJydJG0I2OS4fBDYqHBFiZS/8QAFAEBAAAAAAAAAAAAAAAAAAAAAP/EABQRAQAAAAAAAAAAAAAAAAAAAAD/2gAMAwEAAhEDEQA/AP3GIiAiIgIiICJpcbymp4RbanLz1ozLzAldgdNgEEj8xPvDq71B8+2q3euXyqXq133vmtffp9n5wNyIiAiIgIiICIiAiJF43blVnza7aBSpTaPRa1h24DatF6gdD09g6++BaiR/E11lfDXuS9aBUjv1rFnMwA5ARvZBPTlHUkjRHrs18R5cZPNR0sZFZlVLXCsR1XmVSOh2IG/ExY2QtibXm0Dr2ldD/ZgD6zLAREQESfxvIsTGXySi2WWJWDYrOo5m0SUDqT0/9wmxgpaKNXPXZZs9a62qXXoORrHP/wAwNiIiAiIgIiICIiAiJEyLsqvi9XNbQ+Pfa1fIKLVtVfJssH+r55UkGsfwDf3QLcSF4kybqQttdq7ayqpKTWG81nsAZebfNvk5jsaChSTsAyldxFEsKnzNj7KrmHbfzgpBgbcTxTaHqDDej9oZT/YgET3AREQESZxm+4XU10PXW1rMC1tb2gBa2boq2J12B6zexVcY4FjK9mvaKKUUn7kLMR/yMDLERAREQEREBERAREi41uUnGkrutotqtS1gK6LanU1tXrbG9w3Rz6D/AOoFqJC4llXVcZoC2q4yLOTyfLHSpaiz2c4OwVIU7PT2gutkGUX4nWHIIs2CQdVXkdPsITRgbkTyj7QEdj16gg9fuPaeoCIiAiIgIiICIiAiIgIiIEvxP9Xb/dP8JlSS/E/1dyPdP8JlSAiIgJM4xxSivg1ltlm6QChNZJYljycicvUsWPKAOu5SPacDxPBerwrU/wAhXFXEzUyraKWFu6UvJa0co6nRFmu/s/lA94VldGXhefiZmIlO8fGstuSxOa4coTICWtotoAEggEgbB0J3BuUXBCwDsCQuxzEDWyB3Otj+84vxjxnHzeBjExb6sq/MaoVip1coq3I7Xty75AgUnZ11AHeX8vGJ8U0WfJEdVqtByS6h6iSuq1TWzzdevpo/mFmIiAk3xF9Dv+KfqrKUm+Ivod/xT9VYGLjnA/lN9T/Kb6DQSyioYzKWPZ2W2pwSOuj6blOisrQql2sKgAs3KGYgaLMFAXZ79AB9gEyRAREQERECbxz5lPv6vilKTeOfMp9/V8UpQERED47AKSSAB1JPQAD1Jkzi/HK8fDR9Nc17KlCVaZ7XYEgJ1A7AnZIAA2SBNni9fNwm5RUt5at1FTkKtm0I8tmI6Bu2/vnH8QHyWzheVbQMXHxUspvrUh0xmvpRUYsOnKrIULdhz77bgXcLxGTxRcbIxrcO24E085pdLeUczKroxAYDZ0ddAdbEtLcpuKBgXXRKgjYB7EjuN6M5HjXEas3juFRi2JkPReMq5qmV1pqSmwDnZSQC5dVA7kEnsJYwsUjxRkWfJErV0pAyA6l7iu9oya2vJ06+vT8gtREQElca/fcT+oP+JfKslca/fcT+oP8AiXwMPEPD5t4wMkZeRSyLyKqDEZACdtyiylipbpsg7IA+wS0O0+xAREQERECZxL6Vxf57P0HlOTOJfSuL/PZ+g8pwEREDxdcqVFnYKo6ksQAPxJ7TnvGGRUwpoau++97BdTVjtyOxoIYu7llVUG13s+o1s6m74txjZ4etRcVM4sBqixlRbCGB0XPQa1v8RInEMhcTxtVk38tONfi/JVc6FdVyXeZ5bP2UOp6E6BNYHfUDZ8N5df7fyEam/FzLwt713WCxHRB5YsoKuya6gHWjsjY7Tpa7lZiFYMUPK2iDo63o/YdETkvlaZnjvHfGdbqsGrJF9lZDVh7/AClSnnB0W9hmI9NDet9a/AMUpnZROImKLLiwdHVjkDkH+swA9k72NH7/AMSFqIiAkzL+sNHu8j4qZTkzL+sNHu8j4qYGuvh8jjjZQy8gM/KDXrENfIvaoE0l1XezoOOp336y3EQEREBERAREQEREBERAREQERECX4n+ruR7p/hMqSX4n+ruR7p/hMqQEREBERAn8NIOXeAiL5dgTarosDRVZtj6ndjflKEm8L/fsr3y/4mPKUBERASb4i+h3/FP1FlKTfEX0O/4p+qsClETDflIliqzBWsPKg9WOtkKO50AT9wG4GaIiAiY77lSkux5VUbY+gA7kz1XYGrDKQysAQQQQQeoIPrAn8c+ZT7+r4pSk3jnzKff1fFKUBERATT4xkGrhN1igFq67HAbqCVQkAj7Ok3JO8SfV3J9zb+k0D3gEDKtrVERayuuUAfOTZJm9NDC+lL/xr/TE34CIiAkrjX77if1B/wAS+VZK41++4n9Qf8S+BViJhbKQZIrLDzGBYL/FyjoW19myBv7TAzREQETDlZSVVc1jBF2Btuigk6Gz2HXQ/OZoEziX0ri/z2foPKcmcS+lcX+ez9B5TgIiICeXQMmiAQe4PUH8RPUQNHgdnPwel+VUNlaOQg5VBdAxCj0GzN6TvDn1exvc1fpLKMBERASZl/WGj3eR8VMpyZl/WGj3eR8VMCnERAREQEREBERAREQEREBERAREQJnif6u3+6f4TKcl+J/q7f7p/hMqQEREBMGdmJThvdawSqpS7sewVRsn+0xZvEUqYKdvaw2taDmsb02F9Bsgcx0BvqRIvi+izK8I5FKIpyeVX8oOrE8lgsWtj6c6pr7Op6kdYHvhXE77LRYnD2qoyGV2a21Fu0VVBYaNHXsKvTmB6dt7nRyBw/xnhXMiDJrS+whfJsIS8Of4Gpb2gd/dKv7Qr+W+STy2HqoYFQ/TZ5GPR9eoGyPXXSBtREQEm+Ivod/xT9VZSk3xF9Dv+KfqrApTmv8A8devxFZkra9i5Gg4Z9PUB2FL6+ZvRKdOpJBPzT0sQNH9nf713/P/AKj9nf713/P/AKm9ECbkYDCklLLncD2QbOUE+gLaOh+R/OafhXw+cNLSbWdshzaUHSmsnZIqT+HZOyf4j16dpeiBN458yn39XxSlJvHPmU+/q+KUoCIiAk3xHn00cHdrwzVsPK5EBL2G08i1Io6lmLAD8fTvNvMzEqp5rGCrvQ33LHsqjuxPoBsmc54zDvg4uUlVjrh5NeTZWFJsNQV62ITuSos59d/Z+2Bv8Kyshs0mzB+TpbosxvrdwVXoHrUaB9OjNLcj8M8U4eTeK6Mum61gTyI6mwADrtPnLr7wJvY+ej5DVg6sTurAq2t65gD3U/8A9DYgbUREBJXGv33E/qD/AIl8qyVxr99xP6g/4l8CrOY4R4abGzrNXWW15DGw2M/+uG9Edtf6igbAPQqNDR7jp4gaP7O/3rv+f/Ufs7/eu/5/9TeiBJ4hw5/kpFbu7N7OrLNJo9CW6Eka309e3TuPnhbgfyLhIoFr3AEtt+y7/grT+BBrouzoSvECZxL6Vxf57P0HlOTOJfSuL/PZ+g8pwEREBJnHeNLi0ptHttucVU1VgGyxyC2hsgAAAkkkAAdZt5uclNe7G5dnSgAszHW+VEG2Y6B6AEzmvFVhq43hZ7I5x8fz67tKzNUMhE5bio66U18p+wOT23ArcCtu5RVZiLjVVqBXy3Lb0XQCkcoIOvx7d5XknA8S4l/N5OXRd5a+Y/JYjBEH8TkH2R+MyDiwW7luXyeY6rcndT7Ol1Z2UnY9ltEn5vN3gUoiICTMv6w0e7yPiplOTMv6w0e7yPipgU4iICIiAiIgIiICIiAiIgIiICIiBL8T/V3I90/wmZuN5dlPC3spxzlWoBy1KyoXJYD57dBoEn8ph8T/AFdv92/wmVIHJJnWUcXux8cXZ+TaflbrdaqU4qWeylfmcp5QSj6UK3Yk67nZxuONkLdSy2YWRilTegQXOa3UlHoI2HDEdDyk+yQVB7aC5yYHjDLfKYU0ZwotqufpUGqq8p6WfspHKrDet8512mPD4rUeP5XFS3Jw+jGrxxcVbltK2PY9idNuo51UEA7JOtwLOFw12QgA4lTnb6bnyrToDdt2zy9NjoWOtaZdaljExEqp5K1CLsnp6k92J7kk9ST1M902h6gynmVgGUjsQRsH+09wPmuu/WYsrFS2kpYodDrYYAjYOwfxBAMzRAmU411NgCP51JIBW1ibEHba29S4H2N16n2uwmjk+ILG4lZRiY3ylsflW53tWmpXZQ3lK3KxZ+UqSOXQ5hsgynxbi9OKlZvsFYusSivYY81thIVBoHvo/cNdZy/B+LVcO4hl0Zti43m5NuVTZaQtdtd+m0th6cyHmQr30oPYwMlGe9puzsWi+zOr5cO3DuvWuutlsDM3qm+RwwYE8y611JE6DxF9Dv8Ain6iznOC8UrqycziN5OPjZt9FVBsV1Zwla0rZya5gHfm1sD2QCdCdH4i+h3/ABT9VYFKIiAiIgIiIE3jnzKff1fFPfFsy2ryvKx2yPMtSuzldE8utt81x5vnBdDoOvWeOOfMp9/V8cy5nFaas2mmywJblFlpU725ReZtdOmh9sDnOFZ11NbYmKlvEjiOyXX5V6oS7HzDUr8hLsocDsAOg36Cpw7jLZfDy2OoqtR2pvW/fNRYnzlKKdOeqke0AQwO/Qw+BcYp4c+TjZtqYrfKMjIre08iXVX2m0MjnoxHOVI7gr94mTw/xKug5OdkE41XEsutccWK6sw8muitimtrzmtm6gaXROoHTYfDFS7zGLW3a15lmiwB1tVAGkHQdFAB112es3oiB8A6/jNfNwUurAdd8vVSCVZTrXMjjTKdE9QRNmIE/FrurvCswvqO/bbS2r06BgByv69RykdOjdTJI8S3XF3w8I5OPUz1mxrkqNjVkq4oUg8+mBXbFASDokdZXzOL01cRqx3sC35XP5K6bb+WvM+iBoaB9dTk/CfH6OH+H0wsy1cbJxOaoq+w1wDnktpHe0OCD7Ozs67wN/guUWC5eGtuTVxC4G8X28nyVUQo4SojoVdNFRvr93avxr99xP6g/wCJfInhDKXFwUTJJx7+J5OVkU0uDzjzbXuFbAdFIQqTvsTrvLfGv33E/qD/AIl8CrERAREQERECZxL6Vxf57P0HnjjVtrXpj11WeXkralmRW9aNjf6fsOAdkkk9NDoRPfEvpXF/ns/QeZbuK0jiq4hsAyLEa1U67KKQC29a7n7ft+wwOe4Xxu79nhcTGsz6MbdJvuvRLb2p9h2rBU+YeZSOZigJB0T3lbC4q2Zw6u7FKrXaCWe0HmrKtyshq9WBDKdkaI/i7TnfCfiDH4f4drwsy1cbJwwaSjbDWhWIWyle9ocaI5dnZ13m34QylxeHVpkn5PfxLIyb6aXB5x5tr3Cs66KQhG9+p13gdHhcNSt+fbWWkaaywhnI+zegFG+vKoA36TdiIHwCSreEcgPycrWrb5qnHNjvvuOT/wBPfXqvTZJIaVogQ+Fqa3Pz8eusbsqs9ukDTe1Rd00Onb0UD2U3J6+LLm4f8rqwLLMHl8wOLEGQ9Q6+bXjEdQV9oAuGI9N9JveI8ivIpv4YtoXMyMW1lX2thHBqD71r5x+3clcO8aY1XAUrsJTNqrWtsTROQbUTl8tKu7AkdGHTXXeoG9wLmraoYwfLwsvzcpsi2/mas2aetEQjZU82h9muvXvSy/rDR7vI+Kma/grhr4vhPGx7NCyqpQ4HYNrZUfcCdflNjL+sNHu8j4qYFOIiAiIgIiICIiAiIgIiICIiAiIgS/FB/wD1zI90/wAJlFLQx6EHX2EGfbKw1ZVgGVhoggEEH0I9ZixsKurfl1pXza3yKq7123ode5gZ5Pv4aX4stxus8ta2qaj2fJcsQedhrZI1r/w7oRAREQEREDy6A9wDrr1+0es0uC8ObHwBU19uSQzNz3EM55nLa2AOg3ofcJvxAn18NP7Wsua6x0sVFFLcpqQoSedBrezv/wA6a8+Ivod/xT9RZSk7K4Di25ousxaLLl5SLHqqawcp2unI2NHt9kCjERAREQERECZx5gK6iToefT3/AJ5t5FYtx2CtokMqunKWQspHMp6gEbmS+hbK+V1V1PowDDp9xnzHx0rr5a0Wte+lAUb+3QgYuGYhp4fXU1r3tWoU2WaLuQPnMR6mYKeGEcVtua6yxLfL5an5TXUax86sa2CT1PXv+WqMQEREBERA18/G83EdAzVsysiumudCykcyEg6I3uMDGNWAlZse01qqF7CC7lV1zMfUnvNiIE7hvDDVdaz3WZHmWtanmcp8kMAPLr0BpQN/3/HePjX77if1B/xL5Vk6vgOKvEPlC4tC5Gy3miqoW8zAhm8zXNsgn19YFGIiAiIgIiIEvirgcUxiSAOezuQP/QeZeKYXyjh7olrUvYpRbauXzE36o3p2E2cnFSxNWVpYB1AdVYA/boz3TUqVBUUKo7BQAB+AED5TXy0qpYsVAHMdbJA1s69TNLh3DTXdaz3WX+ZYbUFnKfJBUDy69DooG/7/AI7oxAREQEREDQ41w45HDnqW6zGdwALaSq2qAwb2WIOt61+Bm6i6Udd66bPeeogJMy/rDR7vI+KmU5OweBYtGUbacWim1gQXrqqRyGIJBZQCdkA/lAoxEQEREBERAREQEREBERAREQEREBERAREQEREBERAREQEREBERAREQEREBERAREQEREBERAREQEREBERAREQEREBERAREQEREBERAREQEREBERAREQEREBERAREQP/2Q=="/>
          <p:cNvSpPr>
            <a:spLocks noChangeAspect="1" noChangeArrowheads="1"/>
          </p:cNvSpPr>
          <p:nvPr/>
        </p:nvSpPr>
        <p:spPr bwMode="auto">
          <a:xfrm>
            <a:off x="155575" y="-655638"/>
            <a:ext cx="6838950" cy="1371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340" name="Picture 4" descr="http://nonsibihighschool.org/intbasch9_files/CO32-re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259" y="3565004"/>
            <a:ext cx="8293809" cy="1605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34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6676">
                                            <p:txEl>
                                              <p:pRg st="1" end="1"/>
                                            </p:txEl>
                                          </p:spTgt>
                                        </p:tgtEl>
                                        <p:attrNameLst>
                                          <p:attrName>style.visibility</p:attrName>
                                        </p:attrNameLst>
                                      </p:cBhvr>
                                      <p:to>
                                        <p:strVal val="visible"/>
                                      </p:to>
                                    </p:set>
                                    <p:animEffect transition="in" filter="fade">
                                      <p:cBhvr>
                                        <p:cTn id="7" dur="500"/>
                                        <p:tgtEl>
                                          <p:spTgt spid="15667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340"/>
                                        </p:tgtEl>
                                        <p:attrNameLst>
                                          <p:attrName>style.visibility</p:attrName>
                                        </p:attrNameLst>
                                      </p:cBhvr>
                                      <p:to>
                                        <p:strVal val="visible"/>
                                      </p:to>
                                    </p:set>
                                    <p:animEffect transition="in" filter="fade">
                                      <p:cBhvr>
                                        <p:cTn id="12" dur="5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274320" y="2802840"/>
            <a:ext cx="1703070" cy="473264"/>
          </a:xfrm>
          <a:prstGeom prst="rect">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81922" name="Rectangle 1027"/>
          <p:cNvSpPr>
            <a:spLocks noGrp="1" noChangeArrowheads="1"/>
          </p:cNvSpPr>
          <p:nvPr>
            <p:ph type="body" idx="1"/>
          </p:nvPr>
        </p:nvSpPr>
        <p:spPr>
          <a:xfrm>
            <a:off x="463750" y="1776704"/>
            <a:ext cx="8265006" cy="4228428"/>
          </a:xfrm>
        </p:spPr>
        <p:txBody>
          <a:bodyPr>
            <a:normAutofit/>
          </a:bodyPr>
          <a:lstStyle/>
          <a:p>
            <a:pPr marL="0" indent="0">
              <a:buNone/>
              <a:defRPr/>
            </a:pPr>
            <a:r>
              <a:rPr lang="en-US" sz="2800" dirty="0"/>
              <a:t>What is the C-O bond order in carbonate, CO</a:t>
            </a:r>
            <a:r>
              <a:rPr lang="en-US" sz="2800" baseline="-25000" dirty="0"/>
              <a:t>3</a:t>
            </a:r>
            <a:r>
              <a:rPr lang="en-US" sz="2800" baseline="30000" dirty="0"/>
              <a:t>2-</a:t>
            </a:r>
            <a:r>
              <a:rPr lang="en-US" sz="2800" dirty="0"/>
              <a:t>?</a:t>
            </a:r>
          </a:p>
          <a:p>
            <a:pPr marL="0" indent="0">
              <a:buNone/>
              <a:defRPr/>
            </a:pPr>
            <a:endParaRPr lang="en-US" sz="1000" dirty="0">
              <a:solidFill>
                <a:srgbClr val="000000"/>
              </a:solidFill>
            </a:endParaRPr>
          </a:p>
          <a:p>
            <a:pPr marL="533400" indent="-533400" eaLnBrk="0" hangingPunct="0">
              <a:spcBef>
                <a:spcPct val="0"/>
              </a:spcBef>
              <a:buClr>
                <a:schemeClr val="tx1"/>
              </a:buClr>
              <a:buFont typeface="Arial" pitchFamily="-105" charset="0"/>
              <a:buAutoNum type="alphaUcPeriod"/>
              <a:defRPr/>
            </a:pPr>
            <a:r>
              <a:rPr lang="en-US" sz="2800" dirty="0"/>
              <a:t>1</a:t>
            </a:r>
          </a:p>
          <a:p>
            <a:pPr marL="533400" indent="-533400" eaLnBrk="0" hangingPunct="0">
              <a:spcBef>
                <a:spcPct val="0"/>
              </a:spcBef>
              <a:buClr>
                <a:schemeClr val="tx1"/>
              </a:buClr>
              <a:buFont typeface="Arial" pitchFamily="-105" charset="0"/>
              <a:buAutoNum type="alphaUcPeriod"/>
              <a:defRPr/>
            </a:pPr>
            <a:r>
              <a:rPr lang="en-US" sz="2800" dirty="0"/>
              <a:t>1.33</a:t>
            </a:r>
          </a:p>
          <a:p>
            <a:pPr marL="533400" indent="-533400" eaLnBrk="0" hangingPunct="0">
              <a:spcBef>
                <a:spcPct val="0"/>
              </a:spcBef>
              <a:buClr>
                <a:schemeClr val="tx1"/>
              </a:buClr>
              <a:buFont typeface="Arial" pitchFamily="-105" charset="0"/>
              <a:buAutoNum type="alphaUcPeriod"/>
              <a:defRPr/>
            </a:pPr>
            <a:r>
              <a:rPr lang="en-US" sz="2800" dirty="0"/>
              <a:t>1.5</a:t>
            </a:r>
          </a:p>
          <a:p>
            <a:pPr marL="533400" indent="-533400" eaLnBrk="0" hangingPunct="0">
              <a:spcBef>
                <a:spcPct val="0"/>
              </a:spcBef>
              <a:buFont typeface="+mj-lt"/>
              <a:buAutoNum type="alphaUcPeriod" startAt="4"/>
              <a:defRPr/>
            </a:pPr>
            <a:r>
              <a:rPr lang="en-US" sz="2800" dirty="0"/>
              <a:t>1.67 </a:t>
            </a:r>
          </a:p>
          <a:p>
            <a:pPr marL="533400" indent="-533400" eaLnBrk="0" hangingPunct="0">
              <a:spcBef>
                <a:spcPct val="0"/>
              </a:spcBef>
              <a:buFont typeface="+mj-lt"/>
              <a:buAutoNum type="alphaUcPeriod" startAt="4"/>
              <a:defRPr/>
            </a:pPr>
            <a:r>
              <a:rPr lang="en-US" sz="2800" dirty="0"/>
              <a:t>2 single, 1 double bond</a:t>
            </a:r>
          </a:p>
          <a:p>
            <a:pPr marL="533400" indent="-533400" eaLnBrk="0" hangingPunct="0">
              <a:spcBef>
                <a:spcPct val="0"/>
              </a:spcBef>
              <a:buFont typeface="+mj-lt"/>
              <a:buAutoNum type="alphaUcPeriod" startAt="4"/>
              <a:defRPr/>
            </a:pPr>
            <a:endParaRPr lang="en-US" sz="2800" dirty="0"/>
          </a:p>
          <a:p>
            <a:pPr marL="966788" lvl="1" indent="-509588">
              <a:buFontTx/>
              <a:buAutoNum type="alphaUcPeriod"/>
              <a:defRPr/>
            </a:pPr>
            <a:endParaRPr lang="en-US" sz="2800" baseline="30000" dirty="0">
              <a:solidFill>
                <a:srgbClr val="000000"/>
              </a:solidFill>
            </a:endParaRPr>
          </a:p>
          <a:p>
            <a:pPr marL="762000" lvl="1" indent="-304800">
              <a:buFontTx/>
              <a:buAutoNum type="alphaUcPeriod"/>
              <a:defRPr/>
            </a:pPr>
            <a:endParaRPr lang="en-US" sz="2800" baseline="30000" dirty="0">
              <a:solidFill>
                <a:srgbClr val="000000"/>
              </a:solidFill>
            </a:endParaRPr>
          </a:p>
        </p:txBody>
      </p:sp>
      <p:sp>
        <p:nvSpPr>
          <p:cNvPr id="88066" name="Rectangle 1026"/>
          <p:cNvSpPr>
            <a:spLocks noGrp="1" noChangeArrowheads="1"/>
          </p:cNvSpPr>
          <p:nvPr>
            <p:ph type="title"/>
          </p:nvPr>
        </p:nvSpPr>
        <p:spPr>
          <a:xfrm>
            <a:off x="2821577" y="381001"/>
            <a:ext cx="5355771" cy="1254759"/>
          </a:xfrm>
        </p:spPr>
        <p:txBody>
          <a:bodyPr/>
          <a:lstStyle/>
          <a:p>
            <a:pPr>
              <a:defRPr/>
            </a:pPr>
            <a:r>
              <a:rPr lang="en-US" cap="none" dirty="0" err="1">
                <a:latin typeface="Comic Sans MS" charset="0"/>
                <a:ea typeface="ＭＳ Ｐゴシック" charset="0"/>
                <a:cs typeface="ＭＳ Ｐゴシック" charset="0"/>
              </a:rPr>
              <a:t>i</a:t>
            </a:r>
            <a:r>
              <a:rPr lang="en-US" dirty="0" err="1">
                <a:latin typeface="Comic Sans MS" charset="0"/>
                <a:ea typeface="ＭＳ Ｐゴシック" charset="0"/>
                <a:cs typeface="ＭＳ Ｐゴシック" charset="0"/>
              </a:rPr>
              <a:t>Clicker</a:t>
            </a:r>
            <a:r>
              <a:rPr lang="en-US" dirty="0">
                <a:latin typeface="Comic Sans MS" charset="0"/>
                <a:ea typeface="ＭＳ Ｐゴシック" charset="0"/>
                <a:cs typeface="ＭＳ Ｐゴシック" charset="0"/>
              </a:rPr>
              <a:t> Quiz</a:t>
            </a:r>
          </a:p>
        </p:txBody>
      </p:sp>
      <p:sp>
        <p:nvSpPr>
          <p:cNvPr id="5" name="Slide Number Placeholder 4"/>
          <p:cNvSpPr>
            <a:spLocks noGrp="1"/>
          </p:cNvSpPr>
          <p:nvPr>
            <p:ph type="sldNum" sz="quarter" idx="12"/>
          </p:nvPr>
        </p:nvSpPr>
        <p:spPr/>
        <p:txBody>
          <a:bodyPr/>
          <a:lstStyle/>
          <a:p>
            <a:fld id="{63C103D7-7FC1-4B9F-A526-BC88A3C4AA47}" type="slidenum">
              <a:rPr lang="en-US" smtClean="0"/>
              <a:pPr/>
              <a:t>22</a:t>
            </a:fld>
            <a:endParaRPr lang="en-US" dirty="0"/>
          </a:p>
        </p:txBody>
      </p:sp>
      <mc:AlternateContent xmlns:mc="http://schemas.openxmlformats.org/markup-compatibility/2006" xmlns:a14="http://schemas.microsoft.com/office/drawing/2010/main">
        <mc:Choice Requires="a14">
          <p:sp>
            <p:nvSpPr>
              <p:cNvPr id="2" name="Rectangle 1"/>
              <p:cNvSpPr/>
              <p:nvPr/>
            </p:nvSpPr>
            <p:spPr>
              <a:xfrm>
                <a:off x="1624443" y="4671807"/>
                <a:ext cx="6605520" cy="1228606"/>
              </a:xfrm>
              <a:prstGeom prst="rect">
                <a:avLst/>
              </a:prstGeom>
            </p:spPr>
            <p:txBody>
              <a:bodyPr wrap="square">
                <a:spAutoFit/>
              </a:bodyPr>
              <a:lstStyle/>
              <a:p>
                <a:pPr algn="ctr"/>
                <a:r>
                  <a:rPr lang="en-US" sz="2400" b="1" dirty="0"/>
                  <a:t>Bond order of resonance-equivalent bonds:</a:t>
                </a:r>
              </a:p>
              <a:p>
                <a:pPr algn="ct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i="1">
                              <a:latin typeface="Cambria Math" panose="02040503050406030204" pitchFamily="18" charset="0"/>
                            </a:rPr>
                            <m:t>#</m:t>
                          </m:r>
                          <m:r>
                            <a:rPr lang="en-US" sz="2400" i="1">
                              <a:latin typeface="Cambria Math" panose="02040503050406030204" pitchFamily="18" charset="0"/>
                            </a:rPr>
                            <m:t>𝑝𝑎𝑖𝑟𝑠</m:t>
                          </m:r>
                          <m:r>
                            <a:rPr lang="en-US" sz="2400" i="1">
                              <a:latin typeface="Cambria Math" panose="02040503050406030204" pitchFamily="18" charset="0"/>
                            </a:rPr>
                            <m:t> </m:t>
                          </m:r>
                          <m:r>
                            <a:rPr lang="en-US" sz="2400" i="1">
                              <a:latin typeface="Cambria Math" panose="02040503050406030204" pitchFamily="18" charset="0"/>
                            </a:rPr>
                            <m:t>𝑜𝑓</m:t>
                          </m:r>
                          <m:r>
                            <a:rPr lang="en-US" sz="2400" i="1">
                              <a:latin typeface="Cambria Math" panose="02040503050406030204" pitchFamily="18" charset="0"/>
                            </a:rPr>
                            <m:t> </m:t>
                          </m:r>
                          <m:r>
                            <a:rPr lang="en-US" sz="2400" i="1">
                              <a:latin typeface="Cambria Math" panose="02040503050406030204" pitchFamily="18" charset="0"/>
                            </a:rPr>
                            <m:t>𝑏𝑜𝑛𝑑𝑖𝑛𝑔</m:t>
                          </m:r>
                          <m:r>
                            <a:rPr lang="en-US" sz="2400" i="1">
                              <a:latin typeface="Cambria Math" panose="02040503050406030204" pitchFamily="18" charset="0"/>
                            </a:rPr>
                            <m:t> </m:t>
                          </m:r>
                          <m:r>
                            <a:rPr lang="en-US" sz="2400" i="1">
                              <a:latin typeface="Cambria Math" panose="02040503050406030204" pitchFamily="18" charset="0"/>
                            </a:rPr>
                            <m:t>𝑒</m:t>
                          </m:r>
                          <m:r>
                            <a:rPr lang="en-US" sz="2400" i="1">
                              <a:latin typeface="Cambria Math" panose="02040503050406030204" pitchFamily="18" charset="0"/>
                            </a:rPr>
                            <m:t>−</m:t>
                          </m:r>
                        </m:num>
                        <m:den>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𝑏𝑜𝑛𝑑𝑖𝑛𝑔</m:t>
                          </m:r>
                          <m:r>
                            <a:rPr lang="en-US" sz="2400" b="0" i="1" smtClean="0">
                              <a:latin typeface="Cambria Math" panose="02040503050406030204" pitchFamily="18" charset="0"/>
                            </a:rPr>
                            <m:t> </m:t>
                          </m:r>
                          <m:r>
                            <a:rPr lang="en-US" sz="2400" b="0" i="1" smtClean="0">
                              <a:latin typeface="Cambria Math" panose="02040503050406030204" pitchFamily="18" charset="0"/>
                            </a:rPr>
                            <m:t>𝑝𝑜𝑠𝑖𝑡𝑖𝑜𝑛𝑠</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4 </m:t>
                          </m:r>
                          <m:r>
                            <a:rPr lang="en-US" sz="2400" b="0" i="1" smtClean="0">
                              <a:latin typeface="Cambria Math" panose="02040503050406030204" pitchFamily="18" charset="0"/>
                            </a:rPr>
                            <m:t>𝑝𝑎𝑖𝑟𝑠</m:t>
                          </m:r>
                        </m:num>
                        <m:den>
                          <m:r>
                            <a:rPr lang="en-US" sz="2400" b="0" i="1" smtClean="0">
                              <a:latin typeface="Cambria Math" panose="02040503050406030204" pitchFamily="18" charset="0"/>
                            </a:rPr>
                            <m:t>3 </m:t>
                          </m:r>
                          <m:r>
                            <a:rPr lang="en-US" sz="2400" b="0" i="1" smtClean="0">
                              <a:latin typeface="Cambria Math" panose="02040503050406030204" pitchFamily="18" charset="0"/>
                            </a:rPr>
                            <m:t>𝑝𝑜𝑠𝑖𝑡𝑖𝑜𝑛𝑠</m:t>
                          </m:r>
                        </m:den>
                      </m:f>
                      <m:r>
                        <a:rPr lang="en-US" sz="2400" b="0" i="1" smtClean="0">
                          <a:latin typeface="Cambria Math" panose="02040503050406030204" pitchFamily="18" charset="0"/>
                        </a:rPr>
                        <m:t>=1.33</m:t>
                      </m:r>
                    </m:oMath>
                  </m:oMathPara>
                </a14:m>
                <a:endParaRPr lang="en-US" sz="2400" dirty="0"/>
              </a:p>
            </p:txBody>
          </p:sp>
        </mc:Choice>
        <mc:Fallback xmlns="">
          <p:sp>
            <p:nvSpPr>
              <p:cNvPr id="2" name="Rectangle 1"/>
              <p:cNvSpPr>
                <a:spLocks noRot="1" noChangeAspect="1" noMove="1" noResize="1" noEditPoints="1" noAdjustHandles="1" noChangeArrowheads="1" noChangeShapeType="1" noTextEdit="1"/>
              </p:cNvSpPr>
              <p:nvPr/>
            </p:nvSpPr>
            <p:spPr>
              <a:xfrm>
                <a:off x="1624443" y="4671807"/>
                <a:ext cx="6605520" cy="1228606"/>
              </a:xfrm>
              <a:prstGeom prst="rect">
                <a:avLst/>
              </a:prstGeom>
              <a:blipFill>
                <a:blip r:embed="rId3"/>
                <a:stretch>
                  <a:fillRect l="-830" t="-3465" r="-738"/>
                </a:stretch>
              </a:blipFill>
            </p:spPr>
            <p:txBody>
              <a:bodyPr/>
              <a:lstStyle/>
              <a:p>
                <a:r>
                  <a:rPr lang="en-US">
                    <a:noFill/>
                  </a:rPr>
                  <a:t> </a:t>
                </a:r>
              </a:p>
            </p:txBody>
          </p:sp>
        </mc:Fallback>
      </mc:AlternateContent>
      <p:pic>
        <p:nvPicPr>
          <p:cNvPr id="16" name="Picture 4" descr="http://nonsibihighschool.org/intbasch9_files/CO32-res.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35090" r="46434"/>
          <a:stretch/>
        </p:blipFill>
        <p:spPr bwMode="auto">
          <a:xfrm>
            <a:off x="5381468" y="3576585"/>
            <a:ext cx="2542129" cy="596358"/>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p:cNvSpPr/>
          <p:nvPr/>
        </p:nvSpPr>
        <p:spPr>
          <a:xfrm>
            <a:off x="463750" y="6193629"/>
            <a:ext cx="8469080" cy="341632"/>
          </a:xfrm>
          <a:prstGeom prst="rect">
            <a:avLst/>
          </a:prstGeom>
        </p:spPr>
        <p:txBody>
          <a:bodyPr wrap="square">
            <a:spAutoFit/>
          </a:bodyPr>
          <a:lstStyle/>
          <a:p>
            <a:pPr lvl="0">
              <a:lnSpc>
                <a:spcPct val="90000"/>
              </a:lnSpc>
              <a:spcBef>
                <a:spcPts val="1000"/>
              </a:spcBef>
            </a:pPr>
            <a:r>
              <a:rPr lang="en-US" dirty="0">
                <a:solidFill>
                  <a:prstClr val="black"/>
                </a:solidFill>
              </a:rPr>
              <a:t>But resonance structures don’t always contribute equally to the delocalization…</a:t>
            </a:r>
          </a:p>
        </p:txBody>
      </p:sp>
      <p:pic>
        <p:nvPicPr>
          <p:cNvPr id="12" name="Picture 2" descr="Student iClicker Information - Canvas | Colorado State University"/>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0284" r="78997" b="11252"/>
          <a:stretch/>
        </p:blipFill>
        <p:spPr bwMode="auto">
          <a:xfrm>
            <a:off x="185095" y="114496"/>
            <a:ext cx="715651" cy="80207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nonsibihighschool.org/intbasch9_files/CO32-res.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97358" y="2387356"/>
            <a:ext cx="5414884" cy="1048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4408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17" grpId="0"/>
    </p:bldLst>
  </p:timing>
</p:sld>
</file>

<file path=ppt/theme/theme1.xml><?xml version="1.0" encoding="utf-8"?>
<a:theme xmlns:a="http://schemas.openxmlformats.org/drawingml/2006/main" name="1_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Chem105">
      <a:majorFont>
        <a:latin typeface="Comic Sans MS"/>
        <a:ea typeface=""/>
        <a:cs typeface=""/>
      </a:majorFont>
      <a:minorFont>
        <a:latin typeface="Arial"/>
        <a:ea typeface=""/>
        <a:cs typeface=""/>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Rounded MT Bol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Chem105">
      <a:majorFont>
        <a:latin typeface="Comic Sans MS"/>
        <a:ea typeface=""/>
        <a:cs typeface=""/>
      </a:majorFont>
      <a:minorFont>
        <a:latin typeface="Arial"/>
        <a:ea typeface=""/>
        <a:cs typeface=""/>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32573</TotalTime>
  <Words>2912</Words>
  <Application>Microsoft Office PowerPoint</Application>
  <PresentationFormat>On-screen Show (4:3)</PresentationFormat>
  <Paragraphs>328</Paragraphs>
  <Slides>22</Slides>
  <Notes>17</Notes>
  <HiddenSlides>0</HiddenSlides>
  <MMClips>0</MMClips>
  <ScaleCrop>false</ScaleCrop>
  <HeadingPairs>
    <vt:vector size="8" baseType="variant">
      <vt:variant>
        <vt:lpstr>Fonts Used</vt:lpstr>
      </vt:variant>
      <vt:variant>
        <vt:i4>13</vt:i4>
      </vt:variant>
      <vt:variant>
        <vt:lpstr>Theme</vt:lpstr>
      </vt:variant>
      <vt:variant>
        <vt:i4>3</vt:i4>
      </vt:variant>
      <vt:variant>
        <vt:lpstr>Embedded OLE Servers</vt:lpstr>
      </vt:variant>
      <vt:variant>
        <vt:i4>1</vt:i4>
      </vt:variant>
      <vt:variant>
        <vt:lpstr>Slide Titles</vt:lpstr>
      </vt:variant>
      <vt:variant>
        <vt:i4>22</vt:i4>
      </vt:variant>
    </vt:vector>
  </HeadingPairs>
  <TitlesOfParts>
    <vt:vector size="39" baseType="lpstr">
      <vt:lpstr>ＭＳ Ｐゴシック</vt:lpstr>
      <vt:lpstr>Arial</vt:lpstr>
      <vt:lpstr>Arial Black</vt:lpstr>
      <vt:lpstr>Arial Rounded MT Bold</vt:lpstr>
      <vt:lpstr>Calibri</vt:lpstr>
      <vt:lpstr>Cambria Math</vt:lpstr>
      <vt:lpstr>Comic Sans MS</vt:lpstr>
      <vt:lpstr>Gill Sans</vt:lpstr>
      <vt:lpstr>Source Sans Pro</vt:lpstr>
      <vt:lpstr>Symbol</vt:lpstr>
      <vt:lpstr>Times</vt:lpstr>
      <vt:lpstr>Times New Roman</vt:lpstr>
      <vt:lpstr>Wingdings</vt:lpstr>
      <vt:lpstr>1_Vapor Trail</vt:lpstr>
      <vt:lpstr>1_Default Design</vt:lpstr>
      <vt:lpstr>2_Vapor Trail</vt:lpstr>
      <vt:lpstr>Equation</vt:lpstr>
      <vt:lpstr>CHEM 105 Sections 31-49</vt:lpstr>
      <vt:lpstr>Lecture 14: 4.4-4.6</vt:lpstr>
      <vt:lpstr>PowerPoint Presentation</vt:lpstr>
      <vt:lpstr>Lewis Structures</vt:lpstr>
      <vt:lpstr>Lewis Symbols  Elements</vt:lpstr>
      <vt:lpstr>Lewis Symbols  ions</vt:lpstr>
      <vt:lpstr>Lewis Symbols  compounds</vt:lpstr>
      <vt:lpstr>Lewis Symbols:  Bonding Pairs vs. lone pairs</vt:lpstr>
      <vt:lpstr>Lewis Symbols: Predicting Bond #’s</vt:lpstr>
      <vt:lpstr>Lewis recipe </vt:lpstr>
      <vt:lpstr>Practice Drawing Lewis Structures</vt:lpstr>
      <vt:lpstr>iClicker Quiz</vt:lpstr>
      <vt:lpstr>Bond Order</vt:lpstr>
      <vt:lpstr>Bond Length &amp; Strength</vt:lpstr>
      <vt:lpstr>iClicker Quiz</vt:lpstr>
      <vt:lpstr>Bond Strength∝1/(Bond Length)</vt:lpstr>
      <vt:lpstr>Practice Drawing Lewis Structures</vt:lpstr>
      <vt:lpstr>Resonance</vt:lpstr>
      <vt:lpstr>Delocalization: Spreading e- over more than 1 bond</vt:lpstr>
      <vt:lpstr>Resonance &amp; Bond order</vt:lpstr>
      <vt:lpstr>Why draw  resonance structures</vt:lpstr>
      <vt:lpstr>iClicker Quiz</vt:lpstr>
    </vt:vector>
  </TitlesOfParts>
  <Company>Brigham Young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 105 Sections 1-20</dc:title>
  <dc:creator>sjl59</dc:creator>
  <cp:lastModifiedBy>Stacey Smith</cp:lastModifiedBy>
  <cp:revision>1801</cp:revision>
  <cp:lastPrinted>2017-02-08T16:48:38Z</cp:lastPrinted>
  <dcterms:created xsi:type="dcterms:W3CDTF">2013-12-07T22:53:23Z</dcterms:created>
  <dcterms:modified xsi:type="dcterms:W3CDTF">2024-10-07T21:09:54Z</dcterms:modified>
</cp:coreProperties>
</file>